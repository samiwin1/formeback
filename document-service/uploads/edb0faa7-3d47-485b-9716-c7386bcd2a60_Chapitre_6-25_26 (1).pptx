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0"/>
  </p:notesMasterIdLst>
  <p:sldIdLst>
    <p:sldId id="256" r:id="rId5"/>
    <p:sldId id="294" r:id="rId6"/>
    <p:sldId id="295" r:id="rId7"/>
    <p:sldId id="296" r:id="rId8"/>
    <p:sldId id="324" r:id="rId9"/>
    <p:sldId id="297" r:id="rId10"/>
    <p:sldId id="298" r:id="rId11"/>
    <p:sldId id="325" r:id="rId12"/>
    <p:sldId id="299" r:id="rId13"/>
    <p:sldId id="300" r:id="rId14"/>
    <p:sldId id="326" r:id="rId15"/>
    <p:sldId id="301" r:id="rId16"/>
    <p:sldId id="327" r:id="rId17"/>
    <p:sldId id="328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02" r:id="rId29"/>
  </p:sldIdLst>
  <p:sldSz cx="12192000" cy="6858000"/>
  <p:notesSz cx="12192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557" autoAdjust="0"/>
  </p:normalViewPr>
  <p:slideViewPr>
    <p:cSldViewPr>
      <p:cViewPr varScale="1">
        <p:scale>
          <a:sx n="63" d="100"/>
          <a:sy n="63" d="100"/>
        </p:scale>
        <p:origin x="66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B4DA16-5BE1-4D69-B738-0A7A0B96256E}" type="doc">
      <dgm:prSet loTypeId="urn:microsoft.com/office/officeart/2005/8/layout/vList2" loCatId="list" qsTypeId="urn:microsoft.com/office/officeart/2005/8/quickstyle/simple3" qsCatId="simple" csTypeId="urn:microsoft.com/office/officeart/2005/8/colors/colorful2" csCatId="colorful"/>
      <dgm:spPr/>
      <dgm:t>
        <a:bodyPr/>
        <a:lstStyle/>
        <a:p>
          <a:endParaRPr lang="en-GB"/>
        </a:p>
      </dgm:t>
    </dgm:pt>
    <dgm:pt modelId="{58E3E212-9114-4C83-80B3-80E78FEA5F0F}">
      <dgm:prSet/>
      <dgm:spPr/>
      <dgm:t>
        <a:bodyPr/>
        <a:lstStyle/>
        <a:p>
          <a:r>
            <a:rPr lang="fr-FR" b="1"/>
            <a:t>Cas d’usage typiques:</a:t>
          </a:r>
          <a:endParaRPr lang="en-GB"/>
        </a:p>
      </dgm:t>
    </dgm:pt>
    <dgm:pt modelId="{FF905A8C-B743-4C2D-9320-52BE8611672A}" type="parTrans" cxnId="{D66F5560-709C-412F-ABB4-9E9E33B36D8D}">
      <dgm:prSet/>
      <dgm:spPr/>
      <dgm:t>
        <a:bodyPr/>
        <a:lstStyle/>
        <a:p>
          <a:endParaRPr lang="en-GB"/>
        </a:p>
      </dgm:t>
    </dgm:pt>
    <dgm:pt modelId="{29F53EF4-738F-4DB2-9C2C-CE96541C4D76}" type="sibTrans" cxnId="{D66F5560-709C-412F-ABB4-9E9E33B36D8D}">
      <dgm:prSet/>
      <dgm:spPr/>
      <dgm:t>
        <a:bodyPr/>
        <a:lstStyle/>
        <a:p>
          <a:endParaRPr lang="en-GB"/>
        </a:p>
      </dgm:t>
    </dgm:pt>
    <dgm:pt modelId="{7136EF0C-9D9C-43F9-BE0A-3E8BCF6F8A5A}">
      <dgm:prSet/>
      <dgm:spPr/>
      <dgm:t>
        <a:bodyPr/>
        <a:lstStyle/>
        <a:p>
          <a:r>
            <a:rPr lang="fr-FR" b="1"/>
            <a:t>Connexions nomades</a:t>
          </a:r>
          <a:r>
            <a:rPr lang="fr-FR"/>
            <a:t> : un employé se connecte au réseau interne de l’entreprise via un client OpenVPN depuis son domicile.</a:t>
          </a:r>
          <a:endParaRPr lang="en-GB"/>
        </a:p>
      </dgm:t>
    </dgm:pt>
    <dgm:pt modelId="{C9C46D16-2C9E-4DB0-9089-5CC707995267}" type="parTrans" cxnId="{79B905AD-548F-4085-8D2B-6B4DAB660694}">
      <dgm:prSet/>
      <dgm:spPr/>
      <dgm:t>
        <a:bodyPr/>
        <a:lstStyle/>
        <a:p>
          <a:endParaRPr lang="en-GB"/>
        </a:p>
      </dgm:t>
    </dgm:pt>
    <dgm:pt modelId="{D0856820-202F-4916-AD1A-8DC11EF1EA7C}" type="sibTrans" cxnId="{79B905AD-548F-4085-8D2B-6B4DAB660694}">
      <dgm:prSet/>
      <dgm:spPr/>
      <dgm:t>
        <a:bodyPr/>
        <a:lstStyle/>
        <a:p>
          <a:endParaRPr lang="en-GB"/>
        </a:p>
      </dgm:t>
    </dgm:pt>
    <dgm:pt modelId="{72EDDBAF-A576-42A5-B45C-290FD0668C85}">
      <dgm:prSet/>
      <dgm:spPr/>
      <dgm:t>
        <a:bodyPr/>
        <a:lstStyle/>
        <a:p>
          <a:r>
            <a:rPr lang="fr-FR" b="1"/>
            <a:t>Accès sécurisé depuis un réseau Wi-Fi public</a:t>
          </a:r>
          <a:r>
            <a:rPr lang="fr-FR"/>
            <a:t> : OpenVPN chiffre le trafic entre l’ordinateur et le serveur VPN de l’entreprise, empêchant l’interception des données.</a:t>
          </a:r>
          <a:endParaRPr lang="en-GB"/>
        </a:p>
      </dgm:t>
    </dgm:pt>
    <dgm:pt modelId="{13703E96-E3D2-45D3-82DA-9B22BF17F7BA}" type="parTrans" cxnId="{1110E1F2-BDB5-4E78-A216-A5A191DE87F7}">
      <dgm:prSet/>
      <dgm:spPr/>
      <dgm:t>
        <a:bodyPr/>
        <a:lstStyle/>
        <a:p>
          <a:endParaRPr lang="en-GB"/>
        </a:p>
      </dgm:t>
    </dgm:pt>
    <dgm:pt modelId="{1CDD4AA7-1D19-484D-8E03-F4738EDDE991}" type="sibTrans" cxnId="{1110E1F2-BDB5-4E78-A216-A5A191DE87F7}">
      <dgm:prSet/>
      <dgm:spPr/>
      <dgm:t>
        <a:bodyPr/>
        <a:lstStyle/>
        <a:p>
          <a:endParaRPr lang="en-GB"/>
        </a:p>
      </dgm:t>
    </dgm:pt>
    <dgm:pt modelId="{DC71EAD5-5D9C-4CC1-8121-E721CABCDF0B}">
      <dgm:prSet/>
      <dgm:spPr/>
      <dgm:t>
        <a:bodyPr/>
        <a:lstStyle/>
        <a:p>
          <a:r>
            <a:rPr lang="fr-FR" b="1"/>
            <a:t>Interconnexion cloud</a:t>
          </a:r>
          <a:r>
            <a:rPr lang="fr-FR"/>
            <a:t> : utilisation d’OpenVPN pour relier un site local à une infrastructure hébergée (exemple : AWS OpenVPN Access Server).</a:t>
          </a:r>
          <a:endParaRPr lang="en-GB"/>
        </a:p>
      </dgm:t>
    </dgm:pt>
    <dgm:pt modelId="{D793AC24-7484-4CFC-82B3-A218E4A6CBEE}" type="parTrans" cxnId="{15B18ED1-799C-4B86-BAA7-0FCAABD9ED73}">
      <dgm:prSet/>
      <dgm:spPr/>
      <dgm:t>
        <a:bodyPr/>
        <a:lstStyle/>
        <a:p>
          <a:endParaRPr lang="en-GB"/>
        </a:p>
      </dgm:t>
    </dgm:pt>
    <dgm:pt modelId="{56DDE1A6-2D7C-4FCA-A5F8-F3AAF0577304}" type="sibTrans" cxnId="{15B18ED1-799C-4B86-BAA7-0FCAABD9ED73}">
      <dgm:prSet/>
      <dgm:spPr/>
      <dgm:t>
        <a:bodyPr/>
        <a:lstStyle/>
        <a:p>
          <a:endParaRPr lang="en-GB"/>
        </a:p>
      </dgm:t>
    </dgm:pt>
    <dgm:pt modelId="{B7487B8E-1F68-4F75-BFFD-22E50D8B1364}" type="pres">
      <dgm:prSet presAssocID="{A5B4DA16-5BE1-4D69-B738-0A7A0B96256E}" presName="linear" presStyleCnt="0">
        <dgm:presLayoutVars>
          <dgm:animLvl val="lvl"/>
          <dgm:resizeHandles val="exact"/>
        </dgm:presLayoutVars>
      </dgm:prSet>
      <dgm:spPr/>
    </dgm:pt>
    <dgm:pt modelId="{1365ADE2-FB6C-437A-80EB-B79E8FB081F3}" type="pres">
      <dgm:prSet presAssocID="{58E3E212-9114-4C83-80B3-80E78FEA5F0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849806B-048E-4AD6-9576-06AFEF229025}" type="pres">
      <dgm:prSet presAssocID="{58E3E212-9114-4C83-80B3-80E78FEA5F0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66F5560-709C-412F-ABB4-9E9E33B36D8D}" srcId="{A5B4DA16-5BE1-4D69-B738-0A7A0B96256E}" destId="{58E3E212-9114-4C83-80B3-80E78FEA5F0F}" srcOrd="0" destOrd="0" parTransId="{FF905A8C-B743-4C2D-9320-52BE8611672A}" sibTransId="{29F53EF4-738F-4DB2-9C2C-CE96541C4D76}"/>
    <dgm:cxn modelId="{63890946-443C-4876-B2ED-15630C0F0737}" type="presOf" srcId="{DC71EAD5-5D9C-4CC1-8121-E721CABCDF0B}" destId="{D849806B-048E-4AD6-9576-06AFEF229025}" srcOrd="0" destOrd="2" presId="urn:microsoft.com/office/officeart/2005/8/layout/vList2"/>
    <dgm:cxn modelId="{A950C969-62C6-45BE-A16F-E595860B4DD0}" type="presOf" srcId="{72EDDBAF-A576-42A5-B45C-290FD0668C85}" destId="{D849806B-048E-4AD6-9576-06AFEF229025}" srcOrd="0" destOrd="1" presId="urn:microsoft.com/office/officeart/2005/8/layout/vList2"/>
    <dgm:cxn modelId="{ACA80080-0163-45F4-8A66-0159B62B53D7}" type="presOf" srcId="{7136EF0C-9D9C-43F9-BE0A-3E8BCF6F8A5A}" destId="{D849806B-048E-4AD6-9576-06AFEF229025}" srcOrd="0" destOrd="0" presId="urn:microsoft.com/office/officeart/2005/8/layout/vList2"/>
    <dgm:cxn modelId="{97725887-2762-4427-9734-57C55E9518B7}" type="presOf" srcId="{58E3E212-9114-4C83-80B3-80E78FEA5F0F}" destId="{1365ADE2-FB6C-437A-80EB-B79E8FB081F3}" srcOrd="0" destOrd="0" presId="urn:microsoft.com/office/officeart/2005/8/layout/vList2"/>
    <dgm:cxn modelId="{1D50B0A3-EB4F-4818-B8E3-86829A8B6ADF}" type="presOf" srcId="{A5B4DA16-5BE1-4D69-B738-0A7A0B96256E}" destId="{B7487B8E-1F68-4F75-BFFD-22E50D8B1364}" srcOrd="0" destOrd="0" presId="urn:microsoft.com/office/officeart/2005/8/layout/vList2"/>
    <dgm:cxn modelId="{79B905AD-548F-4085-8D2B-6B4DAB660694}" srcId="{58E3E212-9114-4C83-80B3-80E78FEA5F0F}" destId="{7136EF0C-9D9C-43F9-BE0A-3E8BCF6F8A5A}" srcOrd="0" destOrd="0" parTransId="{C9C46D16-2C9E-4DB0-9089-5CC707995267}" sibTransId="{D0856820-202F-4916-AD1A-8DC11EF1EA7C}"/>
    <dgm:cxn modelId="{15B18ED1-799C-4B86-BAA7-0FCAABD9ED73}" srcId="{58E3E212-9114-4C83-80B3-80E78FEA5F0F}" destId="{DC71EAD5-5D9C-4CC1-8121-E721CABCDF0B}" srcOrd="2" destOrd="0" parTransId="{D793AC24-7484-4CFC-82B3-A218E4A6CBEE}" sibTransId="{56DDE1A6-2D7C-4FCA-A5F8-F3AAF0577304}"/>
    <dgm:cxn modelId="{1110E1F2-BDB5-4E78-A216-A5A191DE87F7}" srcId="{58E3E212-9114-4C83-80B3-80E78FEA5F0F}" destId="{72EDDBAF-A576-42A5-B45C-290FD0668C85}" srcOrd="1" destOrd="0" parTransId="{13703E96-E3D2-45D3-82DA-9B22BF17F7BA}" sibTransId="{1CDD4AA7-1D19-484D-8E03-F4738EDDE991}"/>
    <dgm:cxn modelId="{A639D383-573B-4A09-BEB0-B80597659CCE}" type="presParOf" srcId="{B7487B8E-1F68-4F75-BFFD-22E50D8B1364}" destId="{1365ADE2-FB6C-437A-80EB-B79E8FB081F3}" srcOrd="0" destOrd="0" presId="urn:microsoft.com/office/officeart/2005/8/layout/vList2"/>
    <dgm:cxn modelId="{1B4C5B0F-34AC-4002-8DF7-E7B469C4AD5E}" type="presParOf" srcId="{B7487B8E-1F68-4F75-BFFD-22E50D8B1364}" destId="{D849806B-048E-4AD6-9576-06AFEF22902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65ADE2-FB6C-437A-80EB-B79E8FB081F3}">
      <dsp:nvSpPr>
        <dsp:cNvPr id="0" name=""/>
        <dsp:cNvSpPr/>
      </dsp:nvSpPr>
      <dsp:spPr>
        <a:xfrm>
          <a:off x="0" y="68727"/>
          <a:ext cx="11879379" cy="5276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Cas d’usage typiques:</a:t>
          </a:r>
          <a:endParaRPr lang="en-GB" sz="2200" kern="1200"/>
        </a:p>
      </dsp:txBody>
      <dsp:txXfrm>
        <a:off x="25759" y="94486"/>
        <a:ext cx="11827861" cy="476152"/>
      </dsp:txXfrm>
    </dsp:sp>
    <dsp:sp modelId="{D849806B-048E-4AD6-9576-06AFEF229025}">
      <dsp:nvSpPr>
        <dsp:cNvPr id="0" name=""/>
        <dsp:cNvSpPr/>
      </dsp:nvSpPr>
      <dsp:spPr>
        <a:xfrm>
          <a:off x="0" y="596397"/>
          <a:ext cx="11879379" cy="1366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717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b="1" kern="1200"/>
            <a:t>Connexions nomades</a:t>
          </a:r>
          <a:r>
            <a:rPr lang="fr-FR" sz="1700" kern="1200"/>
            <a:t> : un employé se connecte au réseau interne de l’entreprise via un client OpenVPN depuis son domicile.</a:t>
          </a:r>
          <a:endParaRPr lang="en-GB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b="1" kern="1200"/>
            <a:t>Accès sécurisé depuis un réseau Wi-Fi public</a:t>
          </a:r>
          <a:r>
            <a:rPr lang="fr-FR" sz="1700" kern="1200"/>
            <a:t> : OpenVPN chiffre le trafic entre l’ordinateur et le serveur VPN de l’entreprise, empêchant l’interception des données.</a:t>
          </a:r>
          <a:endParaRPr lang="en-GB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b="1" kern="1200"/>
            <a:t>Interconnexion cloud</a:t>
          </a:r>
          <a:r>
            <a:rPr lang="fr-FR" sz="1700" kern="1200"/>
            <a:t> : utilisation d’OpenVPN pour relier un site local à une infrastructure hébergée (exemple : AWS OpenVPN Access Server).</a:t>
          </a:r>
          <a:endParaRPr lang="en-GB" sz="1700" kern="1200"/>
        </a:p>
      </dsp:txBody>
      <dsp:txXfrm>
        <a:off x="0" y="596397"/>
        <a:ext cx="11879379" cy="1366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448B3-0EA3-460B-90F9-01F370485AEE}" type="datetimeFigureOut">
              <a:rPr lang="fr-FR" smtClean="0"/>
              <a:t>12/10/2025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68107-5EF1-4256-BAC8-8F0F494DC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467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Problème : sécuriser les communications sur Internet</a:t>
            </a:r>
          </a:p>
          <a:p>
            <a:r>
              <a:rPr lang="fr-FR" dirty="0"/>
              <a:t>Solution : établir un canal privé à travers un réseau public</a:t>
            </a:r>
          </a:p>
          <a:p>
            <a:r>
              <a:rPr lang="fr-FR" dirty="0"/>
              <a:t>Exemple : un télétravailleur accédant au réseau interne de son entreprise</a:t>
            </a:r>
          </a:p>
          <a:p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/>
              <a:t>VPN : réseau virtuel reliant des réseaux privés via Internet</a:t>
            </a:r>
          </a:p>
          <a:p>
            <a:r>
              <a:rPr lang="fr-FR" dirty="0"/>
              <a:t>Fonction : créer un “tunnel” logique entre deux points distants</a:t>
            </a:r>
          </a:p>
          <a:p>
            <a:r>
              <a:rPr lang="fr-FR" dirty="0"/>
              <a:t>Avantage : communication sécurisée sans infrastructure dédiée</a:t>
            </a:r>
          </a:p>
          <a:p>
            <a:endParaRPr lang="fr-FR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68107-5EF1-4256-BAC8-8F0F494DCE9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489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43989" y="235077"/>
            <a:ext cx="9304020" cy="1064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3989" y="235077"/>
            <a:ext cx="3647440" cy="1064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2340" y="1153338"/>
            <a:ext cx="7933690" cy="3364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07597" y="6448297"/>
            <a:ext cx="268604" cy="2165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0933" y="1737416"/>
            <a:ext cx="6313805" cy="9241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34010" algn="ctr">
              <a:lnSpc>
                <a:spcPct val="150000"/>
              </a:lnSpc>
              <a:spcBef>
                <a:spcPts val="105"/>
              </a:spcBef>
            </a:pPr>
            <a:r>
              <a:rPr lang="fr-FR" sz="4400" b="1" spc="-5" dirty="0">
                <a:latin typeface="Calibri"/>
                <a:cs typeface="Calibri"/>
              </a:rPr>
              <a:t>Les réseaux VPN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9042" y="4404255"/>
            <a:ext cx="4581525" cy="1113155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85"/>
              </a:spcBef>
            </a:pPr>
            <a:r>
              <a:rPr sz="2900" dirty="0">
                <a:latin typeface="Times New Roman"/>
                <a:cs typeface="Times New Roman"/>
              </a:rPr>
              <a:t>Module:</a:t>
            </a:r>
            <a:r>
              <a:rPr sz="2900" spc="-5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Sécurité</a:t>
            </a:r>
            <a:r>
              <a:rPr sz="2900" spc="-50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Informatique</a:t>
            </a:r>
            <a:endParaRPr sz="29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sz="2000" dirty="0">
                <a:latin typeface="Times New Roman"/>
                <a:cs typeface="Times New Roman"/>
              </a:rPr>
              <a:t>202</a:t>
            </a:r>
            <a:r>
              <a:rPr lang="fr-FR" sz="2000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/202</a:t>
            </a:r>
            <a:r>
              <a:rPr lang="fr-FR" sz="2000" dirty="0">
                <a:latin typeface="Times New Roman"/>
                <a:cs typeface="Times New Roman"/>
              </a:rPr>
              <a:t>6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AB61CE-E23E-A41F-2B10-D1DD345B7D7B}"/>
              </a:ext>
            </a:extLst>
          </p:cNvPr>
          <p:cNvSpPr/>
          <p:nvPr/>
        </p:nvSpPr>
        <p:spPr>
          <a:xfrm>
            <a:off x="1676400" y="1828800"/>
            <a:ext cx="5415541" cy="63500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bject 3"/>
          <p:cNvSpPr txBox="1"/>
          <p:nvPr/>
        </p:nvSpPr>
        <p:spPr>
          <a:xfrm>
            <a:off x="1761235" y="1915744"/>
            <a:ext cx="8622665" cy="29059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lang="en-GB" sz="2400" b="1" dirty="0" err="1">
                <a:latin typeface="Calibri"/>
                <a:cs typeface="Calibri"/>
              </a:rPr>
              <a:t>Définition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Calibri"/>
              <a:buChar char="▪"/>
            </a:pPr>
            <a:endParaRPr sz="3400" dirty="0">
              <a:latin typeface="Calibri"/>
              <a:cs typeface="Calibri"/>
            </a:endParaRP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sz="2400" b="1" dirty="0">
                <a:latin typeface="Calibri"/>
                <a:cs typeface="Calibri"/>
              </a:rPr>
              <a:t>Les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lang="fr-FR" sz="2400" b="1" spc="-5" dirty="0">
                <a:latin typeface="Calibri"/>
                <a:cs typeface="Calibri"/>
              </a:rPr>
              <a:t>types de VPN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Calibri"/>
              <a:buChar char="▪"/>
            </a:pPr>
            <a:endParaRPr sz="3400" dirty="0">
              <a:latin typeface="Calibri"/>
              <a:cs typeface="Calibri"/>
            </a:endParaRP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lang="en-GB" sz="2400" b="1" dirty="0" err="1">
                <a:latin typeface="Calibri"/>
                <a:cs typeface="Calibri"/>
              </a:rPr>
              <a:t>Fonctionnalités</a:t>
            </a:r>
            <a:r>
              <a:rPr lang="en-GB" sz="2400" b="1" dirty="0">
                <a:latin typeface="Calibri"/>
                <a:cs typeface="Calibri"/>
              </a:rPr>
              <a:t> </a:t>
            </a:r>
            <a:r>
              <a:rPr lang="en-GB" sz="2400" b="1" dirty="0" err="1">
                <a:latin typeface="Calibri"/>
                <a:cs typeface="Calibri"/>
              </a:rPr>
              <a:t>principales</a:t>
            </a:r>
            <a:r>
              <a:rPr lang="en-GB" sz="2400" b="1" dirty="0">
                <a:latin typeface="Calibri"/>
                <a:cs typeface="Calibri"/>
              </a:rPr>
              <a:t> des VPNs</a:t>
            </a: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endParaRPr lang="en-GB" sz="2400" b="1" dirty="0">
              <a:latin typeface="Calibri"/>
              <a:cs typeface="Calibri"/>
            </a:endParaRP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lang="en-GB" sz="2400" b="1" dirty="0">
                <a:latin typeface="Calibri"/>
                <a:cs typeface="Calibri"/>
              </a:rPr>
              <a:t>IPSec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4945380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Qu’est-ce</a:t>
            </a:r>
            <a:r>
              <a:rPr sz="4000" b="1" spc="-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qu’un</a:t>
            </a:r>
            <a:r>
              <a:rPr sz="4000" b="1" spc="-20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VPN?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915" y="1549120"/>
            <a:ext cx="6211570" cy="4906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41000"/>
              </a:lnSpc>
              <a:spcBef>
                <a:spcPts val="100"/>
              </a:spcBef>
              <a:buSzPct val="110000"/>
              <a:buFont typeface="Arial MT"/>
              <a:buChar char="•"/>
              <a:tabLst>
                <a:tab pos="414020" algn="l"/>
              </a:tabLst>
            </a:pPr>
            <a:r>
              <a:rPr dirty="0"/>
              <a:t>	</a:t>
            </a:r>
            <a:r>
              <a:rPr sz="2000" spc="-5" dirty="0">
                <a:latin typeface="Calibri"/>
                <a:cs typeface="Calibri"/>
              </a:rPr>
              <a:t>Un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VPN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réseau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 privé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virtuel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pour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objectif</a:t>
            </a:r>
            <a:r>
              <a:rPr sz="2000" dirty="0">
                <a:latin typeface="Calibri"/>
                <a:cs typeface="Calibri"/>
              </a:rPr>
              <a:t> de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faciliter</a:t>
            </a:r>
            <a:r>
              <a:rPr sz="2000" dirty="0">
                <a:latin typeface="Calibri"/>
                <a:cs typeface="Calibri"/>
              </a:rPr>
              <a:t> les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communications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entreprises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partenaires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</a:t>
            </a:r>
            <a:r>
              <a:rPr sz="2000" dirty="0">
                <a:latin typeface="Calibri"/>
                <a:cs typeface="Calibri"/>
              </a:rPr>
              <a:t> les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communications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internes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d'une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entreprise dans le </a:t>
            </a:r>
            <a:r>
              <a:rPr sz="2000" spc="5" dirty="0">
                <a:latin typeface="Calibri"/>
                <a:cs typeface="Calibri"/>
              </a:rPr>
              <a:t>cas </a:t>
            </a:r>
            <a:r>
              <a:rPr sz="2000" spc="-5" dirty="0">
                <a:latin typeface="Calibri"/>
                <a:cs typeface="Calibri"/>
              </a:rPr>
              <a:t>d'un réseau d'entreprise </a:t>
            </a:r>
            <a:r>
              <a:rPr sz="2000" dirty="0">
                <a:latin typeface="Calibri"/>
                <a:cs typeface="Calibri"/>
              </a:rPr>
              <a:t>réparti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géographiquement sur deux </a:t>
            </a:r>
            <a:r>
              <a:rPr sz="2000" dirty="0">
                <a:latin typeface="Calibri"/>
                <a:cs typeface="Calibri"/>
              </a:rPr>
              <a:t>sites 1 </a:t>
            </a:r>
            <a:r>
              <a:rPr sz="2000" spc="-5" dirty="0">
                <a:latin typeface="Calibri"/>
                <a:cs typeface="Calibri"/>
              </a:rPr>
              <a:t>et </a:t>
            </a:r>
            <a:r>
              <a:rPr sz="2000" dirty="0">
                <a:latin typeface="Calibri"/>
                <a:cs typeface="Calibri"/>
              </a:rPr>
              <a:t>2 </a:t>
            </a:r>
            <a:r>
              <a:rPr sz="2000" spc="-5" dirty="0">
                <a:latin typeface="Calibri"/>
                <a:cs typeface="Calibri"/>
              </a:rPr>
              <a:t>distants, ou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télétravailleurs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qui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besoin</a:t>
            </a:r>
            <a:r>
              <a:rPr sz="2000" dirty="0">
                <a:latin typeface="Calibri"/>
                <a:cs typeface="Calibri"/>
              </a:rPr>
              <a:t> 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dirty="0">
                <a:latin typeface="Calibri"/>
                <a:cs typeface="Calibri"/>
              </a:rPr>
              <a:t> connecter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aux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ressources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leur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entreprise.</a:t>
            </a:r>
            <a:endParaRPr sz="2000">
              <a:latin typeface="Calibri"/>
              <a:cs typeface="Calibri"/>
            </a:endParaRPr>
          </a:p>
          <a:p>
            <a:pPr marL="355600" marR="5715" indent="-342900" algn="just">
              <a:lnSpc>
                <a:spcPct val="141000"/>
              </a:lnSpc>
              <a:spcBef>
                <a:spcPts val="1200"/>
              </a:spcBef>
              <a:buSzPct val="110000"/>
              <a:buFont typeface="Arial MT"/>
              <a:buChar char="•"/>
              <a:tabLst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Un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VPN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permet</a:t>
            </a:r>
            <a:r>
              <a:rPr sz="2000" dirty="0">
                <a:latin typeface="Calibri"/>
                <a:cs typeface="Calibri"/>
              </a:rPr>
              <a:t> d'étendre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virtuellement,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grâce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5" dirty="0">
                <a:latin typeface="Calibri"/>
                <a:cs typeface="Calibri"/>
              </a:rPr>
              <a:t> la 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technologie </a:t>
            </a:r>
            <a:r>
              <a:rPr sz="2000" dirty="0">
                <a:latin typeface="Calibri"/>
                <a:cs typeface="Calibri"/>
              </a:rPr>
              <a:t>de tunnel, </a:t>
            </a:r>
            <a:r>
              <a:rPr sz="2000" spc="-5" dirty="0">
                <a:latin typeface="Calibri"/>
                <a:cs typeface="Calibri"/>
              </a:rPr>
              <a:t>un </a:t>
            </a:r>
            <a:r>
              <a:rPr sz="2000" dirty="0">
                <a:latin typeface="Calibri"/>
                <a:cs typeface="Calibri"/>
              </a:rPr>
              <a:t>réseau </a:t>
            </a:r>
            <a:r>
              <a:rPr sz="2000" spc="-5" dirty="0">
                <a:latin typeface="Calibri"/>
                <a:cs typeface="Calibri"/>
              </a:rPr>
              <a:t>privé ou le </a:t>
            </a:r>
            <a:r>
              <a:rPr sz="2000" dirty="0">
                <a:latin typeface="Calibri"/>
                <a:cs typeface="Calibri"/>
              </a:rPr>
              <a:t>terminal du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télétravailleur, </a:t>
            </a:r>
            <a:r>
              <a:rPr sz="2000" spc="-5" dirty="0">
                <a:latin typeface="Calibri"/>
                <a:cs typeface="Calibri"/>
              </a:rPr>
              <a:t>un </a:t>
            </a:r>
            <a:r>
              <a:rPr sz="2000" dirty="0">
                <a:latin typeface="Calibri"/>
                <a:cs typeface="Calibri"/>
              </a:rPr>
              <a:t>autre réseau </a:t>
            </a:r>
            <a:r>
              <a:rPr sz="2000" spc="-5" dirty="0">
                <a:latin typeface="Calibri"/>
                <a:cs typeface="Calibri"/>
              </a:rPr>
              <a:t>privé, et ce </a:t>
            </a:r>
            <a:r>
              <a:rPr sz="2000" dirty="0">
                <a:latin typeface="Calibri"/>
                <a:cs typeface="Calibri"/>
              </a:rPr>
              <a:t>au travers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d'un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réseau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public.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35140" y="1656651"/>
            <a:ext cx="5152644" cy="4767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4210050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Besoins</a:t>
            </a:r>
            <a:r>
              <a:rPr sz="4000" b="1" spc="-1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de</a:t>
            </a:r>
            <a:r>
              <a:rPr sz="4000" b="1" spc="-2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Sécurité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915" y="1558264"/>
            <a:ext cx="11311255" cy="4563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000"/>
              </a:lnSpc>
              <a:spcBef>
                <a:spcPts val="100"/>
              </a:spcBef>
            </a:pP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données</a:t>
            </a:r>
            <a:r>
              <a:rPr sz="2000" spc="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échangées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dans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tunnel</a:t>
            </a:r>
            <a:r>
              <a:rPr sz="2000" spc="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peuvent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être</a:t>
            </a:r>
            <a:r>
              <a:rPr sz="2000" spc="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sensibles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être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cible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cyber-attaques.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Pour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protéger les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flux,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utile</a:t>
            </a:r>
            <a:r>
              <a:rPr sz="2000" dirty="0">
                <a:latin typeface="Calibri"/>
                <a:cs typeface="Calibri"/>
              </a:rPr>
              <a:t> de mettre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 </a:t>
            </a:r>
            <a:r>
              <a:rPr sz="2000" dirty="0">
                <a:latin typeface="Calibri"/>
                <a:cs typeface="Calibri"/>
              </a:rPr>
              <a:t>œuvre plusieurs</a:t>
            </a:r>
            <a:r>
              <a:rPr sz="2000" spc="-5" dirty="0">
                <a:latin typeface="Calibri"/>
                <a:cs typeface="Calibri"/>
              </a:rPr>
              <a:t> services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sécurité,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savoir </a:t>
            </a:r>
            <a:r>
              <a:rPr sz="2000" dirty="0">
                <a:latin typeface="Calibri"/>
                <a:cs typeface="Calibri"/>
              </a:rPr>
              <a:t>:</a:t>
            </a:r>
          </a:p>
          <a:p>
            <a:pPr>
              <a:lnSpc>
                <a:spcPct val="100000"/>
              </a:lnSpc>
            </a:pPr>
            <a:endParaRPr sz="15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SzPct val="120000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La</a:t>
            </a:r>
            <a:r>
              <a:rPr sz="20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confidentialité</a:t>
            </a:r>
            <a:r>
              <a:rPr sz="2000" b="1" spc="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des</a:t>
            </a:r>
            <a:r>
              <a:rPr sz="2000" b="1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données</a:t>
            </a:r>
            <a:r>
              <a:rPr sz="2000" b="1" spc="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pour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empêcher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espion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d’interpréter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contenus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échanges,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qui</a:t>
            </a:r>
          </a:p>
          <a:p>
            <a:pPr marL="355600" algn="just">
              <a:lnSpc>
                <a:spcPct val="100000"/>
              </a:lnSpc>
              <a:spcBef>
                <a:spcPts val="700"/>
              </a:spcBef>
            </a:pPr>
            <a:r>
              <a:rPr sz="2000" spc="-5" dirty="0">
                <a:latin typeface="Calibri"/>
                <a:cs typeface="Calibri"/>
              </a:rPr>
              <a:t>nécessite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chiffrer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échanges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dans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tunnel.</a:t>
            </a:r>
          </a:p>
          <a:p>
            <a:pPr marL="355600" marR="7620" indent="-342900" algn="just">
              <a:lnSpc>
                <a:spcPct val="129000"/>
              </a:lnSpc>
              <a:spcBef>
                <a:spcPts val="1200"/>
              </a:spcBef>
              <a:buSzPct val="120000"/>
              <a:buFont typeface="Arial MT"/>
              <a:buChar char="•"/>
              <a:tabLst>
                <a:tab pos="355600" algn="l"/>
              </a:tabLst>
            </a:pP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L’intégrité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des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données </a:t>
            </a:r>
            <a:r>
              <a:rPr sz="2000" spc="-5" dirty="0">
                <a:latin typeface="Calibri"/>
                <a:cs typeface="Calibri"/>
              </a:rPr>
              <a:t>pour détecter si </a:t>
            </a:r>
            <a:r>
              <a:rPr sz="2000" dirty="0">
                <a:latin typeface="Calibri"/>
                <a:cs typeface="Calibri"/>
              </a:rPr>
              <a:t>les informations échangées </a:t>
            </a:r>
            <a:r>
              <a:rPr sz="2000" spc="-5" dirty="0">
                <a:latin typeface="Calibri"/>
                <a:cs typeface="Calibri"/>
              </a:rPr>
              <a:t>ont </a:t>
            </a:r>
            <a:r>
              <a:rPr sz="2000" dirty="0">
                <a:latin typeface="Calibri"/>
                <a:cs typeface="Calibri"/>
              </a:rPr>
              <a:t>été </a:t>
            </a:r>
            <a:r>
              <a:rPr sz="2000" spc="-5" dirty="0">
                <a:latin typeface="Calibri"/>
                <a:cs typeface="Calibri"/>
              </a:rPr>
              <a:t>modifiées </a:t>
            </a:r>
            <a:r>
              <a:rPr sz="2000" dirty="0">
                <a:latin typeface="Calibri"/>
                <a:cs typeface="Calibri"/>
              </a:rPr>
              <a:t>pendant </a:t>
            </a:r>
            <a:r>
              <a:rPr sz="2000" spc="-5" dirty="0">
                <a:latin typeface="Calibri"/>
                <a:cs typeface="Calibri"/>
              </a:rPr>
              <a:t>leur </a:t>
            </a:r>
            <a:r>
              <a:rPr sz="2000" dirty="0">
                <a:latin typeface="Calibri"/>
                <a:cs typeface="Calibri"/>
              </a:rPr>
              <a:t> transfert </a:t>
            </a:r>
            <a:r>
              <a:rPr sz="2000" spc="-5" dirty="0">
                <a:latin typeface="Calibri"/>
                <a:cs typeface="Calibri"/>
              </a:rPr>
              <a:t>sur </a:t>
            </a:r>
            <a:r>
              <a:rPr sz="2000" dirty="0">
                <a:latin typeface="Calibri"/>
                <a:cs typeface="Calibri"/>
              </a:rPr>
              <a:t>le </a:t>
            </a:r>
            <a:r>
              <a:rPr sz="2000" spc="-5" dirty="0">
                <a:latin typeface="Calibri"/>
                <a:cs typeface="Calibri"/>
              </a:rPr>
              <a:t>réseau, le </a:t>
            </a:r>
            <a:r>
              <a:rPr sz="2000" dirty="0">
                <a:latin typeface="Calibri"/>
                <a:cs typeface="Calibri"/>
              </a:rPr>
              <a:t>mécanisme adéquat </a:t>
            </a:r>
            <a:r>
              <a:rPr sz="2000" spc="-5" dirty="0">
                <a:latin typeface="Calibri"/>
                <a:cs typeface="Calibri"/>
              </a:rPr>
              <a:t>sous-jacent </a:t>
            </a:r>
            <a:r>
              <a:rPr sz="2000" dirty="0">
                <a:latin typeface="Calibri"/>
                <a:cs typeface="Calibri"/>
              </a:rPr>
              <a:t>reposant </a:t>
            </a:r>
            <a:r>
              <a:rPr sz="2000" spc="-5" dirty="0">
                <a:latin typeface="Calibri"/>
                <a:cs typeface="Calibri"/>
              </a:rPr>
              <a:t>sur le principe </a:t>
            </a:r>
            <a:r>
              <a:rPr sz="2000" spc="5" dirty="0">
                <a:latin typeface="Calibri"/>
                <a:cs typeface="Calibri"/>
              </a:rPr>
              <a:t>de </a:t>
            </a:r>
            <a:r>
              <a:rPr sz="2000" dirty="0">
                <a:latin typeface="Calibri"/>
                <a:cs typeface="Calibri"/>
              </a:rPr>
              <a:t>code </a:t>
            </a:r>
            <a:r>
              <a:rPr sz="2000" spc="-5" dirty="0">
                <a:latin typeface="Calibri"/>
                <a:cs typeface="Calibri"/>
              </a:rPr>
              <a:t>d’intégrité </a:t>
            </a:r>
            <a:r>
              <a:rPr sz="2000" dirty="0">
                <a:latin typeface="Calibri"/>
                <a:cs typeface="Calibri"/>
              </a:rPr>
              <a:t> cryptographique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appelé HMAC.</a:t>
            </a:r>
          </a:p>
          <a:p>
            <a:pPr marL="355600" marR="9525" indent="-342900" algn="just">
              <a:lnSpc>
                <a:spcPct val="129000"/>
              </a:lnSpc>
              <a:spcBef>
                <a:spcPts val="1205"/>
              </a:spcBef>
              <a:buSzPct val="120000"/>
              <a:buFont typeface="Arial MT"/>
              <a:buChar char="•"/>
              <a:tabLst>
                <a:tab pos="355600" algn="l"/>
              </a:tabLst>
            </a:pP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L’authentification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de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l’origine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des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données </a:t>
            </a:r>
            <a:r>
              <a:rPr sz="2000" spc="-5" dirty="0">
                <a:latin typeface="Calibri"/>
                <a:cs typeface="Calibri"/>
              </a:rPr>
              <a:t>pour empêcher qu’un </a:t>
            </a:r>
            <a:r>
              <a:rPr sz="2000" dirty="0">
                <a:latin typeface="Calibri"/>
                <a:cs typeface="Calibri"/>
              </a:rPr>
              <a:t>attaquant </a:t>
            </a:r>
            <a:r>
              <a:rPr sz="2000" spc="-5" dirty="0">
                <a:latin typeface="Calibri"/>
                <a:cs typeface="Calibri"/>
              </a:rPr>
              <a:t>n’envoie des données en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usurpant l'identité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d'une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extrémités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tunnel.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service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repose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aussi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HMAC.</a:t>
            </a:r>
            <a:endParaRPr lang="fr-FR" sz="2000" dirty="0">
              <a:latin typeface="Calibri"/>
              <a:cs typeface="Calibri"/>
            </a:endParaRPr>
          </a:p>
          <a:p>
            <a:pPr marL="355600" marR="9525" indent="-342900" algn="just">
              <a:lnSpc>
                <a:spcPct val="129000"/>
              </a:lnSpc>
              <a:spcBef>
                <a:spcPts val="1205"/>
              </a:spcBef>
              <a:buSzPct val="120000"/>
              <a:buFont typeface="Arial MT"/>
              <a:buChar char="•"/>
              <a:tabLst>
                <a:tab pos="355600" algn="l"/>
              </a:tabLst>
            </a:pPr>
            <a:r>
              <a:rPr lang="fr-FR" sz="2000" b="1" spc="-5" dirty="0">
                <a:solidFill>
                  <a:srgbClr val="C00000"/>
                </a:solidFill>
                <a:latin typeface="Calibri"/>
                <a:cs typeface="Calibri"/>
              </a:rPr>
              <a:t>Anti-rejeu</a:t>
            </a:r>
            <a:r>
              <a:rPr lang="fr-FR" sz="2000" spc="-5" dirty="0">
                <a:latin typeface="Calibri"/>
                <a:cs typeface="Calibri"/>
              </a:rPr>
              <a:t> pour empêcher la réutilisation des paquets interceptés</a:t>
            </a:r>
            <a:endParaRPr sz="2000" spc="-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6D93-CD96-AB51-C669-4F61BE34B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0C48D2-F4A5-710E-188B-6CBFA6D26D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8C56B60-7453-85C8-9FA7-A0258013B17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AEF43D-F33D-3C3B-797F-C2BAABADE136}"/>
              </a:ext>
            </a:extLst>
          </p:cNvPr>
          <p:cNvSpPr/>
          <p:nvPr/>
        </p:nvSpPr>
        <p:spPr>
          <a:xfrm>
            <a:off x="1676400" y="2717800"/>
            <a:ext cx="5415541" cy="63500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385ADC0-31AE-B593-4685-95D43DC13417}"/>
              </a:ext>
            </a:extLst>
          </p:cNvPr>
          <p:cNvSpPr txBox="1"/>
          <p:nvPr/>
        </p:nvSpPr>
        <p:spPr>
          <a:xfrm>
            <a:off x="1761235" y="1915744"/>
            <a:ext cx="8622665" cy="29059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lang="en-GB" sz="2400" b="1" dirty="0" err="1">
                <a:latin typeface="Calibri"/>
                <a:cs typeface="Calibri"/>
              </a:rPr>
              <a:t>Définition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Calibri"/>
              <a:buChar char="▪"/>
            </a:pPr>
            <a:endParaRPr sz="3400" dirty="0">
              <a:latin typeface="Calibri"/>
              <a:cs typeface="Calibri"/>
            </a:endParaRP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sz="2400" b="1" dirty="0">
                <a:latin typeface="Calibri"/>
                <a:cs typeface="Calibri"/>
              </a:rPr>
              <a:t>Les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lang="fr-FR" sz="2400" b="1" spc="-5" dirty="0">
                <a:latin typeface="Calibri"/>
                <a:cs typeface="Calibri"/>
              </a:rPr>
              <a:t>types de VPN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Calibri"/>
              <a:buChar char="▪"/>
            </a:pPr>
            <a:endParaRPr sz="3400" dirty="0">
              <a:latin typeface="Calibri"/>
              <a:cs typeface="Calibri"/>
            </a:endParaRP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lang="en-GB" sz="2400" b="1" dirty="0" err="1">
                <a:latin typeface="Calibri"/>
                <a:cs typeface="Calibri"/>
              </a:rPr>
              <a:t>Fonctionnalités</a:t>
            </a:r>
            <a:r>
              <a:rPr lang="en-GB" sz="2400" b="1" dirty="0">
                <a:latin typeface="Calibri"/>
                <a:cs typeface="Calibri"/>
              </a:rPr>
              <a:t> </a:t>
            </a:r>
            <a:r>
              <a:rPr lang="en-GB" sz="2400" b="1" dirty="0" err="1">
                <a:latin typeface="Calibri"/>
                <a:cs typeface="Calibri"/>
              </a:rPr>
              <a:t>principales</a:t>
            </a:r>
            <a:r>
              <a:rPr lang="en-GB" sz="2400" b="1" dirty="0">
                <a:latin typeface="Calibri"/>
                <a:cs typeface="Calibri"/>
              </a:rPr>
              <a:t> des VPNs</a:t>
            </a: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endParaRPr lang="en-GB" sz="2400" b="1" dirty="0">
              <a:latin typeface="Calibri"/>
              <a:cs typeface="Calibri"/>
            </a:endParaRP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lang="en-GB" sz="2400" b="1" dirty="0">
                <a:latin typeface="Calibri"/>
                <a:cs typeface="Calibri"/>
              </a:rPr>
              <a:t>IPSec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932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4309745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/>
              <a:t>Types</a:t>
            </a:r>
            <a:r>
              <a:rPr lang="en-GB" spc="-30" dirty="0"/>
              <a:t> </a:t>
            </a:r>
            <a:r>
              <a:rPr lang="en-GB" dirty="0"/>
              <a:t>de</a:t>
            </a:r>
            <a:r>
              <a:rPr lang="en-GB" spc="-35" dirty="0"/>
              <a:t> </a:t>
            </a:r>
            <a:r>
              <a:rPr lang="en-GB" spc="-5" dirty="0"/>
              <a:t>VPN</a:t>
            </a: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Client-to-Site</a:t>
            </a:r>
            <a:r>
              <a:rPr sz="4000" b="1" spc="10" dirty="0">
                <a:latin typeface="Times New Roman"/>
                <a:cs typeface="Times New Roman"/>
              </a:rPr>
              <a:t> </a:t>
            </a:r>
            <a:r>
              <a:rPr sz="4000" b="1" spc="-15" dirty="0">
                <a:latin typeface="Times New Roman"/>
                <a:cs typeface="Times New Roman"/>
              </a:rPr>
              <a:t>VPNs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2905" y="1417421"/>
            <a:ext cx="7032625" cy="4808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29000"/>
              </a:lnSpc>
              <a:spcBef>
                <a:spcPts val="100"/>
              </a:spcBef>
              <a:buSzPct val="120000"/>
              <a:buChar char="•"/>
              <a:tabLst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VPN</a:t>
            </a:r>
            <a:r>
              <a:rPr sz="2000" dirty="0">
                <a:latin typeface="Calibri"/>
                <a:cs typeface="Calibri"/>
              </a:rPr>
              <a:t> d'accès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distance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permettent</a:t>
            </a:r>
            <a:r>
              <a:rPr sz="2000" dirty="0">
                <a:latin typeface="Calibri"/>
                <a:cs typeface="Calibri"/>
              </a:rPr>
              <a:t> aux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hôtes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</a:t>
            </a:r>
            <a:r>
              <a:rPr sz="2000" dirty="0">
                <a:latin typeface="Calibri"/>
                <a:cs typeface="Calibri"/>
              </a:rPr>
              <a:t> clients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individuels,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tels</a:t>
            </a:r>
            <a:r>
              <a:rPr sz="2000" dirty="0">
                <a:latin typeface="Calibri"/>
                <a:cs typeface="Calibri"/>
              </a:rPr>
              <a:t> que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dirty="0">
                <a:latin typeface="Calibri"/>
                <a:cs typeface="Calibri"/>
              </a:rPr>
              <a:t> télétravailleurs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4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4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utilisateurs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mobiles pour </a:t>
            </a:r>
            <a:r>
              <a:rPr sz="2000" dirty="0">
                <a:latin typeface="Calibri"/>
                <a:cs typeface="Calibri"/>
              </a:rPr>
              <a:t>établir </a:t>
            </a:r>
            <a:r>
              <a:rPr sz="2000" spc="-5" dirty="0">
                <a:latin typeface="Calibri"/>
                <a:cs typeface="Calibri"/>
              </a:rPr>
              <a:t>des </a:t>
            </a:r>
            <a:r>
              <a:rPr sz="2000" dirty="0">
                <a:latin typeface="Calibri"/>
                <a:cs typeface="Calibri"/>
              </a:rPr>
              <a:t>connexions sécurisées au réseau </a:t>
            </a:r>
            <a:r>
              <a:rPr sz="2000" spc="-5" dirty="0">
                <a:latin typeface="Calibri"/>
                <a:cs typeface="Calibri"/>
              </a:rPr>
              <a:t>d'une </a:t>
            </a:r>
            <a:r>
              <a:rPr sz="2000" dirty="0">
                <a:latin typeface="Calibri"/>
                <a:cs typeface="Calibri"/>
              </a:rPr>
              <a:t> entreprise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Internet</a:t>
            </a:r>
            <a:endParaRPr sz="2000">
              <a:latin typeface="Calibri"/>
              <a:cs typeface="Calibri"/>
            </a:endParaRPr>
          </a:p>
          <a:p>
            <a:pPr marL="355600" marR="8890" indent="-342900" algn="just">
              <a:lnSpc>
                <a:spcPct val="129000"/>
              </a:lnSpc>
              <a:spcBef>
                <a:spcPts val="1200"/>
              </a:spcBef>
              <a:buSzPct val="120000"/>
              <a:buChar char="•"/>
              <a:tabLst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Chaque hôte </a:t>
            </a:r>
            <a:r>
              <a:rPr sz="2000" dirty="0">
                <a:latin typeface="Calibri"/>
                <a:cs typeface="Calibri"/>
              </a:rPr>
              <a:t>contient un </a:t>
            </a:r>
            <a:r>
              <a:rPr sz="2000" spc="-5" dirty="0">
                <a:latin typeface="Calibri"/>
                <a:cs typeface="Calibri"/>
              </a:rPr>
              <a:t>logiciel </a:t>
            </a:r>
            <a:r>
              <a:rPr sz="2000" dirty="0">
                <a:latin typeface="Calibri"/>
                <a:cs typeface="Calibri"/>
              </a:rPr>
              <a:t>client </a:t>
            </a:r>
            <a:r>
              <a:rPr sz="2000" spc="-5" dirty="0">
                <a:latin typeface="Calibri"/>
                <a:cs typeface="Calibri"/>
              </a:rPr>
              <a:t>VPN ou utilise </a:t>
            </a:r>
            <a:r>
              <a:rPr sz="2000" dirty="0">
                <a:latin typeface="Calibri"/>
                <a:cs typeface="Calibri"/>
              </a:rPr>
              <a:t>un </a:t>
            </a:r>
            <a:r>
              <a:rPr sz="2000" spc="-5" dirty="0">
                <a:latin typeface="Calibri"/>
                <a:cs typeface="Calibri"/>
              </a:rPr>
              <a:t>client </a:t>
            </a:r>
            <a:r>
              <a:rPr sz="2000" dirty="0">
                <a:latin typeface="Calibri"/>
                <a:cs typeface="Calibri"/>
              </a:rPr>
              <a:t> Web</a:t>
            </a:r>
            <a:endParaRPr sz="2000">
              <a:latin typeface="Calibri"/>
              <a:cs typeface="Calibri"/>
            </a:endParaRPr>
          </a:p>
          <a:p>
            <a:pPr marL="355600" marR="7620" indent="-342900" algn="just">
              <a:lnSpc>
                <a:spcPct val="129000"/>
              </a:lnSpc>
              <a:spcBef>
                <a:spcPts val="1200"/>
              </a:spcBef>
              <a:buSzPct val="120000"/>
              <a:buChar char="•"/>
              <a:tabLst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VPN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crypte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 paquets</a:t>
            </a:r>
            <a:r>
              <a:rPr sz="2000" dirty="0">
                <a:latin typeface="Calibri"/>
                <a:cs typeface="Calibri"/>
              </a:rPr>
              <a:t> de </a:t>
            </a:r>
            <a:r>
              <a:rPr sz="2000" spc="-5" dirty="0">
                <a:latin typeface="Calibri"/>
                <a:cs typeface="Calibri"/>
              </a:rPr>
              <a:t>données</a:t>
            </a:r>
            <a:r>
              <a:rPr sz="2000" dirty="0">
                <a:latin typeface="Calibri"/>
                <a:cs typeface="Calibri"/>
              </a:rPr>
              <a:t> qui </a:t>
            </a:r>
            <a:r>
              <a:rPr sz="2000" spc="-5" dirty="0">
                <a:latin typeface="Calibri"/>
                <a:cs typeface="Calibri"/>
              </a:rPr>
              <a:t>sont</a:t>
            </a:r>
            <a:r>
              <a:rPr sz="2000" dirty="0">
                <a:latin typeface="Calibri"/>
                <a:cs typeface="Calibri"/>
              </a:rPr>
              <a:t> transmis via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Internet à </a:t>
            </a: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dirty="0">
                <a:latin typeface="Calibri"/>
                <a:cs typeface="Calibri"/>
              </a:rPr>
              <a:t>passerelle </a:t>
            </a:r>
            <a:r>
              <a:rPr sz="2000" spc="-5" dirty="0">
                <a:latin typeface="Calibri"/>
                <a:cs typeface="Calibri"/>
              </a:rPr>
              <a:t>VPN </a:t>
            </a:r>
            <a:r>
              <a:rPr sz="2000" dirty="0">
                <a:latin typeface="Calibri"/>
                <a:cs typeface="Calibri"/>
              </a:rPr>
              <a:t>au </a:t>
            </a:r>
            <a:r>
              <a:rPr sz="2000" spc="-5" dirty="0">
                <a:latin typeface="Calibri"/>
                <a:cs typeface="Calibri"/>
              </a:rPr>
              <a:t>périphérie </a:t>
            </a:r>
            <a:r>
              <a:rPr sz="2000" dirty="0">
                <a:latin typeface="Calibri"/>
                <a:cs typeface="Calibri"/>
              </a:rPr>
              <a:t>du réseau cible, </a:t>
            </a:r>
            <a:r>
              <a:rPr sz="2000" spc="-5" dirty="0">
                <a:latin typeface="Calibri"/>
                <a:cs typeface="Calibri"/>
              </a:rPr>
              <a:t>avec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 </a:t>
            </a:r>
            <a:r>
              <a:rPr sz="2000" dirty="0">
                <a:latin typeface="Calibri"/>
                <a:cs typeface="Calibri"/>
              </a:rPr>
              <a:t>logiciel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installé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dirty="0">
                <a:latin typeface="Calibri"/>
                <a:cs typeface="Calibri"/>
              </a:rPr>
              <a:t> machine du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client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libri"/>
              <a:buChar char="•"/>
            </a:pPr>
            <a:endParaRPr sz="15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SzPct val="120000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Une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passerelle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VPN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reçoit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paquets,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puis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ferme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connexion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700"/>
              </a:spcBef>
            </a:pPr>
            <a:r>
              <a:rPr sz="2000" dirty="0">
                <a:latin typeface="Calibri"/>
                <a:cs typeface="Calibri"/>
              </a:rPr>
              <a:t>au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VPN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transfert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terminé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89884"/>
            <a:ext cx="4896611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6689" y="235077"/>
            <a:ext cx="3776979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Types</a:t>
            </a:r>
            <a:r>
              <a:rPr spc="-3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5" dirty="0"/>
              <a:t>VPN</a:t>
            </a:r>
          </a:p>
          <a:p>
            <a:pPr marL="88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Site-to-Site</a:t>
            </a:r>
            <a:r>
              <a:rPr sz="4000" b="1" spc="5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VPNs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2905" y="1417421"/>
            <a:ext cx="7031990" cy="550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29000"/>
              </a:lnSpc>
              <a:spcBef>
                <a:spcPts val="100"/>
              </a:spcBef>
              <a:buSzPct val="120000"/>
              <a:buChar char="•"/>
              <a:tabLst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Le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VPN site-to-site</a:t>
            </a:r>
            <a:r>
              <a:rPr sz="2000" spc="-5" dirty="0">
                <a:latin typeface="Calibri"/>
                <a:cs typeface="Calibri"/>
              </a:rPr>
              <a:t>, </a:t>
            </a:r>
            <a:r>
              <a:rPr sz="2000" dirty="0">
                <a:latin typeface="Calibri"/>
                <a:cs typeface="Calibri"/>
              </a:rPr>
              <a:t>aussi connu </a:t>
            </a:r>
            <a:r>
              <a:rPr sz="2000" spc="-10" dirty="0">
                <a:latin typeface="Calibri"/>
                <a:cs typeface="Calibri"/>
              </a:rPr>
              <a:t>sous </a:t>
            </a:r>
            <a:r>
              <a:rPr sz="2000" spc="-5" dirty="0">
                <a:latin typeface="Calibri"/>
                <a:cs typeface="Calibri"/>
              </a:rPr>
              <a:t>le nom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VPN LAN-to-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LAN,</a:t>
            </a:r>
            <a:r>
              <a:rPr sz="2000" dirty="0">
                <a:latin typeface="Calibri"/>
                <a:cs typeface="Calibri"/>
              </a:rPr>
              <a:t> étend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dirty="0">
                <a:latin typeface="Calibri"/>
                <a:cs typeface="Calibri"/>
              </a:rPr>
              <a:t> réseau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l'entreprise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permet</a:t>
            </a:r>
            <a:r>
              <a:rPr sz="2000" dirty="0">
                <a:latin typeface="Calibri"/>
                <a:cs typeface="Calibri"/>
              </a:rPr>
              <a:t> l'accès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aux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ressources</a:t>
            </a:r>
            <a:r>
              <a:rPr sz="2000" dirty="0">
                <a:latin typeface="Calibri"/>
                <a:cs typeface="Calibri"/>
              </a:rPr>
              <a:t> réseau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d'une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organisation</a:t>
            </a:r>
            <a:r>
              <a:rPr sz="2000" dirty="0">
                <a:latin typeface="Calibri"/>
                <a:cs typeface="Calibri"/>
              </a:rPr>
              <a:t> à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partir</a:t>
            </a:r>
            <a:r>
              <a:rPr sz="2000" dirty="0">
                <a:latin typeface="Calibri"/>
                <a:cs typeface="Calibri"/>
              </a:rPr>
              <a:t> 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différents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emplacements</a:t>
            </a:r>
            <a:endParaRPr sz="2000">
              <a:latin typeface="Calibri"/>
              <a:cs typeface="Calibri"/>
            </a:endParaRPr>
          </a:p>
          <a:p>
            <a:pPr marL="355600" marR="6985" indent="-342900" algn="just">
              <a:lnSpc>
                <a:spcPct val="129000"/>
              </a:lnSpc>
              <a:spcBef>
                <a:spcPts val="1200"/>
              </a:spcBef>
              <a:buSzPct val="120000"/>
              <a:buChar char="•"/>
              <a:tabLst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Il </a:t>
            </a:r>
            <a:r>
              <a:rPr sz="2000" dirty="0">
                <a:latin typeface="Calibri"/>
                <a:cs typeface="Calibri"/>
              </a:rPr>
              <a:t>connecte une </a:t>
            </a:r>
            <a:r>
              <a:rPr sz="2000" spc="-5" dirty="0">
                <a:latin typeface="Calibri"/>
                <a:cs typeface="Calibri"/>
              </a:rPr>
              <a:t>succursale ou un </a:t>
            </a:r>
            <a:r>
              <a:rPr sz="2000" dirty="0">
                <a:latin typeface="Calibri"/>
                <a:cs typeface="Calibri"/>
              </a:rPr>
              <a:t>réseau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dirty="0">
                <a:latin typeface="Calibri"/>
                <a:cs typeface="Calibri"/>
              </a:rPr>
              <a:t>bureaux distants au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réseau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siège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social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l'entreprise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libri"/>
              <a:buChar char="•"/>
            </a:pPr>
            <a:endParaRPr sz="15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SzPct val="120000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VPN site-to-site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sont</a:t>
            </a:r>
            <a:r>
              <a:rPr sz="2000" dirty="0">
                <a:latin typeface="Calibri"/>
                <a:cs typeface="Calibri"/>
              </a:rPr>
              <a:t> classés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 deux </a:t>
            </a:r>
            <a:r>
              <a:rPr sz="2000" dirty="0">
                <a:latin typeface="Calibri"/>
                <a:cs typeface="Calibri"/>
              </a:rPr>
              <a:t>types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370840" marR="8890" indent="-15240" algn="just">
              <a:lnSpc>
                <a:spcPct val="147800"/>
              </a:lnSpc>
              <a:spcBef>
                <a:spcPts val="930"/>
              </a:spcBef>
            </a:pPr>
            <a:r>
              <a:rPr sz="2000" spc="5" dirty="0">
                <a:latin typeface="Segoe UI Emoji"/>
                <a:cs typeface="Segoe UI Emoji"/>
              </a:rPr>
              <a:t>✔ </a:t>
            </a:r>
            <a:r>
              <a:rPr sz="1800" dirty="0">
                <a:latin typeface="Calibri"/>
                <a:cs typeface="Calibri"/>
              </a:rPr>
              <a:t>Intranet-based : </a:t>
            </a:r>
            <a:r>
              <a:rPr sz="1800" spc="-5" dirty="0">
                <a:latin typeface="Calibri"/>
                <a:cs typeface="Calibri"/>
              </a:rPr>
              <a:t>la connectivité VPN </a:t>
            </a:r>
            <a:r>
              <a:rPr sz="1800" dirty="0">
                <a:latin typeface="Calibri"/>
                <a:cs typeface="Calibri"/>
              </a:rPr>
              <a:t>se </a:t>
            </a:r>
            <a:r>
              <a:rPr sz="1800" spc="-5" dirty="0">
                <a:latin typeface="Calibri"/>
                <a:cs typeface="Calibri"/>
              </a:rPr>
              <a:t>fait entre les sites </a:t>
            </a:r>
            <a:r>
              <a:rPr sz="1800" spc="-10" dirty="0">
                <a:latin typeface="Calibri"/>
                <a:cs typeface="Calibri"/>
              </a:rPr>
              <a:t>d'une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même </a:t>
            </a:r>
            <a:r>
              <a:rPr sz="1800" spc="-5" dirty="0">
                <a:latin typeface="Calibri"/>
                <a:cs typeface="Calibri"/>
              </a:rPr>
              <a:t>organisation</a:t>
            </a:r>
            <a:endParaRPr sz="1800">
              <a:latin typeface="Calibri"/>
              <a:cs typeface="Calibri"/>
            </a:endParaRPr>
          </a:p>
          <a:p>
            <a:pPr marL="370840" marR="5715" indent="-15240" algn="just">
              <a:lnSpc>
                <a:spcPct val="151400"/>
              </a:lnSpc>
              <a:spcBef>
                <a:spcPts val="955"/>
              </a:spcBef>
            </a:pPr>
            <a:r>
              <a:rPr sz="2000" spc="5" dirty="0">
                <a:latin typeface="Segoe UI Emoji"/>
                <a:cs typeface="Segoe UI Emoji"/>
              </a:rPr>
              <a:t>✔ </a:t>
            </a:r>
            <a:r>
              <a:rPr sz="1800" spc="-5" dirty="0">
                <a:latin typeface="Calibri"/>
                <a:cs typeface="Calibri"/>
              </a:rPr>
              <a:t>Extranet-based</a:t>
            </a:r>
            <a:r>
              <a:rPr sz="1800" dirty="0">
                <a:latin typeface="Calibri"/>
                <a:cs typeface="Calibri"/>
              </a:rPr>
              <a:t> 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connectivité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VPN</a:t>
            </a:r>
            <a:r>
              <a:rPr sz="1800" dirty="0">
                <a:latin typeface="Calibri"/>
                <a:cs typeface="Calibri"/>
              </a:rPr>
              <a:t> 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fait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entre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différentes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organisations telles </a:t>
            </a:r>
            <a:r>
              <a:rPr sz="1800" dirty="0">
                <a:latin typeface="Calibri"/>
                <a:cs typeface="Calibri"/>
              </a:rPr>
              <a:t>que des partenaires </a:t>
            </a:r>
            <a:r>
              <a:rPr sz="1800" spc="-5" dirty="0">
                <a:latin typeface="Calibri"/>
                <a:cs typeface="Calibri"/>
              </a:rPr>
              <a:t>commerciaux, l'entreprise </a:t>
            </a:r>
            <a:r>
              <a:rPr sz="1800" dirty="0">
                <a:latin typeface="Calibri"/>
                <a:cs typeface="Calibri"/>
              </a:rPr>
              <a:t>et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clients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89886"/>
            <a:ext cx="4896611" cy="54681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2878C-7BE8-682F-DF02-7230EA06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F8CEDCA-BC28-5AC5-854E-2AF19CDBAA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DD07C1C-3C89-5BD8-9A86-2E0BB58DB53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067079-41EF-6B4F-11D7-014A2C65C01A}"/>
              </a:ext>
            </a:extLst>
          </p:cNvPr>
          <p:cNvSpPr/>
          <p:nvPr/>
        </p:nvSpPr>
        <p:spPr>
          <a:xfrm>
            <a:off x="1676400" y="3556000"/>
            <a:ext cx="5415541" cy="63500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9115747-5D49-10CC-3C0C-A35141F44495}"/>
              </a:ext>
            </a:extLst>
          </p:cNvPr>
          <p:cNvSpPr txBox="1"/>
          <p:nvPr/>
        </p:nvSpPr>
        <p:spPr>
          <a:xfrm>
            <a:off x="1761235" y="1915744"/>
            <a:ext cx="8622665" cy="29059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lang="en-GB" sz="2400" b="1" dirty="0" err="1">
                <a:latin typeface="Calibri"/>
                <a:cs typeface="Calibri"/>
              </a:rPr>
              <a:t>Définition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Calibri"/>
              <a:buChar char="▪"/>
            </a:pPr>
            <a:endParaRPr sz="3400" dirty="0">
              <a:latin typeface="Calibri"/>
              <a:cs typeface="Calibri"/>
            </a:endParaRP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sz="2400" b="1" dirty="0">
                <a:latin typeface="Calibri"/>
                <a:cs typeface="Calibri"/>
              </a:rPr>
              <a:t>Les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lang="fr-FR" sz="2400" b="1" spc="-5" dirty="0">
                <a:latin typeface="Calibri"/>
                <a:cs typeface="Calibri"/>
              </a:rPr>
              <a:t>types de VPN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Calibri"/>
              <a:buChar char="▪"/>
            </a:pPr>
            <a:endParaRPr sz="3400" dirty="0">
              <a:latin typeface="Calibri"/>
              <a:cs typeface="Calibri"/>
            </a:endParaRP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lang="en-GB" sz="2400" b="1" dirty="0" err="1">
                <a:latin typeface="Calibri"/>
                <a:cs typeface="Calibri"/>
              </a:rPr>
              <a:t>Fonctionnalités</a:t>
            </a:r>
            <a:r>
              <a:rPr lang="en-GB" sz="2400" b="1" dirty="0">
                <a:latin typeface="Calibri"/>
                <a:cs typeface="Calibri"/>
              </a:rPr>
              <a:t> </a:t>
            </a:r>
            <a:r>
              <a:rPr lang="en-GB" sz="2400" b="1" dirty="0" err="1">
                <a:latin typeface="Calibri"/>
                <a:cs typeface="Calibri"/>
              </a:rPr>
              <a:t>principales</a:t>
            </a:r>
            <a:r>
              <a:rPr lang="en-GB" sz="2400" b="1" dirty="0">
                <a:latin typeface="Calibri"/>
                <a:cs typeface="Calibri"/>
              </a:rPr>
              <a:t> des VPNs</a:t>
            </a: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endParaRPr lang="en-GB" sz="2400" b="1" dirty="0">
              <a:latin typeface="Calibri"/>
              <a:cs typeface="Calibri"/>
            </a:endParaRP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lang="en-GB" sz="2400" b="1" dirty="0">
                <a:latin typeface="Calibri"/>
                <a:cs typeface="Calibri"/>
              </a:rPr>
              <a:t>IPSec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052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35077"/>
            <a:ext cx="5358130" cy="1064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Encapsulation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736" y="1417421"/>
            <a:ext cx="11714480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29000"/>
              </a:lnSpc>
              <a:spcBef>
                <a:spcPts val="100"/>
              </a:spcBef>
              <a:buSzPct val="120000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paquets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sur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VPN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sont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enfermés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dans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autre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paquet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(encapsulation)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qui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une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IP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source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IP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destination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différentes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Char char="•"/>
            </a:pPr>
            <a:endParaRPr sz="15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SzPct val="120000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La </a:t>
            </a:r>
            <a:r>
              <a:rPr sz="2000" spc="-5" dirty="0">
                <a:latin typeface="Calibri"/>
                <a:cs typeface="Calibri"/>
              </a:rPr>
              <a:t>dissimulation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source</a:t>
            </a:r>
            <a:r>
              <a:rPr sz="2000" dirty="0">
                <a:latin typeface="Calibri"/>
                <a:cs typeface="Calibri"/>
              </a:rPr>
              <a:t> et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 la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destination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paquets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protège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l'intégrité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données envoyées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428999"/>
            <a:ext cx="12191999" cy="3428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3989" y="205269"/>
            <a:ext cx="8442325" cy="106934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305"/>
              </a:spcBef>
            </a:pPr>
            <a:r>
              <a:rPr sz="3600" b="1" dirty="0">
                <a:latin typeface="Times New Roman"/>
                <a:cs typeface="Times New Roman"/>
              </a:rPr>
              <a:t>Les</a:t>
            </a:r>
            <a:r>
              <a:rPr sz="3600" b="1" spc="10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prinicipaux</a:t>
            </a:r>
            <a:r>
              <a:rPr sz="3600" b="1" spc="5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protocoles</a:t>
            </a:r>
            <a:r>
              <a:rPr sz="3600" b="1" spc="1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de</a:t>
            </a:r>
            <a:r>
              <a:rPr sz="3600" b="1" spc="15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tunnelisation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801" y="1450619"/>
            <a:ext cx="11694160" cy="452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0" marR="5080" indent="-521334">
              <a:lnSpc>
                <a:spcPct val="130000"/>
              </a:lnSpc>
              <a:spcBef>
                <a:spcPts val="100"/>
              </a:spcBef>
              <a:buClr>
                <a:srgbClr val="C00000"/>
              </a:buClr>
              <a:buSzPct val="187500"/>
              <a:buFont typeface="Arial MT"/>
              <a:buChar char="•"/>
              <a:tabLst>
                <a:tab pos="533400" algn="l"/>
                <a:tab pos="534035" algn="l"/>
                <a:tab pos="7524750" algn="l"/>
              </a:tabLst>
            </a:pPr>
            <a:r>
              <a:rPr sz="1600" b="1" spc="-5" dirty="0">
                <a:latin typeface="Calibri"/>
                <a:cs typeface="Calibri"/>
              </a:rPr>
              <a:t>PPTP</a:t>
            </a:r>
            <a:r>
              <a:rPr sz="1600" b="1" spc="1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</a:t>
            </a:r>
            <a:r>
              <a:rPr sz="1600" i="1" spc="-5" dirty="0">
                <a:latin typeface="Calibri"/>
                <a:cs typeface="Calibri"/>
              </a:rPr>
              <a:t>Point-to-Point</a:t>
            </a:r>
            <a:r>
              <a:rPr sz="1600" i="1" spc="200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Calibri"/>
                <a:cs typeface="Calibri"/>
              </a:rPr>
              <a:t>tunneling</a:t>
            </a:r>
            <a:r>
              <a:rPr sz="1600" i="1" spc="190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Calibri"/>
                <a:cs typeface="Calibri"/>
              </a:rPr>
              <a:t>Protocol</a:t>
            </a:r>
            <a:r>
              <a:rPr sz="1600" spc="-5" dirty="0">
                <a:latin typeface="Calibri"/>
                <a:cs typeface="Calibri"/>
              </a:rPr>
              <a:t>)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est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un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protocole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niveau</a:t>
            </a:r>
            <a:r>
              <a:rPr sz="1600" spc="2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2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développé	par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Microsoft,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3Com,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Ascend,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Robotics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et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ECI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Telematics.</a:t>
            </a:r>
            <a:endParaRPr sz="1600" dirty="0">
              <a:latin typeface="Calibri"/>
              <a:cs typeface="Calibri"/>
            </a:endParaRPr>
          </a:p>
          <a:p>
            <a:pPr marL="535305" marR="281940" indent="-523240">
              <a:lnSpc>
                <a:spcPct val="130200"/>
              </a:lnSpc>
              <a:spcBef>
                <a:spcPts val="595"/>
              </a:spcBef>
              <a:buClr>
                <a:srgbClr val="C00000"/>
              </a:buClr>
              <a:buSzPct val="187500"/>
              <a:buFont typeface="Arial MT"/>
              <a:buChar char="•"/>
              <a:tabLst>
                <a:tab pos="535305" algn="l"/>
                <a:tab pos="535940" algn="l"/>
                <a:tab pos="7327900" algn="l"/>
              </a:tabLst>
            </a:pPr>
            <a:r>
              <a:rPr sz="1600" b="1" spc="-10" dirty="0">
                <a:latin typeface="Calibri"/>
                <a:cs typeface="Calibri"/>
              </a:rPr>
              <a:t>L2F</a:t>
            </a:r>
            <a:r>
              <a:rPr sz="1600" b="1" spc="18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</a:t>
            </a:r>
            <a:r>
              <a:rPr sz="1600" i="1" spc="-5" dirty="0">
                <a:latin typeface="Calibri"/>
                <a:cs typeface="Calibri"/>
              </a:rPr>
              <a:t>Layer</a:t>
            </a:r>
            <a:r>
              <a:rPr sz="1600" i="1" spc="18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Two</a:t>
            </a:r>
            <a:r>
              <a:rPr sz="1600" i="1" spc="190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Calibri"/>
                <a:cs typeface="Calibri"/>
              </a:rPr>
              <a:t>Forwarding</a:t>
            </a:r>
            <a:r>
              <a:rPr sz="1600" spc="-5" dirty="0">
                <a:latin typeface="Calibri"/>
                <a:cs typeface="Calibri"/>
              </a:rPr>
              <a:t>)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est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un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protocole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niveau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2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développé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Cisco	Systems,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Nortel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et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Shiva.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Il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est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désormais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quasi-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obsolète.</a:t>
            </a:r>
            <a:endParaRPr sz="1600" dirty="0">
              <a:latin typeface="Calibri"/>
              <a:cs typeface="Calibri"/>
            </a:endParaRPr>
          </a:p>
          <a:p>
            <a:pPr marL="535305" marR="125730" indent="-523240">
              <a:lnSpc>
                <a:spcPct val="130000"/>
              </a:lnSpc>
              <a:spcBef>
                <a:spcPts val="600"/>
              </a:spcBef>
              <a:buClr>
                <a:srgbClr val="C00000"/>
              </a:buClr>
              <a:buSzPct val="187500"/>
              <a:buFont typeface="Arial MT"/>
              <a:buChar char="•"/>
              <a:tabLst>
                <a:tab pos="535305" algn="l"/>
                <a:tab pos="535940" algn="l"/>
              </a:tabLst>
            </a:pPr>
            <a:r>
              <a:rPr sz="1600" b="1" spc="-5" dirty="0">
                <a:latin typeface="Calibri"/>
                <a:cs typeface="Calibri"/>
              </a:rPr>
              <a:t>L2TP</a:t>
            </a:r>
            <a:r>
              <a:rPr sz="1600" b="1" spc="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</a:t>
            </a:r>
            <a:r>
              <a:rPr sz="1600" i="1" spc="-5" dirty="0">
                <a:latin typeface="Calibri"/>
                <a:cs typeface="Calibri"/>
              </a:rPr>
              <a:t>Layer</a:t>
            </a:r>
            <a:r>
              <a:rPr sz="1600" i="1" spc="50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Calibri"/>
                <a:cs typeface="Calibri"/>
              </a:rPr>
              <a:t>Two</a:t>
            </a:r>
            <a:r>
              <a:rPr sz="1600" i="1" spc="40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Calibri"/>
                <a:cs typeface="Calibri"/>
              </a:rPr>
              <a:t>Tunneling</a:t>
            </a:r>
            <a:r>
              <a:rPr sz="1600" i="1" spc="35" dirty="0">
                <a:latin typeface="Calibri"/>
                <a:cs typeface="Calibri"/>
              </a:rPr>
              <a:t> </a:t>
            </a:r>
            <a:r>
              <a:rPr sz="1600" i="1" spc="-5" dirty="0">
                <a:latin typeface="Calibri"/>
                <a:cs typeface="Calibri"/>
              </a:rPr>
              <a:t>Protocol</a:t>
            </a:r>
            <a:r>
              <a:rPr sz="1600" spc="-5" dirty="0">
                <a:latin typeface="Calibri"/>
                <a:cs typeface="Calibri"/>
              </a:rPr>
              <a:t>)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est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l'aboutissement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travaux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l'IETF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(RFC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3931)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pour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faire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converger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les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fonctionnalités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PPTP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L2F.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s'agit ainsi</a:t>
            </a:r>
            <a:r>
              <a:rPr sz="1600" spc="3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d'un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protocole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niveau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2 s'appuyant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sur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PPP.</a:t>
            </a:r>
            <a:endParaRPr sz="1600" dirty="0">
              <a:latin typeface="Calibri"/>
              <a:cs typeface="Calibri"/>
            </a:endParaRPr>
          </a:p>
          <a:p>
            <a:pPr marL="535305" indent="-523240">
              <a:lnSpc>
                <a:spcPct val="100000"/>
              </a:lnSpc>
              <a:spcBef>
                <a:spcPts val="1175"/>
              </a:spcBef>
              <a:buClr>
                <a:srgbClr val="C00000"/>
              </a:buClr>
              <a:buSzPct val="187500"/>
              <a:buFont typeface="Arial MT"/>
              <a:buChar char="•"/>
              <a:tabLst>
                <a:tab pos="535305" algn="l"/>
                <a:tab pos="535940" algn="l"/>
              </a:tabLst>
            </a:pPr>
            <a:r>
              <a:rPr sz="1600" b="1" spc="-10" dirty="0">
                <a:latin typeface="Calibri"/>
                <a:cs typeface="Calibri"/>
              </a:rPr>
              <a:t>IPsec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est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une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suite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protocoles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qui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fournit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dirty="0">
                <a:latin typeface="Calibri"/>
                <a:cs typeface="Calibri"/>
              </a:rPr>
              <a:t> la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sécurité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aux communications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Internet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couche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IP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du modèle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TCP </a:t>
            </a:r>
            <a:r>
              <a:rPr sz="1600" dirty="0">
                <a:latin typeface="Calibri"/>
                <a:cs typeface="Calibri"/>
              </a:rPr>
              <a:t>IP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(IETF)</a:t>
            </a:r>
            <a:endParaRPr sz="1600" dirty="0">
              <a:latin typeface="Calibri"/>
              <a:cs typeface="Calibri"/>
            </a:endParaRPr>
          </a:p>
          <a:p>
            <a:pPr marL="533400" indent="-521334">
              <a:lnSpc>
                <a:spcPct val="100000"/>
              </a:lnSpc>
              <a:spcBef>
                <a:spcPts val="1175"/>
              </a:spcBef>
              <a:buClr>
                <a:srgbClr val="C00000"/>
              </a:buClr>
              <a:buSzPct val="187500"/>
              <a:buFont typeface="Arial MT"/>
              <a:buChar char="•"/>
              <a:tabLst>
                <a:tab pos="533400" algn="l"/>
                <a:tab pos="534035" algn="l"/>
              </a:tabLst>
            </a:pPr>
            <a:r>
              <a:rPr sz="1600" b="1" spc="-5" dirty="0">
                <a:latin typeface="Calibri"/>
                <a:cs typeface="Calibri"/>
              </a:rPr>
              <a:t>SSL/TLS</a:t>
            </a:r>
            <a:r>
              <a:rPr sz="1600" b="1" spc="1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offre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une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très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bonne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solution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tunnelisation.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L'avantage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cette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solution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est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permettre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l'utilisation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d'un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navigateur</a:t>
            </a:r>
            <a:endParaRPr sz="1600" dirty="0">
              <a:latin typeface="Calibri"/>
              <a:cs typeface="Calibri"/>
            </a:endParaRPr>
          </a:p>
          <a:p>
            <a:pPr marL="533400">
              <a:lnSpc>
                <a:spcPct val="100000"/>
              </a:lnSpc>
              <a:spcBef>
                <a:spcPts val="580"/>
              </a:spcBef>
            </a:pPr>
            <a:r>
              <a:rPr sz="1600" spc="-10" dirty="0">
                <a:latin typeface="Calibri"/>
                <a:cs typeface="Calibri"/>
              </a:rPr>
              <a:t>Web</a:t>
            </a:r>
            <a:r>
              <a:rPr sz="1600" spc="-5" dirty="0">
                <a:latin typeface="Calibri"/>
                <a:cs typeface="Calibri"/>
              </a:rPr>
              <a:t> comme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client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VPN.</a:t>
            </a:r>
            <a:endParaRPr sz="1600" dirty="0">
              <a:latin typeface="Calibri"/>
              <a:cs typeface="Calibri"/>
            </a:endParaRPr>
          </a:p>
          <a:p>
            <a:pPr marL="535305" marR="207010" indent="-523240" algn="just">
              <a:lnSpc>
                <a:spcPct val="130000"/>
              </a:lnSpc>
              <a:spcBef>
                <a:spcPts val="600"/>
              </a:spcBef>
              <a:buClr>
                <a:srgbClr val="C00000"/>
              </a:buClr>
              <a:buSzPct val="187500"/>
              <a:buFont typeface="Arial MT"/>
              <a:buChar char="•"/>
              <a:tabLst>
                <a:tab pos="535940" algn="l"/>
              </a:tabLst>
            </a:pPr>
            <a:r>
              <a:rPr sz="1600" b="1" spc="-5" dirty="0">
                <a:latin typeface="Calibri"/>
                <a:cs typeface="Calibri"/>
              </a:rPr>
              <a:t>SSH </a:t>
            </a:r>
            <a:r>
              <a:rPr sz="1600" spc="-5" dirty="0">
                <a:latin typeface="Calibri"/>
                <a:cs typeface="Calibri"/>
              </a:rPr>
              <a:t>offre </a:t>
            </a:r>
            <a:r>
              <a:rPr sz="1600" dirty="0">
                <a:latin typeface="Calibri"/>
                <a:cs typeface="Calibri"/>
              </a:rPr>
              <a:t>la </a:t>
            </a:r>
            <a:r>
              <a:rPr sz="1600" spc="-10" dirty="0">
                <a:latin typeface="Calibri"/>
                <a:cs typeface="Calibri"/>
              </a:rPr>
              <a:t>possibilité </a:t>
            </a:r>
            <a:r>
              <a:rPr sz="1600" spc="-5" dirty="0">
                <a:latin typeface="Calibri"/>
                <a:cs typeface="Calibri"/>
              </a:rPr>
              <a:t>de tunneliser </a:t>
            </a:r>
            <a:r>
              <a:rPr sz="1600" spc="-10" dirty="0">
                <a:latin typeface="Calibri"/>
                <a:cs typeface="Calibri"/>
              </a:rPr>
              <a:t>des </a:t>
            </a:r>
            <a:r>
              <a:rPr sz="1600" spc="-5" dirty="0">
                <a:latin typeface="Calibri"/>
                <a:cs typeface="Calibri"/>
              </a:rPr>
              <a:t>connexions de type TCP, permettant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d'accéder ainsi de façon </a:t>
            </a:r>
            <a:r>
              <a:rPr sz="1600" spc="-10" dirty="0">
                <a:latin typeface="Calibri"/>
                <a:cs typeface="Calibri"/>
              </a:rPr>
              <a:t>sûre </a:t>
            </a:r>
            <a:r>
              <a:rPr sz="1600" spc="-5" dirty="0">
                <a:latin typeface="Calibri"/>
                <a:cs typeface="Calibri"/>
              </a:rPr>
              <a:t>à </a:t>
            </a:r>
            <a:r>
              <a:rPr sz="1600" spc="-10" dirty="0">
                <a:latin typeface="Calibri"/>
                <a:cs typeface="Calibri"/>
              </a:rPr>
              <a:t>des </a:t>
            </a:r>
            <a:r>
              <a:rPr sz="1600" spc="-5" dirty="0">
                <a:latin typeface="Calibri"/>
                <a:cs typeface="Calibri"/>
              </a:rPr>
              <a:t>services offerts </a:t>
            </a:r>
            <a:r>
              <a:rPr sz="1600" spc="-10" dirty="0">
                <a:latin typeface="Calibri"/>
                <a:cs typeface="Calibri"/>
              </a:rPr>
              <a:t>sur </a:t>
            </a:r>
            <a:r>
              <a:rPr sz="1600" spc="-5" dirty="0">
                <a:latin typeface="Calibri"/>
                <a:cs typeface="Calibri"/>
              </a:rPr>
              <a:t> un réseau protégé, sans</a:t>
            </a:r>
            <a:r>
              <a:rPr sz="1600" dirty="0">
                <a:latin typeface="Calibri"/>
                <a:cs typeface="Calibri"/>
              </a:rPr>
              <a:t> créer </a:t>
            </a:r>
            <a:r>
              <a:rPr sz="1600" spc="-5" dirty="0">
                <a:latin typeface="Calibri"/>
                <a:cs typeface="Calibri"/>
              </a:rPr>
              <a:t>un réseau privé virtuel au </a:t>
            </a:r>
            <a:r>
              <a:rPr sz="1600" spc="-10" dirty="0">
                <a:latin typeface="Calibri"/>
                <a:cs typeface="Calibri"/>
              </a:rPr>
              <a:t>sens </a:t>
            </a:r>
            <a:r>
              <a:rPr sz="1600" spc="-5" dirty="0">
                <a:latin typeface="Calibri"/>
                <a:cs typeface="Calibri"/>
              </a:rPr>
              <a:t>plein. Depuis sa version 4.3, </a:t>
            </a:r>
            <a:r>
              <a:rPr sz="1600" dirty="0">
                <a:latin typeface="Calibri"/>
                <a:cs typeface="Calibri"/>
              </a:rPr>
              <a:t>le </a:t>
            </a:r>
            <a:r>
              <a:rPr sz="1600" spc="-5" dirty="0">
                <a:latin typeface="Calibri"/>
                <a:cs typeface="Calibri"/>
              </a:rPr>
              <a:t>logiciel OpenSSH permet de </a:t>
            </a:r>
            <a:r>
              <a:rPr sz="1600" dirty="0">
                <a:latin typeface="Calibri"/>
                <a:cs typeface="Calibri"/>
              </a:rPr>
              <a:t>créer </a:t>
            </a:r>
            <a:r>
              <a:rPr sz="1600" spc="-10" dirty="0">
                <a:latin typeface="Calibri"/>
                <a:cs typeface="Calibri"/>
              </a:rPr>
              <a:t>des </a:t>
            </a:r>
            <a:r>
              <a:rPr sz="1600" spc="-5" dirty="0">
                <a:latin typeface="Calibri"/>
                <a:cs typeface="Calibri"/>
              </a:rPr>
              <a:t> tunnels entre </a:t>
            </a:r>
            <a:r>
              <a:rPr sz="1600" dirty="0">
                <a:latin typeface="Calibri"/>
                <a:cs typeface="Calibri"/>
              </a:rPr>
              <a:t>deux </a:t>
            </a:r>
            <a:r>
              <a:rPr sz="1600" spc="-5" dirty="0">
                <a:latin typeface="Calibri"/>
                <a:cs typeface="Calibri"/>
              </a:rPr>
              <a:t>interfaces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réseau virtuelles au </a:t>
            </a:r>
            <a:r>
              <a:rPr sz="1600" spc="-10" dirty="0">
                <a:latin typeface="Calibri"/>
                <a:cs typeface="Calibri"/>
              </a:rPr>
              <a:t>niveau </a:t>
            </a:r>
            <a:r>
              <a:rPr sz="1600" spc="-5" dirty="0">
                <a:latin typeface="Calibri"/>
                <a:cs typeface="Calibri"/>
              </a:rPr>
              <a:t>3 (routage du </a:t>
            </a:r>
            <a:r>
              <a:rPr sz="1600" spc="-10" dirty="0">
                <a:latin typeface="Calibri"/>
                <a:cs typeface="Calibri"/>
              </a:rPr>
              <a:t>seul </a:t>
            </a:r>
            <a:r>
              <a:rPr sz="1600" spc="-5" dirty="0">
                <a:latin typeface="Calibri"/>
                <a:cs typeface="Calibri"/>
              </a:rPr>
              <a:t>trafic IP, interfaces TUN) ou au niveau 2 (tout </a:t>
            </a:r>
            <a:r>
              <a:rPr sz="1600" dirty="0">
                <a:latin typeface="Calibri"/>
                <a:cs typeface="Calibri"/>
              </a:rPr>
              <a:t>le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trafic 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Ethernet,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interfaces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TAP).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21D96-40D2-8B6C-10DA-92CAF6F3B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7D70686-F117-CB40-C89B-EBCE65D56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4569" y="507618"/>
            <a:ext cx="1012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Plan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A789777-13CA-8375-A06E-63C54C922A8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5CF96F-C048-12AD-DC76-95B8B8268ABA}"/>
              </a:ext>
            </a:extLst>
          </p:cNvPr>
          <p:cNvSpPr/>
          <p:nvPr/>
        </p:nvSpPr>
        <p:spPr>
          <a:xfrm>
            <a:off x="1662905" y="4267200"/>
            <a:ext cx="5957095" cy="63500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A3F8520-8AEE-F103-ABD6-09F2FA0E951E}"/>
              </a:ext>
            </a:extLst>
          </p:cNvPr>
          <p:cNvSpPr txBox="1"/>
          <p:nvPr/>
        </p:nvSpPr>
        <p:spPr>
          <a:xfrm>
            <a:off x="1761235" y="1915744"/>
            <a:ext cx="8622665" cy="29059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indent="-294640">
              <a:lnSpc>
                <a:spcPct val="100000"/>
              </a:lnSpc>
              <a:spcBef>
                <a:spcPts val="100"/>
              </a:spcBef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lang="en-GB" sz="2400" b="1" dirty="0" err="1">
                <a:latin typeface="Calibri"/>
                <a:cs typeface="Calibri"/>
              </a:rPr>
              <a:t>Définition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Calibri"/>
              <a:buChar char="▪"/>
            </a:pPr>
            <a:endParaRPr sz="3400" dirty="0">
              <a:latin typeface="Calibri"/>
              <a:cs typeface="Calibri"/>
            </a:endParaRP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sz="2400" b="1" dirty="0">
                <a:latin typeface="Calibri"/>
                <a:cs typeface="Calibri"/>
              </a:rPr>
              <a:t>Les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lang="fr-FR" sz="2400" b="1" spc="-5" dirty="0">
                <a:latin typeface="Calibri"/>
                <a:cs typeface="Calibri"/>
              </a:rPr>
              <a:t>types de VPN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Calibri"/>
              <a:buChar char="▪"/>
            </a:pPr>
            <a:endParaRPr sz="3400" dirty="0">
              <a:latin typeface="Calibri"/>
              <a:cs typeface="Calibri"/>
            </a:endParaRP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lang="en-GB" sz="2400" b="1" dirty="0" err="1">
                <a:latin typeface="Calibri"/>
                <a:cs typeface="Calibri"/>
              </a:rPr>
              <a:t>Fonctionnalités</a:t>
            </a:r>
            <a:r>
              <a:rPr lang="en-GB" sz="2400" b="1" dirty="0">
                <a:latin typeface="Calibri"/>
                <a:cs typeface="Calibri"/>
              </a:rPr>
              <a:t> </a:t>
            </a:r>
            <a:r>
              <a:rPr lang="en-GB" sz="2400" b="1" dirty="0" err="1">
                <a:latin typeface="Calibri"/>
                <a:cs typeface="Calibri"/>
              </a:rPr>
              <a:t>principales</a:t>
            </a:r>
            <a:r>
              <a:rPr lang="en-GB" sz="2400" b="1" dirty="0">
                <a:latin typeface="Calibri"/>
                <a:cs typeface="Calibri"/>
              </a:rPr>
              <a:t> des VPNs</a:t>
            </a: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endParaRPr lang="en-GB" sz="2400" b="1" dirty="0">
              <a:latin typeface="Calibri"/>
              <a:cs typeface="Calibri"/>
            </a:endParaRPr>
          </a:p>
          <a:p>
            <a:pPr marL="306705" indent="-294640">
              <a:lnSpc>
                <a:spcPct val="100000"/>
              </a:lnSpc>
              <a:buFont typeface="Calibri"/>
              <a:buChar char="▪"/>
              <a:tabLst>
                <a:tab pos="306705" algn="l"/>
                <a:tab pos="307340" algn="l"/>
              </a:tabLst>
            </a:pPr>
            <a:r>
              <a:rPr lang="fr-FR" sz="2400" b="1" dirty="0">
                <a:latin typeface="Calibri"/>
                <a:cs typeface="Calibri"/>
              </a:rPr>
              <a:t>Protocoles VPN courants : </a:t>
            </a:r>
            <a:r>
              <a:rPr lang="fr-FR" sz="2400" b="1" dirty="0" err="1">
                <a:latin typeface="Calibri"/>
                <a:cs typeface="Calibri"/>
              </a:rPr>
              <a:t>IPSec</a:t>
            </a:r>
            <a:r>
              <a:rPr lang="fr-FR" sz="2400" b="1" dirty="0">
                <a:latin typeface="Calibri"/>
                <a:cs typeface="Calibri"/>
              </a:rPr>
              <a:t>, </a:t>
            </a:r>
            <a:r>
              <a:rPr lang="fr-FR" sz="2400" b="1" dirty="0" err="1">
                <a:latin typeface="Calibri"/>
                <a:cs typeface="Calibri"/>
              </a:rPr>
              <a:t>penVPN</a:t>
            </a:r>
            <a:endParaRPr sz="24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039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" y="5058155"/>
            <a:ext cx="5279136" cy="17998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0"/>
              </a:spcBef>
              <a:buSzPct val="111111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b="1" i="1" dirty="0">
                <a:solidFill>
                  <a:srgbClr val="C00000"/>
                </a:solidFill>
                <a:latin typeface="Calibri"/>
                <a:cs typeface="Calibri"/>
              </a:rPr>
              <a:t>IPsec</a:t>
            </a:r>
            <a:r>
              <a:rPr b="1" i="1" spc="2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i="1" spc="-5" dirty="0">
                <a:solidFill>
                  <a:srgbClr val="C00000"/>
                </a:solidFill>
                <a:latin typeface="Calibri"/>
                <a:cs typeface="Calibri"/>
              </a:rPr>
              <a:t>(Internet</a:t>
            </a:r>
            <a:r>
              <a:rPr b="1" i="1" spc="2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i="1" spc="-5" dirty="0">
                <a:solidFill>
                  <a:srgbClr val="C00000"/>
                </a:solidFill>
                <a:latin typeface="Calibri"/>
                <a:cs typeface="Calibri"/>
              </a:rPr>
              <a:t>Protocol</a:t>
            </a:r>
            <a:r>
              <a:rPr b="1" i="1" spc="2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1" i="1" spc="-5" dirty="0">
                <a:solidFill>
                  <a:srgbClr val="C00000"/>
                </a:solidFill>
                <a:latin typeface="Calibri"/>
                <a:cs typeface="Calibri"/>
              </a:rPr>
              <a:t>Security)</a:t>
            </a:r>
            <a:r>
              <a:rPr b="1" i="1" spc="2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/>
              <a:t>est</a:t>
            </a:r>
            <a:r>
              <a:rPr spc="225" dirty="0"/>
              <a:t> </a:t>
            </a:r>
            <a:r>
              <a:rPr dirty="0"/>
              <a:t>une</a:t>
            </a:r>
            <a:r>
              <a:rPr spc="240" dirty="0"/>
              <a:t> </a:t>
            </a:r>
            <a:r>
              <a:rPr spc="-5" dirty="0"/>
              <a:t>suite</a:t>
            </a:r>
            <a:r>
              <a:rPr spc="250" dirty="0"/>
              <a:t> </a:t>
            </a:r>
            <a:r>
              <a:rPr dirty="0"/>
              <a:t>de</a:t>
            </a:r>
            <a:r>
              <a:rPr spc="235" dirty="0"/>
              <a:t> </a:t>
            </a:r>
            <a:r>
              <a:rPr spc="-5" dirty="0"/>
              <a:t>protocoles</a:t>
            </a:r>
            <a:r>
              <a:rPr spc="245" dirty="0"/>
              <a:t> </a:t>
            </a:r>
            <a:r>
              <a:rPr dirty="0"/>
              <a:t>qui</a:t>
            </a:r>
            <a:r>
              <a:rPr spc="225" dirty="0"/>
              <a:t> </a:t>
            </a:r>
            <a:r>
              <a:rPr spc="-5" dirty="0"/>
              <a:t>fournit</a:t>
            </a:r>
            <a:r>
              <a:rPr spc="245" dirty="0"/>
              <a:t> </a:t>
            </a:r>
            <a:r>
              <a:rPr dirty="0"/>
              <a:t>de</a:t>
            </a:r>
            <a:r>
              <a:rPr spc="250" dirty="0"/>
              <a:t> </a:t>
            </a:r>
            <a:r>
              <a:rPr spc="5" dirty="0"/>
              <a:t>la</a:t>
            </a:r>
          </a:p>
          <a:p>
            <a:pPr marL="354965">
              <a:lnSpc>
                <a:spcPct val="100000"/>
              </a:lnSpc>
              <a:spcBef>
                <a:spcPts val="755"/>
              </a:spcBef>
            </a:pPr>
            <a:r>
              <a:rPr spc="-5" dirty="0"/>
              <a:t>sécurité</a:t>
            </a:r>
            <a:r>
              <a:rPr spc="10" dirty="0"/>
              <a:t> </a:t>
            </a:r>
            <a:r>
              <a:rPr dirty="0"/>
              <a:t>aux </a:t>
            </a:r>
            <a:r>
              <a:rPr spc="-5" dirty="0"/>
              <a:t>communications</a:t>
            </a:r>
            <a:r>
              <a:rPr spc="35" dirty="0"/>
              <a:t> </a:t>
            </a:r>
            <a:r>
              <a:rPr dirty="0"/>
              <a:t>Internet  de</a:t>
            </a:r>
            <a:r>
              <a:rPr spc="15" dirty="0"/>
              <a:t> </a:t>
            </a:r>
            <a:r>
              <a:rPr spc="-5" dirty="0"/>
              <a:t>la</a:t>
            </a:r>
            <a:r>
              <a:rPr spc="5" dirty="0"/>
              <a:t> </a:t>
            </a:r>
            <a:r>
              <a:rPr spc="-5" dirty="0"/>
              <a:t>couche</a:t>
            </a:r>
            <a:r>
              <a:rPr spc="30" dirty="0"/>
              <a:t> </a:t>
            </a:r>
            <a:r>
              <a:rPr dirty="0"/>
              <a:t>IP</a:t>
            </a:r>
            <a:r>
              <a:rPr spc="-20" dirty="0"/>
              <a:t> </a:t>
            </a:r>
            <a:r>
              <a:rPr dirty="0"/>
              <a:t>du</a:t>
            </a:r>
            <a:r>
              <a:rPr spc="10" dirty="0"/>
              <a:t> </a:t>
            </a:r>
            <a:r>
              <a:rPr dirty="0"/>
              <a:t>modèle</a:t>
            </a:r>
            <a:r>
              <a:rPr spc="10" dirty="0"/>
              <a:t> </a:t>
            </a:r>
            <a:r>
              <a:rPr spc="-5" dirty="0"/>
              <a:t>TCP</a:t>
            </a:r>
            <a:r>
              <a:rPr dirty="0"/>
              <a:t> IP</a:t>
            </a:r>
            <a:r>
              <a:rPr spc="-10" dirty="0"/>
              <a:t> </a:t>
            </a:r>
            <a:r>
              <a:rPr spc="-5" dirty="0"/>
              <a:t>(IETF)</a:t>
            </a: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pc="-5" dirty="0"/>
              <a:t>Deux</a:t>
            </a:r>
            <a:r>
              <a:rPr spc="10" dirty="0"/>
              <a:t> </a:t>
            </a:r>
            <a:r>
              <a:rPr dirty="0"/>
              <a:t>modes</a:t>
            </a:r>
            <a:r>
              <a:rPr spc="5" dirty="0"/>
              <a:t> </a:t>
            </a:r>
            <a:r>
              <a:rPr spc="-5" dirty="0"/>
              <a:t>sont supportés</a:t>
            </a:r>
            <a:r>
              <a:rPr spc="15" dirty="0"/>
              <a:t> </a:t>
            </a:r>
            <a:r>
              <a:rPr spc="-5" dirty="0"/>
              <a:t>par</a:t>
            </a:r>
            <a:r>
              <a:rPr dirty="0"/>
              <a:t> </a:t>
            </a:r>
            <a:r>
              <a:rPr spc="-5" dirty="0"/>
              <a:t>chacun</a:t>
            </a:r>
            <a:r>
              <a:rPr spc="30" dirty="0"/>
              <a:t> </a:t>
            </a:r>
            <a:r>
              <a:rPr dirty="0"/>
              <a:t>des</a:t>
            </a:r>
            <a:r>
              <a:rPr spc="5" dirty="0"/>
              <a:t> </a:t>
            </a:r>
            <a:r>
              <a:rPr spc="-10" dirty="0"/>
              <a:t>protocoles</a:t>
            </a:r>
            <a:r>
              <a:rPr spc="25" dirty="0"/>
              <a:t> </a:t>
            </a:r>
            <a:r>
              <a:rPr dirty="0"/>
              <a:t>: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pc="-5" dirty="0"/>
              <a:t>le</a:t>
            </a:r>
            <a:r>
              <a:rPr spc="5" dirty="0"/>
              <a:t> </a:t>
            </a:r>
            <a:r>
              <a:rPr dirty="0"/>
              <a:t>mode </a:t>
            </a:r>
            <a:r>
              <a:rPr spc="-5" dirty="0"/>
              <a:t>transport</a:t>
            </a:r>
            <a:r>
              <a:rPr spc="5" dirty="0"/>
              <a:t> </a:t>
            </a:r>
            <a:r>
              <a:rPr dirty="0"/>
              <a:t>et</a:t>
            </a:r>
            <a:r>
              <a:rPr spc="-10" dirty="0"/>
              <a:t> </a:t>
            </a:r>
            <a:r>
              <a:rPr spc="-5" dirty="0"/>
              <a:t>le</a:t>
            </a:r>
            <a:r>
              <a:rPr spc="5" dirty="0"/>
              <a:t> </a:t>
            </a:r>
            <a:r>
              <a:rPr dirty="0"/>
              <a:t>mode</a:t>
            </a:r>
            <a:r>
              <a:rPr spc="5" dirty="0"/>
              <a:t> </a:t>
            </a:r>
            <a:r>
              <a:rPr spc="-5" dirty="0"/>
              <a:t>tunnel.</a:t>
            </a: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SzPct val="111111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dirty="0"/>
              <a:t>IPsec</a:t>
            </a:r>
            <a:r>
              <a:rPr spc="-10" dirty="0"/>
              <a:t> </a:t>
            </a:r>
            <a:r>
              <a:rPr dirty="0"/>
              <a:t>peut</a:t>
            </a:r>
            <a:r>
              <a:rPr spc="5" dirty="0"/>
              <a:t> </a:t>
            </a:r>
            <a:r>
              <a:rPr dirty="0"/>
              <a:t>être</a:t>
            </a:r>
            <a:r>
              <a:rPr spc="-10" dirty="0"/>
              <a:t> </a:t>
            </a:r>
            <a:r>
              <a:rPr spc="-5" dirty="0"/>
              <a:t>utilisé</a:t>
            </a:r>
            <a:r>
              <a:rPr spc="15" dirty="0"/>
              <a:t> </a:t>
            </a:r>
            <a:r>
              <a:rPr spc="-5" dirty="0"/>
              <a:t>pour</a:t>
            </a:r>
            <a:r>
              <a:rPr spc="5" dirty="0"/>
              <a:t> </a:t>
            </a:r>
            <a:r>
              <a:rPr dirty="0"/>
              <a:t>mettre</a:t>
            </a:r>
            <a:r>
              <a:rPr spc="-5" dirty="0"/>
              <a:t> </a:t>
            </a:r>
            <a:r>
              <a:rPr dirty="0"/>
              <a:t>en</a:t>
            </a:r>
            <a:r>
              <a:rPr spc="5" dirty="0"/>
              <a:t> </a:t>
            </a:r>
            <a:r>
              <a:rPr spc="-5" dirty="0"/>
              <a:t>place</a:t>
            </a:r>
            <a:r>
              <a:rPr spc="15" dirty="0"/>
              <a:t> </a:t>
            </a:r>
            <a:r>
              <a:rPr dirty="0"/>
              <a:t>un</a:t>
            </a:r>
            <a:r>
              <a:rPr spc="5" dirty="0"/>
              <a:t> </a:t>
            </a:r>
            <a:r>
              <a:rPr spc="-5" dirty="0"/>
              <a:t>VPN</a:t>
            </a:r>
            <a:r>
              <a:rPr spc="10" dirty="0"/>
              <a:t> </a:t>
            </a:r>
            <a:r>
              <a:rPr spc="-5" dirty="0"/>
              <a:t>soit</a:t>
            </a:r>
            <a:r>
              <a:rPr spc="-10" dirty="0"/>
              <a:t> </a:t>
            </a:r>
            <a:r>
              <a:rPr dirty="0"/>
              <a:t>:</a:t>
            </a:r>
          </a:p>
          <a:p>
            <a:pPr marL="425450">
              <a:lnSpc>
                <a:spcPct val="100000"/>
              </a:lnSpc>
              <a:spcBef>
                <a:spcPts val="560"/>
              </a:spcBef>
            </a:pPr>
            <a:r>
              <a:rPr sz="2000" dirty="0">
                <a:latin typeface="Segoe UI Emoji"/>
                <a:cs typeface="Segoe UI Emoji"/>
              </a:rPr>
              <a:t>✔</a:t>
            </a:r>
            <a:r>
              <a:rPr dirty="0"/>
              <a:t>entre</a:t>
            </a:r>
            <a:r>
              <a:rPr spc="-5" dirty="0"/>
              <a:t> </a:t>
            </a:r>
            <a:r>
              <a:rPr dirty="0"/>
              <a:t>deux</a:t>
            </a:r>
            <a:r>
              <a:rPr spc="-10" dirty="0"/>
              <a:t> </a:t>
            </a:r>
            <a:r>
              <a:rPr spc="-5" dirty="0"/>
              <a:t>sites</a:t>
            </a:r>
            <a:r>
              <a:rPr spc="-10" dirty="0"/>
              <a:t> </a:t>
            </a:r>
            <a:r>
              <a:rPr dirty="0"/>
              <a:t>: </a:t>
            </a:r>
            <a:r>
              <a:rPr b="1" spc="-5" dirty="0">
                <a:latin typeface="Calibri"/>
                <a:cs typeface="Calibri"/>
              </a:rPr>
              <a:t>mode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tunnel</a:t>
            </a:r>
            <a:endParaRPr sz="2000">
              <a:latin typeface="Calibri"/>
              <a:cs typeface="Calibri"/>
            </a:endParaRPr>
          </a:p>
          <a:p>
            <a:pPr marL="425450">
              <a:lnSpc>
                <a:spcPct val="100000"/>
              </a:lnSpc>
              <a:spcBef>
                <a:spcPts val="515"/>
              </a:spcBef>
            </a:pPr>
            <a:r>
              <a:rPr sz="2000" spc="-5" dirty="0">
                <a:latin typeface="Segoe UI Emoji"/>
                <a:cs typeface="Segoe UI Emoji"/>
              </a:rPr>
              <a:t>✔</a:t>
            </a:r>
            <a:r>
              <a:rPr spc="-5" dirty="0"/>
              <a:t>entre</a:t>
            </a:r>
            <a:r>
              <a:rPr spc="360" dirty="0"/>
              <a:t> </a:t>
            </a:r>
            <a:r>
              <a:rPr dirty="0"/>
              <a:t>un</a:t>
            </a:r>
            <a:r>
              <a:rPr spc="370" dirty="0"/>
              <a:t> </a:t>
            </a:r>
            <a:r>
              <a:rPr dirty="0"/>
              <a:t>utilisateur</a:t>
            </a:r>
            <a:r>
              <a:rPr spc="360" dirty="0"/>
              <a:t> </a:t>
            </a:r>
            <a:r>
              <a:rPr spc="-5" dirty="0"/>
              <a:t>nomade</a:t>
            </a:r>
            <a:r>
              <a:rPr spc="380" dirty="0"/>
              <a:t> </a:t>
            </a:r>
            <a:r>
              <a:rPr dirty="0"/>
              <a:t>et</a:t>
            </a:r>
            <a:r>
              <a:rPr spc="370" dirty="0"/>
              <a:t> </a:t>
            </a:r>
            <a:r>
              <a:rPr dirty="0"/>
              <a:t>un</a:t>
            </a:r>
            <a:r>
              <a:rPr spc="370" dirty="0"/>
              <a:t> </a:t>
            </a:r>
            <a:r>
              <a:rPr spc="-5" dirty="0"/>
              <a:t>site</a:t>
            </a:r>
            <a:r>
              <a:rPr spc="360" dirty="0"/>
              <a:t> </a:t>
            </a:r>
            <a:r>
              <a:rPr b="1" spc="-5" dirty="0">
                <a:latin typeface="Calibri"/>
                <a:cs typeface="Calibri"/>
              </a:rPr>
              <a:t>mode</a:t>
            </a:r>
            <a:r>
              <a:rPr b="1" spc="3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tunnel</a:t>
            </a:r>
            <a:r>
              <a:rPr b="1" spc="345" dirty="0">
                <a:latin typeface="Calibri"/>
                <a:cs typeface="Calibri"/>
              </a:rPr>
              <a:t> </a:t>
            </a:r>
            <a:r>
              <a:rPr spc="-5" dirty="0"/>
              <a:t>ou</a:t>
            </a:r>
            <a:r>
              <a:rPr spc="365" dirty="0"/>
              <a:t> </a:t>
            </a:r>
            <a:r>
              <a:rPr b="1" spc="-5" dirty="0">
                <a:latin typeface="Calibri"/>
                <a:cs typeface="Calibri"/>
              </a:rPr>
              <a:t>mode</a:t>
            </a:r>
            <a:r>
              <a:rPr b="1" spc="365" dirty="0">
                <a:latin typeface="Calibri"/>
                <a:cs typeface="Calibri"/>
              </a:rPr>
              <a:t> </a:t>
            </a:r>
            <a:r>
              <a:rPr b="1" spc="-5" dirty="0">
                <a:latin typeface="Calibri"/>
                <a:cs typeface="Calibri"/>
              </a:rPr>
              <a:t>transport</a:t>
            </a:r>
            <a:endParaRPr sz="2000">
              <a:latin typeface="Calibri"/>
              <a:cs typeface="Calibri"/>
            </a:endParaRPr>
          </a:p>
          <a:p>
            <a:pPr marL="551815">
              <a:lnSpc>
                <a:spcPct val="100000"/>
              </a:lnSpc>
              <a:spcBef>
                <a:spcPts val="715"/>
              </a:spcBef>
            </a:pPr>
            <a:r>
              <a:rPr spc="-5" dirty="0"/>
              <a:t>(Ipsec/L2TP)</a:t>
            </a:r>
          </a:p>
          <a:p>
            <a:pPr marL="425450">
              <a:lnSpc>
                <a:spcPct val="100000"/>
              </a:lnSpc>
              <a:spcBef>
                <a:spcPts val="560"/>
              </a:spcBef>
            </a:pPr>
            <a:r>
              <a:rPr sz="2000" spc="-5" dirty="0">
                <a:latin typeface="Segoe UI Emoji"/>
                <a:cs typeface="Segoe UI Emoji"/>
              </a:rPr>
              <a:t>✔</a:t>
            </a:r>
            <a:r>
              <a:rPr spc="-5" dirty="0"/>
              <a:t>entre</a:t>
            </a:r>
            <a:r>
              <a:rPr spc="10" dirty="0"/>
              <a:t> </a:t>
            </a:r>
            <a:r>
              <a:rPr dirty="0"/>
              <a:t>une machine</a:t>
            </a:r>
            <a:r>
              <a:rPr spc="20" dirty="0"/>
              <a:t> </a:t>
            </a:r>
            <a:r>
              <a:rPr spc="-5" dirty="0"/>
              <a:t>hôte</a:t>
            </a:r>
            <a:r>
              <a:rPr dirty="0"/>
              <a:t> et</a:t>
            </a:r>
            <a:r>
              <a:rPr spc="5" dirty="0"/>
              <a:t> </a:t>
            </a:r>
            <a:r>
              <a:rPr dirty="0"/>
              <a:t>une autre</a:t>
            </a:r>
            <a:r>
              <a:rPr spc="15" dirty="0"/>
              <a:t> </a:t>
            </a:r>
            <a:r>
              <a:rPr dirty="0"/>
              <a:t>machine</a:t>
            </a:r>
            <a:r>
              <a:rPr spc="5" dirty="0"/>
              <a:t> </a:t>
            </a:r>
            <a:r>
              <a:rPr spc="-5" dirty="0"/>
              <a:t>hôte</a:t>
            </a:r>
            <a:r>
              <a:rPr spc="10" dirty="0"/>
              <a:t> </a:t>
            </a:r>
            <a:r>
              <a:rPr spc="-5" dirty="0"/>
              <a:t>:</a:t>
            </a:r>
            <a:r>
              <a:rPr b="1" spc="-5" dirty="0">
                <a:latin typeface="Calibri"/>
                <a:cs typeface="Calibri"/>
              </a:rPr>
              <a:t>mode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transport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6059" y="5058155"/>
            <a:ext cx="5280659" cy="179984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IPsec</a:t>
            </a:r>
            <a:endParaRPr sz="400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956547" y="3015983"/>
            <a:ext cx="2874645" cy="835660"/>
            <a:chOff x="8956547" y="3015983"/>
            <a:chExt cx="2874645" cy="8356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97695" y="3034284"/>
              <a:ext cx="2833116" cy="7360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56547" y="3015983"/>
              <a:ext cx="2602992" cy="83516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44939" y="3061716"/>
              <a:ext cx="2743200" cy="64617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044940" y="3061716"/>
            <a:ext cx="2743200" cy="594393"/>
          </a:xfrm>
          <a:prstGeom prst="rect">
            <a:avLst/>
          </a:prstGeom>
          <a:ln w="9144">
            <a:solidFill>
              <a:srgbClr val="A0A0A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56845" marR="394970" indent="-64135">
              <a:lnSpc>
                <a:spcPct val="100000"/>
              </a:lnSpc>
              <a:spcBef>
                <a:spcPts val="315"/>
              </a:spcBef>
            </a:pP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Pour</a:t>
            </a:r>
            <a:r>
              <a:rPr sz="18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plus</a:t>
            </a:r>
            <a:r>
              <a:rPr sz="18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sz="18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détails: </a:t>
            </a:r>
            <a:r>
              <a:rPr sz="1800" b="1" spc="-48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voir</a:t>
            </a: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5" dirty="0" err="1">
                <a:solidFill>
                  <a:srgbClr val="C00000"/>
                </a:solidFill>
                <a:latin typeface="Arial"/>
                <a:cs typeface="Arial"/>
              </a:rPr>
              <a:t>Annexe</a:t>
            </a:r>
            <a:r>
              <a:rPr sz="1800" b="1" spc="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42347" y="1347216"/>
            <a:ext cx="1114044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693B2-0881-2C27-094E-61232B7CB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AE111A3-7EBD-E5A8-3EBE-CF9215E066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33400" y="1321474"/>
            <a:ext cx="11344860" cy="352853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0"/>
              </a:spcBef>
              <a:buSzPct val="111111"/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fr-FR" b="1" i="1" spc="-5" dirty="0" err="1">
                <a:solidFill>
                  <a:srgbClr val="C00000"/>
                </a:solidFill>
              </a:rPr>
              <a:t>OpenVPN</a:t>
            </a:r>
            <a:r>
              <a:rPr lang="fr-FR" dirty="0"/>
              <a:t> est une solution logicielle libre qui permet de créer un tunnel chiffré entre un client et un serveur. Elle se base sur les protocoles </a:t>
            </a:r>
            <a:r>
              <a:rPr lang="fr-FR" b="1" dirty="0"/>
              <a:t>SSL/TLS</a:t>
            </a:r>
            <a:r>
              <a:rPr lang="fr-FR" dirty="0"/>
              <a:t> pour assurer la </a:t>
            </a:r>
            <a:r>
              <a:rPr lang="fr-FR" b="1" dirty="0"/>
              <a:t>confidentialité</a:t>
            </a:r>
            <a:r>
              <a:rPr lang="fr-FR" dirty="0"/>
              <a:t>, l’</a:t>
            </a:r>
            <a:r>
              <a:rPr lang="fr-FR" b="1" dirty="0"/>
              <a:t>intégrité</a:t>
            </a:r>
            <a:r>
              <a:rPr lang="fr-FR" dirty="0"/>
              <a:t> et l’</a:t>
            </a:r>
            <a:r>
              <a:rPr lang="fr-FR" b="1" dirty="0"/>
              <a:t>authentification</a:t>
            </a:r>
            <a:r>
              <a:rPr lang="fr-FR" dirty="0"/>
              <a:t> des communications.</a:t>
            </a:r>
            <a:endParaRPr sz="800" spc="-5" dirty="0"/>
          </a:p>
          <a:p>
            <a:pPr>
              <a:lnSpc>
                <a:spcPct val="150000"/>
              </a:lnSpc>
            </a:pPr>
            <a:r>
              <a:rPr lang="fr-FR" b="1" dirty="0"/>
              <a:t>Caractéristiques principales: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/>
              <a:t>Fonctionne au </a:t>
            </a:r>
            <a:r>
              <a:rPr lang="fr-FR" b="1" dirty="0"/>
              <a:t>niveau application</a:t>
            </a:r>
            <a:r>
              <a:rPr lang="fr-FR" dirty="0"/>
              <a:t> du modèle OSI.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/>
              <a:t>Compatible avec </a:t>
            </a:r>
            <a:r>
              <a:rPr lang="fr-FR" b="1" dirty="0"/>
              <a:t>Windows, Linux, </a:t>
            </a:r>
            <a:r>
              <a:rPr lang="fr-FR" b="1" dirty="0" err="1"/>
              <a:t>macOS</a:t>
            </a:r>
            <a:r>
              <a:rPr lang="fr-FR" b="1" dirty="0"/>
              <a:t>, Android et iOS</a:t>
            </a:r>
            <a:r>
              <a:rPr lang="fr-FR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/>
              <a:t>Utilise des </a:t>
            </a:r>
            <a:r>
              <a:rPr lang="fr-FR" b="1" dirty="0"/>
              <a:t>certificats numériques</a:t>
            </a:r>
            <a:r>
              <a:rPr lang="fr-FR" dirty="0"/>
              <a:t> ou des </a:t>
            </a:r>
            <a:r>
              <a:rPr lang="fr-FR" b="1" dirty="0"/>
              <a:t>clés </a:t>
            </a:r>
            <a:r>
              <a:rPr lang="fr-FR" b="1" dirty="0" err="1"/>
              <a:t>prépartagées</a:t>
            </a:r>
            <a:r>
              <a:rPr lang="fr-FR" dirty="0"/>
              <a:t> pour authentifier les parties.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/>
              <a:t>Chiffrement basé sur </a:t>
            </a:r>
            <a:r>
              <a:rPr lang="fr-FR" b="1" dirty="0"/>
              <a:t>AES-256</a:t>
            </a:r>
            <a:r>
              <a:rPr lang="fr-FR" dirty="0"/>
              <a:t> et </a:t>
            </a:r>
            <a:r>
              <a:rPr lang="fr-FR" b="1" dirty="0"/>
              <a:t>HMAC-SHA256</a:t>
            </a:r>
            <a:r>
              <a:rPr lang="fr-FR" dirty="0"/>
              <a:t>, offrant un haut niveau de sécurité.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/>
              <a:t>Peut traverser la plupart des </a:t>
            </a:r>
            <a:r>
              <a:rPr lang="fr-FR" dirty="0" err="1"/>
              <a:t>pare-feux</a:t>
            </a:r>
            <a:r>
              <a:rPr lang="fr-FR" dirty="0"/>
              <a:t> grâce à l’utilisation du port </a:t>
            </a:r>
            <a:r>
              <a:rPr lang="fr-FR" b="1" dirty="0"/>
              <a:t>TCP ou UDP 1194</a:t>
            </a:r>
            <a:r>
              <a:rPr lang="fr-FR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/>
              <a:t>Permet de transporter à la fois du trafic IP et Ethernet via les interfaces virtuelles </a:t>
            </a:r>
            <a:r>
              <a:rPr lang="fr-FR" b="1" dirty="0"/>
              <a:t>TUN/TAP</a:t>
            </a:r>
            <a:endParaRPr lang="fr-FR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759C821-56C8-8A81-CBC3-DD46BBD84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" dirty="0"/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lang="fr-FR" sz="4000" b="1" spc="-5" dirty="0" err="1"/>
              <a:t>OpenVPN</a:t>
            </a:r>
            <a:endParaRPr sz="4000" b="1" spc="-5" dirty="0"/>
          </a:p>
        </p:txBody>
      </p:sp>
      <p:graphicFrame>
        <p:nvGraphicFramePr>
          <p:cNvPr id="14" name="Diagramme 13">
            <a:extLst>
              <a:ext uri="{FF2B5EF4-FFF2-40B4-BE49-F238E27FC236}">
                <a16:creationId xmlns:a16="http://schemas.microsoft.com/office/drawing/2014/main" id="{BA358E7D-9A09-B238-51B6-792E2ACA2D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1523232"/>
              </p:ext>
            </p:extLst>
          </p:nvPr>
        </p:nvGraphicFramePr>
        <p:xfrm>
          <a:off x="156310" y="4826674"/>
          <a:ext cx="11879380" cy="2031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8689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27ECF2-4F69-9D9A-263C-676355C46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988" y="235077"/>
            <a:ext cx="7242812" cy="1231106"/>
          </a:xfrm>
        </p:spPr>
        <p:txBody>
          <a:bodyPr/>
          <a:lstStyle/>
          <a:p>
            <a:br>
              <a:rPr lang="en-GB" sz="4000" b="1" spc="-5" dirty="0"/>
            </a:br>
            <a:r>
              <a:rPr lang="en-GB" sz="4000" b="1" spc="-5" dirty="0" err="1"/>
              <a:t>Comparaison</a:t>
            </a:r>
            <a:r>
              <a:rPr lang="en-GB" sz="4000" b="1" spc="-5" dirty="0"/>
              <a:t> IPsec vs OpenVPN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B758545-824F-316E-62A7-67C9A5E33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151083"/>
              </p:ext>
            </p:extLst>
          </p:nvPr>
        </p:nvGraphicFramePr>
        <p:xfrm>
          <a:off x="1292724" y="1779496"/>
          <a:ext cx="9598614" cy="3561132"/>
        </p:xfrm>
        <a:graphic>
          <a:graphicData uri="http://schemas.openxmlformats.org/drawingml/2006/table">
            <a:tbl>
              <a:tblPr firstRow="1" firstCol="1">
                <a:tableStyleId>{85BE263C-DBD7-4A20-BB59-AAB30ACAA65A}</a:tableStyleId>
              </a:tblPr>
              <a:tblGrid>
                <a:gridCol w="3199538">
                  <a:extLst>
                    <a:ext uri="{9D8B030D-6E8A-4147-A177-3AD203B41FA5}">
                      <a16:colId xmlns:a16="http://schemas.microsoft.com/office/drawing/2014/main" val="3021564051"/>
                    </a:ext>
                  </a:extLst>
                </a:gridCol>
                <a:gridCol w="3199538">
                  <a:extLst>
                    <a:ext uri="{9D8B030D-6E8A-4147-A177-3AD203B41FA5}">
                      <a16:colId xmlns:a16="http://schemas.microsoft.com/office/drawing/2014/main" val="2520616706"/>
                    </a:ext>
                  </a:extLst>
                </a:gridCol>
                <a:gridCol w="3199538">
                  <a:extLst>
                    <a:ext uri="{9D8B030D-6E8A-4147-A177-3AD203B41FA5}">
                      <a16:colId xmlns:a16="http://schemas.microsoft.com/office/drawing/2014/main" val="683181713"/>
                    </a:ext>
                  </a:extLst>
                </a:gridCol>
              </a:tblGrid>
              <a:tr h="59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Critère</a:t>
                      </a:r>
                    </a:p>
                  </a:txBody>
                  <a:tcPr marL="110642" marR="110642" marT="73632" marB="73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IPsec</a:t>
                      </a:r>
                    </a:p>
                  </a:txBody>
                  <a:tcPr marL="110642" marR="110642" marT="73632" marB="73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OpenVPN</a:t>
                      </a:r>
                    </a:p>
                  </a:txBody>
                  <a:tcPr marL="110642" marR="110642" marT="73632" marB="73632" anchor="ctr"/>
                </a:tc>
                <a:extLst>
                  <a:ext uri="{0D108BD9-81ED-4DB2-BD59-A6C34878D82A}">
                    <a16:rowId xmlns:a16="http://schemas.microsoft.com/office/drawing/2014/main" val="1530585562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Couche</a:t>
                      </a:r>
                    </a:p>
                  </a:txBody>
                  <a:tcPr marL="110642" marR="110642" marT="73632" marB="73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Réseau (3)</a:t>
                      </a:r>
                    </a:p>
                  </a:txBody>
                  <a:tcPr marL="110642" marR="110642" marT="73632" marB="73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Application (7)</a:t>
                      </a:r>
                    </a:p>
                  </a:txBody>
                  <a:tcPr marL="110642" marR="110642" marT="73632" marB="73632" anchor="ctr"/>
                </a:tc>
                <a:extLst>
                  <a:ext uri="{0D108BD9-81ED-4DB2-BD59-A6C34878D82A}">
                    <a16:rowId xmlns:a16="http://schemas.microsoft.com/office/drawing/2014/main" val="4052729850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Chiffrement</a:t>
                      </a:r>
                    </a:p>
                  </a:txBody>
                  <a:tcPr marL="110642" marR="110642" marT="73632" marB="73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AH/ESP</a:t>
                      </a:r>
                    </a:p>
                  </a:txBody>
                  <a:tcPr marL="110642" marR="110642" marT="73632" marB="73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SSL/TLS</a:t>
                      </a:r>
                    </a:p>
                  </a:txBody>
                  <a:tcPr marL="110642" marR="110642" marT="73632" marB="73632" anchor="ctr"/>
                </a:tc>
                <a:extLst>
                  <a:ext uri="{0D108BD9-81ED-4DB2-BD59-A6C34878D82A}">
                    <a16:rowId xmlns:a16="http://schemas.microsoft.com/office/drawing/2014/main" val="2218827231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Configuration</a:t>
                      </a:r>
                    </a:p>
                  </a:txBody>
                  <a:tcPr marL="110642" marR="110642" marT="73632" marB="73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Complexe</a:t>
                      </a:r>
                    </a:p>
                  </a:txBody>
                  <a:tcPr marL="110642" marR="110642" marT="73632" marB="73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Simple</a:t>
                      </a:r>
                    </a:p>
                  </a:txBody>
                  <a:tcPr marL="110642" marR="110642" marT="73632" marB="73632" anchor="ctr"/>
                </a:tc>
                <a:extLst>
                  <a:ext uri="{0D108BD9-81ED-4DB2-BD59-A6C34878D82A}">
                    <a16:rowId xmlns:a16="http://schemas.microsoft.com/office/drawing/2014/main" val="2549847361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 dirty="0"/>
                        <a:t>Performance</a:t>
                      </a:r>
                    </a:p>
                  </a:txBody>
                  <a:tcPr marL="110642" marR="110642" marT="73632" marB="73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Haute</a:t>
                      </a:r>
                    </a:p>
                  </a:txBody>
                  <a:tcPr marL="110642" marR="110642" marT="73632" marB="73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Moyenne</a:t>
                      </a:r>
                    </a:p>
                  </a:txBody>
                  <a:tcPr marL="110642" marR="110642" marT="73632" marB="73632" anchor="ctr"/>
                </a:tc>
                <a:extLst>
                  <a:ext uri="{0D108BD9-81ED-4DB2-BD59-A6C34878D82A}">
                    <a16:rowId xmlns:a16="http://schemas.microsoft.com/office/drawing/2014/main" val="2166431195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Cas d’usage</a:t>
                      </a:r>
                    </a:p>
                  </a:txBody>
                  <a:tcPr marL="110642" marR="110642" marT="73632" marB="73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/>
                        <a:t>Site-to-site</a:t>
                      </a:r>
                    </a:p>
                  </a:txBody>
                  <a:tcPr marL="110642" marR="110642" marT="73632" marB="736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 dirty="0"/>
                        <a:t>Client-to-site</a:t>
                      </a:r>
                    </a:p>
                  </a:txBody>
                  <a:tcPr marL="110642" marR="110642" marT="73632" marB="73632" anchor="ctr"/>
                </a:tc>
                <a:extLst>
                  <a:ext uri="{0D108BD9-81ED-4DB2-BD59-A6C34878D82A}">
                    <a16:rowId xmlns:a16="http://schemas.microsoft.com/office/drawing/2014/main" val="3478919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550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4631" y="2303145"/>
            <a:ext cx="42976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 err="1">
                <a:solidFill>
                  <a:srgbClr val="000000"/>
                </a:solidFill>
                <a:latin typeface="Calibri"/>
                <a:cs typeface="Calibri"/>
              </a:rPr>
              <a:t>Annexe</a:t>
            </a:r>
            <a:r>
              <a:rPr sz="480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000000"/>
                </a:solidFill>
                <a:latin typeface="Calibri"/>
                <a:cs typeface="Calibri"/>
              </a:rPr>
              <a:t>:</a:t>
            </a:r>
            <a:r>
              <a:rPr sz="48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800" spc="-5" dirty="0"/>
              <a:t>IPSec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525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56576" y="3287267"/>
            <a:ext cx="3992879" cy="2529840"/>
          </a:xfrm>
          <a:custGeom>
            <a:avLst/>
            <a:gdLst/>
            <a:ahLst/>
            <a:cxnLst/>
            <a:rect l="l" t="t" r="r" b="b"/>
            <a:pathLst>
              <a:path w="3992879" h="2529840">
                <a:moveTo>
                  <a:pt x="3992880" y="8382"/>
                </a:moveTo>
                <a:lnTo>
                  <a:pt x="3981577" y="0"/>
                </a:lnTo>
                <a:lnTo>
                  <a:pt x="3939286" y="0"/>
                </a:lnTo>
                <a:lnTo>
                  <a:pt x="3939286" y="18923"/>
                </a:lnTo>
                <a:lnTo>
                  <a:pt x="3939286" y="40132"/>
                </a:lnTo>
                <a:lnTo>
                  <a:pt x="3939286" y="2489403"/>
                </a:lnTo>
                <a:lnTo>
                  <a:pt x="50800" y="2489403"/>
                </a:lnTo>
                <a:lnTo>
                  <a:pt x="50800" y="40132"/>
                </a:lnTo>
                <a:lnTo>
                  <a:pt x="3939286" y="40132"/>
                </a:lnTo>
                <a:lnTo>
                  <a:pt x="3939286" y="19037"/>
                </a:lnTo>
                <a:lnTo>
                  <a:pt x="50800" y="19037"/>
                </a:lnTo>
                <a:lnTo>
                  <a:pt x="3939286" y="18923"/>
                </a:lnTo>
                <a:lnTo>
                  <a:pt x="3939286" y="0"/>
                </a:lnTo>
                <a:lnTo>
                  <a:pt x="11303" y="0"/>
                </a:lnTo>
                <a:lnTo>
                  <a:pt x="0" y="8382"/>
                </a:lnTo>
                <a:lnTo>
                  <a:pt x="0" y="2521051"/>
                </a:lnTo>
                <a:lnTo>
                  <a:pt x="11303" y="2529484"/>
                </a:lnTo>
                <a:lnTo>
                  <a:pt x="3981577" y="2529484"/>
                </a:lnTo>
                <a:lnTo>
                  <a:pt x="3992880" y="2521051"/>
                </a:lnTo>
                <a:lnTo>
                  <a:pt x="3992880" y="2510498"/>
                </a:lnTo>
                <a:lnTo>
                  <a:pt x="3992880" y="2489403"/>
                </a:lnTo>
                <a:lnTo>
                  <a:pt x="3992880" y="40132"/>
                </a:lnTo>
                <a:lnTo>
                  <a:pt x="3992880" y="18923"/>
                </a:lnTo>
                <a:lnTo>
                  <a:pt x="3992880" y="8382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6112" y="3267455"/>
            <a:ext cx="3996690" cy="2533015"/>
          </a:xfrm>
          <a:custGeom>
            <a:avLst/>
            <a:gdLst/>
            <a:ahLst/>
            <a:cxnLst/>
            <a:rect l="l" t="t" r="r" b="b"/>
            <a:pathLst>
              <a:path w="3996690" h="2533015">
                <a:moveTo>
                  <a:pt x="3996690" y="10541"/>
                </a:moveTo>
                <a:lnTo>
                  <a:pt x="3982593" y="0"/>
                </a:lnTo>
                <a:lnTo>
                  <a:pt x="3943096" y="0"/>
                </a:lnTo>
                <a:lnTo>
                  <a:pt x="3943096" y="21082"/>
                </a:lnTo>
                <a:lnTo>
                  <a:pt x="3943096" y="40132"/>
                </a:lnTo>
                <a:lnTo>
                  <a:pt x="3943096" y="2492794"/>
                </a:lnTo>
                <a:lnTo>
                  <a:pt x="53632" y="2492794"/>
                </a:lnTo>
                <a:lnTo>
                  <a:pt x="53632" y="40132"/>
                </a:lnTo>
                <a:lnTo>
                  <a:pt x="3943096" y="40132"/>
                </a:lnTo>
                <a:lnTo>
                  <a:pt x="3943096" y="21145"/>
                </a:lnTo>
                <a:lnTo>
                  <a:pt x="53632" y="21145"/>
                </a:lnTo>
                <a:lnTo>
                  <a:pt x="3943096" y="21082"/>
                </a:lnTo>
                <a:lnTo>
                  <a:pt x="3943096" y="0"/>
                </a:lnTo>
                <a:lnTo>
                  <a:pt x="11290" y="0"/>
                </a:lnTo>
                <a:lnTo>
                  <a:pt x="0" y="10541"/>
                </a:lnTo>
                <a:lnTo>
                  <a:pt x="0" y="2524442"/>
                </a:lnTo>
                <a:lnTo>
                  <a:pt x="11290" y="2532888"/>
                </a:lnTo>
                <a:lnTo>
                  <a:pt x="3982593" y="2532888"/>
                </a:lnTo>
                <a:lnTo>
                  <a:pt x="3996690" y="2524442"/>
                </a:lnTo>
                <a:lnTo>
                  <a:pt x="3996690" y="2511780"/>
                </a:lnTo>
                <a:lnTo>
                  <a:pt x="3996690" y="2492781"/>
                </a:lnTo>
                <a:lnTo>
                  <a:pt x="3996690" y="40132"/>
                </a:lnTo>
                <a:lnTo>
                  <a:pt x="3996690" y="21082"/>
                </a:lnTo>
                <a:lnTo>
                  <a:pt x="3996690" y="10541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100072" y="2301239"/>
            <a:ext cx="1042035" cy="756285"/>
            <a:chOff x="2100072" y="2301239"/>
            <a:chExt cx="1042035" cy="7562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4995" y="2830067"/>
              <a:ext cx="381000" cy="2225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8752" y="2535935"/>
              <a:ext cx="169163" cy="31546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65704" y="2535935"/>
              <a:ext cx="171450" cy="315595"/>
            </a:xfrm>
            <a:custGeom>
              <a:avLst/>
              <a:gdLst/>
              <a:ahLst/>
              <a:cxnLst/>
              <a:rect l="l" t="t" r="r" b="b"/>
              <a:pathLst>
                <a:path w="171450" h="315594">
                  <a:moveTo>
                    <a:pt x="0" y="315467"/>
                  </a:moveTo>
                  <a:lnTo>
                    <a:pt x="123697" y="0"/>
                  </a:lnTo>
                  <a:lnTo>
                    <a:pt x="171450" y="0"/>
                  </a:lnTo>
                  <a:lnTo>
                    <a:pt x="50545" y="292353"/>
                  </a:lnTo>
                  <a:lnTo>
                    <a:pt x="0" y="315467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1844" y="2305811"/>
              <a:ext cx="576071" cy="2301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61844" y="2305811"/>
              <a:ext cx="575945" cy="229870"/>
            </a:xfrm>
            <a:custGeom>
              <a:avLst/>
              <a:gdLst/>
              <a:ahLst/>
              <a:cxnLst/>
              <a:rect l="l" t="t" r="r" b="b"/>
              <a:pathLst>
                <a:path w="575944" h="229869">
                  <a:moveTo>
                    <a:pt x="0" y="2159"/>
                  </a:moveTo>
                  <a:lnTo>
                    <a:pt x="45085" y="0"/>
                  </a:lnTo>
                  <a:lnTo>
                    <a:pt x="414781" y="147574"/>
                  </a:lnTo>
                  <a:lnTo>
                    <a:pt x="575563" y="229742"/>
                  </a:lnTo>
                  <a:lnTo>
                    <a:pt x="527685" y="229742"/>
                  </a:lnTo>
                  <a:lnTo>
                    <a:pt x="438912" y="192659"/>
                  </a:lnTo>
                  <a:lnTo>
                    <a:pt x="350647" y="155321"/>
                  </a:lnTo>
                  <a:lnTo>
                    <a:pt x="262763" y="117475"/>
                  </a:lnTo>
                  <a:lnTo>
                    <a:pt x="175006" y="79375"/>
                  </a:lnTo>
                  <a:lnTo>
                    <a:pt x="87503" y="40893"/>
                  </a:lnTo>
                  <a:lnTo>
                    <a:pt x="0" y="2159"/>
                  </a:lnTo>
                  <a:close/>
                </a:path>
              </a:pathLst>
            </a:custGeom>
            <a:ln w="91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04644" y="2621279"/>
              <a:ext cx="861059" cy="37337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04644" y="2621279"/>
              <a:ext cx="861060" cy="375285"/>
            </a:xfrm>
            <a:custGeom>
              <a:avLst/>
              <a:gdLst/>
              <a:ahLst/>
              <a:cxnLst/>
              <a:rect l="l" t="t" r="r" b="b"/>
              <a:pathLst>
                <a:path w="861060" h="375285">
                  <a:moveTo>
                    <a:pt x="0" y="146050"/>
                  </a:moveTo>
                  <a:lnTo>
                    <a:pt x="333120" y="0"/>
                  </a:lnTo>
                  <a:lnTo>
                    <a:pt x="861060" y="230759"/>
                  </a:lnTo>
                  <a:lnTo>
                    <a:pt x="530732" y="374777"/>
                  </a:lnTo>
                  <a:lnTo>
                    <a:pt x="448182" y="352806"/>
                  </a:lnTo>
                  <a:lnTo>
                    <a:pt x="367538" y="327152"/>
                  </a:lnTo>
                  <a:lnTo>
                    <a:pt x="288925" y="297815"/>
                  </a:lnTo>
                  <a:lnTo>
                    <a:pt x="212725" y="264922"/>
                  </a:lnTo>
                  <a:lnTo>
                    <a:pt x="139064" y="228600"/>
                  </a:lnTo>
                  <a:lnTo>
                    <a:pt x="68072" y="188975"/>
                  </a:lnTo>
                  <a:lnTo>
                    <a:pt x="0" y="146050"/>
                  </a:lnTo>
                  <a:close/>
                </a:path>
              </a:pathLst>
            </a:custGeom>
            <a:ln w="91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36876" y="2307335"/>
              <a:ext cx="652272" cy="54406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436876" y="2305811"/>
              <a:ext cx="653415" cy="546735"/>
            </a:xfrm>
            <a:custGeom>
              <a:avLst/>
              <a:gdLst/>
              <a:ahLst/>
              <a:cxnLst/>
              <a:rect l="l" t="t" r="r" b="b"/>
              <a:pathLst>
                <a:path w="653414" h="546735">
                  <a:moveTo>
                    <a:pt x="528701" y="546735"/>
                  </a:moveTo>
                  <a:lnTo>
                    <a:pt x="440817" y="507873"/>
                  </a:lnTo>
                  <a:lnTo>
                    <a:pt x="352679" y="469264"/>
                  </a:lnTo>
                  <a:lnTo>
                    <a:pt x="264287" y="430911"/>
                  </a:lnTo>
                  <a:lnTo>
                    <a:pt x="176022" y="392684"/>
                  </a:lnTo>
                  <a:lnTo>
                    <a:pt x="87884" y="354711"/>
                  </a:lnTo>
                  <a:lnTo>
                    <a:pt x="0" y="316611"/>
                  </a:lnTo>
                  <a:lnTo>
                    <a:pt x="124460" y="0"/>
                  </a:lnTo>
                  <a:lnTo>
                    <a:pt x="653034" y="230124"/>
                  </a:lnTo>
                  <a:lnTo>
                    <a:pt x="528701" y="54673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4644" y="2769107"/>
              <a:ext cx="530351" cy="28346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04644" y="2767583"/>
              <a:ext cx="790575" cy="285115"/>
            </a:xfrm>
            <a:custGeom>
              <a:avLst/>
              <a:gdLst/>
              <a:ahLst/>
              <a:cxnLst/>
              <a:rect l="l" t="t" r="r" b="b"/>
              <a:pathLst>
                <a:path w="790575" h="285114">
                  <a:moveTo>
                    <a:pt x="0" y="52831"/>
                  </a:moveTo>
                  <a:lnTo>
                    <a:pt x="65150" y="98678"/>
                  </a:lnTo>
                  <a:lnTo>
                    <a:pt x="134366" y="140335"/>
                  </a:lnTo>
                  <a:lnTo>
                    <a:pt x="207518" y="177800"/>
                  </a:lnTo>
                  <a:lnTo>
                    <a:pt x="283972" y="211074"/>
                  </a:lnTo>
                  <a:lnTo>
                    <a:pt x="363728" y="240029"/>
                  </a:lnTo>
                  <a:lnTo>
                    <a:pt x="446150" y="264667"/>
                  </a:lnTo>
                  <a:lnTo>
                    <a:pt x="530987" y="284988"/>
                  </a:lnTo>
                  <a:lnTo>
                    <a:pt x="530987" y="227964"/>
                  </a:lnTo>
                  <a:lnTo>
                    <a:pt x="447167" y="207771"/>
                  </a:lnTo>
                  <a:lnTo>
                    <a:pt x="365379" y="183133"/>
                  </a:lnTo>
                  <a:lnTo>
                    <a:pt x="286131" y="154431"/>
                  </a:lnTo>
                  <a:lnTo>
                    <a:pt x="209550" y="121665"/>
                  </a:lnTo>
                  <a:lnTo>
                    <a:pt x="136144" y="84836"/>
                  </a:lnTo>
                  <a:lnTo>
                    <a:pt x="66167" y="44323"/>
                  </a:lnTo>
                  <a:lnTo>
                    <a:pt x="0" y="0"/>
                  </a:lnTo>
                  <a:lnTo>
                    <a:pt x="0" y="52831"/>
                  </a:lnTo>
                  <a:close/>
                </a:path>
                <a:path w="790575" h="285114">
                  <a:moveTo>
                    <a:pt x="790194" y="138683"/>
                  </a:moveTo>
                  <a:lnTo>
                    <a:pt x="560832" y="238251"/>
                  </a:lnTo>
                  <a:lnTo>
                    <a:pt x="560832" y="27203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71928" y="2339339"/>
              <a:ext cx="580644" cy="48310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491740" y="2343911"/>
              <a:ext cx="560705" cy="474345"/>
            </a:xfrm>
            <a:custGeom>
              <a:avLst/>
              <a:gdLst/>
              <a:ahLst/>
              <a:cxnLst/>
              <a:rect l="l" t="t" r="r" b="b"/>
              <a:pathLst>
                <a:path w="560705" h="474344">
                  <a:moveTo>
                    <a:pt x="0" y="269621"/>
                  </a:moveTo>
                  <a:lnTo>
                    <a:pt x="104140" y="4190"/>
                  </a:lnTo>
                  <a:lnTo>
                    <a:pt x="92964" y="0"/>
                  </a:lnTo>
                  <a:lnTo>
                    <a:pt x="171577" y="32765"/>
                  </a:lnTo>
                  <a:lnTo>
                    <a:pt x="249809" y="66039"/>
                  </a:lnTo>
                  <a:lnTo>
                    <a:pt x="327660" y="99567"/>
                  </a:lnTo>
                  <a:lnTo>
                    <a:pt x="405384" y="133350"/>
                  </a:lnTo>
                  <a:lnTo>
                    <a:pt x="482854" y="167639"/>
                  </a:lnTo>
                  <a:lnTo>
                    <a:pt x="560324" y="202184"/>
                  </a:lnTo>
                  <a:lnTo>
                    <a:pt x="453390" y="473963"/>
                  </a:lnTo>
                  <a:lnTo>
                    <a:pt x="453390" y="467613"/>
                  </a:lnTo>
                  <a:lnTo>
                    <a:pt x="377317" y="434975"/>
                  </a:lnTo>
                  <a:lnTo>
                    <a:pt x="301371" y="402209"/>
                  </a:lnTo>
                  <a:lnTo>
                    <a:pt x="225679" y="369442"/>
                  </a:lnTo>
                  <a:lnTo>
                    <a:pt x="150114" y="336423"/>
                  </a:lnTo>
                  <a:lnTo>
                    <a:pt x="74803" y="303149"/>
                  </a:lnTo>
                  <a:lnTo>
                    <a:pt x="0" y="26962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77796" y="2648711"/>
              <a:ext cx="725170" cy="315595"/>
            </a:xfrm>
            <a:custGeom>
              <a:avLst/>
              <a:gdLst/>
              <a:ahLst/>
              <a:cxnLst/>
              <a:rect l="l" t="t" r="r" b="b"/>
              <a:pathLst>
                <a:path w="725169" h="315594">
                  <a:moveTo>
                    <a:pt x="93091" y="107823"/>
                  </a:moveTo>
                  <a:lnTo>
                    <a:pt x="45085" y="86741"/>
                  </a:lnTo>
                  <a:lnTo>
                    <a:pt x="0" y="107823"/>
                  </a:lnTo>
                  <a:lnTo>
                    <a:pt x="48006" y="126873"/>
                  </a:lnTo>
                  <a:lnTo>
                    <a:pt x="93091" y="107823"/>
                  </a:lnTo>
                  <a:close/>
                </a:path>
                <a:path w="725169" h="315594">
                  <a:moveTo>
                    <a:pt x="160782" y="78232"/>
                  </a:moveTo>
                  <a:lnTo>
                    <a:pt x="112903" y="59182"/>
                  </a:lnTo>
                  <a:lnTo>
                    <a:pt x="67691" y="78232"/>
                  </a:lnTo>
                  <a:lnTo>
                    <a:pt x="115697" y="99441"/>
                  </a:lnTo>
                  <a:lnTo>
                    <a:pt x="160782" y="78232"/>
                  </a:lnTo>
                  <a:close/>
                </a:path>
                <a:path w="725169" h="315594">
                  <a:moveTo>
                    <a:pt x="166497" y="139573"/>
                  </a:moveTo>
                  <a:lnTo>
                    <a:pt x="118491" y="118491"/>
                  </a:lnTo>
                  <a:lnTo>
                    <a:pt x="73406" y="137414"/>
                  </a:lnTo>
                  <a:lnTo>
                    <a:pt x="121285" y="158623"/>
                  </a:lnTo>
                  <a:lnTo>
                    <a:pt x="166497" y="139573"/>
                  </a:lnTo>
                  <a:close/>
                </a:path>
                <a:path w="725169" h="315594">
                  <a:moveTo>
                    <a:pt x="228600" y="50800"/>
                  </a:moveTo>
                  <a:lnTo>
                    <a:pt x="180594" y="29591"/>
                  </a:lnTo>
                  <a:lnTo>
                    <a:pt x="135382" y="48641"/>
                  </a:lnTo>
                  <a:lnTo>
                    <a:pt x="183388" y="69850"/>
                  </a:lnTo>
                  <a:lnTo>
                    <a:pt x="228600" y="50800"/>
                  </a:lnTo>
                  <a:close/>
                </a:path>
                <a:path w="725169" h="315594">
                  <a:moveTo>
                    <a:pt x="231394" y="109982"/>
                  </a:moveTo>
                  <a:lnTo>
                    <a:pt x="183388" y="88773"/>
                  </a:lnTo>
                  <a:lnTo>
                    <a:pt x="141097" y="109982"/>
                  </a:lnTo>
                  <a:lnTo>
                    <a:pt x="186182" y="129032"/>
                  </a:lnTo>
                  <a:lnTo>
                    <a:pt x="231394" y="109982"/>
                  </a:lnTo>
                  <a:close/>
                </a:path>
                <a:path w="725169" h="315594">
                  <a:moveTo>
                    <a:pt x="296291" y="21209"/>
                  </a:moveTo>
                  <a:lnTo>
                    <a:pt x="248285" y="0"/>
                  </a:lnTo>
                  <a:lnTo>
                    <a:pt x="203200" y="19050"/>
                  </a:lnTo>
                  <a:lnTo>
                    <a:pt x="251079" y="40132"/>
                  </a:lnTo>
                  <a:lnTo>
                    <a:pt x="296291" y="21209"/>
                  </a:lnTo>
                  <a:close/>
                </a:path>
                <a:path w="725169" h="315594">
                  <a:moveTo>
                    <a:pt x="299085" y="80391"/>
                  </a:moveTo>
                  <a:lnTo>
                    <a:pt x="251079" y="61341"/>
                  </a:lnTo>
                  <a:lnTo>
                    <a:pt x="205994" y="80391"/>
                  </a:lnTo>
                  <a:lnTo>
                    <a:pt x="254000" y="101473"/>
                  </a:lnTo>
                  <a:lnTo>
                    <a:pt x="299085" y="80391"/>
                  </a:lnTo>
                  <a:close/>
                </a:path>
                <a:path w="725169" h="315594">
                  <a:moveTo>
                    <a:pt x="304800" y="141732"/>
                  </a:moveTo>
                  <a:lnTo>
                    <a:pt x="256794" y="120523"/>
                  </a:lnTo>
                  <a:lnTo>
                    <a:pt x="211582" y="139573"/>
                  </a:lnTo>
                  <a:lnTo>
                    <a:pt x="259588" y="160782"/>
                  </a:lnTo>
                  <a:lnTo>
                    <a:pt x="304800" y="141732"/>
                  </a:lnTo>
                  <a:close/>
                </a:path>
                <a:path w="725169" h="315594">
                  <a:moveTo>
                    <a:pt x="366776" y="52832"/>
                  </a:moveTo>
                  <a:lnTo>
                    <a:pt x="318897" y="31750"/>
                  </a:lnTo>
                  <a:lnTo>
                    <a:pt x="273685" y="50800"/>
                  </a:lnTo>
                  <a:lnTo>
                    <a:pt x="321691" y="71882"/>
                  </a:lnTo>
                  <a:lnTo>
                    <a:pt x="366776" y="52832"/>
                  </a:lnTo>
                  <a:close/>
                </a:path>
                <a:path w="725169" h="315594">
                  <a:moveTo>
                    <a:pt x="372491" y="112141"/>
                  </a:moveTo>
                  <a:lnTo>
                    <a:pt x="324485" y="90932"/>
                  </a:lnTo>
                  <a:lnTo>
                    <a:pt x="279400" y="109982"/>
                  </a:lnTo>
                  <a:lnTo>
                    <a:pt x="327279" y="131064"/>
                  </a:lnTo>
                  <a:lnTo>
                    <a:pt x="372491" y="112141"/>
                  </a:lnTo>
                  <a:close/>
                </a:path>
                <a:path w="725169" h="315594">
                  <a:moveTo>
                    <a:pt x="375285" y="171323"/>
                  </a:moveTo>
                  <a:lnTo>
                    <a:pt x="327279" y="152273"/>
                  </a:lnTo>
                  <a:lnTo>
                    <a:pt x="282194" y="171323"/>
                  </a:lnTo>
                  <a:lnTo>
                    <a:pt x="330200" y="192405"/>
                  </a:lnTo>
                  <a:lnTo>
                    <a:pt x="375285" y="171323"/>
                  </a:lnTo>
                  <a:close/>
                </a:path>
                <a:path w="725169" h="315594">
                  <a:moveTo>
                    <a:pt x="380873" y="232664"/>
                  </a:moveTo>
                  <a:lnTo>
                    <a:pt x="189103" y="150114"/>
                  </a:lnTo>
                  <a:lnTo>
                    <a:pt x="143891" y="169164"/>
                  </a:lnTo>
                  <a:lnTo>
                    <a:pt x="335788" y="251714"/>
                  </a:lnTo>
                  <a:lnTo>
                    <a:pt x="380873" y="232664"/>
                  </a:lnTo>
                  <a:close/>
                </a:path>
                <a:path w="725169" h="315594">
                  <a:moveTo>
                    <a:pt x="437388" y="82423"/>
                  </a:moveTo>
                  <a:lnTo>
                    <a:pt x="389382" y="61341"/>
                  </a:lnTo>
                  <a:lnTo>
                    <a:pt x="347091" y="82423"/>
                  </a:lnTo>
                  <a:lnTo>
                    <a:pt x="392176" y="101473"/>
                  </a:lnTo>
                  <a:lnTo>
                    <a:pt x="437388" y="82423"/>
                  </a:lnTo>
                  <a:close/>
                </a:path>
                <a:path w="725169" h="315594">
                  <a:moveTo>
                    <a:pt x="442976" y="143764"/>
                  </a:moveTo>
                  <a:lnTo>
                    <a:pt x="395097" y="122682"/>
                  </a:lnTo>
                  <a:lnTo>
                    <a:pt x="349885" y="141732"/>
                  </a:lnTo>
                  <a:lnTo>
                    <a:pt x="397891" y="162814"/>
                  </a:lnTo>
                  <a:lnTo>
                    <a:pt x="442976" y="143764"/>
                  </a:lnTo>
                  <a:close/>
                </a:path>
                <a:path w="725169" h="315594">
                  <a:moveTo>
                    <a:pt x="445897" y="203073"/>
                  </a:moveTo>
                  <a:lnTo>
                    <a:pt x="397891" y="181864"/>
                  </a:lnTo>
                  <a:lnTo>
                    <a:pt x="355600" y="203073"/>
                  </a:lnTo>
                  <a:lnTo>
                    <a:pt x="400685" y="222123"/>
                  </a:lnTo>
                  <a:lnTo>
                    <a:pt x="445897" y="203073"/>
                  </a:lnTo>
                  <a:close/>
                </a:path>
                <a:path w="725169" h="315594">
                  <a:moveTo>
                    <a:pt x="451485" y="264414"/>
                  </a:moveTo>
                  <a:lnTo>
                    <a:pt x="403479" y="243205"/>
                  </a:lnTo>
                  <a:lnTo>
                    <a:pt x="358394" y="262255"/>
                  </a:lnTo>
                  <a:lnTo>
                    <a:pt x="406273" y="283337"/>
                  </a:lnTo>
                  <a:lnTo>
                    <a:pt x="451485" y="264414"/>
                  </a:lnTo>
                  <a:close/>
                </a:path>
                <a:path w="725169" h="315594">
                  <a:moveTo>
                    <a:pt x="510794" y="114173"/>
                  </a:moveTo>
                  <a:lnTo>
                    <a:pt x="462788" y="93091"/>
                  </a:lnTo>
                  <a:lnTo>
                    <a:pt x="417576" y="112141"/>
                  </a:lnTo>
                  <a:lnTo>
                    <a:pt x="465582" y="133223"/>
                  </a:lnTo>
                  <a:lnTo>
                    <a:pt x="510794" y="114173"/>
                  </a:lnTo>
                  <a:close/>
                </a:path>
                <a:path w="725169" h="315594">
                  <a:moveTo>
                    <a:pt x="513588" y="173482"/>
                  </a:moveTo>
                  <a:lnTo>
                    <a:pt x="465582" y="154432"/>
                  </a:lnTo>
                  <a:lnTo>
                    <a:pt x="420497" y="173482"/>
                  </a:lnTo>
                  <a:lnTo>
                    <a:pt x="468376" y="194564"/>
                  </a:lnTo>
                  <a:lnTo>
                    <a:pt x="513588" y="173482"/>
                  </a:lnTo>
                  <a:close/>
                </a:path>
                <a:path w="725169" h="315594">
                  <a:moveTo>
                    <a:pt x="519176" y="234696"/>
                  </a:moveTo>
                  <a:lnTo>
                    <a:pt x="471170" y="213614"/>
                  </a:lnTo>
                  <a:lnTo>
                    <a:pt x="426085" y="232664"/>
                  </a:lnTo>
                  <a:lnTo>
                    <a:pt x="474091" y="253746"/>
                  </a:lnTo>
                  <a:lnTo>
                    <a:pt x="519176" y="234696"/>
                  </a:lnTo>
                  <a:close/>
                </a:path>
                <a:path w="725169" h="315594">
                  <a:moveTo>
                    <a:pt x="521970" y="294005"/>
                  </a:moveTo>
                  <a:lnTo>
                    <a:pt x="474091" y="274955"/>
                  </a:lnTo>
                  <a:lnTo>
                    <a:pt x="428879" y="294005"/>
                  </a:lnTo>
                  <a:lnTo>
                    <a:pt x="476885" y="315087"/>
                  </a:lnTo>
                  <a:lnTo>
                    <a:pt x="521970" y="294005"/>
                  </a:lnTo>
                  <a:close/>
                </a:path>
                <a:path w="725169" h="315594">
                  <a:moveTo>
                    <a:pt x="581279" y="145923"/>
                  </a:moveTo>
                  <a:lnTo>
                    <a:pt x="533273" y="124841"/>
                  </a:lnTo>
                  <a:lnTo>
                    <a:pt x="488188" y="143764"/>
                  </a:lnTo>
                  <a:lnTo>
                    <a:pt x="536194" y="164973"/>
                  </a:lnTo>
                  <a:lnTo>
                    <a:pt x="581279" y="145923"/>
                  </a:lnTo>
                  <a:close/>
                </a:path>
                <a:path w="725169" h="315594">
                  <a:moveTo>
                    <a:pt x="586867" y="205105"/>
                  </a:moveTo>
                  <a:lnTo>
                    <a:pt x="538988" y="184023"/>
                  </a:lnTo>
                  <a:lnTo>
                    <a:pt x="493776" y="203073"/>
                  </a:lnTo>
                  <a:lnTo>
                    <a:pt x="541782" y="224155"/>
                  </a:lnTo>
                  <a:lnTo>
                    <a:pt x="586867" y="205105"/>
                  </a:lnTo>
                  <a:close/>
                </a:path>
                <a:path w="725169" h="315594">
                  <a:moveTo>
                    <a:pt x="589788" y="266446"/>
                  </a:moveTo>
                  <a:lnTo>
                    <a:pt x="541782" y="245364"/>
                  </a:lnTo>
                  <a:lnTo>
                    <a:pt x="496570" y="264414"/>
                  </a:lnTo>
                  <a:lnTo>
                    <a:pt x="544576" y="285496"/>
                  </a:lnTo>
                  <a:lnTo>
                    <a:pt x="589788" y="266446"/>
                  </a:lnTo>
                  <a:close/>
                </a:path>
                <a:path w="725169" h="315594">
                  <a:moveTo>
                    <a:pt x="651764" y="175514"/>
                  </a:moveTo>
                  <a:lnTo>
                    <a:pt x="603885" y="154432"/>
                  </a:lnTo>
                  <a:lnTo>
                    <a:pt x="561467" y="175514"/>
                  </a:lnTo>
                  <a:lnTo>
                    <a:pt x="606679" y="194564"/>
                  </a:lnTo>
                  <a:lnTo>
                    <a:pt x="651764" y="175514"/>
                  </a:lnTo>
                  <a:close/>
                </a:path>
                <a:path w="725169" h="315594">
                  <a:moveTo>
                    <a:pt x="657479" y="236855"/>
                  </a:moveTo>
                  <a:lnTo>
                    <a:pt x="609473" y="215773"/>
                  </a:lnTo>
                  <a:lnTo>
                    <a:pt x="564388" y="234696"/>
                  </a:lnTo>
                  <a:lnTo>
                    <a:pt x="612267" y="255905"/>
                  </a:lnTo>
                  <a:lnTo>
                    <a:pt x="657479" y="236855"/>
                  </a:lnTo>
                  <a:close/>
                </a:path>
                <a:path w="725169" h="315594">
                  <a:moveTo>
                    <a:pt x="725170" y="207264"/>
                  </a:moveTo>
                  <a:lnTo>
                    <a:pt x="677164" y="186055"/>
                  </a:lnTo>
                  <a:lnTo>
                    <a:pt x="632079" y="205105"/>
                  </a:lnTo>
                  <a:lnTo>
                    <a:pt x="680085" y="226314"/>
                  </a:lnTo>
                  <a:lnTo>
                    <a:pt x="725170" y="2072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77796" y="2668523"/>
              <a:ext cx="725170" cy="300990"/>
            </a:xfrm>
            <a:custGeom>
              <a:avLst/>
              <a:gdLst/>
              <a:ahLst/>
              <a:cxnLst/>
              <a:rect l="l" t="t" r="r" b="b"/>
              <a:pathLst>
                <a:path w="725169" h="300989">
                  <a:moveTo>
                    <a:pt x="93091" y="88392"/>
                  </a:moveTo>
                  <a:lnTo>
                    <a:pt x="48006" y="107315"/>
                  </a:lnTo>
                  <a:lnTo>
                    <a:pt x="0" y="88392"/>
                  </a:lnTo>
                  <a:lnTo>
                    <a:pt x="0" y="94742"/>
                  </a:lnTo>
                  <a:lnTo>
                    <a:pt x="48006" y="115824"/>
                  </a:lnTo>
                  <a:lnTo>
                    <a:pt x="93091" y="96901"/>
                  </a:lnTo>
                  <a:lnTo>
                    <a:pt x="93091" y="88392"/>
                  </a:lnTo>
                  <a:close/>
                </a:path>
                <a:path w="725169" h="300989">
                  <a:moveTo>
                    <a:pt x="160782" y="58928"/>
                  </a:moveTo>
                  <a:lnTo>
                    <a:pt x="115697" y="80010"/>
                  </a:lnTo>
                  <a:lnTo>
                    <a:pt x="67691" y="58928"/>
                  </a:lnTo>
                  <a:lnTo>
                    <a:pt x="67691" y="67310"/>
                  </a:lnTo>
                  <a:lnTo>
                    <a:pt x="115697" y="86360"/>
                  </a:lnTo>
                  <a:lnTo>
                    <a:pt x="160782" y="67310"/>
                  </a:lnTo>
                  <a:lnTo>
                    <a:pt x="160782" y="58928"/>
                  </a:lnTo>
                  <a:close/>
                </a:path>
                <a:path w="725169" h="300989">
                  <a:moveTo>
                    <a:pt x="166497" y="120015"/>
                  </a:moveTo>
                  <a:lnTo>
                    <a:pt x="121285" y="138938"/>
                  </a:lnTo>
                  <a:lnTo>
                    <a:pt x="73406" y="117856"/>
                  </a:lnTo>
                  <a:lnTo>
                    <a:pt x="73406" y="126365"/>
                  </a:lnTo>
                  <a:lnTo>
                    <a:pt x="121285" y="147320"/>
                  </a:lnTo>
                  <a:lnTo>
                    <a:pt x="166497" y="128397"/>
                  </a:lnTo>
                  <a:lnTo>
                    <a:pt x="166497" y="120015"/>
                  </a:lnTo>
                  <a:close/>
                </a:path>
                <a:path w="725169" h="300989">
                  <a:moveTo>
                    <a:pt x="228600" y="31623"/>
                  </a:moveTo>
                  <a:lnTo>
                    <a:pt x="183388" y="50546"/>
                  </a:lnTo>
                  <a:lnTo>
                    <a:pt x="135382" y="29464"/>
                  </a:lnTo>
                  <a:lnTo>
                    <a:pt x="135382" y="37846"/>
                  </a:lnTo>
                  <a:lnTo>
                    <a:pt x="183388" y="58928"/>
                  </a:lnTo>
                  <a:lnTo>
                    <a:pt x="228600" y="37846"/>
                  </a:lnTo>
                  <a:lnTo>
                    <a:pt x="228600" y="31623"/>
                  </a:lnTo>
                  <a:close/>
                </a:path>
                <a:path w="725169" h="300989">
                  <a:moveTo>
                    <a:pt x="231394" y="90551"/>
                  </a:moveTo>
                  <a:lnTo>
                    <a:pt x="186182" y="109474"/>
                  </a:lnTo>
                  <a:lnTo>
                    <a:pt x="141097" y="90551"/>
                  </a:lnTo>
                  <a:lnTo>
                    <a:pt x="141097" y="96901"/>
                  </a:lnTo>
                  <a:lnTo>
                    <a:pt x="186182" y="117856"/>
                  </a:lnTo>
                  <a:lnTo>
                    <a:pt x="231394" y="98933"/>
                  </a:lnTo>
                  <a:lnTo>
                    <a:pt x="231394" y="90551"/>
                  </a:lnTo>
                  <a:close/>
                </a:path>
                <a:path w="725169" h="300989">
                  <a:moveTo>
                    <a:pt x="296291" y="2159"/>
                  </a:moveTo>
                  <a:lnTo>
                    <a:pt x="251079" y="21082"/>
                  </a:lnTo>
                  <a:lnTo>
                    <a:pt x="203200" y="0"/>
                  </a:lnTo>
                  <a:lnTo>
                    <a:pt x="203200" y="8382"/>
                  </a:lnTo>
                  <a:lnTo>
                    <a:pt x="251079" y="29464"/>
                  </a:lnTo>
                  <a:lnTo>
                    <a:pt x="296291" y="10541"/>
                  </a:lnTo>
                  <a:lnTo>
                    <a:pt x="296291" y="2159"/>
                  </a:lnTo>
                  <a:close/>
                </a:path>
                <a:path w="725169" h="300989">
                  <a:moveTo>
                    <a:pt x="299085" y="61087"/>
                  </a:moveTo>
                  <a:lnTo>
                    <a:pt x="254000" y="82042"/>
                  </a:lnTo>
                  <a:lnTo>
                    <a:pt x="205994" y="61087"/>
                  </a:lnTo>
                  <a:lnTo>
                    <a:pt x="205994" y="67310"/>
                  </a:lnTo>
                  <a:lnTo>
                    <a:pt x="254000" y="88392"/>
                  </a:lnTo>
                  <a:lnTo>
                    <a:pt x="299085" y="69469"/>
                  </a:lnTo>
                  <a:lnTo>
                    <a:pt x="299085" y="61087"/>
                  </a:lnTo>
                  <a:close/>
                </a:path>
                <a:path w="725169" h="300989">
                  <a:moveTo>
                    <a:pt x="304800" y="122047"/>
                  </a:moveTo>
                  <a:lnTo>
                    <a:pt x="259588" y="141097"/>
                  </a:lnTo>
                  <a:lnTo>
                    <a:pt x="211582" y="120015"/>
                  </a:lnTo>
                  <a:lnTo>
                    <a:pt x="211582" y="128397"/>
                  </a:lnTo>
                  <a:lnTo>
                    <a:pt x="259588" y="149479"/>
                  </a:lnTo>
                  <a:lnTo>
                    <a:pt x="304800" y="128397"/>
                  </a:lnTo>
                  <a:lnTo>
                    <a:pt x="304800" y="122047"/>
                  </a:lnTo>
                  <a:close/>
                </a:path>
                <a:path w="725169" h="300989">
                  <a:moveTo>
                    <a:pt x="366776" y="33655"/>
                  </a:moveTo>
                  <a:lnTo>
                    <a:pt x="321691" y="52578"/>
                  </a:lnTo>
                  <a:lnTo>
                    <a:pt x="273685" y="31623"/>
                  </a:lnTo>
                  <a:lnTo>
                    <a:pt x="273685" y="40005"/>
                  </a:lnTo>
                  <a:lnTo>
                    <a:pt x="321691" y="58928"/>
                  </a:lnTo>
                  <a:lnTo>
                    <a:pt x="366776" y="40005"/>
                  </a:lnTo>
                  <a:lnTo>
                    <a:pt x="366776" y="33655"/>
                  </a:lnTo>
                  <a:close/>
                </a:path>
                <a:path w="725169" h="300989">
                  <a:moveTo>
                    <a:pt x="372491" y="92583"/>
                  </a:moveTo>
                  <a:lnTo>
                    <a:pt x="327279" y="111633"/>
                  </a:lnTo>
                  <a:lnTo>
                    <a:pt x="279400" y="90551"/>
                  </a:lnTo>
                  <a:lnTo>
                    <a:pt x="279400" y="98933"/>
                  </a:lnTo>
                  <a:lnTo>
                    <a:pt x="327279" y="120015"/>
                  </a:lnTo>
                  <a:lnTo>
                    <a:pt x="372491" y="101092"/>
                  </a:lnTo>
                  <a:lnTo>
                    <a:pt x="372491" y="92583"/>
                  </a:lnTo>
                  <a:close/>
                </a:path>
                <a:path w="725169" h="300989">
                  <a:moveTo>
                    <a:pt x="375285" y="151638"/>
                  </a:moveTo>
                  <a:lnTo>
                    <a:pt x="330200" y="172593"/>
                  </a:lnTo>
                  <a:lnTo>
                    <a:pt x="282194" y="151638"/>
                  </a:lnTo>
                  <a:lnTo>
                    <a:pt x="282194" y="160020"/>
                  </a:lnTo>
                  <a:lnTo>
                    <a:pt x="330200" y="178943"/>
                  </a:lnTo>
                  <a:lnTo>
                    <a:pt x="375285" y="160020"/>
                  </a:lnTo>
                  <a:lnTo>
                    <a:pt x="375285" y="151638"/>
                  </a:lnTo>
                  <a:close/>
                </a:path>
                <a:path w="725169" h="300989">
                  <a:moveTo>
                    <a:pt x="380873" y="212598"/>
                  </a:moveTo>
                  <a:lnTo>
                    <a:pt x="335788" y="231521"/>
                  </a:lnTo>
                  <a:lnTo>
                    <a:pt x="143891" y="149479"/>
                  </a:lnTo>
                  <a:lnTo>
                    <a:pt x="143891" y="157861"/>
                  </a:lnTo>
                  <a:lnTo>
                    <a:pt x="335788" y="240030"/>
                  </a:lnTo>
                  <a:lnTo>
                    <a:pt x="380873" y="221107"/>
                  </a:lnTo>
                  <a:lnTo>
                    <a:pt x="380873" y="212598"/>
                  </a:lnTo>
                  <a:close/>
                </a:path>
                <a:path w="725169" h="300989">
                  <a:moveTo>
                    <a:pt x="437388" y="63119"/>
                  </a:moveTo>
                  <a:lnTo>
                    <a:pt x="392176" y="82042"/>
                  </a:lnTo>
                  <a:lnTo>
                    <a:pt x="347091" y="63119"/>
                  </a:lnTo>
                  <a:lnTo>
                    <a:pt x="347091" y="69469"/>
                  </a:lnTo>
                  <a:lnTo>
                    <a:pt x="392176" y="90551"/>
                  </a:lnTo>
                  <a:lnTo>
                    <a:pt x="437388" y="71628"/>
                  </a:lnTo>
                  <a:lnTo>
                    <a:pt x="437388" y="63119"/>
                  </a:lnTo>
                  <a:close/>
                </a:path>
                <a:path w="725169" h="300989">
                  <a:moveTo>
                    <a:pt x="442976" y="124206"/>
                  </a:moveTo>
                  <a:lnTo>
                    <a:pt x="397891" y="143129"/>
                  </a:lnTo>
                  <a:lnTo>
                    <a:pt x="349885" y="122047"/>
                  </a:lnTo>
                  <a:lnTo>
                    <a:pt x="349885" y="130556"/>
                  </a:lnTo>
                  <a:lnTo>
                    <a:pt x="397891" y="151638"/>
                  </a:lnTo>
                  <a:lnTo>
                    <a:pt x="442976" y="130556"/>
                  </a:lnTo>
                  <a:lnTo>
                    <a:pt x="442976" y="124206"/>
                  </a:lnTo>
                  <a:close/>
                </a:path>
                <a:path w="725169" h="300989">
                  <a:moveTo>
                    <a:pt x="445897" y="183134"/>
                  </a:moveTo>
                  <a:lnTo>
                    <a:pt x="400685" y="202057"/>
                  </a:lnTo>
                  <a:lnTo>
                    <a:pt x="355600" y="183134"/>
                  </a:lnTo>
                  <a:lnTo>
                    <a:pt x="355600" y="189484"/>
                  </a:lnTo>
                  <a:lnTo>
                    <a:pt x="400685" y="210566"/>
                  </a:lnTo>
                  <a:lnTo>
                    <a:pt x="445897" y="191516"/>
                  </a:lnTo>
                  <a:lnTo>
                    <a:pt x="445897" y="183134"/>
                  </a:lnTo>
                  <a:close/>
                </a:path>
                <a:path w="725169" h="300989">
                  <a:moveTo>
                    <a:pt x="451485" y="244221"/>
                  </a:moveTo>
                  <a:lnTo>
                    <a:pt x="406273" y="263144"/>
                  </a:lnTo>
                  <a:lnTo>
                    <a:pt x="358394" y="242062"/>
                  </a:lnTo>
                  <a:lnTo>
                    <a:pt x="358394" y="250571"/>
                  </a:lnTo>
                  <a:lnTo>
                    <a:pt x="406273" y="271526"/>
                  </a:lnTo>
                  <a:lnTo>
                    <a:pt x="451485" y="250571"/>
                  </a:lnTo>
                  <a:lnTo>
                    <a:pt x="451485" y="244221"/>
                  </a:lnTo>
                  <a:close/>
                </a:path>
                <a:path w="725169" h="300989">
                  <a:moveTo>
                    <a:pt x="510794" y="94742"/>
                  </a:moveTo>
                  <a:lnTo>
                    <a:pt x="465582" y="113665"/>
                  </a:lnTo>
                  <a:lnTo>
                    <a:pt x="417576" y="92583"/>
                  </a:lnTo>
                  <a:lnTo>
                    <a:pt x="417576" y="101092"/>
                  </a:lnTo>
                  <a:lnTo>
                    <a:pt x="465582" y="122047"/>
                  </a:lnTo>
                  <a:lnTo>
                    <a:pt x="510794" y="103124"/>
                  </a:lnTo>
                  <a:lnTo>
                    <a:pt x="510794" y="94742"/>
                  </a:lnTo>
                  <a:close/>
                </a:path>
                <a:path w="725169" h="300989">
                  <a:moveTo>
                    <a:pt x="513588" y="153670"/>
                  </a:moveTo>
                  <a:lnTo>
                    <a:pt x="468376" y="174752"/>
                  </a:lnTo>
                  <a:lnTo>
                    <a:pt x="420497" y="153670"/>
                  </a:lnTo>
                  <a:lnTo>
                    <a:pt x="420497" y="160020"/>
                  </a:lnTo>
                  <a:lnTo>
                    <a:pt x="468376" y="181102"/>
                  </a:lnTo>
                  <a:lnTo>
                    <a:pt x="513588" y="162052"/>
                  </a:lnTo>
                  <a:lnTo>
                    <a:pt x="513588" y="153670"/>
                  </a:lnTo>
                  <a:close/>
                </a:path>
                <a:path w="725169" h="300989">
                  <a:moveTo>
                    <a:pt x="519176" y="214757"/>
                  </a:moveTo>
                  <a:lnTo>
                    <a:pt x="474091" y="233680"/>
                  </a:lnTo>
                  <a:lnTo>
                    <a:pt x="426085" y="212598"/>
                  </a:lnTo>
                  <a:lnTo>
                    <a:pt x="426085" y="221107"/>
                  </a:lnTo>
                  <a:lnTo>
                    <a:pt x="474091" y="242062"/>
                  </a:lnTo>
                  <a:lnTo>
                    <a:pt x="519176" y="221107"/>
                  </a:lnTo>
                  <a:lnTo>
                    <a:pt x="519176" y="214757"/>
                  </a:lnTo>
                  <a:close/>
                </a:path>
                <a:path w="725169" h="300989">
                  <a:moveTo>
                    <a:pt x="521970" y="273685"/>
                  </a:moveTo>
                  <a:lnTo>
                    <a:pt x="476885" y="294767"/>
                  </a:lnTo>
                  <a:lnTo>
                    <a:pt x="428879" y="273685"/>
                  </a:lnTo>
                  <a:lnTo>
                    <a:pt x="428879" y="280035"/>
                  </a:lnTo>
                  <a:lnTo>
                    <a:pt x="476885" y="300990"/>
                  </a:lnTo>
                  <a:lnTo>
                    <a:pt x="521970" y="282067"/>
                  </a:lnTo>
                  <a:lnTo>
                    <a:pt x="521970" y="273685"/>
                  </a:lnTo>
                  <a:close/>
                </a:path>
                <a:path w="725169" h="300989">
                  <a:moveTo>
                    <a:pt x="581279" y="126365"/>
                  </a:moveTo>
                  <a:lnTo>
                    <a:pt x="536067" y="145288"/>
                  </a:lnTo>
                  <a:lnTo>
                    <a:pt x="488188" y="124206"/>
                  </a:lnTo>
                  <a:lnTo>
                    <a:pt x="488188" y="132588"/>
                  </a:lnTo>
                  <a:lnTo>
                    <a:pt x="536067" y="151638"/>
                  </a:lnTo>
                  <a:lnTo>
                    <a:pt x="581279" y="132588"/>
                  </a:lnTo>
                  <a:lnTo>
                    <a:pt x="581279" y="126365"/>
                  </a:lnTo>
                  <a:close/>
                </a:path>
                <a:path w="725169" h="300989">
                  <a:moveTo>
                    <a:pt x="586867" y="185293"/>
                  </a:moveTo>
                  <a:lnTo>
                    <a:pt x="541782" y="204216"/>
                  </a:lnTo>
                  <a:lnTo>
                    <a:pt x="493776" y="183134"/>
                  </a:lnTo>
                  <a:lnTo>
                    <a:pt x="493776" y="191516"/>
                  </a:lnTo>
                  <a:lnTo>
                    <a:pt x="541782" y="212598"/>
                  </a:lnTo>
                  <a:lnTo>
                    <a:pt x="586867" y="193675"/>
                  </a:lnTo>
                  <a:lnTo>
                    <a:pt x="586867" y="185293"/>
                  </a:lnTo>
                  <a:close/>
                </a:path>
                <a:path w="725169" h="300989">
                  <a:moveTo>
                    <a:pt x="589788" y="246253"/>
                  </a:moveTo>
                  <a:lnTo>
                    <a:pt x="544576" y="265303"/>
                  </a:lnTo>
                  <a:lnTo>
                    <a:pt x="496570" y="244221"/>
                  </a:lnTo>
                  <a:lnTo>
                    <a:pt x="496570" y="252603"/>
                  </a:lnTo>
                  <a:lnTo>
                    <a:pt x="544576" y="271526"/>
                  </a:lnTo>
                  <a:lnTo>
                    <a:pt x="589788" y="252603"/>
                  </a:lnTo>
                  <a:lnTo>
                    <a:pt x="589788" y="246253"/>
                  </a:lnTo>
                  <a:close/>
                </a:path>
                <a:path w="725169" h="300989">
                  <a:moveTo>
                    <a:pt x="651764" y="155829"/>
                  </a:moveTo>
                  <a:lnTo>
                    <a:pt x="606679" y="174752"/>
                  </a:lnTo>
                  <a:lnTo>
                    <a:pt x="561467" y="155829"/>
                  </a:lnTo>
                  <a:lnTo>
                    <a:pt x="561467" y="162052"/>
                  </a:lnTo>
                  <a:lnTo>
                    <a:pt x="606679" y="183134"/>
                  </a:lnTo>
                  <a:lnTo>
                    <a:pt x="651764" y="164211"/>
                  </a:lnTo>
                  <a:lnTo>
                    <a:pt x="651764" y="155829"/>
                  </a:lnTo>
                  <a:close/>
                </a:path>
                <a:path w="725169" h="300989">
                  <a:moveTo>
                    <a:pt x="657479" y="216789"/>
                  </a:moveTo>
                  <a:lnTo>
                    <a:pt x="612267" y="235839"/>
                  </a:lnTo>
                  <a:lnTo>
                    <a:pt x="564388" y="214757"/>
                  </a:lnTo>
                  <a:lnTo>
                    <a:pt x="564388" y="223139"/>
                  </a:lnTo>
                  <a:lnTo>
                    <a:pt x="612267" y="244221"/>
                  </a:lnTo>
                  <a:lnTo>
                    <a:pt x="657479" y="223139"/>
                  </a:lnTo>
                  <a:lnTo>
                    <a:pt x="657479" y="216789"/>
                  </a:lnTo>
                  <a:close/>
                </a:path>
                <a:path w="725169" h="300989">
                  <a:moveTo>
                    <a:pt x="725170" y="187325"/>
                  </a:moveTo>
                  <a:lnTo>
                    <a:pt x="680085" y="206375"/>
                  </a:lnTo>
                  <a:lnTo>
                    <a:pt x="632079" y="185293"/>
                  </a:lnTo>
                  <a:lnTo>
                    <a:pt x="632079" y="193675"/>
                  </a:lnTo>
                  <a:lnTo>
                    <a:pt x="680085" y="214757"/>
                  </a:lnTo>
                  <a:lnTo>
                    <a:pt x="725170" y="195834"/>
                  </a:lnTo>
                  <a:lnTo>
                    <a:pt x="725170" y="187325"/>
                  </a:lnTo>
                  <a:close/>
                </a:path>
              </a:pathLst>
            </a:custGeom>
            <a:solidFill>
              <a:srgbClr val="9494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04644" y="2305811"/>
              <a:ext cx="1032510" cy="746760"/>
            </a:xfrm>
            <a:custGeom>
              <a:avLst/>
              <a:gdLst/>
              <a:ahLst/>
              <a:cxnLst/>
              <a:rect l="l" t="t" r="r" b="b"/>
              <a:pathLst>
                <a:path w="1032510" h="746760">
                  <a:moveTo>
                    <a:pt x="530351" y="746378"/>
                  </a:moveTo>
                  <a:lnTo>
                    <a:pt x="885825" y="592454"/>
                  </a:lnTo>
                  <a:lnTo>
                    <a:pt x="1032510" y="229870"/>
                  </a:lnTo>
                  <a:lnTo>
                    <a:pt x="502157" y="0"/>
                  </a:lnTo>
                  <a:lnTo>
                    <a:pt x="457073" y="0"/>
                  </a:lnTo>
                  <a:lnTo>
                    <a:pt x="332867" y="316229"/>
                  </a:lnTo>
                  <a:lnTo>
                    <a:pt x="0" y="461772"/>
                  </a:lnTo>
                  <a:lnTo>
                    <a:pt x="0" y="514476"/>
                  </a:lnTo>
                  <a:lnTo>
                    <a:pt x="65912" y="559688"/>
                  </a:lnTo>
                  <a:lnTo>
                    <a:pt x="135508" y="600963"/>
                  </a:lnTo>
                  <a:lnTo>
                    <a:pt x="208406" y="638555"/>
                  </a:lnTo>
                  <a:lnTo>
                    <a:pt x="284606" y="671957"/>
                  </a:lnTo>
                  <a:lnTo>
                    <a:pt x="363855" y="701166"/>
                  </a:lnTo>
                  <a:lnTo>
                    <a:pt x="445769" y="726059"/>
                  </a:lnTo>
                  <a:lnTo>
                    <a:pt x="530351" y="74637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215628" y="2301239"/>
            <a:ext cx="1042035" cy="756285"/>
            <a:chOff x="9215628" y="2301239"/>
            <a:chExt cx="1042035" cy="75628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53600" y="2830067"/>
              <a:ext cx="381000" cy="22250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85832" y="2535935"/>
              <a:ext cx="166116" cy="31546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0082784" y="2535935"/>
              <a:ext cx="169545" cy="315595"/>
            </a:xfrm>
            <a:custGeom>
              <a:avLst/>
              <a:gdLst/>
              <a:ahLst/>
              <a:cxnLst/>
              <a:rect l="l" t="t" r="r" b="b"/>
              <a:pathLst>
                <a:path w="169545" h="315594">
                  <a:moveTo>
                    <a:pt x="0" y="315467"/>
                  </a:moveTo>
                  <a:lnTo>
                    <a:pt x="124079" y="0"/>
                  </a:lnTo>
                  <a:lnTo>
                    <a:pt x="169164" y="0"/>
                  </a:lnTo>
                  <a:lnTo>
                    <a:pt x="50800" y="292353"/>
                  </a:lnTo>
                  <a:lnTo>
                    <a:pt x="0" y="315467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77400" y="2305811"/>
              <a:ext cx="574548" cy="2301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677400" y="2305811"/>
              <a:ext cx="575945" cy="229870"/>
            </a:xfrm>
            <a:custGeom>
              <a:avLst/>
              <a:gdLst/>
              <a:ahLst/>
              <a:cxnLst/>
              <a:rect l="l" t="t" r="r" b="b"/>
              <a:pathLst>
                <a:path w="575945" h="229869">
                  <a:moveTo>
                    <a:pt x="0" y="2159"/>
                  </a:moveTo>
                  <a:lnTo>
                    <a:pt x="48005" y="0"/>
                  </a:lnTo>
                  <a:lnTo>
                    <a:pt x="414781" y="147574"/>
                  </a:lnTo>
                  <a:lnTo>
                    <a:pt x="575564" y="229742"/>
                  </a:lnTo>
                  <a:lnTo>
                    <a:pt x="530478" y="229742"/>
                  </a:lnTo>
                  <a:lnTo>
                    <a:pt x="454278" y="197992"/>
                  </a:lnTo>
                  <a:lnTo>
                    <a:pt x="378205" y="165988"/>
                  </a:lnTo>
                  <a:lnTo>
                    <a:pt x="302132" y="133730"/>
                  </a:lnTo>
                  <a:lnTo>
                    <a:pt x="226314" y="101218"/>
                  </a:lnTo>
                  <a:lnTo>
                    <a:pt x="150622" y="68452"/>
                  </a:lnTo>
                  <a:lnTo>
                    <a:pt x="75183" y="35433"/>
                  </a:lnTo>
                  <a:lnTo>
                    <a:pt x="0" y="2159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0200" y="2621279"/>
              <a:ext cx="862583" cy="37337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220200" y="2621279"/>
              <a:ext cx="863600" cy="375285"/>
            </a:xfrm>
            <a:custGeom>
              <a:avLst/>
              <a:gdLst/>
              <a:ahLst/>
              <a:cxnLst/>
              <a:rect l="l" t="t" r="r" b="b"/>
              <a:pathLst>
                <a:path w="863600" h="375285">
                  <a:moveTo>
                    <a:pt x="0" y="146050"/>
                  </a:moveTo>
                  <a:lnTo>
                    <a:pt x="332994" y="0"/>
                  </a:lnTo>
                  <a:lnTo>
                    <a:pt x="863346" y="230759"/>
                  </a:lnTo>
                  <a:lnTo>
                    <a:pt x="533273" y="374777"/>
                  </a:lnTo>
                  <a:lnTo>
                    <a:pt x="449706" y="352806"/>
                  </a:lnTo>
                  <a:lnTo>
                    <a:pt x="368300" y="327152"/>
                  </a:lnTo>
                  <a:lnTo>
                    <a:pt x="289305" y="297815"/>
                  </a:lnTo>
                  <a:lnTo>
                    <a:pt x="212851" y="264922"/>
                  </a:lnTo>
                  <a:lnTo>
                    <a:pt x="139065" y="228600"/>
                  </a:lnTo>
                  <a:lnTo>
                    <a:pt x="68072" y="188975"/>
                  </a:lnTo>
                  <a:lnTo>
                    <a:pt x="0" y="146050"/>
                  </a:lnTo>
                  <a:close/>
                </a:path>
              </a:pathLst>
            </a:custGeom>
            <a:ln w="91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52432" y="2307335"/>
              <a:ext cx="655320" cy="54406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552432" y="2305811"/>
              <a:ext cx="655320" cy="546735"/>
            </a:xfrm>
            <a:custGeom>
              <a:avLst/>
              <a:gdLst/>
              <a:ahLst/>
              <a:cxnLst/>
              <a:rect l="l" t="t" r="r" b="b"/>
              <a:pathLst>
                <a:path w="655320" h="546735">
                  <a:moveTo>
                    <a:pt x="530860" y="546735"/>
                  </a:moveTo>
                  <a:lnTo>
                    <a:pt x="454787" y="513461"/>
                  </a:lnTo>
                  <a:lnTo>
                    <a:pt x="378968" y="480313"/>
                  </a:lnTo>
                  <a:lnTo>
                    <a:pt x="303275" y="447293"/>
                  </a:lnTo>
                  <a:lnTo>
                    <a:pt x="227584" y="414527"/>
                  </a:lnTo>
                  <a:lnTo>
                    <a:pt x="151892" y="381888"/>
                  </a:lnTo>
                  <a:lnTo>
                    <a:pt x="76073" y="349250"/>
                  </a:lnTo>
                  <a:lnTo>
                    <a:pt x="0" y="316611"/>
                  </a:lnTo>
                  <a:lnTo>
                    <a:pt x="127000" y="0"/>
                  </a:lnTo>
                  <a:lnTo>
                    <a:pt x="655066" y="230124"/>
                  </a:lnTo>
                  <a:lnTo>
                    <a:pt x="530860" y="54673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20200" y="2769107"/>
              <a:ext cx="533400" cy="28346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220200" y="2767583"/>
              <a:ext cx="790575" cy="285115"/>
            </a:xfrm>
            <a:custGeom>
              <a:avLst/>
              <a:gdLst/>
              <a:ahLst/>
              <a:cxnLst/>
              <a:rect l="l" t="t" r="r" b="b"/>
              <a:pathLst>
                <a:path w="790575" h="285114">
                  <a:moveTo>
                    <a:pt x="0" y="52831"/>
                  </a:moveTo>
                  <a:lnTo>
                    <a:pt x="66040" y="98678"/>
                  </a:lnTo>
                  <a:lnTo>
                    <a:pt x="136017" y="140335"/>
                  </a:lnTo>
                  <a:lnTo>
                    <a:pt x="209423" y="177800"/>
                  </a:lnTo>
                  <a:lnTo>
                    <a:pt x="286130" y="211074"/>
                  </a:lnTo>
                  <a:lnTo>
                    <a:pt x="365886" y="240029"/>
                  </a:lnTo>
                  <a:lnTo>
                    <a:pt x="448182" y="264667"/>
                  </a:lnTo>
                  <a:lnTo>
                    <a:pt x="532892" y="284988"/>
                  </a:lnTo>
                  <a:lnTo>
                    <a:pt x="532892" y="227964"/>
                  </a:lnTo>
                  <a:lnTo>
                    <a:pt x="448182" y="207771"/>
                  </a:lnTo>
                  <a:lnTo>
                    <a:pt x="365886" y="183133"/>
                  </a:lnTo>
                  <a:lnTo>
                    <a:pt x="286130" y="154431"/>
                  </a:lnTo>
                  <a:lnTo>
                    <a:pt x="209423" y="121665"/>
                  </a:lnTo>
                  <a:lnTo>
                    <a:pt x="136017" y="84836"/>
                  </a:lnTo>
                  <a:lnTo>
                    <a:pt x="66040" y="44323"/>
                  </a:lnTo>
                  <a:lnTo>
                    <a:pt x="0" y="0"/>
                  </a:lnTo>
                  <a:lnTo>
                    <a:pt x="0" y="52831"/>
                  </a:lnTo>
                  <a:close/>
                </a:path>
                <a:path w="790575" h="285114">
                  <a:moveTo>
                    <a:pt x="790194" y="138683"/>
                  </a:moveTo>
                  <a:lnTo>
                    <a:pt x="560831" y="238251"/>
                  </a:lnTo>
                  <a:lnTo>
                    <a:pt x="560831" y="27203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87484" y="2340863"/>
              <a:ext cx="580644" cy="48006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605772" y="2343911"/>
              <a:ext cx="561975" cy="474345"/>
            </a:xfrm>
            <a:custGeom>
              <a:avLst/>
              <a:gdLst/>
              <a:ahLst/>
              <a:cxnLst/>
              <a:rect l="l" t="t" r="r" b="b"/>
              <a:pathLst>
                <a:path w="561975" h="474344">
                  <a:moveTo>
                    <a:pt x="0" y="269621"/>
                  </a:moveTo>
                  <a:lnTo>
                    <a:pt x="107314" y="4190"/>
                  </a:lnTo>
                  <a:lnTo>
                    <a:pt x="96011" y="0"/>
                  </a:lnTo>
                  <a:lnTo>
                    <a:pt x="173608" y="32765"/>
                  </a:lnTo>
                  <a:lnTo>
                    <a:pt x="251332" y="66039"/>
                  </a:lnTo>
                  <a:lnTo>
                    <a:pt x="328929" y="99567"/>
                  </a:lnTo>
                  <a:lnTo>
                    <a:pt x="406653" y="133350"/>
                  </a:lnTo>
                  <a:lnTo>
                    <a:pt x="484250" y="167639"/>
                  </a:lnTo>
                  <a:lnTo>
                    <a:pt x="561848" y="202184"/>
                  </a:lnTo>
                  <a:lnTo>
                    <a:pt x="454532" y="473963"/>
                  </a:lnTo>
                  <a:lnTo>
                    <a:pt x="457453" y="467613"/>
                  </a:lnTo>
                  <a:lnTo>
                    <a:pt x="380237" y="434975"/>
                  </a:lnTo>
                  <a:lnTo>
                    <a:pt x="303656" y="402209"/>
                  </a:lnTo>
                  <a:lnTo>
                    <a:pt x="227583" y="369442"/>
                  </a:lnTo>
                  <a:lnTo>
                    <a:pt x="151892" y="336423"/>
                  </a:lnTo>
                  <a:lnTo>
                    <a:pt x="76073" y="303149"/>
                  </a:lnTo>
                  <a:lnTo>
                    <a:pt x="0" y="26962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296400" y="2648711"/>
              <a:ext cx="721995" cy="315595"/>
            </a:xfrm>
            <a:custGeom>
              <a:avLst/>
              <a:gdLst/>
              <a:ahLst/>
              <a:cxnLst/>
              <a:rect l="l" t="t" r="r" b="b"/>
              <a:pathLst>
                <a:path w="721995" h="315594">
                  <a:moveTo>
                    <a:pt x="92964" y="107823"/>
                  </a:moveTo>
                  <a:lnTo>
                    <a:pt x="45085" y="86741"/>
                  </a:lnTo>
                  <a:lnTo>
                    <a:pt x="0" y="107823"/>
                  </a:lnTo>
                  <a:lnTo>
                    <a:pt x="47879" y="126873"/>
                  </a:lnTo>
                  <a:lnTo>
                    <a:pt x="92964" y="107823"/>
                  </a:lnTo>
                  <a:close/>
                </a:path>
                <a:path w="721995" h="315594">
                  <a:moveTo>
                    <a:pt x="160655" y="78232"/>
                  </a:moveTo>
                  <a:lnTo>
                    <a:pt x="112776" y="59182"/>
                  </a:lnTo>
                  <a:lnTo>
                    <a:pt x="67691" y="78232"/>
                  </a:lnTo>
                  <a:lnTo>
                    <a:pt x="115570" y="99441"/>
                  </a:lnTo>
                  <a:lnTo>
                    <a:pt x="160655" y="78232"/>
                  </a:lnTo>
                  <a:close/>
                </a:path>
                <a:path w="721995" h="315594">
                  <a:moveTo>
                    <a:pt x="163449" y="139573"/>
                  </a:moveTo>
                  <a:lnTo>
                    <a:pt x="115570" y="118491"/>
                  </a:lnTo>
                  <a:lnTo>
                    <a:pt x="70485" y="137414"/>
                  </a:lnTo>
                  <a:lnTo>
                    <a:pt x="118364" y="158623"/>
                  </a:lnTo>
                  <a:lnTo>
                    <a:pt x="163449" y="139573"/>
                  </a:lnTo>
                  <a:close/>
                </a:path>
                <a:path w="721995" h="315594">
                  <a:moveTo>
                    <a:pt x="225552" y="50800"/>
                  </a:moveTo>
                  <a:lnTo>
                    <a:pt x="180467" y="29591"/>
                  </a:lnTo>
                  <a:lnTo>
                    <a:pt x="135255" y="48641"/>
                  </a:lnTo>
                  <a:lnTo>
                    <a:pt x="183261" y="69850"/>
                  </a:lnTo>
                  <a:lnTo>
                    <a:pt x="225552" y="50800"/>
                  </a:lnTo>
                  <a:close/>
                </a:path>
                <a:path w="721995" h="315594">
                  <a:moveTo>
                    <a:pt x="231140" y="109982"/>
                  </a:moveTo>
                  <a:lnTo>
                    <a:pt x="183261" y="88773"/>
                  </a:lnTo>
                  <a:lnTo>
                    <a:pt x="138176" y="109982"/>
                  </a:lnTo>
                  <a:lnTo>
                    <a:pt x="186055" y="129032"/>
                  </a:lnTo>
                  <a:lnTo>
                    <a:pt x="231140" y="109982"/>
                  </a:lnTo>
                  <a:close/>
                </a:path>
                <a:path w="721995" h="315594">
                  <a:moveTo>
                    <a:pt x="293116" y="21209"/>
                  </a:moveTo>
                  <a:lnTo>
                    <a:pt x="245237" y="0"/>
                  </a:lnTo>
                  <a:lnTo>
                    <a:pt x="200152" y="19050"/>
                  </a:lnTo>
                  <a:lnTo>
                    <a:pt x="248031" y="40132"/>
                  </a:lnTo>
                  <a:lnTo>
                    <a:pt x="293116" y="21209"/>
                  </a:lnTo>
                  <a:close/>
                </a:path>
                <a:path w="721995" h="315594">
                  <a:moveTo>
                    <a:pt x="298831" y="80391"/>
                  </a:moveTo>
                  <a:lnTo>
                    <a:pt x="250952" y="61341"/>
                  </a:lnTo>
                  <a:lnTo>
                    <a:pt x="205740" y="80391"/>
                  </a:lnTo>
                  <a:lnTo>
                    <a:pt x="253746" y="101473"/>
                  </a:lnTo>
                  <a:lnTo>
                    <a:pt x="298831" y="80391"/>
                  </a:lnTo>
                  <a:close/>
                </a:path>
                <a:path w="721995" h="315594">
                  <a:moveTo>
                    <a:pt x="301625" y="141732"/>
                  </a:moveTo>
                  <a:lnTo>
                    <a:pt x="253746" y="120523"/>
                  </a:lnTo>
                  <a:lnTo>
                    <a:pt x="208661" y="139573"/>
                  </a:lnTo>
                  <a:lnTo>
                    <a:pt x="256540" y="160782"/>
                  </a:lnTo>
                  <a:lnTo>
                    <a:pt x="301625" y="141732"/>
                  </a:lnTo>
                  <a:close/>
                </a:path>
                <a:path w="721995" h="315594">
                  <a:moveTo>
                    <a:pt x="366522" y="52832"/>
                  </a:moveTo>
                  <a:lnTo>
                    <a:pt x="318516" y="31750"/>
                  </a:lnTo>
                  <a:lnTo>
                    <a:pt x="273431" y="50800"/>
                  </a:lnTo>
                  <a:lnTo>
                    <a:pt x="321310" y="71882"/>
                  </a:lnTo>
                  <a:lnTo>
                    <a:pt x="366522" y="52832"/>
                  </a:lnTo>
                  <a:close/>
                </a:path>
                <a:path w="721995" h="315594">
                  <a:moveTo>
                    <a:pt x="369316" y="112141"/>
                  </a:moveTo>
                  <a:lnTo>
                    <a:pt x="321310" y="90932"/>
                  </a:lnTo>
                  <a:lnTo>
                    <a:pt x="276225" y="109982"/>
                  </a:lnTo>
                  <a:lnTo>
                    <a:pt x="324231" y="131064"/>
                  </a:lnTo>
                  <a:lnTo>
                    <a:pt x="369316" y="112141"/>
                  </a:lnTo>
                  <a:close/>
                </a:path>
                <a:path w="721995" h="315594">
                  <a:moveTo>
                    <a:pt x="374904" y="171323"/>
                  </a:moveTo>
                  <a:lnTo>
                    <a:pt x="327025" y="152273"/>
                  </a:lnTo>
                  <a:lnTo>
                    <a:pt x="281940" y="171323"/>
                  </a:lnTo>
                  <a:lnTo>
                    <a:pt x="329819" y="192405"/>
                  </a:lnTo>
                  <a:lnTo>
                    <a:pt x="374904" y="171323"/>
                  </a:lnTo>
                  <a:close/>
                </a:path>
                <a:path w="721995" h="315594">
                  <a:moveTo>
                    <a:pt x="377698" y="232664"/>
                  </a:moveTo>
                  <a:lnTo>
                    <a:pt x="188849" y="150114"/>
                  </a:lnTo>
                  <a:lnTo>
                    <a:pt x="143764" y="169164"/>
                  </a:lnTo>
                  <a:lnTo>
                    <a:pt x="332613" y="251714"/>
                  </a:lnTo>
                  <a:lnTo>
                    <a:pt x="377698" y="232664"/>
                  </a:lnTo>
                  <a:close/>
                </a:path>
                <a:path w="721995" h="315594">
                  <a:moveTo>
                    <a:pt x="437007" y="82423"/>
                  </a:moveTo>
                  <a:lnTo>
                    <a:pt x="389001" y="61341"/>
                  </a:lnTo>
                  <a:lnTo>
                    <a:pt x="343916" y="82423"/>
                  </a:lnTo>
                  <a:lnTo>
                    <a:pt x="391795" y="101473"/>
                  </a:lnTo>
                  <a:lnTo>
                    <a:pt x="437007" y="82423"/>
                  </a:lnTo>
                  <a:close/>
                </a:path>
                <a:path w="721995" h="315594">
                  <a:moveTo>
                    <a:pt x="439801" y="143764"/>
                  </a:moveTo>
                  <a:lnTo>
                    <a:pt x="394716" y="122682"/>
                  </a:lnTo>
                  <a:lnTo>
                    <a:pt x="349504" y="141732"/>
                  </a:lnTo>
                  <a:lnTo>
                    <a:pt x="397510" y="162814"/>
                  </a:lnTo>
                  <a:lnTo>
                    <a:pt x="439801" y="143764"/>
                  </a:lnTo>
                  <a:close/>
                </a:path>
                <a:path w="721995" h="315594">
                  <a:moveTo>
                    <a:pt x="445389" y="203073"/>
                  </a:moveTo>
                  <a:lnTo>
                    <a:pt x="397510" y="181864"/>
                  </a:lnTo>
                  <a:lnTo>
                    <a:pt x="352425" y="203073"/>
                  </a:lnTo>
                  <a:lnTo>
                    <a:pt x="400304" y="222123"/>
                  </a:lnTo>
                  <a:lnTo>
                    <a:pt x="445389" y="203073"/>
                  </a:lnTo>
                  <a:close/>
                </a:path>
                <a:path w="721995" h="315594">
                  <a:moveTo>
                    <a:pt x="448183" y="264414"/>
                  </a:moveTo>
                  <a:lnTo>
                    <a:pt x="403098" y="243205"/>
                  </a:lnTo>
                  <a:lnTo>
                    <a:pt x="358013" y="262255"/>
                  </a:lnTo>
                  <a:lnTo>
                    <a:pt x="405892" y="283337"/>
                  </a:lnTo>
                  <a:lnTo>
                    <a:pt x="448183" y="264414"/>
                  </a:lnTo>
                  <a:close/>
                </a:path>
                <a:path w="721995" h="315594">
                  <a:moveTo>
                    <a:pt x="507365" y="114173"/>
                  </a:moveTo>
                  <a:lnTo>
                    <a:pt x="459486" y="93091"/>
                  </a:lnTo>
                  <a:lnTo>
                    <a:pt x="414401" y="112141"/>
                  </a:lnTo>
                  <a:lnTo>
                    <a:pt x="462280" y="133223"/>
                  </a:lnTo>
                  <a:lnTo>
                    <a:pt x="507365" y="114173"/>
                  </a:lnTo>
                  <a:close/>
                </a:path>
                <a:path w="721995" h="315594">
                  <a:moveTo>
                    <a:pt x="513080" y="173482"/>
                  </a:moveTo>
                  <a:lnTo>
                    <a:pt x="465201" y="154432"/>
                  </a:lnTo>
                  <a:lnTo>
                    <a:pt x="419989" y="173482"/>
                  </a:lnTo>
                  <a:lnTo>
                    <a:pt x="467995" y="194564"/>
                  </a:lnTo>
                  <a:lnTo>
                    <a:pt x="513080" y="173482"/>
                  </a:lnTo>
                  <a:close/>
                </a:path>
                <a:path w="721995" h="315594">
                  <a:moveTo>
                    <a:pt x="515874" y="234696"/>
                  </a:moveTo>
                  <a:lnTo>
                    <a:pt x="467995" y="213614"/>
                  </a:lnTo>
                  <a:lnTo>
                    <a:pt x="425704" y="232664"/>
                  </a:lnTo>
                  <a:lnTo>
                    <a:pt x="470789" y="253746"/>
                  </a:lnTo>
                  <a:lnTo>
                    <a:pt x="515874" y="234696"/>
                  </a:lnTo>
                  <a:close/>
                </a:path>
                <a:path w="721995" h="315594">
                  <a:moveTo>
                    <a:pt x="521462" y="294005"/>
                  </a:moveTo>
                  <a:lnTo>
                    <a:pt x="473583" y="274955"/>
                  </a:lnTo>
                  <a:lnTo>
                    <a:pt x="428498" y="294005"/>
                  </a:lnTo>
                  <a:lnTo>
                    <a:pt x="476377" y="315087"/>
                  </a:lnTo>
                  <a:lnTo>
                    <a:pt x="521462" y="294005"/>
                  </a:lnTo>
                  <a:close/>
                </a:path>
                <a:path w="721995" h="315594">
                  <a:moveTo>
                    <a:pt x="580771" y="145923"/>
                  </a:moveTo>
                  <a:lnTo>
                    <a:pt x="532765" y="124841"/>
                  </a:lnTo>
                  <a:lnTo>
                    <a:pt x="487680" y="143764"/>
                  </a:lnTo>
                  <a:lnTo>
                    <a:pt x="535559" y="164973"/>
                  </a:lnTo>
                  <a:lnTo>
                    <a:pt x="580771" y="145923"/>
                  </a:lnTo>
                  <a:close/>
                </a:path>
                <a:path w="721995" h="315594">
                  <a:moveTo>
                    <a:pt x="583565" y="205105"/>
                  </a:moveTo>
                  <a:lnTo>
                    <a:pt x="535559" y="184023"/>
                  </a:lnTo>
                  <a:lnTo>
                    <a:pt x="490474" y="203073"/>
                  </a:lnTo>
                  <a:lnTo>
                    <a:pt x="538480" y="224155"/>
                  </a:lnTo>
                  <a:lnTo>
                    <a:pt x="583565" y="205105"/>
                  </a:lnTo>
                  <a:close/>
                </a:path>
                <a:path w="721995" h="315594">
                  <a:moveTo>
                    <a:pt x="589153" y="266446"/>
                  </a:moveTo>
                  <a:lnTo>
                    <a:pt x="541274" y="245364"/>
                  </a:lnTo>
                  <a:lnTo>
                    <a:pt x="496189" y="264414"/>
                  </a:lnTo>
                  <a:lnTo>
                    <a:pt x="544068" y="285496"/>
                  </a:lnTo>
                  <a:lnTo>
                    <a:pt x="589153" y="266446"/>
                  </a:lnTo>
                  <a:close/>
                </a:path>
                <a:path w="721995" h="315594">
                  <a:moveTo>
                    <a:pt x="651256" y="175514"/>
                  </a:moveTo>
                  <a:lnTo>
                    <a:pt x="603250" y="154432"/>
                  </a:lnTo>
                  <a:lnTo>
                    <a:pt x="558165" y="175514"/>
                  </a:lnTo>
                  <a:lnTo>
                    <a:pt x="606044" y="194564"/>
                  </a:lnTo>
                  <a:lnTo>
                    <a:pt x="651256" y="175514"/>
                  </a:lnTo>
                  <a:close/>
                </a:path>
                <a:path w="721995" h="315594">
                  <a:moveTo>
                    <a:pt x="654050" y="236855"/>
                  </a:moveTo>
                  <a:lnTo>
                    <a:pt x="608965" y="215773"/>
                  </a:lnTo>
                  <a:lnTo>
                    <a:pt x="563753" y="234696"/>
                  </a:lnTo>
                  <a:lnTo>
                    <a:pt x="611759" y="255905"/>
                  </a:lnTo>
                  <a:lnTo>
                    <a:pt x="654050" y="236855"/>
                  </a:lnTo>
                  <a:close/>
                </a:path>
                <a:path w="721995" h="315594">
                  <a:moveTo>
                    <a:pt x="721614" y="207264"/>
                  </a:moveTo>
                  <a:lnTo>
                    <a:pt x="673735" y="186055"/>
                  </a:lnTo>
                  <a:lnTo>
                    <a:pt x="631444" y="205105"/>
                  </a:lnTo>
                  <a:lnTo>
                    <a:pt x="676529" y="226314"/>
                  </a:lnTo>
                  <a:lnTo>
                    <a:pt x="721614" y="2072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296400" y="2668523"/>
              <a:ext cx="721995" cy="300990"/>
            </a:xfrm>
            <a:custGeom>
              <a:avLst/>
              <a:gdLst/>
              <a:ahLst/>
              <a:cxnLst/>
              <a:rect l="l" t="t" r="r" b="b"/>
              <a:pathLst>
                <a:path w="721995" h="300989">
                  <a:moveTo>
                    <a:pt x="92964" y="88392"/>
                  </a:moveTo>
                  <a:lnTo>
                    <a:pt x="47879" y="107315"/>
                  </a:lnTo>
                  <a:lnTo>
                    <a:pt x="0" y="88392"/>
                  </a:lnTo>
                  <a:lnTo>
                    <a:pt x="0" y="94742"/>
                  </a:lnTo>
                  <a:lnTo>
                    <a:pt x="47879" y="115824"/>
                  </a:lnTo>
                  <a:lnTo>
                    <a:pt x="92964" y="96901"/>
                  </a:lnTo>
                  <a:lnTo>
                    <a:pt x="92964" y="88392"/>
                  </a:lnTo>
                  <a:close/>
                </a:path>
                <a:path w="721995" h="300989">
                  <a:moveTo>
                    <a:pt x="160655" y="58928"/>
                  </a:moveTo>
                  <a:lnTo>
                    <a:pt x="115570" y="80010"/>
                  </a:lnTo>
                  <a:lnTo>
                    <a:pt x="67691" y="58928"/>
                  </a:lnTo>
                  <a:lnTo>
                    <a:pt x="67691" y="67310"/>
                  </a:lnTo>
                  <a:lnTo>
                    <a:pt x="115570" y="86360"/>
                  </a:lnTo>
                  <a:lnTo>
                    <a:pt x="160655" y="67310"/>
                  </a:lnTo>
                  <a:lnTo>
                    <a:pt x="160655" y="58928"/>
                  </a:lnTo>
                  <a:close/>
                </a:path>
                <a:path w="721995" h="300989">
                  <a:moveTo>
                    <a:pt x="163449" y="120015"/>
                  </a:moveTo>
                  <a:lnTo>
                    <a:pt x="118364" y="138938"/>
                  </a:lnTo>
                  <a:lnTo>
                    <a:pt x="70485" y="117856"/>
                  </a:lnTo>
                  <a:lnTo>
                    <a:pt x="70485" y="126365"/>
                  </a:lnTo>
                  <a:lnTo>
                    <a:pt x="118364" y="147320"/>
                  </a:lnTo>
                  <a:lnTo>
                    <a:pt x="163449" y="128397"/>
                  </a:lnTo>
                  <a:lnTo>
                    <a:pt x="163449" y="120015"/>
                  </a:lnTo>
                  <a:close/>
                </a:path>
                <a:path w="721995" h="300989">
                  <a:moveTo>
                    <a:pt x="225552" y="31623"/>
                  </a:moveTo>
                  <a:lnTo>
                    <a:pt x="183261" y="50546"/>
                  </a:lnTo>
                  <a:lnTo>
                    <a:pt x="135255" y="29464"/>
                  </a:lnTo>
                  <a:lnTo>
                    <a:pt x="135255" y="37846"/>
                  </a:lnTo>
                  <a:lnTo>
                    <a:pt x="183261" y="58928"/>
                  </a:lnTo>
                  <a:lnTo>
                    <a:pt x="225552" y="37846"/>
                  </a:lnTo>
                  <a:lnTo>
                    <a:pt x="225552" y="31623"/>
                  </a:lnTo>
                  <a:close/>
                </a:path>
                <a:path w="721995" h="300989">
                  <a:moveTo>
                    <a:pt x="231140" y="90551"/>
                  </a:moveTo>
                  <a:lnTo>
                    <a:pt x="186055" y="109474"/>
                  </a:lnTo>
                  <a:lnTo>
                    <a:pt x="138176" y="90551"/>
                  </a:lnTo>
                  <a:lnTo>
                    <a:pt x="138176" y="96901"/>
                  </a:lnTo>
                  <a:lnTo>
                    <a:pt x="186055" y="117856"/>
                  </a:lnTo>
                  <a:lnTo>
                    <a:pt x="231140" y="98933"/>
                  </a:lnTo>
                  <a:lnTo>
                    <a:pt x="231140" y="90551"/>
                  </a:lnTo>
                  <a:close/>
                </a:path>
                <a:path w="721995" h="300989">
                  <a:moveTo>
                    <a:pt x="293116" y="2159"/>
                  </a:moveTo>
                  <a:lnTo>
                    <a:pt x="248031" y="21082"/>
                  </a:lnTo>
                  <a:lnTo>
                    <a:pt x="200152" y="0"/>
                  </a:lnTo>
                  <a:lnTo>
                    <a:pt x="200152" y="8382"/>
                  </a:lnTo>
                  <a:lnTo>
                    <a:pt x="248031" y="29464"/>
                  </a:lnTo>
                  <a:lnTo>
                    <a:pt x="293116" y="10541"/>
                  </a:lnTo>
                  <a:lnTo>
                    <a:pt x="293116" y="2159"/>
                  </a:lnTo>
                  <a:close/>
                </a:path>
                <a:path w="721995" h="300989">
                  <a:moveTo>
                    <a:pt x="298831" y="61087"/>
                  </a:moveTo>
                  <a:lnTo>
                    <a:pt x="253746" y="82042"/>
                  </a:lnTo>
                  <a:lnTo>
                    <a:pt x="205740" y="61087"/>
                  </a:lnTo>
                  <a:lnTo>
                    <a:pt x="205740" y="67310"/>
                  </a:lnTo>
                  <a:lnTo>
                    <a:pt x="253746" y="88392"/>
                  </a:lnTo>
                  <a:lnTo>
                    <a:pt x="298831" y="69469"/>
                  </a:lnTo>
                  <a:lnTo>
                    <a:pt x="298831" y="61087"/>
                  </a:lnTo>
                  <a:close/>
                </a:path>
                <a:path w="721995" h="300989">
                  <a:moveTo>
                    <a:pt x="301625" y="122047"/>
                  </a:moveTo>
                  <a:lnTo>
                    <a:pt x="256540" y="141097"/>
                  </a:lnTo>
                  <a:lnTo>
                    <a:pt x="208661" y="120015"/>
                  </a:lnTo>
                  <a:lnTo>
                    <a:pt x="208661" y="128397"/>
                  </a:lnTo>
                  <a:lnTo>
                    <a:pt x="256540" y="149479"/>
                  </a:lnTo>
                  <a:lnTo>
                    <a:pt x="301625" y="128397"/>
                  </a:lnTo>
                  <a:lnTo>
                    <a:pt x="301625" y="122047"/>
                  </a:lnTo>
                  <a:close/>
                </a:path>
                <a:path w="721995" h="300989">
                  <a:moveTo>
                    <a:pt x="366522" y="33655"/>
                  </a:moveTo>
                  <a:lnTo>
                    <a:pt x="321310" y="52578"/>
                  </a:lnTo>
                  <a:lnTo>
                    <a:pt x="273431" y="31623"/>
                  </a:lnTo>
                  <a:lnTo>
                    <a:pt x="273431" y="40005"/>
                  </a:lnTo>
                  <a:lnTo>
                    <a:pt x="321310" y="58928"/>
                  </a:lnTo>
                  <a:lnTo>
                    <a:pt x="366522" y="40005"/>
                  </a:lnTo>
                  <a:lnTo>
                    <a:pt x="366522" y="33655"/>
                  </a:lnTo>
                  <a:close/>
                </a:path>
                <a:path w="721995" h="300989">
                  <a:moveTo>
                    <a:pt x="369316" y="92583"/>
                  </a:moveTo>
                  <a:lnTo>
                    <a:pt x="324231" y="111633"/>
                  </a:lnTo>
                  <a:lnTo>
                    <a:pt x="276225" y="90551"/>
                  </a:lnTo>
                  <a:lnTo>
                    <a:pt x="276225" y="98933"/>
                  </a:lnTo>
                  <a:lnTo>
                    <a:pt x="324231" y="120015"/>
                  </a:lnTo>
                  <a:lnTo>
                    <a:pt x="369316" y="101092"/>
                  </a:lnTo>
                  <a:lnTo>
                    <a:pt x="369316" y="92583"/>
                  </a:lnTo>
                  <a:close/>
                </a:path>
                <a:path w="721995" h="300989">
                  <a:moveTo>
                    <a:pt x="374904" y="151638"/>
                  </a:moveTo>
                  <a:lnTo>
                    <a:pt x="329819" y="172593"/>
                  </a:lnTo>
                  <a:lnTo>
                    <a:pt x="281940" y="151638"/>
                  </a:lnTo>
                  <a:lnTo>
                    <a:pt x="281940" y="160020"/>
                  </a:lnTo>
                  <a:lnTo>
                    <a:pt x="329819" y="178943"/>
                  </a:lnTo>
                  <a:lnTo>
                    <a:pt x="374904" y="160020"/>
                  </a:lnTo>
                  <a:lnTo>
                    <a:pt x="374904" y="151638"/>
                  </a:lnTo>
                  <a:close/>
                </a:path>
                <a:path w="721995" h="300989">
                  <a:moveTo>
                    <a:pt x="377698" y="212598"/>
                  </a:moveTo>
                  <a:lnTo>
                    <a:pt x="332613" y="231521"/>
                  </a:lnTo>
                  <a:lnTo>
                    <a:pt x="143764" y="149479"/>
                  </a:lnTo>
                  <a:lnTo>
                    <a:pt x="143764" y="157861"/>
                  </a:lnTo>
                  <a:lnTo>
                    <a:pt x="332613" y="240030"/>
                  </a:lnTo>
                  <a:lnTo>
                    <a:pt x="377698" y="221107"/>
                  </a:lnTo>
                  <a:lnTo>
                    <a:pt x="377698" y="212598"/>
                  </a:lnTo>
                  <a:close/>
                </a:path>
                <a:path w="721995" h="300989">
                  <a:moveTo>
                    <a:pt x="437007" y="63119"/>
                  </a:moveTo>
                  <a:lnTo>
                    <a:pt x="391795" y="82042"/>
                  </a:lnTo>
                  <a:lnTo>
                    <a:pt x="343916" y="63119"/>
                  </a:lnTo>
                  <a:lnTo>
                    <a:pt x="343916" y="69469"/>
                  </a:lnTo>
                  <a:lnTo>
                    <a:pt x="391795" y="90551"/>
                  </a:lnTo>
                  <a:lnTo>
                    <a:pt x="437007" y="71628"/>
                  </a:lnTo>
                  <a:lnTo>
                    <a:pt x="437007" y="63119"/>
                  </a:lnTo>
                  <a:close/>
                </a:path>
                <a:path w="721995" h="300989">
                  <a:moveTo>
                    <a:pt x="439801" y="124206"/>
                  </a:moveTo>
                  <a:lnTo>
                    <a:pt x="397510" y="143129"/>
                  </a:lnTo>
                  <a:lnTo>
                    <a:pt x="349504" y="122047"/>
                  </a:lnTo>
                  <a:lnTo>
                    <a:pt x="349504" y="130556"/>
                  </a:lnTo>
                  <a:lnTo>
                    <a:pt x="397510" y="151638"/>
                  </a:lnTo>
                  <a:lnTo>
                    <a:pt x="439801" y="130556"/>
                  </a:lnTo>
                  <a:lnTo>
                    <a:pt x="439801" y="124206"/>
                  </a:lnTo>
                  <a:close/>
                </a:path>
                <a:path w="721995" h="300989">
                  <a:moveTo>
                    <a:pt x="445389" y="183134"/>
                  </a:moveTo>
                  <a:lnTo>
                    <a:pt x="400304" y="202057"/>
                  </a:lnTo>
                  <a:lnTo>
                    <a:pt x="352425" y="183134"/>
                  </a:lnTo>
                  <a:lnTo>
                    <a:pt x="352425" y="189484"/>
                  </a:lnTo>
                  <a:lnTo>
                    <a:pt x="400304" y="210566"/>
                  </a:lnTo>
                  <a:lnTo>
                    <a:pt x="445389" y="191516"/>
                  </a:lnTo>
                  <a:lnTo>
                    <a:pt x="445389" y="183134"/>
                  </a:lnTo>
                  <a:close/>
                </a:path>
                <a:path w="721995" h="300989">
                  <a:moveTo>
                    <a:pt x="448183" y="244221"/>
                  </a:moveTo>
                  <a:lnTo>
                    <a:pt x="405892" y="263144"/>
                  </a:lnTo>
                  <a:lnTo>
                    <a:pt x="358013" y="242062"/>
                  </a:lnTo>
                  <a:lnTo>
                    <a:pt x="358013" y="250571"/>
                  </a:lnTo>
                  <a:lnTo>
                    <a:pt x="405892" y="271526"/>
                  </a:lnTo>
                  <a:lnTo>
                    <a:pt x="448183" y="250571"/>
                  </a:lnTo>
                  <a:lnTo>
                    <a:pt x="448183" y="244221"/>
                  </a:lnTo>
                  <a:close/>
                </a:path>
                <a:path w="721995" h="300989">
                  <a:moveTo>
                    <a:pt x="507365" y="94742"/>
                  </a:moveTo>
                  <a:lnTo>
                    <a:pt x="462280" y="113665"/>
                  </a:lnTo>
                  <a:lnTo>
                    <a:pt x="414401" y="92583"/>
                  </a:lnTo>
                  <a:lnTo>
                    <a:pt x="414401" y="101092"/>
                  </a:lnTo>
                  <a:lnTo>
                    <a:pt x="462280" y="122047"/>
                  </a:lnTo>
                  <a:lnTo>
                    <a:pt x="507365" y="103124"/>
                  </a:lnTo>
                  <a:lnTo>
                    <a:pt x="507365" y="94742"/>
                  </a:lnTo>
                  <a:close/>
                </a:path>
                <a:path w="721995" h="300989">
                  <a:moveTo>
                    <a:pt x="513080" y="153670"/>
                  </a:moveTo>
                  <a:lnTo>
                    <a:pt x="467995" y="174752"/>
                  </a:lnTo>
                  <a:lnTo>
                    <a:pt x="419989" y="153670"/>
                  </a:lnTo>
                  <a:lnTo>
                    <a:pt x="419989" y="160020"/>
                  </a:lnTo>
                  <a:lnTo>
                    <a:pt x="467995" y="181102"/>
                  </a:lnTo>
                  <a:lnTo>
                    <a:pt x="513080" y="162052"/>
                  </a:lnTo>
                  <a:lnTo>
                    <a:pt x="513080" y="153670"/>
                  </a:lnTo>
                  <a:close/>
                </a:path>
                <a:path w="721995" h="300989">
                  <a:moveTo>
                    <a:pt x="515874" y="214757"/>
                  </a:moveTo>
                  <a:lnTo>
                    <a:pt x="470789" y="233680"/>
                  </a:lnTo>
                  <a:lnTo>
                    <a:pt x="425704" y="212598"/>
                  </a:lnTo>
                  <a:lnTo>
                    <a:pt x="425704" y="221107"/>
                  </a:lnTo>
                  <a:lnTo>
                    <a:pt x="470789" y="242062"/>
                  </a:lnTo>
                  <a:lnTo>
                    <a:pt x="515874" y="221107"/>
                  </a:lnTo>
                  <a:lnTo>
                    <a:pt x="515874" y="214757"/>
                  </a:lnTo>
                  <a:close/>
                </a:path>
                <a:path w="721995" h="300989">
                  <a:moveTo>
                    <a:pt x="521462" y="273685"/>
                  </a:moveTo>
                  <a:lnTo>
                    <a:pt x="476377" y="294767"/>
                  </a:lnTo>
                  <a:lnTo>
                    <a:pt x="428498" y="273685"/>
                  </a:lnTo>
                  <a:lnTo>
                    <a:pt x="428498" y="280035"/>
                  </a:lnTo>
                  <a:lnTo>
                    <a:pt x="476377" y="300990"/>
                  </a:lnTo>
                  <a:lnTo>
                    <a:pt x="521462" y="282067"/>
                  </a:lnTo>
                  <a:lnTo>
                    <a:pt x="521462" y="273685"/>
                  </a:lnTo>
                  <a:close/>
                </a:path>
                <a:path w="721995" h="300989">
                  <a:moveTo>
                    <a:pt x="580771" y="126365"/>
                  </a:moveTo>
                  <a:lnTo>
                    <a:pt x="535559" y="145288"/>
                  </a:lnTo>
                  <a:lnTo>
                    <a:pt x="487680" y="124206"/>
                  </a:lnTo>
                  <a:lnTo>
                    <a:pt x="487680" y="132588"/>
                  </a:lnTo>
                  <a:lnTo>
                    <a:pt x="535559" y="151638"/>
                  </a:lnTo>
                  <a:lnTo>
                    <a:pt x="580771" y="132588"/>
                  </a:lnTo>
                  <a:lnTo>
                    <a:pt x="580771" y="126365"/>
                  </a:lnTo>
                  <a:close/>
                </a:path>
                <a:path w="721995" h="300989">
                  <a:moveTo>
                    <a:pt x="583565" y="185293"/>
                  </a:moveTo>
                  <a:lnTo>
                    <a:pt x="538480" y="204216"/>
                  </a:lnTo>
                  <a:lnTo>
                    <a:pt x="490474" y="183134"/>
                  </a:lnTo>
                  <a:lnTo>
                    <a:pt x="490474" y="191516"/>
                  </a:lnTo>
                  <a:lnTo>
                    <a:pt x="538480" y="212598"/>
                  </a:lnTo>
                  <a:lnTo>
                    <a:pt x="583565" y="193675"/>
                  </a:lnTo>
                  <a:lnTo>
                    <a:pt x="583565" y="185293"/>
                  </a:lnTo>
                  <a:close/>
                </a:path>
                <a:path w="721995" h="300989">
                  <a:moveTo>
                    <a:pt x="589153" y="246253"/>
                  </a:moveTo>
                  <a:lnTo>
                    <a:pt x="544068" y="265303"/>
                  </a:lnTo>
                  <a:lnTo>
                    <a:pt x="496189" y="244221"/>
                  </a:lnTo>
                  <a:lnTo>
                    <a:pt x="496189" y="252603"/>
                  </a:lnTo>
                  <a:lnTo>
                    <a:pt x="544068" y="271526"/>
                  </a:lnTo>
                  <a:lnTo>
                    <a:pt x="589153" y="252603"/>
                  </a:lnTo>
                  <a:lnTo>
                    <a:pt x="589153" y="246253"/>
                  </a:lnTo>
                  <a:close/>
                </a:path>
                <a:path w="721995" h="300989">
                  <a:moveTo>
                    <a:pt x="651256" y="155829"/>
                  </a:moveTo>
                  <a:lnTo>
                    <a:pt x="606044" y="174752"/>
                  </a:lnTo>
                  <a:lnTo>
                    <a:pt x="558165" y="155829"/>
                  </a:lnTo>
                  <a:lnTo>
                    <a:pt x="558165" y="162052"/>
                  </a:lnTo>
                  <a:lnTo>
                    <a:pt x="606044" y="183134"/>
                  </a:lnTo>
                  <a:lnTo>
                    <a:pt x="651256" y="164211"/>
                  </a:lnTo>
                  <a:lnTo>
                    <a:pt x="651256" y="155829"/>
                  </a:lnTo>
                  <a:close/>
                </a:path>
                <a:path w="721995" h="300989">
                  <a:moveTo>
                    <a:pt x="654050" y="216789"/>
                  </a:moveTo>
                  <a:lnTo>
                    <a:pt x="611759" y="235839"/>
                  </a:lnTo>
                  <a:lnTo>
                    <a:pt x="563753" y="214757"/>
                  </a:lnTo>
                  <a:lnTo>
                    <a:pt x="563753" y="223139"/>
                  </a:lnTo>
                  <a:lnTo>
                    <a:pt x="611759" y="244221"/>
                  </a:lnTo>
                  <a:lnTo>
                    <a:pt x="654050" y="223139"/>
                  </a:lnTo>
                  <a:lnTo>
                    <a:pt x="654050" y="216789"/>
                  </a:lnTo>
                  <a:close/>
                </a:path>
                <a:path w="721995" h="300989">
                  <a:moveTo>
                    <a:pt x="721614" y="187325"/>
                  </a:moveTo>
                  <a:lnTo>
                    <a:pt x="676529" y="206375"/>
                  </a:lnTo>
                  <a:lnTo>
                    <a:pt x="631444" y="185293"/>
                  </a:lnTo>
                  <a:lnTo>
                    <a:pt x="631444" y="193675"/>
                  </a:lnTo>
                  <a:lnTo>
                    <a:pt x="676529" y="214757"/>
                  </a:lnTo>
                  <a:lnTo>
                    <a:pt x="721614" y="195834"/>
                  </a:lnTo>
                  <a:lnTo>
                    <a:pt x="721614" y="187325"/>
                  </a:lnTo>
                  <a:close/>
                </a:path>
              </a:pathLst>
            </a:custGeom>
            <a:solidFill>
              <a:srgbClr val="9494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220200" y="2305811"/>
              <a:ext cx="1032510" cy="746760"/>
            </a:xfrm>
            <a:custGeom>
              <a:avLst/>
              <a:gdLst/>
              <a:ahLst/>
              <a:cxnLst/>
              <a:rect l="l" t="t" r="r" b="b"/>
              <a:pathLst>
                <a:path w="1032509" h="746760">
                  <a:moveTo>
                    <a:pt x="533146" y="746378"/>
                  </a:moveTo>
                  <a:lnTo>
                    <a:pt x="888619" y="592454"/>
                  </a:lnTo>
                  <a:lnTo>
                    <a:pt x="1032509" y="229870"/>
                  </a:lnTo>
                  <a:lnTo>
                    <a:pt x="504951" y="0"/>
                  </a:lnTo>
                  <a:lnTo>
                    <a:pt x="459867" y="0"/>
                  </a:lnTo>
                  <a:lnTo>
                    <a:pt x="332867" y="316229"/>
                  </a:lnTo>
                  <a:lnTo>
                    <a:pt x="0" y="461772"/>
                  </a:lnTo>
                  <a:lnTo>
                    <a:pt x="0" y="514476"/>
                  </a:lnTo>
                  <a:lnTo>
                    <a:pt x="66167" y="559688"/>
                  </a:lnTo>
                  <a:lnTo>
                    <a:pt x="136017" y="600963"/>
                  </a:lnTo>
                  <a:lnTo>
                    <a:pt x="209550" y="638555"/>
                  </a:lnTo>
                  <a:lnTo>
                    <a:pt x="286384" y="671957"/>
                  </a:lnTo>
                  <a:lnTo>
                    <a:pt x="366014" y="701166"/>
                  </a:lnTo>
                  <a:lnTo>
                    <a:pt x="448436" y="726059"/>
                  </a:lnTo>
                  <a:lnTo>
                    <a:pt x="533146" y="74637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/>
          <p:nvPr/>
        </p:nvSpPr>
        <p:spPr>
          <a:xfrm>
            <a:off x="3307067" y="2446019"/>
            <a:ext cx="1112520" cy="464820"/>
          </a:xfrm>
          <a:custGeom>
            <a:avLst/>
            <a:gdLst/>
            <a:ahLst/>
            <a:cxnLst/>
            <a:rect l="l" t="t" r="r" b="b"/>
            <a:pathLst>
              <a:path w="1112520" h="464819">
                <a:moveTo>
                  <a:pt x="1112024" y="8509"/>
                </a:moveTo>
                <a:lnTo>
                  <a:pt x="1100721" y="0"/>
                </a:lnTo>
                <a:lnTo>
                  <a:pt x="1061224" y="0"/>
                </a:lnTo>
                <a:lnTo>
                  <a:pt x="1061224" y="37973"/>
                </a:lnTo>
                <a:lnTo>
                  <a:pt x="1061224" y="424649"/>
                </a:lnTo>
                <a:lnTo>
                  <a:pt x="50812" y="424649"/>
                </a:lnTo>
                <a:lnTo>
                  <a:pt x="50812" y="37973"/>
                </a:lnTo>
                <a:lnTo>
                  <a:pt x="1061224" y="37973"/>
                </a:lnTo>
                <a:lnTo>
                  <a:pt x="1061224" y="0"/>
                </a:lnTo>
                <a:lnTo>
                  <a:pt x="11315" y="0"/>
                </a:lnTo>
                <a:lnTo>
                  <a:pt x="0" y="8509"/>
                </a:lnTo>
                <a:lnTo>
                  <a:pt x="0" y="456311"/>
                </a:lnTo>
                <a:lnTo>
                  <a:pt x="11315" y="464820"/>
                </a:lnTo>
                <a:lnTo>
                  <a:pt x="1100721" y="464820"/>
                </a:lnTo>
                <a:lnTo>
                  <a:pt x="1112024" y="456311"/>
                </a:lnTo>
                <a:lnTo>
                  <a:pt x="1112024" y="445770"/>
                </a:lnTo>
                <a:lnTo>
                  <a:pt x="1112024" y="424688"/>
                </a:lnTo>
                <a:lnTo>
                  <a:pt x="1112024" y="37973"/>
                </a:lnTo>
                <a:lnTo>
                  <a:pt x="1112024" y="19050"/>
                </a:lnTo>
                <a:lnTo>
                  <a:pt x="1112024" y="8509"/>
                </a:lnTo>
                <a:close/>
              </a:path>
            </a:pathLst>
          </a:custGeom>
          <a:solidFill>
            <a:srgbClr val="00A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503167" y="2509469"/>
            <a:ext cx="534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BOB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904988" y="2439923"/>
            <a:ext cx="1337945" cy="464820"/>
          </a:xfrm>
          <a:custGeom>
            <a:avLst/>
            <a:gdLst/>
            <a:ahLst/>
            <a:cxnLst/>
            <a:rect l="l" t="t" r="r" b="b"/>
            <a:pathLst>
              <a:path w="1337945" h="464819">
                <a:moveTo>
                  <a:pt x="1337564" y="8509"/>
                </a:moveTo>
                <a:lnTo>
                  <a:pt x="1326261" y="0"/>
                </a:lnTo>
                <a:lnTo>
                  <a:pt x="1283970" y="0"/>
                </a:lnTo>
                <a:lnTo>
                  <a:pt x="1283970" y="37973"/>
                </a:lnTo>
                <a:lnTo>
                  <a:pt x="1283970" y="424649"/>
                </a:lnTo>
                <a:lnTo>
                  <a:pt x="50800" y="424649"/>
                </a:lnTo>
                <a:lnTo>
                  <a:pt x="50800" y="37973"/>
                </a:lnTo>
                <a:lnTo>
                  <a:pt x="1283970" y="37973"/>
                </a:lnTo>
                <a:lnTo>
                  <a:pt x="1283970" y="0"/>
                </a:lnTo>
                <a:lnTo>
                  <a:pt x="11303" y="0"/>
                </a:lnTo>
                <a:lnTo>
                  <a:pt x="0" y="8509"/>
                </a:lnTo>
                <a:lnTo>
                  <a:pt x="0" y="456311"/>
                </a:lnTo>
                <a:lnTo>
                  <a:pt x="11303" y="464820"/>
                </a:lnTo>
                <a:lnTo>
                  <a:pt x="1326261" y="464820"/>
                </a:lnTo>
                <a:lnTo>
                  <a:pt x="1337564" y="456311"/>
                </a:lnTo>
                <a:lnTo>
                  <a:pt x="1337564" y="445770"/>
                </a:lnTo>
                <a:lnTo>
                  <a:pt x="1337564" y="424688"/>
                </a:lnTo>
                <a:lnTo>
                  <a:pt x="1337564" y="37973"/>
                </a:lnTo>
                <a:lnTo>
                  <a:pt x="1337564" y="19050"/>
                </a:lnTo>
                <a:lnTo>
                  <a:pt x="1337564" y="8509"/>
                </a:lnTo>
                <a:close/>
              </a:path>
            </a:pathLst>
          </a:custGeom>
          <a:solidFill>
            <a:srgbClr val="00A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097773" y="2509469"/>
            <a:ext cx="706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5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LICE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393691" y="2619755"/>
            <a:ext cx="6697980" cy="1711325"/>
            <a:chOff x="4393691" y="2619755"/>
            <a:chExt cx="6697980" cy="1711325"/>
          </a:xfrm>
        </p:grpSpPr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93691" y="2626105"/>
              <a:ext cx="141097" cy="10566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512183" y="2619755"/>
              <a:ext cx="3418204" cy="106045"/>
            </a:xfrm>
            <a:custGeom>
              <a:avLst/>
              <a:gdLst/>
              <a:ahLst/>
              <a:cxnLst/>
              <a:rect l="l" t="t" r="r" b="b"/>
              <a:pathLst>
                <a:path w="3418204" h="106044">
                  <a:moveTo>
                    <a:pt x="3417824" y="52832"/>
                  </a:moveTo>
                  <a:lnTo>
                    <a:pt x="3372612" y="35941"/>
                  </a:lnTo>
                  <a:lnTo>
                    <a:pt x="3276600" y="0"/>
                  </a:lnTo>
                  <a:lnTo>
                    <a:pt x="3276600" y="35941"/>
                  </a:lnTo>
                  <a:lnTo>
                    <a:pt x="22606" y="40132"/>
                  </a:lnTo>
                  <a:lnTo>
                    <a:pt x="0" y="40132"/>
                  </a:lnTo>
                  <a:lnTo>
                    <a:pt x="0" y="76073"/>
                  </a:lnTo>
                  <a:lnTo>
                    <a:pt x="22606" y="76073"/>
                  </a:lnTo>
                  <a:lnTo>
                    <a:pt x="3276600" y="69850"/>
                  </a:lnTo>
                  <a:lnTo>
                    <a:pt x="3276600" y="105791"/>
                  </a:lnTo>
                  <a:lnTo>
                    <a:pt x="3417824" y="5283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214360" y="3651503"/>
              <a:ext cx="2877185" cy="680085"/>
            </a:xfrm>
            <a:custGeom>
              <a:avLst/>
              <a:gdLst/>
              <a:ahLst/>
              <a:cxnLst/>
              <a:rect l="l" t="t" r="r" b="b"/>
              <a:pathLst>
                <a:path w="2877184" h="680085">
                  <a:moveTo>
                    <a:pt x="2876804" y="8382"/>
                  </a:moveTo>
                  <a:lnTo>
                    <a:pt x="2865501" y="0"/>
                  </a:lnTo>
                  <a:lnTo>
                    <a:pt x="2823210" y="0"/>
                  </a:lnTo>
                  <a:lnTo>
                    <a:pt x="2823210" y="19050"/>
                  </a:lnTo>
                  <a:lnTo>
                    <a:pt x="2823210" y="658368"/>
                  </a:lnTo>
                  <a:lnTo>
                    <a:pt x="2823197" y="639381"/>
                  </a:lnTo>
                  <a:lnTo>
                    <a:pt x="50800" y="639381"/>
                  </a:lnTo>
                  <a:lnTo>
                    <a:pt x="50800" y="40132"/>
                  </a:lnTo>
                  <a:lnTo>
                    <a:pt x="2823197" y="40132"/>
                  </a:lnTo>
                  <a:lnTo>
                    <a:pt x="2823197" y="19050"/>
                  </a:lnTo>
                  <a:lnTo>
                    <a:pt x="2823210" y="0"/>
                  </a:lnTo>
                  <a:lnTo>
                    <a:pt x="11303" y="0"/>
                  </a:lnTo>
                  <a:lnTo>
                    <a:pt x="0" y="8382"/>
                  </a:lnTo>
                  <a:lnTo>
                    <a:pt x="0" y="669036"/>
                  </a:lnTo>
                  <a:lnTo>
                    <a:pt x="11303" y="679577"/>
                  </a:lnTo>
                  <a:lnTo>
                    <a:pt x="2865501" y="679577"/>
                  </a:lnTo>
                  <a:lnTo>
                    <a:pt x="2876804" y="669036"/>
                  </a:lnTo>
                  <a:lnTo>
                    <a:pt x="2876804" y="658368"/>
                  </a:lnTo>
                  <a:lnTo>
                    <a:pt x="2876804" y="639445"/>
                  </a:lnTo>
                  <a:lnTo>
                    <a:pt x="2876804" y="40132"/>
                  </a:lnTo>
                  <a:lnTo>
                    <a:pt x="2876804" y="19050"/>
                  </a:lnTo>
                  <a:lnTo>
                    <a:pt x="2876804" y="8382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090796" y="1782317"/>
            <a:ext cx="4090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1200"/>
                </a:solidFill>
                <a:latin typeface="Arial"/>
                <a:cs typeface="Arial"/>
              </a:rPr>
              <a:t>Echange</a:t>
            </a:r>
            <a:r>
              <a:rPr sz="1600" b="1" spc="5" dirty="0">
                <a:solidFill>
                  <a:srgbClr val="FF12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1200"/>
                </a:solidFill>
                <a:latin typeface="Arial"/>
                <a:cs typeface="Arial"/>
              </a:rPr>
              <a:t>des</a:t>
            </a:r>
            <a:r>
              <a:rPr sz="1600" b="1" dirty="0">
                <a:solidFill>
                  <a:srgbClr val="FF12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1200"/>
                </a:solidFill>
                <a:latin typeface="Arial"/>
                <a:cs typeface="Arial"/>
              </a:rPr>
              <a:t>paramètres</a:t>
            </a:r>
            <a:r>
              <a:rPr sz="1600" b="1" spc="30" dirty="0">
                <a:solidFill>
                  <a:srgbClr val="FF12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1200"/>
                </a:solidFill>
                <a:latin typeface="Arial"/>
                <a:cs typeface="Arial"/>
              </a:rPr>
              <a:t>de</a:t>
            </a:r>
            <a:r>
              <a:rPr sz="1600" b="1" spc="455" dirty="0">
                <a:solidFill>
                  <a:srgbClr val="FF12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1200"/>
                </a:solidFill>
                <a:latin typeface="Arial"/>
                <a:cs typeface="Arial"/>
              </a:rPr>
              <a:t>sécurité</a:t>
            </a:r>
            <a:r>
              <a:rPr sz="1600" b="1" spc="15" dirty="0">
                <a:solidFill>
                  <a:srgbClr val="FF1200"/>
                </a:solidFill>
                <a:latin typeface="Arial"/>
                <a:cs typeface="Arial"/>
              </a:rPr>
              <a:t> </a:t>
            </a:r>
            <a:r>
              <a:rPr sz="1600" b="1" spc="-15" dirty="0">
                <a:solidFill>
                  <a:srgbClr val="FF1200"/>
                </a:solidFill>
                <a:latin typeface="Arial"/>
                <a:cs typeface="Arial"/>
              </a:rPr>
              <a:t>(SA)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914256" y="3737609"/>
            <a:ext cx="166306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Couche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application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266301" y="3950970"/>
            <a:ext cx="9594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+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transport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214360" y="4928615"/>
            <a:ext cx="2877185" cy="424815"/>
          </a:xfrm>
          <a:custGeom>
            <a:avLst/>
            <a:gdLst/>
            <a:ahLst/>
            <a:cxnLst/>
            <a:rect l="l" t="t" r="r" b="b"/>
            <a:pathLst>
              <a:path w="2877184" h="424814">
                <a:moveTo>
                  <a:pt x="2876804" y="10541"/>
                </a:moveTo>
                <a:lnTo>
                  <a:pt x="2865501" y="0"/>
                </a:lnTo>
                <a:lnTo>
                  <a:pt x="2823210" y="0"/>
                </a:lnTo>
                <a:lnTo>
                  <a:pt x="2823210" y="21082"/>
                </a:lnTo>
                <a:lnTo>
                  <a:pt x="2823210" y="405638"/>
                </a:lnTo>
                <a:lnTo>
                  <a:pt x="2823197" y="384517"/>
                </a:lnTo>
                <a:lnTo>
                  <a:pt x="50800" y="384517"/>
                </a:lnTo>
                <a:lnTo>
                  <a:pt x="50800" y="40132"/>
                </a:lnTo>
                <a:lnTo>
                  <a:pt x="2823197" y="40132"/>
                </a:lnTo>
                <a:lnTo>
                  <a:pt x="2823197" y="21120"/>
                </a:lnTo>
                <a:lnTo>
                  <a:pt x="50800" y="21120"/>
                </a:lnTo>
                <a:lnTo>
                  <a:pt x="2823210" y="21082"/>
                </a:lnTo>
                <a:lnTo>
                  <a:pt x="2823210" y="0"/>
                </a:lnTo>
                <a:lnTo>
                  <a:pt x="11303" y="0"/>
                </a:lnTo>
                <a:lnTo>
                  <a:pt x="0" y="10541"/>
                </a:lnTo>
                <a:lnTo>
                  <a:pt x="0" y="416179"/>
                </a:lnTo>
                <a:lnTo>
                  <a:pt x="11303" y="424688"/>
                </a:lnTo>
                <a:lnTo>
                  <a:pt x="2865501" y="424688"/>
                </a:lnTo>
                <a:lnTo>
                  <a:pt x="2876804" y="416179"/>
                </a:lnTo>
                <a:lnTo>
                  <a:pt x="2876804" y="405638"/>
                </a:lnTo>
                <a:lnTo>
                  <a:pt x="2876804" y="384556"/>
                </a:lnTo>
                <a:lnTo>
                  <a:pt x="2876804" y="40132"/>
                </a:lnTo>
                <a:lnTo>
                  <a:pt x="2876804" y="21082"/>
                </a:lnTo>
                <a:lnTo>
                  <a:pt x="2876804" y="10541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8550020" y="4985384"/>
            <a:ext cx="1652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8000"/>
                </a:solidFill>
                <a:latin typeface="Arial"/>
                <a:cs typeface="Arial"/>
              </a:rPr>
              <a:t>IPSec</a:t>
            </a:r>
            <a:r>
              <a:rPr sz="1600" b="1" spc="-2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008000"/>
                </a:solidFill>
                <a:latin typeface="Arial"/>
                <a:cs typeface="Arial"/>
              </a:rPr>
              <a:t>(AH</a:t>
            </a:r>
            <a:r>
              <a:rPr sz="1600" b="1" spc="3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8000"/>
                </a:solidFill>
                <a:latin typeface="Arial"/>
                <a:cs typeface="Arial"/>
              </a:rPr>
              <a:t>-</a:t>
            </a:r>
            <a:r>
              <a:rPr sz="1600" b="1" spc="-1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8000"/>
                </a:solidFill>
                <a:latin typeface="Arial"/>
                <a:cs typeface="Arial"/>
              </a:rPr>
              <a:t>ESP)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542288" y="3651503"/>
            <a:ext cx="8179434" cy="1297940"/>
            <a:chOff x="1542288" y="3651503"/>
            <a:chExt cx="8179434" cy="1297940"/>
          </a:xfrm>
        </p:grpSpPr>
        <p:sp>
          <p:nvSpPr>
            <p:cNvPr id="52" name="object 52"/>
            <p:cNvSpPr/>
            <p:nvPr/>
          </p:nvSpPr>
          <p:spPr>
            <a:xfrm>
              <a:off x="1542288" y="3651503"/>
              <a:ext cx="2877185" cy="680085"/>
            </a:xfrm>
            <a:custGeom>
              <a:avLst/>
              <a:gdLst/>
              <a:ahLst/>
              <a:cxnLst/>
              <a:rect l="l" t="t" r="r" b="b"/>
              <a:pathLst>
                <a:path w="2877185" h="680085">
                  <a:moveTo>
                    <a:pt x="2876804" y="8382"/>
                  </a:moveTo>
                  <a:lnTo>
                    <a:pt x="2865501" y="0"/>
                  </a:lnTo>
                  <a:lnTo>
                    <a:pt x="2826004" y="0"/>
                  </a:lnTo>
                  <a:lnTo>
                    <a:pt x="2826004" y="21082"/>
                  </a:lnTo>
                  <a:lnTo>
                    <a:pt x="2826004" y="40132"/>
                  </a:lnTo>
                  <a:lnTo>
                    <a:pt x="2826004" y="639432"/>
                  </a:lnTo>
                  <a:lnTo>
                    <a:pt x="53594" y="639432"/>
                  </a:lnTo>
                  <a:lnTo>
                    <a:pt x="53594" y="40132"/>
                  </a:lnTo>
                  <a:lnTo>
                    <a:pt x="2826004" y="40132"/>
                  </a:lnTo>
                  <a:lnTo>
                    <a:pt x="2826004" y="21145"/>
                  </a:lnTo>
                  <a:lnTo>
                    <a:pt x="53594" y="21145"/>
                  </a:lnTo>
                  <a:lnTo>
                    <a:pt x="2826004" y="21082"/>
                  </a:lnTo>
                  <a:lnTo>
                    <a:pt x="2826004" y="0"/>
                  </a:lnTo>
                  <a:lnTo>
                    <a:pt x="11303" y="0"/>
                  </a:lnTo>
                  <a:lnTo>
                    <a:pt x="0" y="8382"/>
                  </a:lnTo>
                  <a:lnTo>
                    <a:pt x="0" y="671068"/>
                  </a:lnTo>
                  <a:lnTo>
                    <a:pt x="11303" y="679577"/>
                  </a:lnTo>
                  <a:lnTo>
                    <a:pt x="2865501" y="679577"/>
                  </a:lnTo>
                  <a:lnTo>
                    <a:pt x="2876804" y="671068"/>
                  </a:lnTo>
                  <a:lnTo>
                    <a:pt x="2876804" y="660527"/>
                  </a:lnTo>
                  <a:lnTo>
                    <a:pt x="2876804" y="639445"/>
                  </a:lnTo>
                  <a:lnTo>
                    <a:pt x="2876804" y="40132"/>
                  </a:lnTo>
                  <a:lnTo>
                    <a:pt x="2876804" y="21082"/>
                  </a:lnTo>
                  <a:lnTo>
                    <a:pt x="2876804" y="8382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581388" y="4309871"/>
              <a:ext cx="140335" cy="551180"/>
            </a:xfrm>
            <a:custGeom>
              <a:avLst/>
              <a:gdLst/>
              <a:ahLst/>
              <a:cxnLst/>
              <a:rect l="l" t="t" r="r" b="b"/>
              <a:pathLst>
                <a:path w="140334" h="551179">
                  <a:moveTo>
                    <a:pt x="140208" y="105537"/>
                  </a:moveTo>
                  <a:lnTo>
                    <a:pt x="129032" y="88646"/>
                  </a:lnTo>
                  <a:lnTo>
                    <a:pt x="70104" y="0"/>
                  </a:lnTo>
                  <a:lnTo>
                    <a:pt x="0" y="105537"/>
                  </a:lnTo>
                  <a:lnTo>
                    <a:pt x="47625" y="105537"/>
                  </a:lnTo>
                  <a:lnTo>
                    <a:pt x="47625" y="550799"/>
                  </a:lnTo>
                  <a:lnTo>
                    <a:pt x="95288" y="550799"/>
                  </a:lnTo>
                  <a:lnTo>
                    <a:pt x="95288" y="88671"/>
                  </a:lnTo>
                  <a:lnTo>
                    <a:pt x="47625" y="88671"/>
                  </a:lnTo>
                  <a:lnTo>
                    <a:pt x="95377" y="88646"/>
                  </a:lnTo>
                  <a:lnTo>
                    <a:pt x="95377" y="105537"/>
                  </a:lnTo>
                  <a:lnTo>
                    <a:pt x="140208" y="10553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81388" y="4843779"/>
              <a:ext cx="140207" cy="105409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1857501" y="3737609"/>
            <a:ext cx="166306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Couche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application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Arial"/>
                <a:cs typeface="Arial"/>
              </a:rPr>
              <a:t>+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transport</a:t>
            </a:r>
            <a:endParaRPr sz="14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542288" y="4930139"/>
            <a:ext cx="2877185" cy="422275"/>
          </a:xfrm>
          <a:custGeom>
            <a:avLst/>
            <a:gdLst/>
            <a:ahLst/>
            <a:cxnLst/>
            <a:rect l="l" t="t" r="r" b="b"/>
            <a:pathLst>
              <a:path w="2877185" h="422275">
                <a:moveTo>
                  <a:pt x="2876804" y="8382"/>
                </a:moveTo>
                <a:lnTo>
                  <a:pt x="2865501" y="0"/>
                </a:lnTo>
                <a:lnTo>
                  <a:pt x="2826004" y="0"/>
                </a:lnTo>
                <a:lnTo>
                  <a:pt x="2826004" y="40132"/>
                </a:lnTo>
                <a:lnTo>
                  <a:pt x="2826004" y="384111"/>
                </a:lnTo>
                <a:lnTo>
                  <a:pt x="53594" y="384111"/>
                </a:lnTo>
                <a:lnTo>
                  <a:pt x="53594" y="40132"/>
                </a:lnTo>
                <a:lnTo>
                  <a:pt x="2826004" y="40132"/>
                </a:lnTo>
                <a:lnTo>
                  <a:pt x="2826004" y="0"/>
                </a:lnTo>
                <a:lnTo>
                  <a:pt x="11303" y="0"/>
                </a:lnTo>
                <a:lnTo>
                  <a:pt x="0" y="8382"/>
                </a:lnTo>
                <a:lnTo>
                  <a:pt x="0" y="413766"/>
                </a:lnTo>
                <a:lnTo>
                  <a:pt x="11303" y="422148"/>
                </a:lnTo>
                <a:lnTo>
                  <a:pt x="2865501" y="422148"/>
                </a:lnTo>
                <a:lnTo>
                  <a:pt x="2876804" y="413766"/>
                </a:lnTo>
                <a:lnTo>
                  <a:pt x="2876804" y="403098"/>
                </a:lnTo>
                <a:lnTo>
                  <a:pt x="2876804" y="384175"/>
                </a:lnTo>
                <a:lnTo>
                  <a:pt x="2876804" y="40132"/>
                </a:lnTo>
                <a:lnTo>
                  <a:pt x="2876804" y="19050"/>
                </a:lnTo>
                <a:lnTo>
                  <a:pt x="2876804" y="8382"/>
                </a:lnTo>
                <a:close/>
              </a:path>
            </a:pathLst>
          </a:custGeom>
          <a:solidFill>
            <a:srgbClr val="91C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916938" y="4987544"/>
            <a:ext cx="1652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8000"/>
                </a:solidFill>
                <a:latin typeface="Arial"/>
                <a:cs typeface="Arial"/>
              </a:rPr>
              <a:t>IPSec</a:t>
            </a:r>
            <a:r>
              <a:rPr sz="1600" b="1" spc="-2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008000"/>
                </a:solidFill>
                <a:latin typeface="Arial"/>
                <a:cs typeface="Arial"/>
              </a:rPr>
              <a:t>(AH</a:t>
            </a:r>
            <a:r>
              <a:rPr sz="1600" b="1" spc="3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8000"/>
                </a:solidFill>
                <a:latin typeface="Arial"/>
                <a:cs typeface="Arial"/>
              </a:rPr>
              <a:t>-</a:t>
            </a:r>
            <a:r>
              <a:rPr sz="1600" b="1" spc="-1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008000"/>
                </a:solidFill>
                <a:latin typeface="Arial"/>
                <a:cs typeface="Arial"/>
              </a:rPr>
              <a:t>ESP)</a:t>
            </a:r>
            <a:endParaRPr sz="16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816352" y="5779008"/>
            <a:ext cx="158115" cy="437515"/>
          </a:xfrm>
          <a:custGeom>
            <a:avLst/>
            <a:gdLst/>
            <a:ahLst/>
            <a:cxnLst/>
            <a:rect l="l" t="t" r="r" b="b"/>
            <a:pathLst>
              <a:path w="158114" h="437514">
                <a:moveTo>
                  <a:pt x="157988" y="120396"/>
                </a:moveTo>
                <a:lnTo>
                  <a:pt x="144145" y="99275"/>
                </a:lnTo>
                <a:lnTo>
                  <a:pt x="78994" y="0"/>
                </a:lnTo>
                <a:lnTo>
                  <a:pt x="0" y="120396"/>
                </a:lnTo>
                <a:lnTo>
                  <a:pt x="53594" y="120396"/>
                </a:lnTo>
                <a:lnTo>
                  <a:pt x="53594" y="426643"/>
                </a:lnTo>
                <a:lnTo>
                  <a:pt x="64897" y="437210"/>
                </a:lnTo>
                <a:lnTo>
                  <a:pt x="78994" y="437210"/>
                </a:lnTo>
                <a:lnTo>
                  <a:pt x="78994" y="397078"/>
                </a:lnTo>
                <a:lnTo>
                  <a:pt x="104394" y="416090"/>
                </a:lnTo>
                <a:lnTo>
                  <a:pt x="104394" y="397078"/>
                </a:lnTo>
                <a:lnTo>
                  <a:pt x="104394" y="120396"/>
                </a:lnTo>
                <a:lnTo>
                  <a:pt x="157988" y="12039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053460" y="6176086"/>
            <a:ext cx="423545" cy="40640"/>
          </a:xfrm>
          <a:custGeom>
            <a:avLst/>
            <a:gdLst/>
            <a:ahLst/>
            <a:cxnLst/>
            <a:rect l="l" t="t" r="r" b="b"/>
            <a:pathLst>
              <a:path w="423545" h="40639">
                <a:moveTo>
                  <a:pt x="423329" y="0"/>
                </a:moveTo>
                <a:lnTo>
                  <a:pt x="0" y="0"/>
                </a:lnTo>
                <a:lnTo>
                  <a:pt x="0" y="40132"/>
                </a:lnTo>
                <a:lnTo>
                  <a:pt x="423329" y="40132"/>
                </a:lnTo>
                <a:lnTo>
                  <a:pt x="4233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634740" y="6176086"/>
            <a:ext cx="423545" cy="40640"/>
          </a:xfrm>
          <a:custGeom>
            <a:avLst/>
            <a:gdLst/>
            <a:ahLst/>
            <a:cxnLst/>
            <a:rect l="l" t="t" r="r" b="b"/>
            <a:pathLst>
              <a:path w="423545" h="40639">
                <a:moveTo>
                  <a:pt x="423329" y="0"/>
                </a:moveTo>
                <a:lnTo>
                  <a:pt x="0" y="0"/>
                </a:lnTo>
                <a:lnTo>
                  <a:pt x="0" y="40132"/>
                </a:lnTo>
                <a:lnTo>
                  <a:pt x="423329" y="40132"/>
                </a:lnTo>
                <a:lnTo>
                  <a:pt x="4233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218940" y="6176086"/>
            <a:ext cx="423545" cy="40640"/>
          </a:xfrm>
          <a:custGeom>
            <a:avLst/>
            <a:gdLst/>
            <a:ahLst/>
            <a:cxnLst/>
            <a:rect l="l" t="t" r="r" b="b"/>
            <a:pathLst>
              <a:path w="423545" h="40639">
                <a:moveTo>
                  <a:pt x="423329" y="0"/>
                </a:moveTo>
                <a:lnTo>
                  <a:pt x="0" y="0"/>
                </a:lnTo>
                <a:lnTo>
                  <a:pt x="0" y="40132"/>
                </a:lnTo>
                <a:lnTo>
                  <a:pt x="423329" y="40132"/>
                </a:lnTo>
                <a:lnTo>
                  <a:pt x="4233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710043" y="6176086"/>
            <a:ext cx="423545" cy="40640"/>
          </a:xfrm>
          <a:custGeom>
            <a:avLst/>
            <a:gdLst/>
            <a:ahLst/>
            <a:cxnLst/>
            <a:rect l="l" t="t" r="r" b="b"/>
            <a:pathLst>
              <a:path w="423545" h="40639">
                <a:moveTo>
                  <a:pt x="423329" y="0"/>
                </a:moveTo>
                <a:lnTo>
                  <a:pt x="0" y="0"/>
                </a:lnTo>
                <a:lnTo>
                  <a:pt x="0" y="40132"/>
                </a:lnTo>
                <a:lnTo>
                  <a:pt x="423329" y="40132"/>
                </a:lnTo>
                <a:lnTo>
                  <a:pt x="4233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291448" y="6176086"/>
            <a:ext cx="423545" cy="40640"/>
          </a:xfrm>
          <a:custGeom>
            <a:avLst/>
            <a:gdLst/>
            <a:ahLst/>
            <a:cxnLst/>
            <a:rect l="l" t="t" r="r" b="b"/>
            <a:pathLst>
              <a:path w="423545" h="40639">
                <a:moveTo>
                  <a:pt x="423329" y="0"/>
                </a:moveTo>
                <a:lnTo>
                  <a:pt x="0" y="0"/>
                </a:lnTo>
                <a:lnTo>
                  <a:pt x="0" y="40132"/>
                </a:lnTo>
                <a:lnTo>
                  <a:pt x="423329" y="40132"/>
                </a:lnTo>
                <a:lnTo>
                  <a:pt x="4233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875648" y="6176086"/>
            <a:ext cx="423545" cy="40640"/>
          </a:xfrm>
          <a:custGeom>
            <a:avLst/>
            <a:gdLst/>
            <a:ahLst/>
            <a:cxnLst/>
            <a:rect l="l" t="t" r="r" b="b"/>
            <a:pathLst>
              <a:path w="423545" h="40639">
                <a:moveTo>
                  <a:pt x="423329" y="0"/>
                </a:moveTo>
                <a:lnTo>
                  <a:pt x="0" y="0"/>
                </a:lnTo>
                <a:lnTo>
                  <a:pt x="0" y="40132"/>
                </a:lnTo>
                <a:lnTo>
                  <a:pt x="423329" y="40132"/>
                </a:lnTo>
                <a:lnTo>
                  <a:pt x="4233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5" name="object 6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456928" y="6026124"/>
            <a:ext cx="223012" cy="190093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572752" y="5798019"/>
            <a:ext cx="157988" cy="118275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5120640" y="6304788"/>
            <a:ext cx="2284095" cy="466090"/>
          </a:xfrm>
          <a:custGeom>
            <a:avLst/>
            <a:gdLst/>
            <a:ahLst/>
            <a:cxnLst/>
            <a:rect l="l" t="t" r="r" b="b"/>
            <a:pathLst>
              <a:path w="2284095" h="466090">
                <a:moveTo>
                  <a:pt x="2283968" y="8432"/>
                </a:moveTo>
                <a:lnTo>
                  <a:pt x="2272665" y="0"/>
                </a:lnTo>
                <a:lnTo>
                  <a:pt x="2233168" y="0"/>
                </a:lnTo>
                <a:lnTo>
                  <a:pt x="2233168" y="40043"/>
                </a:lnTo>
                <a:lnTo>
                  <a:pt x="2233168" y="425767"/>
                </a:lnTo>
                <a:lnTo>
                  <a:pt x="53594" y="425767"/>
                </a:lnTo>
                <a:lnTo>
                  <a:pt x="53594" y="40043"/>
                </a:lnTo>
                <a:lnTo>
                  <a:pt x="2233168" y="40043"/>
                </a:lnTo>
                <a:lnTo>
                  <a:pt x="2233168" y="0"/>
                </a:lnTo>
                <a:lnTo>
                  <a:pt x="11303" y="0"/>
                </a:lnTo>
                <a:lnTo>
                  <a:pt x="0" y="8432"/>
                </a:lnTo>
                <a:lnTo>
                  <a:pt x="0" y="457390"/>
                </a:lnTo>
                <a:lnTo>
                  <a:pt x="11303" y="465823"/>
                </a:lnTo>
                <a:lnTo>
                  <a:pt x="2272665" y="465823"/>
                </a:lnTo>
                <a:lnTo>
                  <a:pt x="2283968" y="457390"/>
                </a:lnTo>
                <a:lnTo>
                  <a:pt x="2283968" y="444741"/>
                </a:lnTo>
                <a:lnTo>
                  <a:pt x="2283968" y="425767"/>
                </a:lnTo>
                <a:lnTo>
                  <a:pt x="2283968" y="40043"/>
                </a:lnTo>
                <a:lnTo>
                  <a:pt x="2283968" y="18973"/>
                </a:lnTo>
                <a:lnTo>
                  <a:pt x="2283968" y="8432"/>
                </a:lnTo>
                <a:close/>
              </a:path>
            </a:pathLst>
          </a:custGeom>
          <a:solidFill>
            <a:srgbClr val="00A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8" name="object 68"/>
          <p:cNvGrpSpPr/>
          <p:nvPr/>
        </p:nvGrpSpPr>
        <p:grpSpPr>
          <a:xfrm>
            <a:off x="2910839" y="2884932"/>
            <a:ext cx="5741035" cy="2316480"/>
            <a:chOff x="2910839" y="2884932"/>
            <a:chExt cx="5741035" cy="2316480"/>
          </a:xfrm>
        </p:grpSpPr>
        <p:sp>
          <p:nvSpPr>
            <p:cNvPr id="69" name="object 69"/>
            <p:cNvSpPr/>
            <p:nvPr/>
          </p:nvSpPr>
          <p:spPr>
            <a:xfrm>
              <a:off x="2910840" y="2892551"/>
              <a:ext cx="1018540" cy="1971039"/>
            </a:xfrm>
            <a:custGeom>
              <a:avLst/>
              <a:gdLst/>
              <a:ahLst/>
              <a:cxnLst/>
              <a:rect l="l" t="t" r="r" b="b"/>
              <a:pathLst>
                <a:path w="1018539" h="1971039">
                  <a:moveTo>
                    <a:pt x="141732" y="1525778"/>
                  </a:moveTo>
                  <a:lnTo>
                    <a:pt x="129032" y="1506855"/>
                  </a:lnTo>
                  <a:lnTo>
                    <a:pt x="70866" y="1420368"/>
                  </a:lnTo>
                  <a:lnTo>
                    <a:pt x="0" y="1525778"/>
                  </a:lnTo>
                  <a:lnTo>
                    <a:pt x="45339" y="1525778"/>
                  </a:lnTo>
                  <a:lnTo>
                    <a:pt x="45339" y="1970786"/>
                  </a:lnTo>
                  <a:lnTo>
                    <a:pt x="93522" y="1970786"/>
                  </a:lnTo>
                  <a:lnTo>
                    <a:pt x="93522" y="1506855"/>
                  </a:lnTo>
                  <a:lnTo>
                    <a:pt x="93599" y="1525778"/>
                  </a:lnTo>
                  <a:lnTo>
                    <a:pt x="141732" y="1525778"/>
                  </a:lnTo>
                  <a:close/>
                </a:path>
                <a:path w="1018539" h="1971039">
                  <a:moveTo>
                    <a:pt x="1018540" y="99187"/>
                  </a:moveTo>
                  <a:lnTo>
                    <a:pt x="952246" y="0"/>
                  </a:lnTo>
                  <a:lnTo>
                    <a:pt x="873252" y="118110"/>
                  </a:lnTo>
                  <a:lnTo>
                    <a:pt x="926846" y="118110"/>
                  </a:lnTo>
                  <a:lnTo>
                    <a:pt x="926846" y="99187"/>
                  </a:lnTo>
                  <a:lnTo>
                    <a:pt x="1018540" y="9918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910839" y="4844288"/>
              <a:ext cx="141732" cy="105537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837686" y="2884931"/>
              <a:ext cx="4814570" cy="2316480"/>
            </a:xfrm>
            <a:custGeom>
              <a:avLst/>
              <a:gdLst/>
              <a:ahLst/>
              <a:cxnLst/>
              <a:rect l="l" t="t" r="r" b="b"/>
              <a:pathLst>
                <a:path w="4814570" h="2316479">
                  <a:moveTo>
                    <a:pt x="713613" y="2197989"/>
                  </a:moveTo>
                  <a:lnTo>
                    <a:pt x="555625" y="2257044"/>
                  </a:lnTo>
                  <a:lnTo>
                    <a:pt x="713613" y="2316099"/>
                  </a:lnTo>
                  <a:lnTo>
                    <a:pt x="713613" y="2276094"/>
                  </a:lnTo>
                  <a:lnTo>
                    <a:pt x="713587" y="2238121"/>
                  </a:lnTo>
                  <a:lnTo>
                    <a:pt x="688213" y="2238121"/>
                  </a:lnTo>
                  <a:lnTo>
                    <a:pt x="688213" y="2237994"/>
                  </a:lnTo>
                  <a:lnTo>
                    <a:pt x="713613" y="2237994"/>
                  </a:lnTo>
                  <a:lnTo>
                    <a:pt x="713613" y="2197989"/>
                  </a:lnTo>
                  <a:close/>
                </a:path>
                <a:path w="4814570" h="2316479">
                  <a:moveTo>
                    <a:pt x="1004062" y="1024763"/>
                  </a:moveTo>
                  <a:lnTo>
                    <a:pt x="992759" y="1016254"/>
                  </a:lnTo>
                  <a:lnTo>
                    <a:pt x="50800" y="1016254"/>
                  </a:lnTo>
                  <a:lnTo>
                    <a:pt x="50800" y="125730"/>
                  </a:lnTo>
                  <a:lnTo>
                    <a:pt x="104394" y="125730"/>
                  </a:lnTo>
                  <a:lnTo>
                    <a:pt x="91694" y="106807"/>
                  </a:lnTo>
                  <a:lnTo>
                    <a:pt x="50800" y="106807"/>
                  </a:lnTo>
                  <a:lnTo>
                    <a:pt x="0" y="106807"/>
                  </a:lnTo>
                  <a:lnTo>
                    <a:pt x="0" y="1047877"/>
                  </a:lnTo>
                  <a:lnTo>
                    <a:pt x="11303" y="1056386"/>
                  </a:lnTo>
                  <a:lnTo>
                    <a:pt x="953262" y="1056386"/>
                  </a:lnTo>
                  <a:lnTo>
                    <a:pt x="953262" y="2237994"/>
                  </a:lnTo>
                  <a:lnTo>
                    <a:pt x="713613" y="2237994"/>
                  </a:lnTo>
                  <a:lnTo>
                    <a:pt x="713613" y="2276094"/>
                  </a:lnTo>
                  <a:lnTo>
                    <a:pt x="992759" y="2276094"/>
                  </a:lnTo>
                  <a:lnTo>
                    <a:pt x="1004062" y="2267585"/>
                  </a:lnTo>
                  <a:lnTo>
                    <a:pt x="1004062" y="2257044"/>
                  </a:lnTo>
                  <a:lnTo>
                    <a:pt x="1004062" y="2237994"/>
                  </a:lnTo>
                  <a:lnTo>
                    <a:pt x="1004062" y="1056386"/>
                  </a:lnTo>
                  <a:lnTo>
                    <a:pt x="1004062" y="1024763"/>
                  </a:lnTo>
                  <a:close/>
                </a:path>
                <a:path w="4814570" h="2316479">
                  <a:moveTo>
                    <a:pt x="4814062" y="118237"/>
                  </a:moveTo>
                  <a:lnTo>
                    <a:pt x="4801362" y="99187"/>
                  </a:lnTo>
                  <a:lnTo>
                    <a:pt x="4735195" y="0"/>
                  </a:lnTo>
                  <a:lnTo>
                    <a:pt x="4656201" y="118237"/>
                  </a:lnTo>
                  <a:lnTo>
                    <a:pt x="4709795" y="118237"/>
                  </a:lnTo>
                  <a:lnTo>
                    <a:pt x="4709795" y="1011428"/>
                  </a:lnTo>
                  <a:lnTo>
                    <a:pt x="3965829" y="1011428"/>
                  </a:lnTo>
                  <a:lnTo>
                    <a:pt x="3954526" y="1021969"/>
                  </a:lnTo>
                  <a:lnTo>
                    <a:pt x="3954526" y="2267712"/>
                  </a:lnTo>
                  <a:lnTo>
                    <a:pt x="3965829" y="2276221"/>
                  </a:lnTo>
                  <a:lnTo>
                    <a:pt x="4244848" y="2276221"/>
                  </a:lnTo>
                  <a:lnTo>
                    <a:pt x="4244848" y="2257171"/>
                  </a:lnTo>
                  <a:lnTo>
                    <a:pt x="4005199" y="2257171"/>
                  </a:lnTo>
                  <a:lnTo>
                    <a:pt x="3979926" y="2236089"/>
                  </a:lnTo>
                  <a:lnTo>
                    <a:pt x="4005199" y="2236089"/>
                  </a:lnTo>
                  <a:lnTo>
                    <a:pt x="4005199" y="1051560"/>
                  </a:lnTo>
                  <a:lnTo>
                    <a:pt x="4749292" y="1051560"/>
                  </a:lnTo>
                  <a:lnTo>
                    <a:pt x="4760468" y="1043051"/>
                  </a:lnTo>
                  <a:lnTo>
                    <a:pt x="4760468" y="1011428"/>
                  </a:lnTo>
                  <a:lnTo>
                    <a:pt x="4760468" y="118237"/>
                  </a:lnTo>
                  <a:lnTo>
                    <a:pt x="4814062" y="11823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817611" y="5083048"/>
              <a:ext cx="422656" cy="118237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4787646" y="5957722"/>
            <a:ext cx="2777490" cy="73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64155" algn="l"/>
              </a:tabLst>
            </a:pPr>
            <a:r>
              <a:rPr sz="1400" u="heavy" dirty="0">
                <a:solidFill>
                  <a:srgbClr val="FF12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 </a:t>
            </a:r>
            <a:r>
              <a:rPr sz="1400" u="heavy" spc="-60" dirty="0">
                <a:solidFill>
                  <a:srgbClr val="FF12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heavy" dirty="0">
                <a:solidFill>
                  <a:srgbClr val="FF12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Ech</a:t>
            </a:r>
            <a:r>
              <a:rPr sz="1400" dirty="0">
                <a:solidFill>
                  <a:srgbClr val="FF1200"/>
                </a:solidFill>
                <a:latin typeface="Arial MT"/>
                <a:cs typeface="Arial MT"/>
              </a:rPr>
              <a:t>an</a:t>
            </a:r>
            <a:r>
              <a:rPr sz="1400" u="heavy" dirty="0">
                <a:solidFill>
                  <a:srgbClr val="FF12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ge</a:t>
            </a:r>
            <a:r>
              <a:rPr sz="1400" u="heavy" spc="-45" dirty="0">
                <a:solidFill>
                  <a:srgbClr val="FF12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heavy" spc="-40" dirty="0">
                <a:solidFill>
                  <a:srgbClr val="FF12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d</a:t>
            </a:r>
            <a:r>
              <a:rPr sz="1400" spc="-40" dirty="0">
                <a:solidFill>
                  <a:srgbClr val="FF1200"/>
                </a:solidFill>
                <a:latin typeface="Arial MT"/>
                <a:cs typeface="Arial MT"/>
              </a:rPr>
              <a:t>es</a:t>
            </a:r>
            <a:r>
              <a:rPr sz="1400" u="heavy" spc="80" dirty="0">
                <a:solidFill>
                  <a:srgbClr val="FF12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heavy" dirty="0">
                <a:solidFill>
                  <a:srgbClr val="FF12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paqu</a:t>
            </a:r>
            <a:r>
              <a:rPr sz="1400" dirty="0">
                <a:solidFill>
                  <a:srgbClr val="FF1200"/>
                </a:solidFill>
                <a:latin typeface="Arial MT"/>
                <a:cs typeface="Arial MT"/>
              </a:rPr>
              <a:t>e</a:t>
            </a:r>
            <a:r>
              <a:rPr sz="1400" u="heavy" dirty="0">
                <a:solidFill>
                  <a:srgbClr val="FF12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ts</a:t>
            </a:r>
            <a:r>
              <a:rPr sz="1400" u="heavy" spc="-45" dirty="0">
                <a:solidFill>
                  <a:srgbClr val="FF12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1400" u="heavy" spc="-5" dirty="0">
                <a:solidFill>
                  <a:srgbClr val="FF12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cry</a:t>
            </a:r>
            <a:r>
              <a:rPr sz="1400" spc="-5" dirty="0">
                <a:solidFill>
                  <a:srgbClr val="FF1200"/>
                </a:solidFill>
                <a:latin typeface="Arial MT"/>
                <a:cs typeface="Arial MT"/>
              </a:rPr>
              <a:t>pt</a:t>
            </a:r>
            <a:r>
              <a:rPr sz="1400" u="heavy" spc="-5" dirty="0">
                <a:solidFill>
                  <a:srgbClr val="FF12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és	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00">
              <a:latin typeface="Arial MT"/>
              <a:cs typeface="Arial MT"/>
            </a:endParaRPr>
          </a:p>
          <a:p>
            <a:pPr marL="743585">
              <a:lnSpc>
                <a:spcPct val="100000"/>
              </a:lnSpc>
            </a:pPr>
            <a:r>
              <a:rPr sz="1400" b="1" spc="-5" dirty="0">
                <a:latin typeface="Arial"/>
                <a:cs typeface="Arial"/>
              </a:rPr>
              <a:t>Internet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166361" y="4399279"/>
            <a:ext cx="23050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solidFill>
                  <a:srgbClr val="FF1200"/>
                </a:solidFill>
                <a:latin typeface="Arial MT"/>
                <a:cs typeface="Arial MT"/>
              </a:rPr>
              <a:t>SA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923656" y="4411726"/>
            <a:ext cx="229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1200"/>
                </a:solidFill>
                <a:latin typeface="Arial MT"/>
                <a:cs typeface="Arial MT"/>
              </a:rPr>
              <a:t>SA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099304" y="2851403"/>
            <a:ext cx="2286000" cy="467359"/>
          </a:xfrm>
          <a:custGeom>
            <a:avLst/>
            <a:gdLst/>
            <a:ahLst/>
            <a:cxnLst/>
            <a:rect l="l" t="t" r="r" b="b"/>
            <a:pathLst>
              <a:path w="2286000" h="467360">
                <a:moveTo>
                  <a:pt x="2286000" y="8509"/>
                </a:moveTo>
                <a:lnTo>
                  <a:pt x="2274697" y="0"/>
                </a:lnTo>
                <a:lnTo>
                  <a:pt x="2232406" y="0"/>
                </a:lnTo>
                <a:lnTo>
                  <a:pt x="2232406" y="40132"/>
                </a:lnTo>
                <a:lnTo>
                  <a:pt x="2232406" y="427126"/>
                </a:lnTo>
                <a:lnTo>
                  <a:pt x="53594" y="427126"/>
                </a:lnTo>
                <a:lnTo>
                  <a:pt x="53594" y="40132"/>
                </a:lnTo>
                <a:lnTo>
                  <a:pt x="2232406" y="40132"/>
                </a:lnTo>
                <a:lnTo>
                  <a:pt x="2232406" y="0"/>
                </a:lnTo>
                <a:lnTo>
                  <a:pt x="14097" y="0"/>
                </a:lnTo>
                <a:lnTo>
                  <a:pt x="0" y="8509"/>
                </a:lnTo>
                <a:lnTo>
                  <a:pt x="0" y="456819"/>
                </a:lnTo>
                <a:lnTo>
                  <a:pt x="14097" y="467360"/>
                </a:lnTo>
                <a:lnTo>
                  <a:pt x="2274697" y="467360"/>
                </a:lnTo>
                <a:lnTo>
                  <a:pt x="2286000" y="456819"/>
                </a:lnTo>
                <a:lnTo>
                  <a:pt x="2286000" y="446151"/>
                </a:lnTo>
                <a:lnTo>
                  <a:pt x="2286000" y="427101"/>
                </a:lnTo>
                <a:lnTo>
                  <a:pt x="2286000" y="40132"/>
                </a:lnTo>
                <a:lnTo>
                  <a:pt x="2286000" y="19050"/>
                </a:lnTo>
                <a:lnTo>
                  <a:pt x="2286000" y="8509"/>
                </a:lnTo>
                <a:close/>
              </a:path>
            </a:pathLst>
          </a:custGeom>
          <a:solidFill>
            <a:srgbClr val="00A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5973317" y="2907538"/>
            <a:ext cx="4070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CC"/>
                </a:solidFill>
                <a:latin typeface="Arial"/>
                <a:cs typeface="Arial"/>
              </a:rPr>
              <a:t>IKE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title"/>
          </p:nvPr>
        </p:nvSpPr>
        <p:spPr>
          <a:xfrm>
            <a:off x="1443989" y="193479"/>
            <a:ext cx="2375535" cy="11620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pc="-5" dirty="0"/>
              <a:t>IPsec</a:t>
            </a:r>
          </a:p>
          <a:p>
            <a:pPr marL="36195">
              <a:lnSpc>
                <a:spcPct val="100000"/>
              </a:lnSpc>
              <a:spcBef>
                <a:spcPts val="470"/>
              </a:spcBef>
            </a:pPr>
            <a:r>
              <a:rPr sz="4000" b="1" spc="-10" dirty="0">
                <a:latin typeface="Times New Roman"/>
                <a:cs typeface="Times New Roman"/>
              </a:rPr>
              <a:t>VPN</a:t>
            </a:r>
            <a:r>
              <a:rPr sz="4000" b="1" spc="-6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IPsec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8555" y="1585721"/>
            <a:ext cx="84982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Calibri"/>
              <a:buChar char="•"/>
              <a:tabLst>
                <a:tab pos="354965" algn="l"/>
                <a:tab pos="356235" algn="l"/>
              </a:tabLst>
            </a:pPr>
            <a:r>
              <a:rPr sz="2000" b="1" spc="-5" dirty="0">
                <a:latin typeface="Calibri"/>
                <a:cs typeface="Calibri"/>
              </a:rPr>
              <a:t>Vérification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l’intégrité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et l’authenticité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des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paquets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IP</a:t>
            </a:r>
            <a:r>
              <a:rPr sz="2000" b="1" spc="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-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Détection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 rejeu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7297" y="2304745"/>
            <a:ext cx="17703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5" dirty="0">
                <a:solidFill>
                  <a:srgbClr val="C00000"/>
                </a:solidFill>
                <a:latin typeface="Calibri"/>
                <a:cs typeface="Calibri"/>
              </a:rPr>
              <a:t>Paquet</a:t>
            </a:r>
            <a:r>
              <a:rPr sz="2000" b="1" i="1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libri"/>
                <a:cs typeface="Calibri"/>
              </a:rPr>
              <a:t>d’origine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61631" y="2295131"/>
            <a:ext cx="4308475" cy="551815"/>
            <a:chOff x="6961631" y="2295131"/>
            <a:chExt cx="4308475" cy="5518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61631" y="2295131"/>
              <a:ext cx="1615440" cy="5517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027925" y="2323337"/>
              <a:ext cx="1487805" cy="424180"/>
            </a:xfrm>
            <a:custGeom>
              <a:avLst/>
              <a:gdLst/>
              <a:ahLst/>
              <a:cxnLst/>
              <a:rect l="l" t="t" r="r" b="b"/>
              <a:pathLst>
                <a:path w="1487804" h="424180">
                  <a:moveTo>
                    <a:pt x="1487424" y="0"/>
                  </a:moveTo>
                  <a:lnTo>
                    <a:pt x="0" y="0"/>
                  </a:lnTo>
                  <a:lnTo>
                    <a:pt x="0" y="423672"/>
                  </a:lnTo>
                  <a:lnTo>
                    <a:pt x="1487424" y="423672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27925" y="2323337"/>
              <a:ext cx="1487805" cy="424180"/>
            </a:xfrm>
            <a:custGeom>
              <a:avLst/>
              <a:gdLst/>
              <a:ahLst/>
              <a:cxnLst/>
              <a:rect l="l" t="t" r="r" b="b"/>
              <a:pathLst>
                <a:path w="1487804" h="424180">
                  <a:moveTo>
                    <a:pt x="0" y="423672"/>
                  </a:moveTo>
                  <a:lnTo>
                    <a:pt x="1487424" y="423672"/>
                  </a:lnTo>
                  <a:lnTo>
                    <a:pt x="1487424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8387" y="2295131"/>
              <a:ext cx="2831592" cy="5517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504681" y="2323338"/>
            <a:ext cx="2703830" cy="424180"/>
          </a:xfrm>
          <a:prstGeom prst="rect">
            <a:avLst/>
          </a:prstGeom>
          <a:solidFill>
            <a:srgbClr val="00FF00"/>
          </a:solidFill>
          <a:ln w="25907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772160">
              <a:lnSpc>
                <a:spcPct val="100000"/>
              </a:lnSpc>
              <a:spcBef>
                <a:spcPts val="509"/>
              </a:spcBef>
            </a:pPr>
            <a:r>
              <a:rPr sz="1600" b="1" spc="-10" dirty="0">
                <a:latin typeface="Calibri"/>
                <a:cs typeface="Calibri"/>
              </a:rPr>
              <a:t>Données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00138" y="2376297"/>
            <a:ext cx="84581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alibri"/>
                <a:cs typeface="Calibri"/>
              </a:rPr>
              <a:t>En-tête</a:t>
            </a:r>
            <a:r>
              <a:rPr sz="1600" b="1" spc="-7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IP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439911" y="3880078"/>
            <a:ext cx="2832100" cy="550545"/>
            <a:chOff x="8439911" y="3880078"/>
            <a:chExt cx="2832100" cy="55054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39911" y="3880078"/>
              <a:ext cx="2831592" cy="55018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506205" y="3908298"/>
              <a:ext cx="2703830" cy="422275"/>
            </a:xfrm>
            <a:custGeom>
              <a:avLst/>
              <a:gdLst/>
              <a:ahLst/>
              <a:cxnLst/>
              <a:rect l="l" t="t" r="r" b="b"/>
              <a:pathLst>
                <a:path w="2703829" h="422275">
                  <a:moveTo>
                    <a:pt x="2703576" y="0"/>
                  </a:moveTo>
                  <a:lnTo>
                    <a:pt x="0" y="0"/>
                  </a:lnTo>
                  <a:lnTo>
                    <a:pt x="0" y="422147"/>
                  </a:lnTo>
                  <a:lnTo>
                    <a:pt x="2703576" y="422147"/>
                  </a:lnTo>
                  <a:lnTo>
                    <a:pt x="2703576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506205" y="3908298"/>
              <a:ext cx="2703830" cy="422275"/>
            </a:xfrm>
            <a:custGeom>
              <a:avLst/>
              <a:gdLst/>
              <a:ahLst/>
              <a:cxnLst/>
              <a:rect l="l" t="t" r="r" b="b"/>
              <a:pathLst>
                <a:path w="2703829" h="422275">
                  <a:moveTo>
                    <a:pt x="0" y="422147"/>
                  </a:moveTo>
                  <a:lnTo>
                    <a:pt x="2703576" y="422147"/>
                  </a:lnTo>
                  <a:lnTo>
                    <a:pt x="2703576" y="0"/>
                  </a:lnTo>
                  <a:lnTo>
                    <a:pt x="0" y="0"/>
                  </a:lnTo>
                  <a:lnTo>
                    <a:pt x="0" y="422147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528304" y="3973525"/>
            <a:ext cx="26816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803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Données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961631" y="3880078"/>
            <a:ext cx="1615440" cy="550545"/>
            <a:chOff x="6961631" y="3880078"/>
            <a:chExt cx="1615440" cy="55054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61631" y="3880078"/>
              <a:ext cx="1615440" cy="55018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027925" y="3908298"/>
              <a:ext cx="1487805" cy="422275"/>
            </a:xfrm>
            <a:custGeom>
              <a:avLst/>
              <a:gdLst/>
              <a:ahLst/>
              <a:cxnLst/>
              <a:rect l="l" t="t" r="r" b="b"/>
              <a:pathLst>
                <a:path w="1487804" h="422275">
                  <a:moveTo>
                    <a:pt x="1487424" y="0"/>
                  </a:moveTo>
                  <a:lnTo>
                    <a:pt x="0" y="0"/>
                  </a:lnTo>
                  <a:lnTo>
                    <a:pt x="0" y="422147"/>
                  </a:lnTo>
                  <a:lnTo>
                    <a:pt x="1487424" y="422147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27925" y="3908298"/>
              <a:ext cx="1487805" cy="422275"/>
            </a:xfrm>
            <a:custGeom>
              <a:avLst/>
              <a:gdLst/>
              <a:ahLst/>
              <a:cxnLst/>
              <a:rect l="l" t="t" r="r" b="b"/>
              <a:pathLst>
                <a:path w="1487804" h="422275">
                  <a:moveTo>
                    <a:pt x="0" y="422147"/>
                  </a:moveTo>
                  <a:lnTo>
                    <a:pt x="1487424" y="422147"/>
                  </a:lnTo>
                  <a:lnTo>
                    <a:pt x="1487424" y="0"/>
                  </a:lnTo>
                  <a:lnTo>
                    <a:pt x="0" y="0"/>
                  </a:lnTo>
                  <a:lnTo>
                    <a:pt x="0" y="422147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040880" y="3973525"/>
            <a:ext cx="1461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alibri"/>
                <a:cs typeface="Calibri"/>
              </a:rPr>
              <a:t>En-tête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IP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87297" y="3889069"/>
            <a:ext cx="17849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C00000"/>
                </a:solidFill>
                <a:latin typeface="Calibri"/>
                <a:cs typeface="Calibri"/>
              </a:rPr>
              <a:t>AH</a:t>
            </a:r>
            <a:r>
              <a:rPr sz="2000" b="1" i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alibri"/>
                <a:cs typeface="Calibri"/>
              </a:rPr>
              <a:t>Mode</a:t>
            </a:r>
            <a:r>
              <a:rPr sz="2000" b="1" i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libri"/>
                <a:cs typeface="Calibri"/>
              </a:rPr>
              <a:t>Tunnel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54396" y="3880103"/>
            <a:ext cx="1615440" cy="553720"/>
            <a:chOff x="5454396" y="3880103"/>
            <a:chExt cx="1615440" cy="55372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54396" y="3880103"/>
              <a:ext cx="1615440" cy="55321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520690" y="3908297"/>
              <a:ext cx="1487805" cy="425450"/>
            </a:xfrm>
            <a:custGeom>
              <a:avLst/>
              <a:gdLst/>
              <a:ahLst/>
              <a:cxnLst/>
              <a:rect l="l" t="t" r="r" b="b"/>
              <a:pathLst>
                <a:path w="1487804" h="425450">
                  <a:moveTo>
                    <a:pt x="1487423" y="0"/>
                  </a:moveTo>
                  <a:lnTo>
                    <a:pt x="0" y="0"/>
                  </a:lnTo>
                  <a:lnTo>
                    <a:pt x="0" y="425195"/>
                  </a:lnTo>
                  <a:lnTo>
                    <a:pt x="1487423" y="425195"/>
                  </a:lnTo>
                  <a:lnTo>
                    <a:pt x="148742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20690" y="3908297"/>
              <a:ext cx="1487805" cy="425450"/>
            </a:xfrm>
            <a:custGeom>
              <a:avLst/>
              <a:gdLst/>
              <a:ahLst/>
              <a:cxnLst/>
              <a:rect l="l" t="t" r="r" b="b"/>
              <a:pathLst>
                <a:path w="1487804" h="425450">
                  <a:moveTo>
                    <a:pt x="0" y="425195"/>
                  </a:moveTo>
                  <a:lnTo>
                    <a:pt x="1487423" y="425195"/>
                  </a:lnTo>
                  <a:lnTo>
                    <a:pt x="1487423" y="0"/>
                  </a:lnTo>
                  <a:lnTo>
                    <a:pt x="0" y="0"/>
                  </a:lnTo>
                  <a:lnTo>
                    <a:pt x="0" y="42519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533644" y="3983863"/>
            <a:ext cx="1461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AH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959352" y="3880103"/>
            <a:ext cx="1615440" cy="553720"/>
            <a:chOff x="3959352" y="3880103"/>
            <a:chExt cx="1615440" cy="553720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59352" y="3880103"/>
              <a:ext cx="1615439" cy="55321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025646" y="3908297"/>
              <a:ext cx="1487805" cy="425450"/>
            </a:xfrm>
            <a:custGeom>
              <a:avLst/>
              <a:gdLst/>
              <a:ahLst/>
              <a:cxnLst/>
              <a:rect l="l" t="t" r="r" b="b"/>
              <a:pathLst>
                <a:path w="1487804" h="425450">
                  <a:moveTo>
                    <a:pt x="1487424" y="0"/>
                  </a:moveTo>
                  <a:lnTo>
                    <a:pt x="0" y="0"/>
                  </a:lnTo>
                  <a:lnTo>
                    <a:pt x="0" y="425195"/>
                  </a:lnTo>
                  <a:lnTo>
                    <a:pt x="1487424" y="425195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25646" y="3908297"/>
              <a:ext cx="1487805" cy="425450"/>
            </a:xfrm>
            <a:custGeom>
              <a:avLst/>
              <a:gdLst/>
              <a:ahLst/>
              <a:cxnLst/>
              <a:rect l="l" t="t" r="r" b="b"/>
              <a:pathLst>
                <a:path w="1487804" h="425450">
                  <a:moveTo>
                    <a:pt x="0" y="425195"/>
                  </a:moveTo>
                  <a:lnTo>
                    <a:pt x="1487424" y="425195"/>
                  </a:lnTo>
                  <a:lnTo>
                    <a:pt x="1487424" y="0"/>
                  </a:lnTo>
                  <a:lnTo>
                    <a:pt x="0" y="0"/>
                  </a:lnTo>
                  <a:lnTo>
                    <a:pt x="0" y="42519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038600" y="3879951"/>
            <a:ext cx="1461770" cy="4800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940" marR="325120" indent="28575">
              <a:lnSpc>
                <a:spcPct val="1064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Nouvelle </a:t>
            </a:r>
            <a:r>
              <a:rPr sz="1400" b="1" spc="-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n-t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ê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IP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454396" y="3087611"/>
            <a:ext cx="5817235" cy="551815"/>
            <a:chOff x="5454396" y="3087611"/>
            <a:chExt cx="5817235" cy="551815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4396" y="3087611"/>
              <a:ext cx="1615440" cy="5517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520690" y="3115818"/>
              <a:ext cx="1487805" cy="424180"/>
            </a:xfrm>
            <a:custGeom>
              <a:avLst/>
              <a:gdLst/>
              <a:ahLst/>
              <a:cxnLst/>
              <a:rect l="l" t="t" r="r" b="b"/>
              <a:pathLst>
                <a:path w="1487804" h="424179">
                  <a:moveTo>
                    <a:pt x="1487423" y="0"/>
                  </a:moveTo>
                  <a:lnTo>
                    <a:pt x="0" y="0"/>
                  </a:lnTo>
                  <a:lnTo>
                    <a:pt x="0" y="423672"/>
                  </a:lnTo>
                  <a:lnTo>
                    <a:pt x="1487423" y="423672"/>
                  </a:lnTo>
                  <a:lnTo>
                    <a:pt x="148742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520690" y="3115818"/>
              <a:ext cx="1487805" cy="424180"/>
            </a:xfrm>
            <a:custGeom>
              <a:avLst/>
              <a:gdLst/>
              <a:ahLst/>
              <a:cxnLst/>
              <a:rect l="l" t="t" r="r" b="b"/>
              <a:pathLst>
                <a:path w="1487804" h="424179">
                  <a:moveTo>
                    <a:pt x="0" y="423672"/>
                  </a:moveTo>
                  <a:lnTo>
                    <a:pt x="1487423" y="423672"/>
                  </a:lnTo>
                  <a:lnTo>
                    <a:pt x="1487423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9912" y="3087611"/>
              <a:ext cx="2831592" cy="5517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506206" y="3115818"/>
              <a:ext cx="2703830" cy="424180"/>
            </a:xfrm>
            <a:custGeom>
              <a:avLst/>
              <a:gdLst/>
              <a:ahLst/>
              <a:cxnLst/>
              <a:rect l="l" t="t" r="r" b="b"/>
              <a:pathLst>
                <a:path w="2703829" h="424179">
                  <a:moveTo>
                    <a:pt x="2703576" y="0"/>
                  </a:moveTo>
                  <a:lnTo>
                    <a:pt x="0" y="0"/>
                  </a:lnTo>
                  <a:lnTo>
                    <a:pt x="0" y="423672"/>
                  </a:lnTo>
                  <a:lnTo>
                    <a:pt x="2703576" y="423672"/>
                  </a:lnTo>
                  <a:lnTo>
                    <a:pt x="2703576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506206" y="3115818"/>
              <a:ext cx="2703830" cy="424180"/>
            </a:xfrm>
            <a:custGeom>
              <a:avLst/>
              <a:gdLst/>
              <a:ahLst/>
              <a:cxnLst/>
              <a:rect l="l" t="t" r="r" b="b"/>
              <a:pathLst>
                <a:path w="2703829" h="424179">
                  <a:moveTo>
                    <a:pt x="0" y="423672"/>
                  </a:moveTo>
                  <a:lnTo>
                    <a:pt x="2703576" y="423672"/>
                  </a:lnTo>
                  <a:lnTo>
                    <a:pt x="2703576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61632" y="3087611"/>
              <a:ext cx="1615440" cy="5517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027926" y="3115818"/>
              <a:ext cx="1487805" cy="424180"/>
            </a:xfrm>
            <a:custGeom>
              <a:avLst/>
              <a:gdLst/>
              <a:ahLst/>
              <a:cxnLst/>
              <a:rect l="l" t="t" r="r" b="b"/>
              <a:pathLst>
                <a:path w="1487804" h="424179">
                  <a:moveTo>
                    <a:pt x="1487424" y="0"/>
                  </a:moveTo>
                  <a:lnTo>
                    <a:pt x="0" y="0"/>
                  </a:lnTo>
                  <a:lnTo>
                    <a:pt x="0" y="423672"/>
                  </a:lnTo>
                  <a:lnTo>
                    <a:pt x="1487424" y="423672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027926" y="3115818"/>
              <a:ext cx="1487805" cy="424180"/>
            </a:xfrm>
            <a:custGeom>
              <a:avLst/>
              <a:gdLst/>
              <a:ahLst/>
              <a:cxnLst/>
              <a:rect l="l" t="t" r="r" b="b"/>
              <a:pathLst>
                <a:path w="1487804" h="424179">
                  <a:moveTo>
                    <a:pt x="0" y="423672"/>
                  </a:moveTo>
                  <a:lnTo>
                    <a:pt x="1487424" y="423672"/>
                  </a:lnTo>
                  <a:lnTo>
                    <a:pt x="1487424" y="0"/>
                  </a:lnTo>
                  <a:lnTo>
                    <a:pt x="0" y="0"/>
                  </a:lnTo>
                  <a:lnTo>
                    <a:pt x="0" y="4236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528304" y="3181299"/>
            <a:ext cx="266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803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Données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33644" y="3181299"/>
            <a:ext cx="1461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alibri"/>
                <a:cs typeface="Calibri"/>
              </a:rPr>
              <a:t>En-tête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IP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040880" y="3181299"/>
            <a:ext cx="14528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70485" algn="ctr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AH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87297" y="3096844"/>
            <a:ext cx="20980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C00000"/>
                </a:solidFill>
                <a:latin typeface="Calibri"/>
                <a:cs typeface="Calibri"/>
              </a:rPr>
              <a:t>AH</a:t>
            </a:r>
            <a:r>
              <a:rPr sz="2000" b="1" i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alibri"/>
                <a:cs typeface="Calibri"/>
              </a:rPr>
              <a:t>Mode</a:t>
            </a:r>
            <a:r>
              <a:rPr sz="2000" b="1" i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libri"/>
                <a:cs typeface="Calibri"/>
              </a:rPr>
              <a:t>Transport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499103" y="4334255"/>
            <a:ext cx="5527675" cy="333375"/>
            <a:chOff x="3499103" y="4334255"/>
            <a:chExt cx="5527675" cy="333375"/>
          </a:xfrm>
        </p:grpSpPr>
        <p:sp>
          <p:nvSpPr>
            <p:cNvPr id="47" name="object 47"/>
            <p:cNvSpPr/>
            <p:nvPr/>
          </p:nvSpPr>
          <p:spPr>
            <a:xfrm>
              <a:off x="3503676" y="4343653"/>
              <a:ext cx="5518785" cy="319405"/>
            </a:xfrm>
            <a:custGeom>
              <a:avLst/>
              <a:gdLst/>
              <a:ahLst/>
              <a:cxnLst/>
              <a:rect l="l" t="t" r="r" b="b"/>
              <a:pathLst>
                <a:path w="5518784" h="319404">
                  <a:moveTo>
                    <a:pt x="2733421" y="149987"/>
                  </a:moveTo>
                  <a:lnTo>
                    <a:pt x="2694686" y="149987"/>
                  </a:lnTo>
                  <a:lnTo>
                    <a:pt x="2681732" y="154813"/>
                  </a:lnTo>
                  <a:lnTo>
                    <a:pt x="2688209" y="149987"/>
                  </a:lnTo>
                  <a:lnTo>
                    <a:pt x="77343" y="149987"/>
                  </a:lnTo>
                  <a:lnTo>
                    <a:pt x="77343" y="154813"/>
                  </a:lnTo>
                  <a:lnTo>
                    <a:pt x="64516" y="154813"/>
                  </a:lnTo>
                  <a:lnTo>
                    <a:pt x="64516" y="159639"/>
                  </a:lnTo>
                  <a:lnTo>
                    <a:pt x="51562" y="159639"/>
                  </a:lnTo>
                  <a:lnTo>
                    <a:pt x="38735" y="169418"/>
                  </a:lnTo>
                  <a:lnTo>
                    <a:pt x="25781" y="183896"/>
                  </a:lnTo>
                  <a:lnTo>
                    <a:pt x="25781" y="203200"/>
                  </a:lnTo>
                  <a:lnTo>
                    <a:pt x="12827" y="227457"/>
                  </a:lnTo>
                  <a:lnTo>
                    <a:pt x="0" y="256413"/>
                  </a:lnTo>
                  <a:lnTo>
                    <a:pt x="0" y="319405"/>
                  </a:lnTo>
                  <a:lnTo>
                    <a:pt x="38735" y="319405"/>
                  </a:lnTo>
                  <a:lnTo>
                    <a:pt x="38735" y="256413"/>
                  </a:lnTo>
                  <a:lnTo>
                    <a:pt x="51562" y="227457"/>
                  </a:lnTo>
                  <a:lnTo>
                    <a:pt x="64516" y="208026"/>
                  </a:lnTo>
                  <a:lnTo>
                    <a:pt x="64516" y="188722"/>
                  </a:lnTo>
                  <a:lnTo>
                    <a:pt x="77343" y="174244"/>
                  </a:lnTo>
                  <a:lnTo>
                    <a:pt x="90297" y="164592"/>
                  </a:lnTo>
                  <a:lnTo>
                    <a:pt x="90297" y="169418"/>
                  </a:lnTo>
                  <a:lnTo>
                    <a:pt x="2694686" y="169418"/>
                  </a:lnTo>
                  <a:lnTo>
                    <a:pt x="2694686" y="164592"/>
                  </a:lnTo>
                  <a:lnTo>
                    <a:pt x="2707640" y="164592"/>
                  </a:lnTo>
                  <a:lnTo>
                    <a:pt x="2720467" y="159639"/>
                  </a:lnTo>
                  <a:lnTo>
                    <a:pt x="2733421" y="149987"/>
                  </a:lnTo>
                  <a:close/>
                </a:path>
                <a:path w="5518784" h="319404">
                  <a:moveTo>
                    <a:pt x="5518277" y="256413"/>
                  </a:moveTo>
                  <a:lnTo>
                    <a:pt x="5505450" y="227457"/>
                  </a:lnTo>
                  <a:lnTo>
                    <a:pt x="5492496" y="203200"/>
                  </a:lnTo>
                  <a:lnTo>
                    <a:pt x="5492496" y="183896"/>
                  </a:lnTo>
                  <a:lnTo>
                    <a:pt x="5479669" y="169418"/>
                  </a:lnTo>
                  <a:lnTo>
                    <a:pt x="5466715" y="159639"/>
                  </a:lnTo>
                  <a:lnTo>
                    <a:pt x="5453888" y="159639"/>
                  </a:lnTo>
                  <a:lnTo>
                    <a:pt x="5453888" y="154813"/>
                  </a:lnTo>
                  <a:lnTo>
                    <a:pt x="2836545" y="154813"/>
                  </a:lnTo>
                  <a:lnTo>
                    <a:pt x="2823591" y="149987"/>
                  </a:lnTo>
                  <a:lnTo>
                    <a:pt x="2830068" y="149987"/>
                  </a:lnTo>
                  <a:lnTo>
                    <a:pt x="2823591" y="145161"/>
                  </a:lnTo>
                  <a:lnTo>
                    <a:pt x="2810764" y="130683"/>
                  </a:lnTo>
                  <a:lnTo>
                    <a:pt x="2797810" y="111252"/>
                  </a:lnTo>
                  <a:lnTo>
                    <a:pt x="2784983" y="87122"/>
                  </a:lnTo>
                  <a:lnTo>
                    <a:pt x="2784983" y="0"/>
                  </a:lnTo>
                  <a:lnTo>
                    <a:pt x="2772029" y="33909"/>
                  </a:lnTo>
                  <a:lnTo>
                    <a:pt x="2772029" y="91948"/>
                  </a:lnTo>
                  <a:lnTo>
                    <a:pt x="2759202" y="116205"/>
                  </a:lnTo>
                  <a:lnTo>
                    <a:pt x="2772029" y="135509"/>
                  </a:lnTo>
                  <a:lnTo>
                    <a:pt x="2784983" y="149987"/>
                  </a:lnTo>
                  <a:lnTo>
                    <a:pt x="2797810" y="159639"/>
                  </a:lnTo>
                  <a:lnTo>
                    <a:pt x="2797810" y="164592"/>
                  </a:lnTo>
                  <a:lnTo>
                    <a:pt x="2823591" y="164592"/>
                  </a:lnTo>
                  <a:lnTo>
                    <a:pt x="2823591" y="169418"/>
                  </a:lnTo>
                  <a:lnTo>
                    <a:pt x="5428107" y="169418"/>
                  </a:lnTo>
                  <a:lnTo>
                    <a:pt x="5428107" y="164592"/>
                  </a:lnTo>
                  <a:lnTo>
                    <a:pt x="5440934" y="174244"/>
                  </a:lnTo>
                  <a:lnTo>
                    <a:pt x="5453888" y="188722"/>
                  </a:lnTo>
                  <a:lnTo>
                    <a:pt x="5453888" y="208026"/>
                  </a:lnTo>
                  <a:lnTo>
                    <a:pt x="5466715" y="232283"/>
                  </a:lnTo>
                  <a:lnTo>
                    <a:pt x="5466715" y="256413"/>
                  </a:lnTo>
                  <a:lnTo>
                    <a:pt x="5479669" y="285496"/>
                  </a:lnTo>
                  <a:lnTo>
                    <a:pt x="5479669" y="319405"/>
                  </a:lnTo>
                  <a:lnTo>
                    <a:pt x="5518277" y="319405"/>
                  </a:lnTo>
                  <a:lnTo>
                    <a:pt x="5518277" y="256413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85407" y="4343653"/>
              <a:ext cx="77469" cy="15481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237097" y="4338827"/>
              <a:ext cx="2707640" cy="160020"/>
            </a:xfrm>
            <a:custGeom>
              <a:avLst/>
              <a:gdLst/>
              <a:ahLst/>
              <a:cxnLst/>
              <a:rect l="l" t="t" r="r" b="b"/>
              <a:pathLst>
                <a:path w="2707640" h="160020">
                  <a:moveTo>
                    <a:pt x="51562" y="0"/>
                  </a:moveTo>
                  <a:lnTo>
                    <a:pt x="0" y="0"/>
                  </a:lnTo>
                  <a:lnTo>
                    <a:pt x="0" y="4826"/>
                  </a:lnTo>
                  <a:lnTo>
                    <a:pt x="12827" y="38735"/>
                  </a:lnTo>
                  <a:lnTo>
                    <a:pt x="12827" y="96774"/>
                  </a:lnTo>
                  <a:lnTo>
                    <a:pt x="25781" y="121031"/>
                  </a:lnTo>
                  <a:lnTo>
                    <a:pt x="38608" y="96774"/>
                  </a:lnTo>
                  <a:lnTo>
                    <a:pt x="38608" y="38735"/>
                  </a:lnTo>
                  <a:lnTo>
                    <a:pt x="51562" y="4826"/>
                  </a:lnTo>
                  <a:lnTo>
                    <a:pt x="51562" y="0"/>
                  </a:lnTo>
                  <a:close/>
                </a:path>
                <a:path w="2707640" h="160020">
                  <a:moveTo>
                    <a:pt x="2707513" y="154813"/>
                  </a:moveTo>
                  <a:lnTo>
                    <a:pt x="96647" y="154813"/>
                  </a:lnTo>
                  <a:lnTo>
                    <a:pt x="90170" y="154813"/>
                  </a:lnTo>
                  <a:lnTo>
                    <a:pt x="103124" y="159639"/>
                  </a:lnTo>
                  <a:lnTo>
                    <a:pt x="2707513" y="159639"/>
                  </a:lnTo>
                  <a:lnTo>
                    <a:pt x="2707513" y="154813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03675" y="4343653"/>
              <a:ext cx="5518785" cy="319405"/>
            </a:xfrm>
            <a:custGeom>
              <a:avLst/>
              <a:gdLst/>
              <a:ahLst/>
              <a:cxnLst/>
              <a:rect l="l" t="t" r="r" b="b"/>
              <a:pathLst>
                <a:path w="5518784" h="319404">
                  <a:moveTo>
                    <a:pt x="2733421" y="149987"/>
                  </a:moveTo>
                  <a:lnTo>
                    <a:pt x="2694686" y="149987"/>
                  </a:lnTo>
                  <a:lnTo>
                    <a:pt x="2681732" y="154813"/>
                  </a:lnTo>
                  <a:lnTo>
                    <a:pt x="64515" y="154813"/>
                  </a:lnTo>
                  <a:lnTo>
                    <a:pt x="64515" y="159639"/>
                  </a:lnTo>
                  <a:lnTo>
                    <a:pt x="51562" y="159639"/>
                  </a:lnTo>
                  <a:lnTo>
                    <a:pt x="38735" y="169418"/>
                  </a:lnTo>
                  <a:lnTo>
                    <a:pt x="25781" y="183896"/>
                  </a:lnTo>
                  <a:lnTo>
                    <a:pt x="25781" y="203200"/>
                  </a:lnTo>
                  <a:lnTo>
                    <a:pt x="12826" y="227457"/>
                  </a:lnTo>
                  <a:lnTo>
                    <a:pt x="0" y="256413"/>
                  </a:lnTo>
                  <a:lnTo>
                    <a:pt x="0" y="319405"/>
                  </a:lnTo>
                  <a:lnTo>
                    <a:pt x="38735" y="319405"/>
                  </a:lnTo>
                  <a:lnTo>
                    <a:pt x="38735" y="256413"/>
                  </a:lnTo>
                  <a:lnTo>
                    <a:pt x="51562" y="227457"/>
                  </a:lnTo>
                  <a:lnTo>
                    <a:pt x="64515" y="208026"/>
                  </a:lnTo>
                  <a:lnTo>
                    <a:pt x="64515" y="188722"/>
                  </a:lnTo>
                  <a:lnTo>
                    <a:pt x="77343" y="174244"/>
                  </a:lnTo>
                  <a:lnTo>
                    <a:pt x="90297" y="164592"/>
                  </a:lnTo>
                  <a:lnTo>
                    <a:pt x="2707640" y="164592"/>
                  </a:lnTo>
                  <a:lnTo>
                    <a:pt x="2720466" y="159639"/>
                  </a:lnTo>
                  <a:lnTo>
                    <a:pt x="2733421" y="149987"/>
                  </a:lnTo>
                  <a:close/>
                </a:path>
                <a:path w="5518784" h="319404">
                  <a:moveTo>
                    <a:pt x="2784983" y="0"/>
                  </a:moveTo>
                  <a:lnTo>
                    <a:pt x="2772029" y="33909"/>
                  </a:lnTo>
                  <a:lnTo>
                    <a:pt x="2772029" y="91948"/>
                  </a:lnTo>
                  <a:lnTo>
                    <a:pt x="2759202" y="116205"/>
                  </a:lnTo>
                  <a:lnTo>
                    <a:pt x="2772029" y="135509"/>
                  </a:lnTo>
                  <a:lnTo>
                    <a:pt x="2784983" y="149987"/>
                  </a:lnTo>
                  <a:lnTo>
                    <a:pt x="2797810" y="159639"/>
                  </a:lnTo>
                  <a:lnTo>
                    <a:pt x="2797810" y="164592"/>
                  </a:lnTo>
                  <a:lnTo>
                    <a:pt x="5428107" y="164592"/>
                  </a:lnTo>
                  <a:lnTo>
                    <a:pt x="5440933" y="174244"/>
                  </a:lnTo>
                  <a:lnTo>
                    <a:pt x="5453888" y="188722"/>
                  </a:lnTo>
                  <a:lnTo>
                    <a:pt x="5453888" y="208026"/>
                  </a:lnTo>
                  <a:lnTo>
                    <a:pt x="5466715" y="232283"/>
                  </a:lnTo>
                  <a:lnTo>
                    <a:pt x="5466715" y="256413"/>
                  </a:lnTo>
                  <a:lnTo>
                    <a:pt x="5479669" y="285496"/>
                  </a:lnTo>
                  <a:lnTo>
                    <a:pt x="5479669" y="319405"/>
                  </a:lnTo>
                  <a:lnTo>
                    <a:pt x="5518277" y="319405"/>
                  </a:lnTo>
                  <a:lnTo>
                    <a:pt x="5518277" y="256413"/>
                  </a:lnTo>
                  <a:lnTo>
                    <a:pt x="5505450" y="227457"/>
                  </a:lnTo>
                  <a:lnTo>
                    <a:pt x="5492496" y="203200"/>
                  </a:lnTo>
                  <a:lnTo>
                    <a:pt x="5492496" y="183896"/>
                  </a:lnTo>
                  <a:lnTo>
                    <a:pt x="5479669" y="169418"/>
                  </a:lnTo>
                  <a:lnTo>
                    <a:pt x="5466715" y="159639"/>
                  </a:lnTo>
                  <a:lnTo>
                    <a:pt x="5453888" y="159639"/>
                  </a:lnTo>
                  <a:lnTo>
                    <a:pt x="5453888" y="154813"/>
                  </a:lnTo>
                  <a:lnTo>
                    <a:pt x="2836545" y="154813"/>
                  </a:lnTo>
                  <a:lnTo>
                    <a:pt x="2823591" y="149987"/>
                  </a:lnTo>
                  <a:lnTo>
                    <a:pt x="2830068" y="149987"/>
                  </a:lnTo>
                  <a:lnTo>
                    <a:pt x="2823591" y="145161"/>
                  </a:lnTo>
                  <a:lnTo>
                    <a:pt x="2810764" y="130683"/>
                  </a:lnTo>
                  <a:lnTo>
                    <a:pt x="2797810" y="111252"/>
                  </a:lnTo>
                  <a:lnTo>
                    <a:pt x="2784983" y="87122"/>
                  </a:lnTo>
                  <a:lnTo>
                    <a:pt x="2784983" y="0"/>
                  </a:lnTo>
                  <a:close/>
                </a:path>
                <a:path w="5518784" h="319404">
                  <a:moveTo>
                    <a:pt x="103124" y="164592"/>
                  </a:moveTo>
                  <a:lnTo>
                    <a:pt x="90297" y="164592"/>
                  </a:lnTo>
                  <a:lnTo>
                    <a:pt x="90297" y="169418"/>
                  </a:lnTo>
                  <a:lnTo>
                    <a:pt x="103124" y="16459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89400" y="4510658"/>
              <a:ext cx="5347335" cy="0"/>
            </a:xfrm>
            <a:custGeom>
              <a:avLst/>
              <a:gdLst/>
              <a:ahLst/>
              <a:cxnLst/>
              <a:rect l="l" t="t" r="r" b="b"/>
              <a:pathLst>
                <a:path w="5347334">
                  <a:moveTo>
                    <a:pt x="0" y="0"/>
                  </a:moveTo>
                  <a:lnTo>
                    <a:pt x="2613532" y="0"/>
                  </a:lnTo>
                </a:path>
                <a:path w="5347334">
                  <a:moveTo>
                    <a:pt x="2733294" y="0"/>
                  </a:moveTo>
                  <a:lnTo>
                    <a:pt x="5346954" y="0"/>
                  </a:lnTo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918828" y="4508245"/>
              <a:ext cx="13335" cy="5080"/>
            </a:xfrm>
            <a:custGeom>
              <a:avLst/>
              <a:gdLst/>
              <a:ahLst/>
              <a:cxnLst/>
              <a:rect l="l" t="t" r="r" b="b"/>
              <a:pathLst>
                <a:path w="13334" h="5079">
                  <a:moveTo>
                    <a:pt x="12953" y="0"/>
                  </a:moveTo>
                  <a:lnTo>
                    <a:pt x="0" y="0"/>
                  </a:lnTo>
                  <a:lnTo>
                    <a:pt x="12953" y="4825"/>
                  </a:lnTo>
                  <a:lnTo>
                    <a:pt x="12953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81018" y="4493640"/>
              <a:ext cx="2611120" cy="5080"/>
            </a:xfrm>
            <a:custGeom>
              <a:avLst/>
              <a:gdLst/>
              <a:ahLst/>
              <a:cxnLst/>
              <a:rect l="l" t="t" r="r" b="b"/>
              <a:pathLst>
                <a:path w="2611120" h="5079">
                  <a:moveTo>
                    <a:pt x="-4572" y="2412"/>
                  </a:moveTo>
                  <a:lnTo>
                    <a:pt x="2615437" y="2412"/>
                  </a:lnTo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80835" y="4339081"/>
              <a:ext cx="86613" cy="16395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327266" y="4493640"/>
              <a:ext cx="13335" cy="5080"/>
            </a:xfrm>
            <a:custGeom>
              <a:avLst/>
              <a:gdLst/>
              <a:ahLst/>
              <a:cxnLst/>
              <a:rect l="l" t="t" r="r" b="b"/>
              <a:pathLst>
                <a:path w="13335" h="5079">
                  <a:moveTo>
                    <a:pt x="6477" y="0"/>
                  </a:moveTo>
                  <a:lnTo>
                    <a:pt x="0" y="0"/>
                  </a:lnTo>
                  <a:lnTo>
                    <a:pt x="12954" y="4825"/>
                  </a:lnTo>
                  <a:lnTo>
                    <a:pt x="6477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333743" y="4493640"/>
              <a:ext cx="2611120" cy="5080"/>
            </a:xfrm>
            <a:custGeom>
              <a:avLst/>
              <a:gdLst/>
              <a:ahLst/>
              <a:cxnLst/>
              <a:rect l="l" t="t" r="r" b="b"/>
              <a:pathLst>
                <a:path w="2611120" h="5079">
                  <a:moveTo>
                    <a:pt x="-4572" y="2412"/>
                  </a:moveTo>
                  <a:lnTo>
                    <a:pt x="2615437" y="2412"/>
                  </a:lnTo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237096" y="4338827"/>
              <a:ext cx="52069" cy="121285"/>
            </a:xfrm>
            <a:custGeom>
              <a:avLst/>
              <a:gdLst/>
              <a:ahLst/>
              <a:cxnLst/>
              <a:rect l="l" t="t" r="r" b="b"/>
              <a:pathLst>
                <a:path w="52070" h="121285">
                  <a:moveTo>
                    <a:pt x="51562" y="0"/>
                  </a:moveTo>
                  <a:lnTo>
                    <a:pt x="0" y="0"/>
                  </a:lnTo>
                  <a:lnTo>
                    <a:pt x="0" y="4826"/>
                  </a:lnTo>
                  <a:lnTo>
                    <a:pt x="12826" y="38735"/>
                  </a:lnTo>
                  <a:lnTo>
                    <a:pt x="12826" y="96774"/>
                  </a:lnTo>
                  <a:lnTo>
                    <a:pt x="25780" y="121031"/>
                  </a:lnTo>
                  <a:lnTo>
                    <a:pt x="38607" y="96774"/>
                  </a:lnTo>
                  <a:lnTo>
                    <a:pt x="38607" y="38735"/>
                  </a:lnTo>
                  <a:lnTo>
                    <a:pt x="51562" y="4826"/>
                  </a:lnTo>
                  <a:lnTo>
                    <a:pt x="51562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8" name="object 5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38655" y="4887467"/>
            <a:ext cx="9931908" cy="1772412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1038555" y="4429759"/>
            <a:ext cx="999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Calibri"/>
              <a:buChar char="•"/>
              <a:tabLst>
                <a:tab pos="299085" algn="l"/>
                <a:tab pos="299720" algn="l"/>
              </a:tabLst>
            </a:pPr>
            <a:r>
              <a:rPr sz="1800" b="1" dirty="0">
                <a:latin typeface="Calibri"/>
                <a:cs typeface="Calibri"/>
              </a:rPr>
              <a:t>Fo</a:t>
            </a:r>
            <a:r>
              <a:rPr sz="1800" b="1" spc="-5" dirty="0">
                <a:latin typeface="Calibri"/>
                <a:cs typeface="Calibri"/>
              </a:rPr>
              <a:t>rmat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title"/>
          </p:nvPr>
        </p:nvSpPr>
        <p:spPr>
          <a:xfrm>
            <a:off x="1396364" y="235077"/>
            <a:ext cx="6232525" cy="10140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325">
              <a:lnSpc>
                <a:spcPts val="3175"/>
              </a:lnSpc>
              <a:spcBef>
                <a:spcPts val="95"/>
              </a:spcBef>
            </a:pPr>
            <a:r>
              <a:rPr spc="-5" dirty="0"/>
              <a:t>IPsec</a:t>
            </a:r>
          </a:p>
          <a:p>
            <a:pPr marL="12700">
              <a:lnSpc>
                <a:spcPts val="4615"/>
              </a:lnSpc>
            </a:pPr>
            <a:r>
              <a:rPr sz="4000" b="1" spc="-5" dirty="0">
                <a:latin typeface="Times New Roman"/>
                <a:cs typeface="Times New Roman"/>
              </a:rPr>
              <a:t>Authentication</a:t>
            </a:r>
            <a:r>
              <a:rPr sz="4000" b="1" spc="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Header</a:t>
            </a:r>
            <a:r>
              <a:rPr sz="4000" b="1" spc="-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(AH)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75944" y="1600200"/>
            <a:ext cx="9930765" cy="3702050"/>
            <a:chOff x="1075944" y="1600200"/>
            <a:chExt cx="9930765" cy="3702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944" y="3322320"/>
              <a:ext cx="9930384" cy="17708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852166" y="1639061"/>
              <a:ext cx="1536065" cy="2656840"/>
            </a:xfrm>
            <a:custGeom>
              <a:avLst/>
              <a:gdLst/>
              <a:ahLst/>
              <a:cxnLst/>
              <a:rect l="l" t="t" r="r" b="b"/>
              <a:pathLst>
                <a:path w="1536064" h="2656840">
                  <a:moveTo>
                    <a:pt x="1535937" y="2656332"/>
                  </a:moveTo>
                  <a:lnTo>
                    <a:pt x="0" y="2656332"/>
                  </a:lnTo>
                </a:path>
                <a:path w="1536064" h="2656840">
                  <a:moveTo>
                    <a:pt x="0" y="0"/>
                  </a:moveTo>
                  <a:lnTo>
                    <a:pt x="0" y="2636139"/>
                  </a:lnTo>
                </a:path>
              </a:pathLst>
            </a:custGeom>
            <a:ln w="25908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52166" y="1600200"/>
              <a:ext cx="1536700" cy="78105"/>
            </a:xfrm>
            <a:custGeom>
              <a:avLst/>
              <a:gdLst/>
              <a:ahLst/>
              <a:cxnLst/>
              <a:rect l="l" t="t" r="r" b="b"/>
              <a:pathLst>
                <a:path w="1536700" h="78105">
                  <a:moveTo>
                    <a:pt x="1484375" y="38862"/>
                  </a:moveTo>
                  <a:lnTo>
                    <a:pt x="1458468" y="77724"/>
                  </a:lnTo>
                  <a:lnTo>
                    <a:pt x="1510284" y="51815"/>
                  </a:lnTo>
                  <a:lnTo>
                    <a:pt x="1484375" y="51815"/>
                  </a:lnTo>
                  <a:lnTo>
                    <a:pt x="1484375" y="38862"/>
                  </a:lnTo>
                  <a:close/>
                </a:path>
                <a:path w="1536700" h="78105">
                  <a:moveTo>
                    <a:pt x="1475740" y="25908"/>
                  </a:moveTo>
                  <a:lnTo>
                    <a:pt x="0" y="25908"/>
                  </a:lnTo>
                  <a:lnTo>
                    <a:pt x="0" y="51815"/>
                  </a:lnTo>
                  <a:lnTo>
                    <a:pt x="1475740" y="51815"/>
                  </a:lnTo>
                  <a:lnTo>
                    <a:pt x="1484375" y="38862"/>
                  </a:lnTo>
                  <a:lnTo>
                    <a:pt x="1475740" y="25908"/>
                  </a:lnTo>
                  <a:close/>
                </a:path>
                <a:path w="1536700" h="78105">
                  <a:moveTo>
                    <a:pt x="1510284" y="25908"/>
                  </a:moveTo>
                  <a:lnTo>
                    <a:pt x="1484375" y="25908"/>
                  </a:lnTo>
                  <a:lnTo>
                    <a:pt x="1484375" y="51815"/>
                  </a:lnTo>
                  <a:lnTo>
                    <a:pt x="1510284" y="51815"/>
                  </a:lnTo>
                  <a:lnTo>
                    <a:pt x="1536192" y="38862"/>
                  </a:lnTo>
                  <a:lnTo>
                    <a:pt x="1510284" y="25908"/>
                  </a:lnTo>
                  <a:close/>
                </a:path>
                <a:path w="1536700" h="78105">
                  <a:moveTo>
                    <a:pt x="1458468" y="0"/>
                  </a:moveTo>
                  <a:lnTo>
                    <a:pt x="1484375" y="38862"/>
                  </a:lnTo>
                  <a:lnTo>
                    <a:pt x="1484375" y="25908"/>
                  </a:lnTo>
                  <a:lnTo>
                    <a:pt x="1510284" y="25908"/>
                  </a:lnTo>
                  <a:lnTo>
                    <a:pt x="145846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56766" y="4581905"/>
              <a:ext cx="2208530" cy="0"/>
            </a:xfrm>
            <a:custGeom>
              <a:avLst/>
              <a:gdLst/>
              <a:ahLst/>
              <a:cxnLst/>
              <a:rect l="l" t="t" r="r" b="b"/>
              <a:pathLst>
                <a:path w="2208529">
                  <a:moveTo>
                    <a:pt x="2208022" y="0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17904" y="4581905"/>
              <a:ext cx="78105" cy="720090"/>
            </a:xfrm>
            <a:custGeom>
              <a:avLst/>
              <a:gdLst/>
              <a:ahLst/>
              <a:cxnLst/>
              <a:rect l="l" t="t" r="r" b="b"/>
              <a:pathLst>
                <a:path w="78105" h="720089">
                  <a:moveTo>
                    <a:pt x="0" y="642239"/>
                  </a:moveTo>
                  <a:lnTo>
                    <a:pt x="38862" y="719963"/>
                  </a:lnTo>
                  <a:lnTo>
                    <a:pt x="64770" y="668147"/>
                  </a:lnTo>
                  <a:lnTo>
                    <a:pt x="25908" y="668147"/>
                  </a:lnTo>
                  <a:lnTo>
                    <a:pt x="25908" y="659511"/>
                  </a:lnTo>
                  <a:lnTo>
                    <a:pt x="0" y="642239"/>
                  </a:lnTo>
                  <a:close/>
                </a:path>
                <a:path w="78105" h="720089">
                  <a:moveTo>
                    <a:pt x="25908" y="659511"/>
                  </a:moveTo>
                  <a:lnTo>
                    <a:pt x="25908" y="668147"/>
                  </a:lnTo>
                  <a:lnTo>
                    <a:pt x="38862" y="668147"/>
                  </a:lnTo>
                  <a:lnTo>
                    <a:pt x="25908" y="659511"/>
                  </a:lnTo>
                  <a:close/>
                </a:path>
                <a:path w="78105" h="720089">
                  <a:moveTo>
                    <a:pt x="51815" y="0"/>
                  </a:moveTo>
                  <a:lnTo>
                    <a:pt x="25908" y="0"/>
                  </a:lnTo>
                  <a:lnTo>
                    <a:pt x="25908" y="659511"/>
                  </a:lnTo>
                  <a:lnTo>
                    <a:pt x="38862" y="668147"/>
                  </a:lnTo>
                  <a:lnTo>
                    <a:pt x="51815" y="659511"/>
                  </a:lnTo>
                  <a:lnTo>
                    <a:pt x="51815" y="0"/>
                  </a:lnTo>
                  <a:close/>
                </a:path>
                <a:path w="78105" h="720089">
                  <a:moveTo>
                    <a:pt x="51815" y="659511"/>
                  </a:moveTo>
                  <a:lnTo>
                    <a:pt x="38862" y="668147"/>
                  </a:lnTo>
                  <a:lnTo>
                    <a:pt x="51815" y="668147"/>
                  </a:lnTo>
                  <a:lnTo>
                    <a:pt x="51815" y="659511"/>
                  </a:lnTo>
                  <a:close/>
                </a:path>
                <a:path w="78105" h="720089">
                  <a:moveTo>
                    <a:pt x="77724" y="642239"/>
                  </a:moveTo>
                  <a:lnTo>
                    <a:pt x="51815" y="659511"/>
                  </a:lnTo>
                  <a:lnTo>
                    <a:pt x="51815" y="668147"/>
                  </a:lnTo>
                  <a:lnTo>
                    <a:pt x="64770" y="668147"/>
                  </a:lnTo>
                  <a:lnTo>
                    <a:pt x="77724" y="64223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563236" y="1365326"/>
            <a:ext cx="7043420" cy="1666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SPI:</a:t>
            </a:r>
            <a:r>
              <a:rPr sz="1600" b="1" spc="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permet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au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récepteur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d’identifier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l’association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sécurité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à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utiliser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pour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vérifier</a:t>
            </a:r>
            <a:endParaRPr sz="16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sz="1600" dirty="0">
                <a:latin typeface="Calibri"/>
                <a:cs typeface="Calibri"/>
              </a:rPr>
              <a:t>le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contenu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l’en-tête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AH.</a:t>
            </a:r>
            <a:endParaRPr sz="16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1390"/>
              </a:spcBef>
            </a:pP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SA (Security Association): </a:t>
            </a:r>
            <a:r>
              <a:rPr sz="1600" spc="-10" dirty="0">
                <a:latin typeface="Calibri"/>
                <a:cs typeface="Calibri"/>
              </a:rPr>
              <a:t>s’applique </a:t>
            </a:r>
            <a:r>
              <a:rPr sz="1600" spc="-5" dirty="0">
                <a:latin typeface="Calibri"/>
                <a:cs typeface="Calibri"/>
              </a:rPr>
              <a:t>à une communication unidirectionnelle et </a:t>
            </a:r>
            <a:r>
              <a:rPr sz="1600" spc="5" dirty="0">
                <a:latin typeface="Calibri"/>
                <a:cs typeface="Calibri"/>
              </a:rPr>
              <a:t>se 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définit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par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ensemble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paramètres</a:t>
            </a:r>
            <a:r>
              <a:rPr sz="1600" dirty="0">
                <a:latin typeface="Calibri"/>
                <a:cs typeface="Calibri"/>
              </a:rPr>
              <a:t> de </a:t>
            </a:r>
            <a:r>
              <a:rPr sz="1600" spc="-5" dirty="0">
                <a:latin typeface="Calibri"/>
                <a:cs typeface="Calibri"/>
              </a:rPr>
              <a:t>sécurité: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algorithmes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chiffrement,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fonction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hachage,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clés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cryptographiques,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protocole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IPsec,</a:t>
            </a:r>
            <a:r>
              <a:rPr sz="1600" dirty="0">
                <a:latin typeface="Calibri"/>
                <a:cs typeface="Calibri"/>
              </a:rPr>
              <a:t> mode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tunnel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ou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transport,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durée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vie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4928" y="5359653"/>
            <a:ext cx="381063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Numéro de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 séquence: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Segoe UI Emoji"/>
                <a:cs typeface="Segoe UI Emoji"/>
              </a:rPr>
              <a:t>✔</a:t>
            </a:r>
            <a:r>
              <a:rPr sz="1600" spc="-5" dirty="0">
                <a:latin typeface="Calibri"/>
                <a:cs typeface="Calibri"/>
              </a:rPr>
              <a:t>Utilisé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pour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détecter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rejeux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paquets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Segoe UI Emoji"/>
                <a:cs typeface="Segoe UI Emoji"/>
              </a:rPr>
              <a:t>✔</a:t>
            </a:r>
            <a:r>
              <a:rPr sz="1600" spc="-5" dirty="0">
                <a:latin typeface="Calibri"/>
                <a:cs typeface="Calibri"/>
              </a:rPr>
              <a:t>Incrémenté par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l’émetteur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Segoe UI Emoji"/>
                <a:cs typeface="Segoe UI Emoji"/>
              </a:rPr>
              <a:t>✔</a:t>
            </a:r>
            <a:r>
              <a:rPr sz="1600" spc="-5" dirty="0">
                <a:latin typeface="Calibri"/>
                <a:cs typeface="Calibri"/>
              </a:rPr>
              <a:t>Le récepteur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peut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ne pas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tenir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compte.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35597" y="5361177"/>
            <a:ext cx="5368925" cy="998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14"/>
              </a:lnSpc>
              <a:spcBef>
                <a:spcPts val="95"/>
              </a:spcBef>
            </a:pP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Valeur de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 Contrôle</a:t>
            </a:r>
            <a:r>
              <a:rPr sz="16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d’Intégrité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914"/>
              </a:lnSpc>
            </a:pPr>
            <a:r>
              <a:rPr sz="1600" spc="-10" dirty="0">
                <a:latin typeface="Segoe UI Emoji"/>
                <a:cs typeface="Segoe UI Emoji"/>
              </a:rPr>
              <a:t>✔</a:t>
            </a:r>
            <a:r>
              <a:rPr sz="1600" spc="-90" dirty="0">
                <a:latin typeface="Segoe UI Emoji"/>
                <a:cs typeface="Segoe UI Emoji"/>
              </a:rPr>
              <a:t> </a:t>
            </a:r>
            <a:r>
              <a:rPr sz="1600" spc="-5" dirty="0">
                <a:latin typeface="Calibri"/>
                <a:cs typeface="Calibri"/>
              </a:rPr>
              <a:t>Multiple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32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bits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914"/>
              </a:lnSpc>
              <a:spcBef>
                <a:spcPts val="10"/>
              </a:spcBef>
            </a:pPr>
            <a:r>
              <a:rPr sz="1600" spc="-10" dirty="0">
                <a:latin typeface="Segoe UI Emoji"/>
                <a:cs typeface="Segoe UI Emoji"/>
              </a:rPr>
              <a:t>✔</a:t>
            </a:r>
            <a:r>
              <a:rPr sz="1600" spc="-75" dirty="0">
                <a:latin typeface="Segoe UI Emoji"/>
                <a:cs typeface="Segoe UI Emoji"/>
              </a:rPr>
              <a:t> </a:t>
            </a:r>
            <a:r>
              <a:rPr sz="1600" spc="-10" dirty="0">
                <a:latin typeface="Calibri"/>
                <a:cs typeface="Calibri"/>
              </a:rPr>
              <a:t>Code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d’authentification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 message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(MAC)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AES-CMAC96</a:t>
            </a:r>
            <a:r>
              <a:rPr sz="1600" spc="37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/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…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914"/>
              </a:lnSpc>
            </a:pPr>
            <a:r>
              <a:rPr sz="1600" spc="-5" dirty="0">
                <a:latin typeface="Calibri"/>
                <a:cs typeface="Calibri"/>
              </a:rPr>
              <a:t>HMAC-SHA1-96 /</a:t>
            </a:r>
            <a:r>
              <a:rPr sz="1600" spc="3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HMAC-SHA-256+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/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…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276081" y="4893564"/>
            <a:ext cx="2247265" cy="742315"/>
            <a:chOff x="8276081" y="4893564"/>
            <a:chExt cx="2247265" cy="742315"/>
          </a:xfrm>
        </p:grpSpPr>
        <p:sp>
          <p:nvSpPr>
            <p:cNvPr id="12" name="object 12"/>
            <p:cNvSpPr/>
            <p:nvPr/>
          </p:nvSpPr>
          <p:spPr>
            <a:xfrm>
              <a:off x="8276081" y="4906518"/>
              <a:ext cx="2208530" cy="0"/>
            </a:xfrm>
            <a:custGeom>
              <a:avLst/>
              <a:gdLst/>
              <a:ahLst/>
              <a:cxnLst/>
              <a:rect l="l" t="t" r="r" b="b"/>
              <a:pathLst>
                <a:path w="2208529">
                  <a:moveTo>
                    <a:pt x="2208022" y="0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445495" y="4915662"/>
              <a:ext cx="78105" cy="720090"/>
            </a:xfrm>
            <a:custGeom>
              <a:avLst/>
              <a:gdLst/>
              <a:ahLst/>
              <a:cxnLst/>
              <a:rect l="l" t="t" r="r" b="b"/>
              <a:pathLst>
                <a:path w="78104" h="720089">
                  <a:moveTo>
                    <a:pt x="0" y="642238"/>
                  </a:moveTo>
                  <a:lnTo>
                    <a:pt x="38861" y="720001"/>
                  </a:lnTo>
                  <a:lnTo>
                    <a:pt x="64776" y="668147"/>
                  </a:lnTo>
                  <a:lnTo>
                    <a:pt x="25907" y="668147"/>
                  </a:lnTo>
                  <a:lnTo>
                    <a:pt x="25907" y="659511"/>
                  </a:lnTo>
                  <a:lnTo>
                    <a:pt x="0" y="642238"/>
                  </a:lnTo>
                  <a:close/>
                </a:path>
                <a:path w="78104" h="720089">
                  <a:moveTo>
                    <a:pt x="25907" y="659511"/>
                  </a:moveTo>
                  <a:lnTo>
                    <a:pt x="25907" y="668147"/>
                  </a:lnTo>
                  <a:lnTo>
                    <a:pt x="38861" y="668147"/>
                  </a:lnTo>
                  <a:lnTo>
                    <a:pt x="25907" y="659511"/>
                  </a:lnTo>
                  <a:close/>
                </a:path>
                <a:path w="78104" h="720089">
                  <a:moveTo>
                    <a:pt x="51815" y="0"/>
                  </a:moveTo>
                  <a:lnTo>
                    <a:pt x="25907" y="0"/>
                  </a:lnTo>
                  <a:lnTo>
                    <a:pt x="25907" y="659511"/>
                  </a:lnTo>
                  <a:lnTo>
                    <a:pt x="38861" y="668147"/>
                  </a:lnTo>
                  <a:lnTo>
                    <a:pt x="51815" y="659511"/>
                  </a:lnTo>
                  <a:lnTo>
                    <a:pt x="51815" y="0"/>
                  </a:lnTo>
                  <a:close/>
                </a:path>
                <a:path w="78104" h="720089">
                  <a:moveTo>
                    <a:pt x="51815" y="659511"/>
                  </a:moveTo>
                  <a:lnTo>
                    <a:pt x="38861" y="668147"/>
                  </a:lnTo>
                  <a:lnTo>
                    <a:pt x="51815" y="668147"/>
                  </a:lnTo>
                  <a:lnTo>
                    <a:pt x="51815" y="659511"/>
                  </a:lnTo>
                  <a:close/>
                </a:path>
                <a:path w="78104" h="720089">
                  <a:moveTo>
                    <a:pt x="77724" y="642238"/>
                  </a:moveTo>
                  <a:lnTo>
                    <a:pt x="51815" y="659511"/>
                  </a:lnTo>
                  <a:lnTo>
                    <a:pt x="51815" y="668147"/>
                  </a:lnTo>
                  <a:lnTo>
                    <a:pt x="64776" y="668147"/>
                  </a:lnTo>
                  <a:lnTo>
                    <a:pt x="77724" y="64223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396364" y="235077"/>
            <a:ext cx="6232525" cy="10140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325">
              <a:lnSpc>
                <a:spcPts val="3175"/>
              </a:lnSpc>
              <a:spcBef>
                <a:spcPts val="95"/>
              </a:spcBef>
            </a:pPr>
            <a:r>
              <a:rPr spc="-5" dirty="0"/>
              <a:t>IPsec</a:t>
            </a:r>
          </a:p>
          <a:p>
            <a:pPr marL="12700">
              <a:lnSpc>
                <a:spcPts val="4615"/>
              </a:lnSpc>
            </a:pPr>
            <a:r>
              <a:rPr sz="4000" b="1" spc="-5" dirty="0">
                <a:latin typeface="Times New Roman"/>
                <a:cs typeface="Times New Roman"/>
              </a:rPr>
              <a:t>Authentication</a:t>
            </a:r>
            <a:r>
              <a:rPr sz="4000" b="1" spc="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Header</a:t>
            </a:r>
            <a:r>
              <a:rPr sz="4000" b="1" spc="-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(AH)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677" y="1426845"/>
            <a:ext cx="57130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b="1" dirty="0">
                <a:latin typeface="Calibri"/>
                <a:cs typeface="Calibri"/>
              </a:rPr>
              <a:t>Intégrité,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authenticité,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anti-rejeu</a:t>
            </a:r>
            <a:r>
              <a:rPr sz="2000" b="1" spc="4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+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Confidentialité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7419" y="2096846"/>
            <a:ext cx="17703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5" dirty="0">
                <a:solidFill>
                  <a:srgbClr val="C00000"/>
                </a:solidFill>
                <a:latin typeface="Calibri"/>
                <a:cs typeface="Calibri"/>
              </a:rPr>
              <a:t>Paquet</a:t>
            </a:r>
            <a:r>
              <a:rPr sz="2000" b="1" i="1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libri"/>
                <a:cs typeface="Calibri"/>
              </a:rPr>
              <a:t>d’origine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20840" y="2087854"/>
            <a:ext cx="4310380" cy="513715"/>
            <a:chOff x="6720840" y="2087854"/>
            <a:chExt cx="4310380" cy="5137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20840" y="2087854"/>
              <a:ext cx="1615440" cy="5136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87134" y="2116073"/>
              <a:ext cx="1487805" cy="386080"/>
            </a:xfrm>
            <a:custGeom>
              <a:avLst/>
              <a:gdLst/>
              <a:ahLst/>
              <a:cxnLst/>
              <a:rect l="l" t="t" r="r" b="b"/>
              <a:pathLst>
                <a:path w="1487804" h="386080">
                  <a:moveTo>
                    <a:pt x="1487424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487424" y="385572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87134" y="2116073"/>
              <a:ext cx="1487805" cy="386080"/>
            </a:xfrm>
            <a:custGeom>
              <a:avLst/>
              <a:gdLst/>
              <a:ahLst/>
              <a:cxnLst/>
              <a:rect l="l" t="t" r="r" b="b"/>
              <a:pathLst>
                <a:path w="1487804" h="386080">
                  <a:moveTo>
                    <a:pt x="0" y="385572"/>
                  </a:moveTo>
                  <a:lnTo>
                    <a:pt x="1487424" y="385572"/>
                  </a:lnTo>
                  <a:lnTo>
                    <a:pt x="1487424" y="0"/>
                  </a:lnTo>
                  <a:lnTo>
                    <a:pt x="0" y="0"/>
                  </a:lnTo>
                  <a:lnTo>
                    <a:pt x="0" y="3855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9120" y="2087854"/>
              <a:ext cx="2831592" cy="51361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265414" y="2116073"/>
            <a:ext cx="2703830" cy="386080"/>
          </a:xfrm>
          <a:prstGeom prst="rect">
            <a:avLst/>
          </a:prstGeom>
          <a:solidFill>
            <a:srgbClr val="00FF00"/>
          </a:solidFill>
          <a:ln w="25907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771525">
              <a:lnSpc>
                <a:spcPct val="100000"/>
              </a:lnSpc>
              <a:spcBef>
                <a:spcPts val="459"/>
              </a:spcBef>
            </a:pPr>
            <a:r>
              <a:rPr sz="1600" b="1" spc="-10" dirty="0">
                <a:latin typeface="Calibri"/>
                <a:cs typeface="Calibri"/>
              </a:rPr>
              <a:t>Données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60489" y="2162682"/>
            <a:ext cx="84581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alibri"/>
                <a:cs typeface="Calibri"/>
              </a:rPr>
              <a:t>En-tête</a:t>
            </a:r>
            <a:r>
              <a:rPr sz="1600" b="1" spc="-7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IP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22364" y="3532606"/>
            <a:ext cx="1615440" cy="513715"/>
            <a:chOff x="6722364" y="3532606"/>
            <a:chExt cx="1615440" cy="51371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22364" y="3532606"/>
              <a:ext cx="1615440" cy="51361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788658" y="3560825"/>
              <a:ext cx="1487805" cy="386080"/>
            </a:xfrm>
            <a:custGeom>
              <a:avLst/>
              <a:gdLst/>
              <a:ahLst/>
              <a:cxnLst/>
              <a:rect l="l" t="t" r="r" b="b"/>
              <a:pathLst>
                <a:path w="1487804" h="386079">
                  <a:moveTo>
                    <a:pt x="1487424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487424" y="385572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88658" y="3560825"/>
              <a:ext cx="1487805" cy="386080"/>
            </a:xfrm>
            <a:custGeom>
              <a:avLst/>
              <a:gdLst/>
              <a:ahLst/>
              <a:cxnLst/>
              <a:rect l="l" t="t" r="r" b="b"/>
              <a:pathLst>
                <a:path w="1487804" h="386079">
                  <a:moveTo>
                    <a:pt x="0" y="385572"/>
                  </a:moveTo>
                  <a:lnTo>
                    <a:pt x="1487424" y="385572"/>
                  </a:lnTo>
                  <a:lnTo>
                    <a:pt x="1487424" y="0"/>
                  </a:lnTo>
                  <a:lnTo>
                    <a:pt x="0" y="0"/>
                  </a:lnTo>
                  <a:lnTo>
                    <a:pt x="0" y="3855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801611" y="3618991"/>
            <a:ext cx="1461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alibri"/>
                <a:cs typeface="Calibri"/>
              </a:rPr>
              <a:t>En-tête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IP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7419" y="3541902"/>
            <a:ext cx="184721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C00000"/>
                </a:solidFill>
                <a:latin typeface="Calibri"/>
                <a:cs typeface="Calibri"/>
              </a:rPr>
              <a:t>ESP</a:t>
            </a:r>
            <a:r>
              <a:rPr sz="2000" b="1" i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libri"/>
                <a:cs typeface="Calibri"/>
              </a:rPr>
              <a:t>Mode</a:t>
            </a:r>
            <a:r>
              <a:rPr sz="2000" b="1" i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libri"/>
                <a:cs typeface="Calibri"/>
              </a:rPr>
              <a:t>Tunnel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215128" y="3532619"/>
            <a:ext cx="1615440" cy="515620"/>
            <a:chOff x="5215128" y="3532619"/>
            <a:chExt cx="1615440" cy="51562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5128" y="3532619"/>
              <a:ext cx="1615440" cy="51512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281422" y="3560825"/>
              <a:ext cx="1487805" cy="387350"/>
            </a:xfrm>
            <a:custGeom>
              <a:avLst/>
              <a:gdLst/>
              <a:ahLst/>
              <a:cxnLst/>
              <a:rect l="l" t="t" r="r" b="b"/>
              <a:pathLst>
                <a:path w="1487804" h="387350">
                  <a:moveTo>
                    <a:pt x="1487424" y="0"/>
                  </a:moveTo>
                  <a:lnTo>
                    <a:pt x="0" y="0"/>
                  </a:lnTo>
                  <a:lnTo>
                    <a:pt x="0" y="387096"/>
                  </a:lnTo>
                  <a:lnTo>
                    <a:pt x="1487424" y="387096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81422" y="3560825"/>
              <a:ext cx="1487805" cy="387350"/>
            </a:xfrm>
            <a:custGeom>
              <a:avLst/>
              <a:gdLst/>
              <a:ahLst/>
              <a:cxnLst/>
              <a:rect l="l" t="t" r="r" b="b"/>
              <a:pathLst>
                <a:path w="1487804" h="387350">
                  <a:moveTo>
                    <a:pt x="0" y="387096"/>
                  </a:moveTo>
                  <a:lnTo>
                    <a:pt x="1487424" y="387096"/>
                  </a:lnTo>
                  <a:lnTo>
                    <a:pt x="1487424" y="0"/>
                  </a:lnTo>
                  <a:lnTo>
                    <a:pt x="0" y="0"/>
                  </a:lnTo>
                  <a:lnTo>
                    <a:pt x="0" y="38709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294376" y="3628135"/>
            <a:ext cx="1461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985" algn="ctr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ESP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720084" y="3532619"/>
            <a:ext cx="1615440" cy="515620"/>
            <a:chOff x="3720084" y="3532619"/>
            <a:chExt cx="1615440" cy="51562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20084" y="3532619"/>
              <a:ext cx="1615439" cy="51512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786378" y="3560825"/>
              <a:ext cx="1487805" cy="387350"/>
            </a:xfrm>
            <a:custGeom>
              <a:avLst/>
              <a:gdLst/>
              <a:ahLst/>
              <a:cxnLst/>
              <a:rect l="l" t="t" r="r" b="b"/>
              <a:pathLst>
                <a:path w="1487804" h="387350">
                  <a:moveTo>
                    <a:pt x="1487424" y="0"/>
                  </a:moveTo>
                  <a:lnTo>
                    <a:pt x="0" y="0"/>
                  </a:lnTo>
                  <a:lnTo>
                    <a:pt x="0" y="387096"/>
                  </a:lnTo>
                  <a:lnTo>
                    <a:pt x="1487424" y="387096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86378" y="3560825"/>
              <a:ext cx="1487805" cy="387350"/>
            </a:xfrm>
            <a:custGeom>
              <a:avLst/>
              <a:gdLst/>
              <a:ahLst/>
              <a:cxnLst/>
              <a:rect l="l" t="t" r="r" b="b"/>
              <a:pathLst>
                <a:path w="1487804" h="387350">
                  <a:moveTo>
                    <a:pt x="0" y="387096"/>
                  </a:moveTo>
                  <a:lnTo>
                    <a:pt x="1487424" y="387096"/>
                  </a:lnTo>
                  <a:lnTo>
                    <a:pt x="1487424" y="0"/>
                  </a:lnTo>
                  <a:lnTo>
                    <a:pt x="0" y="0"/>
                  </a:lnTo>
                  <a:lnTo>
                    <a:pt x="0" y="38709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799332" y="3532098"/>
            <a:ext cx="1461770" cy="4800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8305" marR="325120" indent="28575">
              <a:lnSpc>
                <a:spcPct val="1064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Nouvelle </a:t>
            </a:r>
            <a:r>
              <a:rPr sz="1400" b="1" spc="-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En-t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ê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IP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722364" y="2810230"/>
            <a:ext cx="4310380" cy="513715"/>
            <a:chOff x="6722364" y="2810230"/>
            <a:chExt cx="4310380" cy="513715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22364" y="2810230"/>
              <a:ext cx="1615440" cy="51361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788658" y="2838449"/>
              <a:ext cx="1487805" cy="386080"/>
            </a:xfrm>
            <a:custGeom>
              <a:avLst/>
              <a:gdLst/>
              <a:ahLst/>
              <a:cxnLst/>
              <a:rect l="l" t="t" r="r" b="b"/>
              <a:pathLst>
                <a:path w="1487804" h="386080">
                  <a:moveTo>
                    <a:pt x="1487424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487424" y="385572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88658" y="2838449"/>
              <a:ext cx="1487805" cy="386080"/>
            </a:xfrm>
            <a:custGeom>
              <a:avLst/>
              <a:gdLst/>
              <a:ahLst/>
              <a:cxnLst/>
              <a:rect l="l" t="t" r="r" b="b"/>
              <a:pathLst>
                <a:path w="1487804" h="386080">
                  <a:moveTo>
                    <a:pt x="0" y="385572"/>
                  </a:moveTo>
                  <a:lnTo>
                    <a:pt x="1487424" y="385572"/>
                  </a:lnTo>
                  <a:lnTo>
                    <a:pt x="1487424" y="0"/>
                  </a:lnTo>
                  <a:lnTo>
                    <a:pt x="0" y="0"/>
                  </a:lnTo>
                  <a:lnTo>
                    <a:pt x="0" y="3855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00644" y="2810230"/>
              <a:ext cx="2831592" cy="51361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6938" y="2838449"/>
              <a:ext cx="2703576" cy="38557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266938" y="2838449"/>
              <a:ext cx="2703830" cy="386080"/>
            </a:xfrm>
            <a:custGeom>
              <a:avLst/>
              <a:gdLst/>
              <a:ahLst/>
              <a:cxnLst/>
              <a:rect l="l" t="t" r="r" b="b"/>
              <a:pathLst>
                <a:path w="2703829" h="386080">
                  <a:moveTo>
                    <a:pt x="0" y="385572"/>
                  </a:moveTo>
                  <a:lnTo>
                    <a:pt x="2703576" y="385572"/>
                  </a:lnTo>
                  <a:lnTo>
                    <a:pt x="2703576" y="0"/>
                  </a:lnTo>
                  <a:lnTo>
                    <a:pt x="0" y="0"/>
                  </a:lnTo>
                  <a:lnTo>
                    <a:pt x="0" y="3855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289035" y="2896869"/>
            <a:ext cx="26917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FF00"/>
                </a:solidFill>
                <a:latin typeface="Calibri"/>
                <a:cs typeface="Calibri"/>
              </a:rPr>
              <a:t>Données</a:t>
            </a:r>
            <a:r>
              <a:rPr sz="1600" b="1" spc="-20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00FF00"/>
                </a:solidFill>
                <a:latin typeface="Calibri"/>
                <a:cs typeface="Calibri"/>
              </a:rPr>
              <a:t>cryptées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215128" y="2810230"/>
            <a:ext cx="1615440" cy="513715"/>
            <a:chOff x="5215128" y="2810230"/>
            <a:chExt cx="1615440" cy="513715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5128" y="2810230"/>
              <a:ext cx="1615440" cy="51361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281422" y="2838449"/>
              <a:ext cx="1487805" cy="386080"/>
            </a:xfrm>
            <a:custGeom>
              <a:avLst/>
              <a:gdLst/>
              <a:ahLst/>
              <a:cxnLst/>
              <a:rect l="l" t="t" r="r" b="b"/>
              <a:pathLst>
                <a:path w="1487804" h="386080">
                  <a:moveTo>
                    <a:pt x="1487424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487424" y="385572"/>
                  </a:lnTo>
                  <a:lnTo>
                    <a:pt x="14874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81422" y="2838449"/>
              <a:ext cx="1487805" cy="386080"/>
            </a:xfrm>
            <a:custGeom>
              <a:avLst/>
              <a:gdLst/>
              <a:ahLst/>
              <a:cxnLst/>
              <a:rect l="l" t="t" r="r" b="b"/>
              <a:pathLst>
                <a:path w="1487804" h="386080">
                  <a:moveTo>
                    <a:pt x="0" y="385572"/>
                  </a:moveTo>
                  <a:lnTo>
                    <a:pt x="1487424" y="385572"/>
                  </a:lnTo>
                  <a:lnTo>
                    <a:pt x="1487424" y="0"/>
                  </a:lnTo>
                  <a:lnTo>
                    <a:pt x="0" y="0"/>
                  </a:lnTo>
                  <a:lnTo>
                    <a:pt x="0" y="3855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294376" y="2896869"/>
            <a:ext cx="1461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Calibri"/>
                <a:cs typeface="Calibri"/>
              </a:rPr>
              <a:t>En-tête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IP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801611" y="2896869"/>
            <a:ext cx="1461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0645" algn="ctr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Calibri"/>
                <a:cs typeface="Calibri"/>
              </a:rPr>
              <a:t>ESP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47419" y="2819526"/>
            <a:ext cx="21609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C00000"/>
                </a:solidFill>
                <a:latin typeface="Calibri"/>
                <a:cs typeface="Calibri"/>
              </a:rPr>
              <a:t>ESP</a:t>
            </a:r>
            <a:r>
              <a:rPr sz="2000" b="1" i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libri"/>
                <a:cs typeface="Calibri"/>
              </a:rPr>
              <a:t>Mode</a:t>
            </a:r>
            <a:r>
              <a:rPr sz="2000" b="1" i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alibri"/>
                <a:cs typeface="Calibri"/>
              </a:rPr>
              <a:t>Transport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8200643" y="3532606"/>
            <a:ext cx="2832100" cy="513715"/>
            <a:chOff x="8200643" y="3532606"/>
            <a:chExt cx="2832100" cy="513715"/>
          </a:xfrm>
        </p:grpSpPr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00643" y="3532606"/>
              <a:ext cx="2831592" cy="51361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66937" y="3560825"/>
              <a:ext cx="2703576" cy="38557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266937" y="3560825"/>
              <a:ext cx="2703830" cy="386080"/>
            </a:xfrm>
            <a:custGeom>
              <a:avLst/>
              <a:gdLst/>
              <a:ahLst/>
              <a:cxnLst/>
              <a:rect l="l" t="t" r="r" b="b"/>
              <a:pathLst>
                <a:path w="2703829" h="386079">
                  <a:moveTo>
                    <a:pt x="0" y="385572"/>
                  </a:moveTo>
                  <a:lnTo>
                    <a:pt x="2703576" y="385572"/>
                  </a:lnTo>
                  <a:lnTo>
                    <a:pt x="2703576" y="0"/>
                  </a:lnTo>
                  <a:lnTo>
                    <a:pt x="0" y="0"/>
                  </a:lnTo>
                  <a:lnTo>
                    <a:pt x="0" y="3855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8902954" y="3618991"/>
            <a:ext cx="1516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0FF00"/>
                </a:solidFill>
                <a:latin typeface="Calibri"/>
                <a:cs typeface="Calibri"/>
              </a:rPr>
              <a:t>Données</a:t>
            </a:r>
            <a:r>
              <a:rPr sz="1600" b="1" spc="-50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00FF00"/>
                </a:solidFill>
                <a:latin typeface="Calibri"/>
                <a:cs typeface="Calibri"/>
              </a:rPr>
              <a:t>cryptées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0927080" y="2810230"/>
            <a:ext cx="1136015" cy="513715"/>
            <a:chOff x="10927080" y="2810230"/>
            <a:chExt cx="1136015" cy="513715"/>
          </a:xfrm>
        </p:grpSpPr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27080" y="2810230"/>
              <a:ext cx="1135392" cy="513613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0993374" y="2838449"/>
              <a:ext cx="1007744" cy="386080"/>
            </a:xfrm>
            <a:custGeom>
              <a:avLst/>
              <a:gdLst/>
              <a:ahLst/>
              <a:cxnLst/>
              <a:rect l="l" t="t" r="r" b="b"/>
              <a:pathLst>
                <a:path w="1007745" h="386080">
                  <a:moveTo>
                    <a:pt x="1007364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007364" y="385572"/>
                  </a:lnTo>
                  <a:lnTo>
                    <a:pt x="1007364" y="0"/>
                  </a:lnTo>
                  <a:close/>
                </a:path>
              </a:pathLst>
            </a:custGeom>
            <a:solidFill>
              <a:srgbClr val="BCF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0993373" y="2838450"/>
            <a:ext cx="1007744" cy="3860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42545" algn="ctr">
              <a:lnSpc>
                <a:spcPct val="100000"/>
              </a:lnSpc>
              <a:spcBef>
                <a:spcPts val="555"/>
              </a:spcBef>
            </a:pPr>
            <a:r>
              <a:rPr sz="1600" b="1" spc="-10" dirty="0">
                <a:latin typeface="Calibri"/>
                <a:cs typeface="Calibri"/>
              </a:rPr>
              <a:t>ICV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0927080" y="3532606"/>
            <a:ext cx="1136015" cy="513715"/>
            <a:chOff x="10927080" y="3532606"/>
            <a:chExt cx="1136015" cy="513715"/>
          </a:xfrm>
        </p:grpSpPr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27080" y="3532606"/>
              <a:ext cx="1135392" cy="51361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993374" y="3560825"/>
              <a:ext cx="1007744" cy="386080"/>
            </a:xfrm>
            <a:custGeom>
              <a:avLst/>
              <a:gdLst/>
              <a:ahLst/>
              <a:cxnLst/>
              <a:rect l="l" t="t" r="r" b="b"/>
              <a:pathLst>
                <a:path w="1007745" h="386079">
                  <a:moveTo>
                    <a:pt x="1007364" y="0"/>
                  </a:moveTo>
                  <a:lnTo>
                    <a:pt x="0" y="0"/>
                  </a:lnTo>
                  <a:lnTo>
                    <a:pt x="0" y="385572"/>
                  </a:lnTo>
                  <a:lnTo>
                    <a:pt x="1007364" y="385572"/>
                  </a:lnTo>
                  <a:lnTo>
                    <a:pt x="1007364" y="0"/>
                  </a:lnTo>
                  <a:close/>
                </a:path>
              </a:pathLst>
            </a:custGeom>
            <a:solidFill>
              <a:srgbClr val="BCF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993374" y="3560825"/>
              <a:ext cx="1007744" cy="386080"/>
            </a:xfrm>
            <a:custGeom>
              <a:avLst/>
              <a:gdLst/>
              <a:ahLst/>
              <a:cxnLst/>
              <a:rect l="l" t="t" r="r" b="b"/>
              <a:pathLst>
                <a:path w="1007745" h="386079">
                  <a:moveTo>
                    <a:pt x="0" y="385572"/>
                  </a:moveTo>
                  <a:lnTo>
                    <a:pt x="1007364" y="385572"/>
                  </a:lnTo>
                  <a:lnTo>
                    <a:pt x="1007364" y="0"/>
                  </a:lnTo>
                  <a:lnTo>
                    <a:pt x="0" y="0"/>
                  </a:lnTo>
                  <a:lnTo>
                    <a:pt x="0" y="38557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1378438" y="3618991"/>
            <a:ext cx="2933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Calibri"/>
                <a:cs typeface="Calibri"/>
              </a:rPr>
              <a:t>I</a:t>
            </a:r>
            <a:r>
              <a:rPr sz="1600" b="1" spc="-10" dirty="0">
                <a:latin typeface="Calibri"/>
                <a:cs typeface="Calibri"/>
              </a:rPr>
              <a:t>CV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6" name="object 5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3316" y="4363210"/>
            <a:ext cx="9793224" cy="2494786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3259835" y="3948684"/>
            <a:ext cx="5527675" cy="304800"/>
            <a:chOff x="3259835" y="3948684"/>
            <a:chExt cx="5527675" cy="304800"/>
          </a:xfrm>
        </p:grpSpPr>
        <p:sp>
          <p:nvSpPr>
            <p:cNvPr id="58" name="object 58"/>
            <p:cNvSpPr/>
            <p:nvPr/>
          </p:nvSpPr>
          <p:spPr>
            <a:xfrm>
              <a:off x="3264408" y="3957701"/>
              <a:ext cx="5518785" cy="290830"/>
            </a:xfrm>
            <a:custGeom>
              <a:avLst/>
              <a:gdLst/>
              <a:ahLst/>
              <a:cxnLst/>
              <a:rect l="l" t="t" r="r" b="b"/>
              <a:pathLst>
                <a:path w="5518784" h="290829">
                  <a:moveTo>
                    <a:pt x="2733421" y="136525"/>
                  </a:moveTo>
                  <a:lnTo>
                    <a:pt x="2694686" y="136525"/>
                  </a:lnTo>
                  <a:lnTo>
                    <a:pt x="2681732" y="140970"/>
                  </a:lnTo>
                  <a:lnTo>
                    <a:pt x="2688209" y="136525"/>
                  </a:lnTo>
                  <a:lnTo>
                    <a:pt x="77343" y="136525"/>
                  </a:lnTo>
                  <a:lnTo>
                    <a:pt x="77343" y="140970"/>
                  </a:lnTo>
                  <a:lnTo>
                    <a:pt x="64516" y="140970"/>
                  </a:lnTo>
                  <a:lnTo>
                    <a:pt x="64516" y="145415"/>
                  </a:lnTo>
                  <a:lnTo>
                    <a:pt x="51562" y="145415"/>
                  </a:lnTo>
                  <a:lnTo>
                    <a:pt x="38722" y="154178"/>
                  </a:lnTo>
                  <a:lnTo>
                    <a:pt x="25781" y="167386"/>
                  </a:lnTo>
                  <a:lnTo>
                    <a:pt x="25781" y="185039"/>
                  </a:lnTo>
                  <a:lnTo>
                    <a:pt x="12827" y="207137"/>
                  </a:lnTo>
                  <a:lnTo>
                    <a:pt x="0" y="233553"/>
                  </a:lnTo>
                  <a:lnTo>
                    <a:pt x="0" y="290830"/>
                  </a:lnTo>
                  <a:lnTo>
                    <a:pt x="38722" y="290830"/>
                  </a:lnTo>
                  <a:lnTo>
                    <a:pt x="38722" y="233553"/>
                  </a:lnTo>
                  <a:lnTo>
                    <a:pt x="51562" y="207137"/>
                  </a:lnTo>
                  <a:lnTo>
                    <a:pt x="64516" y="189484"/>
                  </a:lnTo>
                  <a:lnTo>
                    <a:pt x="64516" y="171831"/>
                  </a:lnTo>
                  <a:lnTo>
                    <a:pt x="77343" y="158623"/>
                  </a:lnTo>
                  <a:lnTo>
                    <a:pt x="90297" y="149860"/>
                  </a:lnTo>
                  <a:lnTo>
                    <a:pt x="90297" y="154178"/>
                  </a:lnTo>
                  <a:lnTo>
                    <a:pt x="2694686" y="154178"/>
                  </a:lnTo>
                  <a:lnTo>
                    <a:pt x="2694686" y="149860"/>
                  </a:lnTo>
                  <a:lnTo>
                    <a:pt x="2707640" y="149860"/>
                  </a:lnTo>
                  <a:lnTo>
                    <a:pt x="2720467" y="145415"/>
                  </a:lnTo>
                  <a:lnTo>
                    <a:pt x="2733421" y="136525"/>
                  </a:lnTo>
                  <a:close/>
                </a:path>
                <a:path w="5518784" h="290829">
                  <a:moveTo>
                    <a:pt x="5518277" y="233553"/>
                  </a:moveTo>
                  <a:lnTo>
                    <a:pt x="5505450" y="207137"/>
                  </a:lnTo>
                  <a:lnTo>
                    <a:pt x="5492496" y="185039"/>
                  </a:lnTo>
                  <a:lnTo>
                    <a:pt x="5492496" y="167386"/>
                  </a:lnTo>
                  <a:lnTo>
                    <a:pt x="5479669" y="154178"/>
                  </a:lnTo>
                  <a:lnTo>
                    <a:pt x="5466715" y="145415"/>
                  </a:lnTo>
                  <a:lnTo>
                    <a:pt x="5453888" y="145415"/>
                  </a:lnTo>
                  <a:lnTo>
                    <a:pt x="5453888" y="140970"/>
                  </a:lnTo>
                  <a:lnTo>
                    <a:pt x="2836545" y="140970"/>
                  </a:lnTo>
                  <a:lnTo>
                    <a:pt x="2823591" y="136525"/>
                  </a:lnTo>
                  <a:lnTo>
                    <a:pt x="2830068" y="136525"/>
                  </a:lnTo>
                  <a:lnTo>
                    <a:pt x="2823591" y="132207"/>
                  </a:lnTo>
                  <a:lnTo>
                    <a:pt x="2810764" y="118999"/>
                  </a:lnTo>
                  <a:lnTo>
                    <a:pt x="2797810" y="101346"/>
                  </a:lnTo>
                  <a:lnTo>
                    <a:pt x="2784983" y="79248"/>
                  </a:lnTo>
                  <a:lnTo>
                    <a:pt x="2784983" y="0"/>
                  </a:lnTo>
                  <a:lnTo>
                    <a:pt x="2772029" y="30861"/>
                  </a:lnTo>
                  <a:lnTo>
                    <a:pt x="2772029" y="83693"/>
                  </a:lnTo>
                  <a:lnTo>
                    <a:pt x="2759202" y="105791"/>
                  </a:lnTo>
                  <a:lnTo>
                    <a:pt x="2772029" y="123317"/>
                  </a:lnTo>
                  <a:lnTo>
                    <a:pt x="2784983" y="136525"/>
                  </a:lnTo>
                  <a:lnTo>
                    <a:pt x="2797810" y="145415"/>
                  </a:lnTo>
                  <a:lnTo>
                    <a:pt x="2797810" y="149860"/>
                  </a:lnTo>
                  <a:lnTo>
                    <a:pt x="2823591" y="149860"/>
                  </a:lnTo>
                  <a:lnTo>
                    <a:pt x="2823591" y="154178"/>
                  </a:lnTo>
                  <a:lnTo>
                    <a:pt x="5428107" y="154178"/>
                  </a:lnTo>
                  <a:lnTo>
                    <a:pt x="5428107" y="149860"/>
                  </a:lnTo>
                  <a:lnTo>
                    <a:pt x="5440934" y="158623"/>
                  </a:lnTo>
                  <a:lnTo>
                    <a:pt x="5453888" y="171831"/>
                  </a:lnTo>
                  <a:lnTo>
                    <a:pt x="5453888" y="189484"/>
                  </a:lnTo>
                  <a:lnTo>
                    <a:pt x="5466715" y="211455"/>
                  </a:lnTo>
                  <a:lnTo>
                    <a:pt x="5466715" y="233553"/>
                  </a:lnTo>
                  <a:lnTo>
                    <a:pt x="5479669" y="259969"/>
                  </a:lnTo>
                  <a:lnTo>
                    <a:pt x="5479669" y="290830"/>
                  </a:lnTo>
                  <a:lnTo>
                    <a:pt x="5518277" y="290830"/>
                  </a:lnTo>
                  <a:lnTo>
                    <a:pt x="5518277" y="233553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46139" y="3957701"/>
              <a:ext cx="77470" cy="140969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997829" y="3953256"/>
              <a:ext cx="2707640" cy="145415"/>
            </a:xfrm>
            <a:custGeom>
              <a:avLst/>
              <a:gdLst/>
              <a:ahLst/>
              <a:cxnLst/>
              <a:rect l="l" t="t" r="r" b="b"/>
              <a:pathLst>
                <a:path w="2707640" h="145414">
                  <a:moveTo>
                    <a:pt x="51562" y="0"/>
                  </a:moveTo>
                  <a:lnTo>
                    <a:pt x="0" y="0"/>
                  </a:lnTo>
                  <a:lnTo>
                    <a:pt x="0" y="4445"/>
                  </a:lnTo>
                  <a:lnTo>
                    <a:pt x="12827" y="35306"/>
                  </a:lnTo>
                  <a:lnTo>
                    <a:pt x="12827" y="88138"/>
                  </a:lnTo>
                  <a:lnTo>
                    <a:pt x="25781" y="110236"/>
                  </a:lnTo>
                  <a:lnTo>
                    <a:pt x="38608" y="88138"/>
                  </a:lnTo>
                  <a:lnTo>
                    <a:pt x="38608" y="35306"/>
                  </a:lnTo>
                  <a:lnTo>
                    <a:pt x="51562" y="4445"/>
                  </a:lnTo>
                  <a:lnTo>
                    <a:pt x="51562" y="0"/>
                  </a:lnTo>
                  <a:close/>
                </a:path>
                <a:path w="2707640" h="145414">
                  <a:moveTo>
                    <a:pt x="2707513" y="140970"/>
                  </a:moveTo>
                  <a:lnTo>
                    <a:pt x="96647" y="140970"/>
                  </a:lnTo>
                  <a:lnTo>
                    <a:pt x="90170" y="140970"/>
                  </a:lnTo>
                  <a:lnTo>
                    <a:pt x="103124" y="145415"/>
                  </a:lnTo>
                  <a:lnTo>
                    <a:pt x="2707513" y="145415"/>
                  </a:lnTo>
                  <a:lnTo>
                    <a:pt x="2707513" y="14097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64407" y="3957701"/>
              <a:ext cx="5518785" cy="290830"/>
            </a:xfrm>
            <a:custGeom>
              <a:avLst/>
              <a:gdLst/>
              <a:ahLst/>
              <a:cxnLst/>
              <a:rect l="l" t="t" r="r" b="b"/>
              <a:pathLst>
                <a:path w="5518784" h="290829">
                  <a:moveTo>
                    <a:pt x="2733420" y="136525"/>
                  </a:moveTo>
                  <a:lnTo>
                    <a:pt x="2694686" y="136525"/>
                  </a:lnTo>
                  <a:lnTo>
                    <a:pt x="2681731" y="140969"/>
                  </a:lnTo>
                  <a:lnTo>
                    <a:pt x="64515" y="140969"/>
                  </a:lnTo>
                  <a:lnTo>
                    <a:pt x="64515" y="145415"/>
                  </a:lnTo>
                  <a:lnTo>
                    <a:pt x="51562" y="145415"/>
                  </a:lnTo>
                  <a:lnTo>
                    <a:pt x="38734" y="154178"/>
                  </a:lnTo>
                  <a:lnTo>
                    <a:pt x="25780" y="167386"/>
                  </a:lnTo>
                  <a:lnTo>
                    <a:pt x="25780" y="185038"/>
                  </a:lnTo>
                  <a:lnTo>
                    <a:pt x="12826" y="207137"/>
                  </a:lnTo>
                  <a:lnTo>
                    <a:pt x="0" y="233553"/>
                  </a:lnTo>
                  <a:lnTo>
                    <a:pt x="0" y="290830"/>
                  </a:lnTo>
                  <a:lnTo>
                    <a:pt x="38734" y="290830"/>
                  </a:lnTo>
                  <a:lnTo>
                    <a:pt x="38734" y="233553"/>
                  </a:lnTo>
                  <a:lnTo>
                    <a:pt x="51562" y="207137"/>
                  </a:lnTo>
                  <a:lnTo>
                    <a:pt x="64515" y="189484"/>
                  </a:lnTo>
                  <a:lnTo>
                    <a:pt x="64515" y="171831"/>
                  </a:lnTo>
                  <a:lnTo>
                    <a:pt x="77342" y="158623"/>
                  </a:lnTo>
                  <a:lnTo>
                    <a:pt x="90296" y="149860"/>
                  </a:lnTo>
                  <a:lnTo>
                    <a:pt x="2707640" y="149860"/>
                  </a:lnTo>
                  <a:lnTo>
                    <a:pt x="2720466" y="145415"/>
                  </a:lnTo>
                  <a:lnTo>
                    <a:pt x="2733420" y="136525"/>
                  </a:lnTo>
                  <a:close/>
                </a:path>
                <a:path w="5518784" h="290829">
                  <a:moveTo>
                    <a:pt x="2784982" y="0"/>
                  </a:moveTo>
                  <a:lnTo>
                    <a:pt x="2772029" y="30861"/>
                  </a:lnTo>
                  <a:lnTo>
                    <a:pt x="2772029" y="83693"/>
                  </a:lnTo>
                  <a:lnTo>
                    <a:pt x="2759202" y="105791"/>
                  </a:lnTo>
                  <a:lnTo>
                    <a:pt x="2772029" y="123317"/>
                  </a:lnTo>
                  <a:lnTo>
                    <a:pt x="2784982" y="136525"/>
                  </a:lnTo>
                  <a:lnTo>
                    <a:pt x="2797809" y="145415"/>
                  </a:lnTo>
                  <a:lnTo>
                    <a:pt x="2797809" y="149860"/>
                  </a:lnTo>
                  <a:lnTo>
                    <a:pt x="5428107" y="149860"/>
                  </a:lnTo>
                  <a:lnTo>
                    <a:pt x="5440934" y="158623"/>
                  </a:lnTo>
                  <a:lnTo>
                    <a:pt x="5453888" y="171831"/>
                  </a:lnTo>
                  <a:lnTo>
                    <a:pt x="5453888" y="189484"/>
                  </a:lnTo>
                  <a:lnTo>
                    <a:pt x="5466715" y="211455"/>
                  </a:lnTo>
                  <a:lnTo>
                    <a:pt x="5466715" y="233553"/>
                  </a:lnTo>
                  <a:lnTo>
                    <a:pt x="5479669" y="259969"/>
                  </a:lnTo>
                  <a:lnTo>
                    <a:pt x="5479669" y="290830"/>
                  </a:lnTo>
                  <a:lnTo>
                    <a:pt x="5518276" y="290830"/>
                  </a:lnTo>
                  <a:lnTo>
                    <a:pt x="5518276" y="233553"/>
                  </a:lnTo>
                  <a:lnTo>
                    <a:pt x="5505449" y="207137"/>
                  </a:lnTo>
                  <a:lnTo>
                    <a:pt x="5492495" y="185038"/>
                  </a:lnTo>
                  <a:lnTo>
                    <a:pt x="5492495" y="167386"/>
                  </a:lnTo>
                  <a:lnTo>
                    <a:pt x="5479669" y="154178"/>
                  </a:lnTo>
                  <a:lnTo>
                    <a:pt x="5466715" y="145415"/>
                  </a:lnTo>
                  <a:lnTo>
                    <a:pt x="5453888" y="145415"/>
                  </a:lnTo>
                  <a:lnTo>
                    <a:pt x="5453888" y="140969"/>
                  </a:lnTo>
                  <a:lnTo>
                    <a:pt x="2836544" y="140969"/>
                  </a:lnTo>
                  <a:lnTo>
                    <a:pt x="2823591" y="136525"/>
                  </a:lnTo>
                  <a:lnTo>
                    <a:pt x="2830067" y="136525"/>
                  </a:lnTo>
                  <a:lnTo>
                    <a:pt x="2823591" y="132206"/>
                  </a:lnTo>
                  <a:lnTo>
                    <a:pt x="2810764" y="118999"/>
                  </a:lnTo>
                  <a:lnTo>
                    <a:pt x="2797809" y="101346"/>
                  </a:lnTo>
                  <a:lnTo>
                    <a:pt x="2784982" y="79248"/>
                  </a:lnTo>
                  <a:lnTo>
                    <a:pt x="2784982" y="0"/>
                  </a:lnTo>
                  <a:close/>
                </a:path>
                <a:path w="5518784" h="290829">
                  <a:moveTo>
                    <a:pt x="103124" y="149860"/>
                  </a:moveTo>
                  <a:lnTo>
                    <a:pt x="90296" y="149860"/>
                  </a:lnTo>
                  <a:lnTo>
                    <a:pt x="90296" y="154178"/>
                  </a:lnTo>
                  <a:lnTo>
                    <a:pt x="103124" y="14986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350132" y="4109720"/>
              <a:ext cx="5347335" cy="0"/>
            </a:xfrm>
            <a:custGeom>
              <a:avLst/>
              <a:gdLst/>
              <a:ahLst/>
              <a:cxnLst/>
              <a:rect l="l" t="t" r="r" b="b"/>
              <a:pathLst>
                <a:path w="5347334">
                  <a:moveTo>
                    <a:pt x="0" y="0"/>
                  </a:moveTo>
                  <a:lnTo>
                    <a:pt x="2613533" y="0"/>
                  </a:lnTo>
                </a:path>
                <a:path w="5347334">
                  <a:moveTo>
                    <a:pt x="2733294" y="0"/>
                  </a:moveTo>
                  <a:lnTo>
                    <a:pt x="5346954" y="0"/>
                  </a:lnTo>
                </a:path>
              </a:pathLst>
            </a:custGeom>
            <a:ln w="13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679560" y="4107561"/>
              <a:ext cx="13335" cy="4445"/>
            </a:xfrm>
            <a:custGeom>
              <a:avLst/>
              <a:gdLst/>
              <a:ahLst/>
              <a:cxnLst/>
              <a:rect l="l" t="t" r="r" b="b"/>
              <a:pathLst>
                <a:path w="13334" h="4445">
                  <a:moveTo>
                    <a:pt x="12954" y="0"/>
                  </a:moveTo>
                  <a:lnTo>
                    <a:pt x="0" y="0"/>
                  </a:lnTo>
                  <a:lnTo>
                    <a:pt x="12954" y="4318"/>
                  </a:lnTo>
                  <a:lnTo>
                    <a:pt x="12954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341750" y="4094226"/>
              <a:ext cx="2611120" cy="4445"/>
            </a:xfrm>
            <a:custGeom>
              <a:avLst/>
              <a:gdLst/>
              <a:ahLst/>
              <a:cxnLst/>
              <a:rect l="l" t="t" r="r" b="b"/>
              <a:pathLst>
                <a:path w="2611120" h="4445">
                  <a:moveTo>
                    <a:pt x="-4572" y="2222"/>
                  </a:moveTo>
                  <a:lnTo>
                    <a:pt x="2615437" y="2222"/>
                  </a:lnTo>
                </a:path>
              </a:pathLst>
            </a:custGeom>
            <a:ln w="135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41567" y="3953129"/>
              <a:ext cx="86614" cy="15011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087998" y="4094226"/>
              <a:ext cx="13335" cy="4445"/>
            </a:xfrm>
            <a:custGeom>
              <a:avLst/>
              <a:gdLst/>
              <a:ahLst/>
              <a:cxnLst/>
              <a:rect l="l" t="t" r="r" b="b"/>
              <a:pathLst>
                <a:path w="13335" h="4445">
                  <a:moveTo>
                    <a:pt x="6476" y="0"/>
                  </a:moveTo>
                  <a:lnTo>
                    <a:pt x="0" y="0"/>
                  </a:lnTo>
                  <a:lnTo>
                    <a:pt x="12953" y="4444"/>
                  </a:lnTo>
                  <a:lnTo>
                    <a:pt x="6476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094475" y="4094226"/>
              <a:ext cx="2611120" cy="4445"/>
            </a:xfrm>
            <a:custGeom>
              <a:avLst/>
              <a:gdLst/>
              <a:ahLst/>
              <a:cxnLst/>
              <a:rect l="l" t="t" r="r" b="b"/>
              <a:pathLst>
                <a:path w="2611120" h="4445">
                  <a:moveTo>
                    <a:pt x="-4571" y="2222"/>
                  </a:moveTo>
                  <a:lnTo>
                    <a:pt x="2615438" y="2222"/>
                  </a:lnTo>
                </a:path>
              </a:pathLst>
            </a:custGeom>
            <a:ln w="135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97828" y="3953256"/>
              <a:ext cx="52069" cy="110489"/>
            </a:xfrm>
            <a:custGeom>
              <a:avLst/>
              <a:gdLst/>
              <a:ahLst/>
              <a:cxnLst/>
              <a:rect l="l" t="t" r="r" b="b"/>
              <a:pathLst>
                <a:path w="52070" h="110489">
                  <a:moveTo>
                    <a:pt x="51562" y="0"/>
                  </a:moveTo>
                  <a:lnTo>
                    <a:pt x="0" y="0"/>
                  </a:lnTo>
                  <a:lnTo>
                    <a:pt x="0" y="4445"/>
                  </a:lnTo>
                  <a:lnTo>
                    <a:pt x="12826" y="35306"/>
                  </a:lnTo>
                  <a:lnTo>
                    <a:pt x="12826" y="88138"/>
                  </a:lnTo>
                  <a:lnTo>
                    <a:pt x="25781" y="110236"/>
                  </a:lnTo>
                  <a:lnTo>
                    <a:pt x="38608" y="88138"/>
                  </a:lnTo>
                  <a:lnTo>
                    <a:pt x="38608" y="35306"/>
                  </a:lnTo>
                  <a:lnTo>
                    <a:pt x="51562" y="4445"/>
                  </a:lnTo>
                  <a:lnTo>
                    <a:pt x="51562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798677" y="4037457"/>
            <a:ext cx="999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dirty="0">
                <a:latin typeface="Calibri"/>
                <a:cs typeface="Calibri"/>
              </a:rPr>
              <a:t>Fo</a:t>
            </a:r>
            <a:r>
              <a:rPr sz="1800" b="1" spc="-5" dirty="0">
                <a:latin typeface="Calibri"/>
                <a:cs typeface="Calibri"/>
              </a:rPr>
              <a:t>rmat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0412094" y="5524500"/>
            <a:ext cx="152400" cy="960119"/>
            <a:chOff x="10412094" y="5524500"/>
            <a:chExt cx="152400" cy="960119"/>
          </a:xfrm>
        </p:grpSpPr>
        <p:sp>
          <p:nvSpPr>
            <p:cNvPr id="71" name="object 71"/>
            <p:cNvSpPr/>
            <p:nvPr/>
          </p:nvSpPr>
          <p:spPr>
            <a:xfrm>
              <a:off x="10416667" y="5529071"/>
              <a:ext cx="143510" cy="951230"/>
            </a:xfrm>
            <a:custGeom>
              <a:avLst/>
              <a:gdLst/>
              <a:ahLst/>
              <a:cxnLst/>
              <a:rect l="l" t="t" r="r" b="b"/>
              <a:pathLst>
                <a:path w="143509" h="951229">
                  <a:moveTo>
                    <a:pt x="143129" y="470903"/>
                  </a:moveTo>
                  <a:lnTo>
                    <a:pt x="140970" y="470903"/>
                  </a:lnTo>
                  <a:lnTo>
                    <a:pt x="113284" y="470903"/>
                  </a:lnTo>
                  <a:lnTo>
                    <a:pt x="102616" y="468680"/>
                  </a:lnTo>
                  <a:lnTo>
                    <a:pt x="91821" y="468680"/>
                  </a:lnTo>
                  <a:lnTo>
                    <a:pt x="83312" y="466458"/>
                  </a:lnTo>
                  <a:lnTo>
                    <a:pt x="76962" y="464235"/>
                  </a:lnTo>
                  <a:lnTo>
                    <a:pt x="74803" y="463130"/>
                  </a:lnTo>
                  <a:lnTo>
                    <a:pt x="74803" y="13335"/>
                  </a:lnTo>
                  <a:lnTo>
                    <a:pt x="72644" y="13335"/>
                  </a:lnTo>
                  <a:lnTo>
                    <a:pt x="72644" y="11049"/>
                  </a:lnTo>
                  <a:lnTo>
                    <a:pt x="70485" y="11049"/>
                  </a:lnTo>
                  <a:lnTo>
                    <a:pt x="70485" y="8890"/>
                  </a:lnTo>
                  <a:lnTo>
                    <a:pt x="66294" y="6604"/>
                  </a:lnTo>
                  <a:lnTo>
                    <a:pt x="59817" y="4445"/>
                  </a:lnTo>
                  <a:lnTo>
                    <a:pt x="51308" y="4445"/>
                  </a:lnTo>
                  <a:lnTo>
                    <a:pt x="40640" y="2159"/>
                  </a:lnTo>
                  <a:lnTo>
                    <a:pt x="27813" y="0"/>
                  </a:lnTo>
                  <a:lnTo>
                    <a:pt x="0" y="0"/>
                  </a:lnTo>
                  <a:lnTo>
                    <a:pt x="0" y="6604"/>
                  </a:lnTo>
                  <a:lnTo>
                    <a:pt x="27813" y="6604"/>
                  </a:lnTo>
                  <a:lnTo>
                    <a:pt x="40640" y="8890"/>
                  </a:lnTo>
                  <a:lnTo>
                    <a:pt x="49149" y="11049"/>
                  </a:lnTo>
                  <a:lnTo>
                    <a:pt x="57658" y="11049"/>
                  </a:lnTo>
                  <a:lnTo>
                    <a:pt x="64135" y="13335"/>
                  </a:lnTo>
                  <a:lnTo>
                    <a:pt x="68326" y="15494"/>
                  </a:lnTo>
                  <a:lnTo>
                    <a:pt x="66294" y="15494"/>
                  </a:lnTo>
                  <a:lnTo>
                    <a:pt x="66294" y="464235"/>
                  </a:lnTo>
                  <a:lnTo>
                    <a:pt x="68326" y="464235"/>
                  </a:lnTo>
                  <a:lnTo>
                    <a:pt x="68326" y="466458"/>
                  </a:lnTo>
                  <a:lnTo>
                    <a:pt x="70485" y="468680"/>
                  </a:lnTo>
                  <a:lnTo>
                    <a:pt x="74803" y="470903"/>
                  </a:lnTo>
                  <a:lnTo>
                    <a:pt x="81153" y="473125"/>
                  </a:lnTo>
                  <a:lnTo>
                    <a:pt x="89789" y="475348"/>
                  </a:lnTo>
                  <a:lnTo>
                    <a:pt x="81153" y="477570"/>
                  </a:lnTo>
                  <a:lnTo>
                    <a:pt x="74803" y="479793"/>
                  </a:lnTo>
                  <a:lnTo>
                    <a:pt x="70485" y="482015"/>
                  </a:lnTo>
                  <a:lnTo>
                    <a:pt x="68326" y="482015"/>
                  </a:lnTo>
                  <a:lnTo>
                    <a:pt x="68326" y="486460"/>
                  </a:lnTo>
                  <a:lnTo>
                    <a:pt x="66294" y="486460"/>
                  </a:lnTo>
                  <a:lnTo>
                    <a:pt x="66294" y="935151"/>
                  </a:lnTo>
                  <a:lnTo>
                    <a:pt x="68326" y="935151"/>
                  </a:lnTo>
                  <a:lnTo>
                    <a:pt x="64135" y="937374"/>
                  </a:lnTo>
                  <a:lnTo>
                    <a:pt x="57658" y="939596"/>
                  </a:lnTo>
                  <a:lnTo>
                    <a:pt x="49149" y="939596"/>
                  </a:lnTo>
                  <a:lnTo>
                    <a:pt x="38481" y="941806"/>
                  </a:lnTo>
                  <a:lnTo>
                    <a:pt x="27813" y="941806"/>
                  </a:lnTo>
                  <a:lnTo>
                    <a:pt x="14986" y="944029"/>
                  </a:lnTo>
                  <a:lnTo>
                    <a:pt x="0" y="944029"/>
                  </a:lnTo>
                  <a:lnTo>
                    <a:pt x="0" y="950696"/>
                  </a:lnTo>
                  <a:lnTo>
                    <a:pt x="27813" y="950696"/>
                  </a:lnTo>
                  <a:lnTo>
                    <a:pt x="40640" y="948474"/>
                  </a:lnTo>
                  <a:lnTo>
                    <a:pt x="51308" y="946251"/>
                  </a:lnTo>
                  <a:lnTo>
                    <a:pt x="59817" y="946251"/>
                  </a:lnTo>
                  <a:lnTo>
                    <a:pt x="66294" y="944029"/>
                  </a:lnTo>
                  <a:lnTo>
                    <a:pt x="70485" y="941806"/>
                  </a:lnTo>
                  <a:lnTo>
                    <a:pt x="70485" y="939596"/>
                  </a:lnTo>
                  <a:lnTo>
                    <a:pt x="72644" y="939596"/>
                  </a:lnTo>
                  <a:lnTo>
                    <a:pt x="72644" y="937374"/>
                  </a:lnTo>
                  <a:lnTo>
                    <a:pt x="74803" y="937374"/>
                  </a:lnTo>
                  <a:lnTo>
                    <a:pt x="74803" y="487565"/>
                  </a:lnTo>
                  <a:lnTo>
                    <a:pt x="76962" y="486460"/>
                  </a:lnTo>
                  <a:lnTo>
                    <a:pt x="83312" y="484238"/>
                  </a:lnTo>
                  <a:lnTo>
                    <a:pt x="91821" y="482015"/>
                  </a:lnTo>
                  <a:lnTo>
                    <a:pt x="102616" y="479793"/>
                  </a:lnTo>
                  <a:lnTo>
                    <a:pt x="140970" y="479793"/>
                  </a:lnTo>
                  <a:lnTo>
                    <a:pt x="143129" y="479793"/>
                  </a:lnTo>
                  <a:lnTo>
                    <a:pt x="143129" y="470903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0416666" y="5529072"/>
              <a:ext cx="140970" cy="951230"/>
            </a:xfrm>
            <a:custGeom>
              <a:avLst/>
              <a:gdLst/>
              <a:ahLst/>
              <a:cxnLst/>
              <a:rect l="l" t="t" r="r" b="b"/>
              <a:pathLst>
                <a:path w="140970" h="951229">
                  <a:moveTo>
                    <a:pt x="74802" y="470903"/>
                  </a:moveTo>
                  <a:lnTo>
                    <a:pt x="74802" y="464235"/>
                  </a:lnTo>
                  <a:lnTo>
                    <a:pt x="72643" y="462025"/>
                  </a:lnTo>
                  <a:lnTo>
                    <a:pt x="72643" y="11048"/>
                  </a:lnTo>
                  <a:lnTo>
                    <a:pt x="70484" y="11048"/>
                  </a:lnTo>
                  <a:lnTo>
                    <a:pt x="70484" y="8889"/>
                  </a:lnTo>
                  <a:lnTo>
                    <a:pt x="66293" y="6603"/>
                  </a:lnTo>
                  <a:lnTo>
                    <a:pt x="59816" y="4444"/>
                  </a:lnTo>
                  <a:lnTo>
                    <a:pt x="51307" y="4444"/>
                  </a:lnTo>
                  <a:lnTo>
                    <a:pt x="40639" y="2158"/>
                  </a:lnTo>
                  <a:lnTo>
                    <a:pt x="27812" y="0"/>
                  </a:lnTo>
                  <a:lnTo>
                    <a:pt x="0" y="0"/>
                  </a:lnTo>
                  <a:lnTo>
                    <a:pt x="0" y="6603"/>
                  </a:lnTo>
                  <a:lnTo>
                    <a:pt x="27812" y="6603"/>
                  </a:lnTo>
                  <a:lnTo>
                    <a:pt x="40639" y="8889"/>
                  </a:lnTo>
                  <a:lnTo>
                    <a:pt x="49149" y="11048"/>
                  </a:lnTo>
                  <a:lnTo>
                    <a:pt x="57657" y="11048"/>
                  </a:lnTo>
                  <a:lnTo>
                    <a:pt x="64134" y="13334"/>
                  </a:lnTo>
                  <a:lnTo>
                    <a:pt x="68325" y="15493"/>
                  </a:lnTo>
                  <a:lnTo>
                    <a:pt x="68325" y="466458"/>
                  </a:lnTo>
                  <a:lnTo>
                    <a:pt x="70484" y="468680"/>
                  </a:lnTo>
                  <a:lnTo>
                    <a:pt x="74802" y="470903"/>
                  </a:lnTo>
                  <a:close/>
                </a:path>
                <a:path w="140970" h="951229">
                  <a:moveTo>
                    <a:pt x="140969" y="479793"/>
                  </a:moveTo>
                  <a:lnTo>
                    <a:pt x="125983" y="477570"/>
                  </a:lnTo>
                  <a:lnTo>
                    <a:pt x="100456" y="477570"/>
                  </a:lnTo>
                  <a:lnTo>
                    <a:pt x="89788" y="475348"/>
                  </a:lnTo>
                  <a:lnTo>
                    <a:pt x="81152" y="477570"/>
                  </a:lnTo>
                  <a:lnTo>
                    <a:pt x="74802" y="479793"/>
                  </a:lnTo>
                  <a:lnTo>
                    <a:pt x="70484" y="482015"/>
                  </a:lnTo>
                  <a:lnTo>
                    <a:pt x="68325" y="482015"/>
                  </a:lnTo>
                  <a:lnTo>
                    <a:pt x="68325" y="935151"/>
                  </a:lnTo>
                  <a:lnTo>
                    <a:pt x="64134" y="937374"/>
                  </a:lnTo>
                  <a:lnTo>
                    <a:pt x="57657" y="939596"/>
                  </a:lnTo>
                  <a:lnTo>
                    <a:pt x="49149" y="939596"/>
                  </a:lnTo>
                  <a:lnTo>
                    <a:pt x="38480" y="941806"/>
                  </a:lnTo>
                  <a:lnTo>
                    <a:pt x="27812" y="941806"/>
                  </a:lnTo>
                  <a:lnTo>
                    <a:pt x="14985" y="944029"/>
                  </a:lnTo>
                  <a:lnTo>
                    <a:pt x="0" y="944029"/>
                  </a:lnTo>
                  <a:lnTo>
                    <a:pt x="0" y="950696"/>
                  </a:lnTo>
                  <a:lnTo>
                    <a:pt x="27812" y="950696"/>
                  </a:lnTo>
                  <a:lnTo>
                    <a:pt x="40639" y="948474"/>
                  </a:lnTo>
                  <a:lnTo>
                    <a:pt x="51307" y="946251"/>
                  </a:lnTo>
                  <a:lnTo>
                    <a:pt x="59816" y="946251"/>
                  </a:lnTo>
                  <a:lnTo>
                    <a:pt x="66293" y="944029"/>
                  </a:lnTo>
                  <a:lnTo>
                    <a:pt x="70484" y="941806"/>
                  </a:lnTo>
                  <a:lnTo>
                    <a:pt x="70484" y="939596"/>
                  </a:lnTo>
                  <a:lnTo>
                    <a:pt x="72643" y="939596"/>
                  </a:lnTo>
                  <a:lnTo>
                    <a:pt x="72643" y="488670"/>
                  </a:lnTo>
                  <a:lnTo>
                    <a:pt x="74802" y="486460"/>
                  </a:lnTo>
                  <a:lnTo>
                    <a:pt x="74802" y="487565"/>
                  </a:lnTo>
                  <a:lnTo>
                    <a:pt x="76961" y="486460"/>
                  </a:lnTo>
                  <a:lnTo>
                    <a:pt x="83311" y="484238"/>
                  </a:lnTo>
                  <a:lnTo>
                    <a:pt x="91821" y="482015"/>
                  </a:lnTo>
                  <a:lnTo>
                    <a:pt x="102615" y="479793"/>
                  </a:lnTo>
                  <a:lnTo>
                    <a:pt x="140969" y="479793"/>
                  </a:lnTo>
                  <a:close/>
                </a:path>
                <a:path w="140970" h="951229">
                  <a:moveTo>
                    <a:pt x="68325" y="17779"/>
                  </a:moveTo>
                  <a:lnTo>
                    <a:pt x="68325" y="15493"/>
                  </a:lnTo>
                  <a:lnTo>
                    <a:pt x="66293" y="15493"/>
                  </a:lnTo>
                  <a:lnTo>
                    <a:pt x="68325" y="17779"/>
                  </a:lnTo>
                  <a:close/>
                </a:path>
              </a:pathLst>
            </a:custGeom>
            <a:ln w="9144">
              <a:solidFill>
                <a:srgbClr val="385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0483976" y="5539994"/>
              <a:ext cx="0" cy="929005"/>
            </a:xfrm>
            <a:custGeom>
              <a:avLst/>
              <a:gdLst/>
              <a:ahLst/>
              <a:cxnLst/>
              <a:rect l="l" t="t" r="r" b="b"/>
              <a:pathLst>
                <a:path h="929004">
                  <a:moveTo>
                    <a:pt x="0" y="0"/>
                  </a:moveTo>
                  <a:lnTo>
                    <a:pt x="0" y="457885"/>
                  </a:lnTo>
                </a:path>
                <a:path h="929004">
                  <a:moveTo>
                    <a:pt x="0" y="470966"/>
                  </a:moveTo>
                  <a:lnTo>
                    <a:pt x="0" y="928801"/>
                  </a:lnTo>
                </a:path>
              </a:pathLst>
            </a:custGeom>
            <a:ln w="11176">
              <a:solidFill>
                <a:srgbClr val="385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0482960" y="6462001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2032" y="2222"/>
                  </a:moveTo>
                  <a:lnTo>
                    <a:pt x="2032" y="0"/>
                  </a:lnTo>
                  <a:lnTo>
                    <a:pt x="0" y="2222"/>
                  </a:lnTo>
                  <a:lnTo>
                    <a:pt x="2032" y="2222"/>
                  </a:lnTo>
                  <a:close/>
                </a:path>
              </a:pathLst>
            </a:custGeom>
            <a:ln w="9144">
              <a:solidFill>
                <a:srgbClr val="385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0489310" y="5542406"/>
              <a:ext cx="2540" cy="450215"/>
            </a:xfrm>
            <a:custGeom>
              <a:avLst/>
              <a:gdLst/>
              <a:ahLst/>
              <a:cxnLst/>
              <a:rect l="l" t="t" r="r" b="b"/>
              <a:pathLst>
                <a:path w="2540" h="450214">
                  <a:moveTo>
                    <a:pt x="1079" y="-4571"/>
                  </a:moveTo>
                  <a:lnTo>
                    <a:pt x="1079" y="454367"/>
                  </a:lnTo>
                </a:path>
              </a:pathLst>
            </a:custGeom>
            <a:ln w="11303">
              <a:solidFill>
                <a:srgbClr val="385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0489310" y="5991098"/>
              <a:ext cx="68580" cy="26670"/>
            </a:xfrm>
            <a:custGeom>
              <a:avLst/>
              <a:gdLst/>
              <a:ahLst/>
              <a:cxnLst/>
              <a:rect l="l" t="t" r="r" b="b"/>
              <a:pathLst>
                <a:path w="68579" h="26670">
                  <a:moveTo>
                    <a:pt x="68325" y="8877"/>
                  </a:moveTo>
                  <a:lnTo>
                    <a:pt x="40640" y="8877"/>
                  </a:lnTo>
                  <a:lnTo>
                    <a:pt x="29972" y="6654"/>
                  </a:lnTo>
                  <a:lnTo>
                    <a:pt x="19177" y="6654"/>
                  </a:lnTo>
                  <a:lnTo>
                    <a:pt x="10668" y="4432"/>
                  </a:lnTo>
                  <a:lnTo>
                    <a:pt x="4318" y="2209"/>
                  </a:lnTo>
                  <a:lnTo>
                    <a:pt x="0" y="0"/>
                  </a:lnTo>
                  <a:lnTo>
                    <a:pt x="2159" y="2209"/>
                  </a:lnTo>
                  <a:lnTo>
                    <a:pt x="2159" y="8877"/>
                  </a:lnTo>
                  <a:lnTo>
                    <a:pt x="8509" y="11099"/>
                  </a:lnTo>
                  <a:lnTo>
                    <a:pt x="17145" y="13322"/>
                  </a:lnTo>
                  <a:lnTo>
                    <a:pt x="27813" y="11099"/>
                  </a:lnTo>
                  <a:lnTo>
                    <a:pt x="53340" y="11099"/>
                  </a:lnTo>
                  <a:lnTo>
                    <a:pt x="68325" y="8877"/>
                  </a:lnTo>
                  <a:close/>
                </a:path>
                <a:path w="68579" h="26670">
                  <a:moveTo>
                    <a:pt x="2159" y="25539"/>
                  </a:moveTo>
                  <a:lnTo>
                    <a:pt x="2159" y="24434"/>
                  </a:lnTo>
                  <a:lnTo>
                    <a:pt x="0" y="26644"/>
                  </a:lnTo>
                  <a:lnTo>
                    <a:pt x="2159" y="25539"/>
                  </a:lnTo>
                  <a:close/>
                </a:path>
              </a:pathLst>
            </a:custGeom>
            <a:ln w="9144">
              <a:solidFill>
                <a:srgbClr val="385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0489310" y="6016637"/>
              <a:ext cx="2540" cy="450215"/>
            </a:xfrm>
            <a:custGeom>
              <a:avLst/>
              <a:gdLst/>
              <a:ahLst/>
              <a:cxnLst/>
              <a:rect l="l" t="t" r="r" b="b"/>
              <a:pathLst>
                <a:path w="2540" h="450214">
                  <a:moveTo>
                    <a:pt x="1079" y="-4571"/>
                  </a:moveTo>
                  <a:lnTo>
                    <a:pt x="1079" y="454380"/>
                  </a:lnTo>
                </a:path>
              </a:pathLst>
            </a:custGeom>
            <a:ln w="11303">
              <a:solidFill>
                <a:srgbClr val="385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0506455" y="5999975"/>
              <a:ext cx="53340" cy="8890"/>
            </a:xfrm>
            <a:custGeom>
              <a:avLst/>
              <a:gdLst/>
              <a:ahLst/>
              <a:cxnLst/>
              <a:rect l="l" t="t" r="r" b="b"/>
              <a:pathLst>
                <a:path w="53340" h="8889">
                  <a:moveTo>
                    <a:pt x="53340" y="8890"/>
                  </a:moveTo>
                  <a:lnTo>
                    <a:pt x="53340" y="0"/>
                  </a:lnTo>
                  <a:lnTo>
                    <a:pt x="51180" y="0"/>
                  </a:lnTo>
                  <a:lnTo>
                    <a:pt x="36195" y="2222"/>
                  </a:lnTo>
                  <a:lnTo>
                    <a:pt x="10668" y="2222"/>
                  </a:lnTo>
                  <a:lnTo>
                    <a:pt x="0" y="4445"/>
                  </a:lnTo>
                  <a:lnTo>
                    <a:pt x="10668" y="6667"/>
                  </a:lnTo>
                  <a:lnTo>
                    <a:pt x="36195" y="6667"/>
                  </a:lnTo>
                  <a:lnTo>
                    <a:pt x="51180" y="8890"/>
                  </a:lnTo>
                  <a:lnTo>
                    <a:pt x="53340" y="8890"/>
                  </a:lnTo>
                  <a:close/>
                </a:path>
              </a:pathLst>
            </a:custGeom>
            <a:ln w="9143">
              <a:solidFill>
                <a:srgbClr val="385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" name="object 79"/>
          <p:cNvGrpSpPr/>
          <p:nvPr/>
        </p:nvGrpSpPr>
        <p:grpSpPr>
          <a:xfrm>
            <a:off x="10892155" y="5729261"/>
            <a:ext cx="150495" cy="764540"/>
            <a:chOff x="10892155" y="5729261"/>
            <a:chExt cx="150495" cy="764540"/>
          </a:xfrm>
        </p:grpSpPr>
        <p:sp>
          <p:nvSpPr>
            <p:cNvPr id="80" name="object 80"/>
            <p:cNvSpPr/>
            <p:nvPr/>
          </p:nvSpPr>
          <p:spPr>
            <a:xfrm>
              <a:off x="10963021" y="5751461"/>
              <a:ext cx="8890" cy="716280"/>
            </a:xfrm>
            <a:custGeom>
              <a:avLst/>
              <a:gdLst/>
              <a:ahLst/>
              <a:cxnLst/>
              <a:rect l="l" t="t" r="r" b="b"/>
              <a:pathLst>
                <a:path w="8890" h="716279">
                  <a:moveTo>
                    <a:pt x="2032" y="0"/>
                  </a:moveTo>
                  <a:lnTo>
                    <a:pt x="0" y="0"/>
                  </a:lnTo>
                  <a:lnTo>
                    <a:pt x="0" y="712597"/>
                  </a:lnTo>
                  <a:lnTo>
                    <a:pt x="2032" y="712597"/>
                  </a:lnTo>
                  <a:lnTo>
                    <a:pt x="2032" y="709066"/>
                  </a:lnTo>
                  <a:lnTo>
                    <a:pt x="2032" y="0"/>
                  </a:lnTo>
                  <a:close/>
                </a:path>
                <a:path w="8890" h="716279">
                  <a:moveTo>
                    <a:pt x="8509" y="0"/>
                  </a:moveTo>
                  <a:lnTo>
                    <a:pt x="6350" y="3530"/>
                  </a:lnTo>
                  <a:lnTo>
                    <a:pt x="6350" y="716127"/>
                  </a:lnTo>
                  <a:lnTo>
                    <a:pt x="8509" y="716127"/>
                  </a:lnTo>
                  <a:lnTo>
                    <a:pt x="8509" y="1765"/>
                  </a:lnTo>
                  <a:lnTo>
                    <a:pt x="8509" y="0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0896727" y="5733833"/>
              <a:ext cx="140970" cy="755015"/>
            </a:xfrm>
            <a:custGeom>
              <a:avLst/>
              <a:gdLst/>
              <a:ahLst/>
              <a:cxnLst/>
              <a:rect l="l" t="t" r="r" b="b"/>
              <a:pathLst>
                <a:path w="140970" h="755014">
                  <a:moveTo>
                    <a:pt x="140970" y="7048"/>
                  </a:moveTo>
                  <a:lnTo>
                    <a:pt x="125983" y="3517"/>
                  </a:lnTo>
                  <a:lnTo>
                    <a:pt x="100456" y="3517"/>
                  </a:lnTo>
                  <a:lnTo>
                    <a:pt x="89789" y="0"/>
                  </a:lnTo>
                  <a:lnTo>
                    <a:pt x="81152" y="3517"/>
                  </a:lnTo>
                  <a:lnTo>
                    <a:pt x="74802" y="7048"/>
                  </a:lnTo>
                  <a:lnTo>
                    <a:pt x="70484" y="10579"/>
                  </a:lnTo>
                  <a:lnTo>
                    <a:pt x="68325" y="10579"/>
                  </a:lnTo>
                  <a:lnTo>
                    <a:pt x="68325" y="730224"/>
                  </a:lnTo>
                  <a:lnTo>
                    <a:pt x="64134" y="733755"/>
                  </a:lnTo>
                  <a:lnTo>
                    <a:pt x="57657" y="737273"/>
                  </a:lnTo>
                  <a:lnTo>
                    <a:pt x="49149" y="737273"/>
                  </a:lnTo>
                  <a:lnTo>
                    <a:pt x="38480" y="740803"/>
                  </a:lnTo>
                  <a:lnTo>
                    <a:pt x="27813" y="740803"/>
                  </a:lnTo>
                  <a:lnTo>
                    <a:pt x="14986" y="744334"/>
                  </a:lnTo>
                  <a:lnTo>
                    <a:pt x="0" y="744334"/>
                  </a:lnTo>
                  <a:lnTo>
                    <a:pt x="0" y="754913"/>
                  </a:lnTo>
                  <a:lnTo>
                    <a:pt x="27813" y="754913"/>
                  </a:lnTo>
                  <a:lnTo>
                    <a:pt x="40640" y="751382"/>
                  </a:lnTo>
                  <a:lnTo>
                    <a:pt x="51307" y="747864"/>
                  </a:lnTo>
                  <a:lnTo>
                    <a:pt x="59817" y="747864"/>
                  </a:lnTo>
                  <a:lnTo>
                    <a:pt x="66294" y="744334"/>
                  </a:lnTo>
                  <a:lnTo>
                    <a:pt x="70484" y="740803"/>
                  </a:lnTo>
                  <a:lnTo>
                    <a:pt x="70484" y="737273"/>
                  </a:lnTo>
                  <a:lnTo>
                    <a:pt x="72644" y="737273"/>
                  </a:lnTo>
                  <a:lnTo>
                    <a:pt x="72644" y="21158"/>
                  </a:lnTo>
                  <a:lnTo>
                    <a:pt x="74802" y="17627"/>
                  </a:lnTo>
                  <a:lnTo>
                    <a:pt x="74802" y="19392"/>
                  </a:lnTo>
                  <a:lnTo>
                    <a:pt x="76962" y="17627"/>
                  </a:lnTo>
                  <a:lnTo>
                    <a:pt x="83312" y="14109"/>
                  </a:lnTo>
                  <a:lnTo>
                    <a:pt x="91821" y="10579"/>
                  </a:lnTo>
                  <a:lnTo>
                    <a:pt x="102616" y="7048"/>
                  </a:lnTo>
                  <a:lnTo>
                    <a:pt x="140970" y="7048"/>
                  </a:lnTo>
                  <a:close/>
                </a:path>
              </a:pathLst>
            </a:custGeom>
            <a:ln w="9144">
              <a:solidFill>
                <a:srgbClr val="385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0963021" y="5751461"/>
              <a:ext cx="2540" cy="713105"/>
            </a:xfrm>
            <a:custGeom>
              <a:avLst/>
              <a:gdLst/>
              <a:ahLst/>
              <a:cxnLst/>
              <a:rect l="l" t="t" r="r" b="b"/>
              <a:pathLst>
                <a:path w="2540" h="713104">
                  <a:moveTo>
                    <a:pt x="1015" y="-4571"/>
                  </a:moveTo>
                  <a:lnTo>
                    <a:pt x="1015" y="717169"/>
                  </a:lnTo>
                </a:path>
              </a:pathLst>
            </a:custGeom>
            <a:ln w="11175">
              <a:solidFill>
                <a:srgbClr val="385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0969371" y="5753226"/>
              <a:ext cx="2540" cy="714375"/>
            </a:xfrm>
            <a:custGeom>
              <a:avLst/>
              <a:gdLst/>
              <a:ahLst/>
              <a:cxnLst/>
              <a:rect l="l" t="t" r="r" b="b"/>
              <a:pathLst>
                <a:path w="2540" h="714375">
                  <a:moveTo>
                    <a:pt x="1079" y="-4571"/>
                  </a:moveTo>
                  <a:lnTo>
                    <a:pt x="1079" y="718934"/>
                  </a:lnTo>
                </a:path>
              </a:pathLst>
            </a:custGeom>
            <a:ln w="11302">
              <a:solidFill>
                <a:srgbClr val="385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4" name="object 84"/>
          <p:cNvGrpSpPr/>
          <p:nvPr/>
        </p:nvGrpSpPr>
        <p:grpSpPr>
          <a:xfrm>
            <a:off x="10892155" y="4974335"/>
            <a:ext cx="152400" cy="1514475"/>
            <a:chOff x="10892155" y="4974335"/>
            <a:chExt cx="152400" cy="1514475"/>
          </a:xfrm>
        </p:grpSpPr>
        <p:sp>
          <p:nvSpPr>
            <p:cNvPr id="85" name="object 85"/>
            <p:cNvSpPr/>
            <p:nvPr/>
          </p:nvSpPr>
          <p:spPr>
            <a:xfrm>
              <a:off x="10896727" y="4978907"/>
              <a:ext cx="143510" cy="1510030"/>
            </a:xfrm>
            <a:custGeom>
              <a:avLst/>
              <a:gdLst/>
              <a:ahLst/>
              <a:cxnLst/>
              <a:rect l="l" t="t" r="r" b="b"/>
              <a:pathLst>
                <a:path w="143509" h="1510029">
                  <a:moveTo>
                    <a:pt x="143129" y="747864"/>
                  </a:moveTo>
                  <a:lnTo>
                    <a:pt x="140970" y="747864"/>
                  </a:lnTo>
                  <a:lnTo>
                    <a:pt x="113284" y="747864"/>
                  </a:lnTo>
                  <a:lnTo>
                    <a:pt x="102616" y="744334"/>
                  </a:lnTo>
                  <a:lnTo>
                    <a:pt x="91821" y="744334"/>
                  </a:lnTo>
                  <a:lnTo>
                    <a:pt x="83312" y="740803"/>
                  </a:lnTo>
                  <a:lnTo>
                    <a:pt x="76962" y="737285"/>
                  </a:lnTo>
                  <a:lnTo>
                    <a:pt x="72644" y="733755"/>
                  </a:lnTo>
                  <a:lnTo>
                    <a:pt x="72644" y="17653"/>
                  </a:lnTo>
                  <a:lnTo>
                    <a:pt x="70485" y="17653"/>
                  </a:lnTo>
                  <a:lnTo>
                    <a:pt x="70485" y="14097"/>
                  </a:lnTo>
                  <a:lnTo>
                    <a:pt x="66294" y="10541"/>
                  </a:lnTo>
                  <a:lnTo>
                    <a:pt x="59817" y="7112"/>
                  </a:lnTo>
                  <a:lnTo>
                    <a:pt x="51308" y="7112"/>
                  </a:lnTo>
                  <a:lnTo>
                    <a:pt x="40640" y="3556"/>
                  </a:lnTo>
                  <a:lnTo>
                    <a:pt x="27813" y="0"/>
                  </a:lnTo>
                  <a:lnTo>
                    <a:pt x="0" y="0"/>
                  </a:lnTo>
                  <a:lnTo>
                    <a:pt x="0" y="10541"/>
                  </a:lnTo>
                  <a:lnTo>
                    <a:pt x="27813" y="10541"/>
                  </a:lnTo>
                  <a:lnTo>
                    <a:pt x="40640" y="14097"/>
                  </a:lnTo>
                  <a:lnTo>
                    <a:pt x="49149" y="17653"/>
                  </a:lnTo>
                  <a:lnTo>
                    <a:pt x="57658" y="17653"/>
                  </a:lnTo>
                  <a:lnTo>
                    <a:pt x="64135" y="21209"/>
                  </a:lnTo>
                  <a:lnTo>
                    <a:pt x="68326" y="24638"/>
                  </a:lnTo>
                  <a:lnTo>
                    <a:pt x="68326" y="740803"/>
                  </a:lnTo>
                  <a:lnTo>
                    <a:pt x="70485" y="744334"/>
                  </a:lnTo>
                  <a:lnTo>
                    <a:pt x="74803" y="747864"/>
                  </a:lnTo>
                  <a:lnTo>
                    <a:pt x="81153" y="751395"/>
                  </a:lnTo>
                  <a:lnTo>
                    <a:pt x="89789" y="754926"/>
                  </a:lnTo>
                  <a:lnTo>
                    <a:pt x="81153" y="758444"/>
                  </a:lnTo>
                  <a:lnTo>
                    <a:pt x="74803" y="761974"/>
                  </a:lnTo>
                  <a:lnTo>
                    <a:pt x="70485" y="765505"/>
                  </a:lnTo>
                  <a:lnTo>
                    <a:pt x="68326" y="765505"/>
                  </a:lnTo>
                  <a:lnTo>
                    <a:pt x="68326" y="1485150"/>
                  </a:lnTo>
                  <a:lnTo>
                    <a:pt x="64135" y="1488681"/>
                  </a:lnTo>
                  <a:lnTo>
                    <a:pt x="57658" y="1492199"/>
                  </a:lnTo>
                  <a:lnTo>
                    <a:pt x="49149" y="1492199"/>
                  </a:lnTo>
                  <a:lnTo>
                    <a:pt x="38481" y="1495729"/>
                  </a:lnTo>
                  <a:lnTo>
                    <a:pt x="27813" y="1495729"/>
                  </a:lnTo>
                  <a:lnTo>
                    <a:pt x="14986" y="1499260"/>
                  </a:lnTo>
                  <a:lnTo>
                    <a:pt x="0" y="1499260"/>
                  </a:lnTo>
                  <a:lnTo>
                    <a:pt x="0" y="1509839"/>
                  </a:lnTo>
                  <a:lnTo>
                    <a:pt x="27813" y="1509839"/>
                  </a:lnTo>
                  <a:lnTo>
                    <a:pt x="40640" y="1506308"/>
                  </a:lnTo>
                  <a:lnTo>
                    <a:pt x="51308" y="1502791"/>
                  </a:lnTo>
                  <a:lnTo>
                    <a:pt x="59817" y="1502791"/>
                  </a:lnTo>
                  <a:lnTo>
                    <a:pt x="66294" y="1499260"/>
                  </a:lnTo>
                  <a:lnTo>
                    <a:pt x="70485" y="1495729"/>
                  </a:lnTo>
                  <a:lnTo>
                    <a:pt x="70485" y="1492199"/>
                  </a:lnTo>
                  <a:lnTo>
                    <a:pt x="72644" y="1492199"/>
                  </a:lnTo>
                  <a:lnTo>
                    <a:pt x="72644" y="776084"/>
                  </a:lnTo>
                  <a:lnTo>
                    <a:pt x="74803" y="772553"/>
                  </a:lnTo>
                  <a:lnTo>
                    <a:pt x="74803" y="774319"/>
                  </a:lnTo>
                  <a:lnTo>
                    <a:pt x="76962" y="772553"/>
                  </a:lnTo>
                  <a:lnTo>
                    <a:pt x="83312" y="769035"/>
                  </a:lnTo>
                  <a:lnTo>
                    <a:pt x="91821" y="765505"/>
                  </a:lnTo>
                  <a:lnTo>
                    <a:pt x="102616" y="761974"/>
                  </a:lnTo>
                  <a:lnTo>
                    <a:pt x="140970" y="761974"/>
                  </a:lnTo>
                  <a:lnTo>
                    <a:pt x="143129" y="761974"/>
                  </a:lnTo>
                  <a:lnTo>
                    <a:pt x="143129" y="747864"/>
                  </a:lnTo>
                  <a:close/>
                </a:path>
              </a:pathLst>
            </a:custGeom>
            <a:solidFill>
              <a:srgbClr val="48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0896727" y="4978907"/>
              <a:ext cx="143510" cy="1485265"/>
            </a:xfrm>
            <a:custGeom>
              <a:avLst/>
              <a:gdLst/>
              <a:ahLst/>
              <a:cxnLst/>
              <a:rect l="l" t="t" r="r" b="b"/>
              <a:pathLst>
                <a:path w="143509" h="1485264">
                  <a:moveTo>
                    <a:pt x="74802" y="747864"/>
                  </a:moveTo>
                  <a:lnTo>
                    <a:pt x="74802" y="737285"/>
                  </a:lnTo>
                  <a:lnTo>
                    <a:pt x="72644" y="733755"/>
                  </a:lnTo>
                  <a:lnTo>
                    <a:pt x="72644" y="17653"/>
                  </a:lnTo>
                  <a:lnTo>
                    <a:pt x="70484" y="17653"/>
                  </a:lnTo>
                  <a:lnTo>
                    <a:pt x="70484" y="14097"/>
                  </a:lnTo>
                  <a:lnTo>
                    <a:pt x="66294" y="10541"/>
                  </a:lnTo>
                  <a:lnTo>
                    <a:pt x="59817" y="7112"/>
                  </a:lnTo>
                  <a:lnTo>
                    <a:pt x="51307" y="7112"/>
                  </a:lnTo>
                  <a:lnTo>
                    <a:pt x="40640" y="3556"/>
                  </a:lnTo>
                  <a:lnTo>
                    <a:pt x="27813" y="0"/>
                  </a:lnTo>
                  <a:lnTo>
                    <a:pt x="0" y="0"/>
                  </a:lnTo>
                  <a:lnTo>
                    <a:pt x="0" y="10541"/>
                  </a:lnTo>
                  <a:lnTo>
                    <a:pt x="27813" y="10541"/>
                  </a:lnTo>
                  <a:lnTo>
                    <a:pt x="40640" y="14097"/>
                  </a:lnTo>
                  <a:lnTo>
                    <a:pt x="49149" y="17653"/>
                  </a:lnTo>
                  <a:lnTo>
                    <a:pt x="57657" y="17653"/>
                  </a:lnTo>
                  <a:lnTo>
                    <a:pt x="64134" y="21209"/>
                  </a:lnTo>
                  <a:lnTo>
                    <a:pt x="68325" y="24638"/>
                  </a:lnTo>
                  <a:lnTo>
                    <a:pt x="68325" y="740803"/>
                  </a:lnTo>
                  <a:lnTo>
                    <a:pt x="70484" y="744334"/>
                  </a:lnTo>
                  <a:lnTo>
                    <a:pt x="74802" y="747864"/>
                  </a:lnTo>
                  <a:close/>
                </a:path>
                <a:path w="143509" h="1485264">
                  <a:moveTo>
                    <a:pt x="68325" y="28194"/>
                  </a:moveTo>
                  <a:lnTo>
                    <a:pt x="68325" y="24638"/>
                  </a:lnTo>
                  <a:lnTo>
                    <a:pt x="66294" y="24638"/>
                  </a:lnTo>
                  <a:lnTo>
                    <a:pt x="68325" y="28194"/>
                  </a:lnTo>
                  <a:close/>
                </a:path>
                <a:path w="143509" h="1485264">
                  <a:moveTo>
                    <a:pt x="68325" y="1485150"/>
                  </a:moveTo>
                  <a:lnTo>
                    <a:pt x="68325" y="1481620"/>
                  </a:lnTo>
                  <a:lnTo>
                    <a:pt x="66294" y="1485150"/>
                  </a:lnTo>
                  <a:lnTo>
                    <a:pt x="68325" y="1485150"/>
                  </a:lnTo>
                  <a:close/>
                </a:path>
                <a:path w="143509" h="1485264">
                  <a:moveTo>
                    <a:pt x="140970" y="747864"/>
                  </a:moveTo>
                  <a:lnTo>
                    <a:pt x="113283" y="747864"/>
                  </a:lnTo>
                  <a:lnTo>
                    <a:pt x="102616" y="744334"/>
                  </a:lnTo>
                  <a:lnTo>
                    <a:pt x="91821" y="744334"/>
                  </a:lnTo>
                  <a:lnTo>
                    <a:pt x="83312" y="740803"/>
                  </a:lnTo>
                  <a:lnTo>
                    <a:pt x="76962" y="737285"/>
                  </a:lnTo>
                  <a:lnTo>
                    <a:pt x="72644" y="733755"/>
                  </a:lnTo>
                  <a:lnTo>
                    <a:pt x="74802" y="737285"/>
                  </a:lnTo>
                  <a:lnTo>
                    <a:pt x="74802" y="747864"/>
                  </a:lnTo>
                  <a:lnTo>
                    <a:pt x="81152" y="751395"/>
                  </a:lnTo>
                  <a:lnTo>
                    <a:pt x="89789" y="754926"/>
                  </a:lnTo>
                  <a:lnTo>
                    <a:pt x="100456" y="751395"/>
                  </a:lnTo>
                  <a:lnTo>
                    <a:pt x="125983" y="751395"/>
                  </a:lnTo>
                  <a:lnTo>
                    <a:pt x="140970" y="747864"/>
                  </a:lnTo>
                  <a:close/>
                </a:path>
                <a:path w="143509" h="1485264">
                  <a:moveTo>
                    <a:pt x="74802" y="774319"/>
                  </a:moveTo>
                  <a:lnTo>
                    <a:pt x="74802" y="772553"/>
                  </a:lnTo>
                  <a:lnTo>
                    <a:pt x="72644" y="776084"/>
                  </a:lnTo>
                  <a:lnTo>
                    <a:pt x="74802" y="774319"/>
                  </a:lnTo>
                  <a:close/>
                </a:path>
                <a:path w="143509" h="1485264">
                  <a:moveTo>
                    <a:pt x="143128" y="761974"/>
                  </a:moveTo>
                  <a:lnTo>
                    <a:pt x="143128" y="747864"/>
                  </a:lnTo>
                  <a:lnTo>
                    <a:pt x="140970" y="747864"/>
                  </a:lnTo>
                  <a:lnTo>
                    <a:pt x="125983" y="751395"/>
                  </a:lnTo>
                  <a:lnTo>
                    <a:pt x="100456" y="751395"/>
                  </a:lnTo>
                  <a:lnTo>
                    <a:pt x="89789" y="754926"/>
                  </a:lnTo>
                  <a:lnTo>
                    <a:pt x="100456" y="758444"/>
                  </a:lnTo>
                  <a:lnTo>
                    <a:pt x="125983" y="758444"/>
                  </a:lnTo>
                  <a:lnTo>
                    <a:pt x="140970" y="761974"/>
                  </a:lnTo>
                  <a:lnTo>
                    <a:pt x="143128" y="761974"/>
                  </a:lnTo>
                  <a:close/>
                </a:path>
              </a:pathLst>
            </a:custGeom>
            <a:ln w="9144">
              <a:solidFill>
                <a:srgbClr val="385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10570844" y="4982845"/>
            <a:ext cx="722630" cy="158496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457834">
              <a:lnSpc>
                <a:spcPts val="1435"/>
              </a:lnSpc>
            </a:pPr>
            <a:r>
              <a:rPr sz="1400" b="1" dirty="0">
                <a:solidFill>
                  <a:srgbClr val="C00000"/>
                </a:solidFill>
                <a:latin typeface="Calibri"/>
                <a:cs typeface="Calibri"/>
              </a:rPr>
              <a:t>Intégrit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457200" algn="l"/>
                <a:tab pos="735965" algn="l"/>
              </a:tabLst>
            </a:pPr>
            <a:r>
              <a:rPr sz="1400" b="1" strike="dblStrike" dirty="0">
                <a:solidFill>
                  <a:srgbClr val="C00000"/>
                </a:solidFill>
                <a:latin typeface="Calibri"/>
                <a:cs typeface="Calibri"/>
              </a:rPr>
              <a:t> 	é	</a:t>
            </a:r>
            <a:endParaRPr sz="1400">
              <a:latin typeface="Calibri"/>
              <a:cs typeface="Calibri"/>
            </a:endParaRPr>
          </a:p>
          <a:p>
            <a:pPr marL="489584">
              <a:lnSpc>
                <a:spcPct val="100000"/>
              </a:lnSpc>
              <a:spcBef>
                <a:spcPts val="725"/>
              </a:spcBef>
            </a:pPr>
            <a:r>
              <a:rPr sz="1400" b="1" spc="-5" dirty="0">
                <a:solidFill>
                  <a:srgbClr val="C00000"/>
                </a:solidFill>
                <a:latin typeface="Calibri"/>
                <a:cs typeface="Calibri"/>
              </a:rPr>
              <a:t>conf</a:t>
            </a:r>
            <a:r>
              <a:rPr sz="1400" b="1" spc="5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1400" b="1" dirty="0">
                <a:solidFill>
                  <a:srgbClr val="C00000"/>
                </a:solidFill>
                <a:latin typeface="Calibri"/>
                <a:cs typeface="Calibri"/>
              </a:rPr>
              <a:t>denti</a:t>
            </a:r>
            <a:r>
              <a:rPr sz="1400" b="1" spc="-1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400" b="1" dirty="0">
                <a:solidFill>
                  <a:srgbClr val="C00000"/>
                </a:solidFill>
                <a:latin typeface="Calibri"/>
                <a:cs typeface="Calibri"/>
              </a:rPr>
              <a:t>lité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title"/>
          </p:nvPr>
        </p:nvSpPr>
        <p:spPr>
          <a:xfrm>
            <a:off x="1396364" y="235077"/>
            <a:ext cx="8335645" cy="10140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325">
              <a:lnSpc>
                <a:spcPts val="3175"/>
              </a:lnSpc>
              <a:spcBef>
                <a:spcPts val="95"/>
              </a:spcBef>
            </a:pPr>
            <a:r>
              <a:rPr spc="-5" dirty="0"/>
              <a:t>IPsec</a:t>
            </a:r>
          </a:p>
          <a:p>
            <a:pPr marL="12700">
              <a:lnSpc>
                <a:spcPts val="4615"/>
              </a:lnSpc>
            </a:pPr>
            <a:r>
              <a:rPr sz="4000" b="1" spc="-5" dirty="0">
                <a:latin typeface="Times New Roman"/>
                <a:cs typeface="Times New Roman"/>
              </a:rPr>
              <a:t>Encapsulating</a:t>
            </a:r>
            <a:r>
              <a:rPr sz="4000" b="1" spc="1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Security</a:t>
            </a:r>
            <a:r>
              <a:rPr sz="4000" b="1" spc="5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Payload</a:t>
            </a:r>
            <a:r>
              <a:rPr sz="4000" b="1" spc="-2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(ESP)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083" y="1720594"/>
            <a:ext cx="11519916" cy="51191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96364" y="235077"/>
            <a:ext cx="6120130" cy="10140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325">
              <a:lnSpc>
                <a:spcPts val="3175"/>
              </a:lnSpc>
              <a:spcBef>
                <a:spcPts val="95"/>
              </a:spcBef>
            </a:pPr>
            <a:r>
              <a:rPr spc="-5" dirty="0"/>
              <a:t>IPsec</a:t>
            </a:r>
          </a:p>
          <a:p>
            <a:pPr marL="12700">
              <a:lnSpc>
                <a:spcPts val="4615"/>
              </a:lnSpc>
            </a:pPr>
            <a:r>
              <a:rPr sz="4000" b="1" spc="-5" dirty="0">
                <a:latin typeface="Times New Roman"/>
                <a:cs typeface="Times New Roman"/>
              </a:rPr>
              <a:t>Comment</a:t>
            </a:r>
            <a:r>
              <a:rPr sz="4000" b="1" spc="1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fonctionne</a:t>
            </a:r>
            <a:r>
              <a:rPr sz="4000" b="1" spc="-1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IPsec?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689" y="1405508"/>
            <a:ext cx="11076940" cy="1870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13384" algn="l"/>
                <a:tab pos="414020" algn="l"/>
                <a:tab pos="1069975" algn="l"/>
                <a:tab pos="1454150" algn="l"/>
                <a:tab pos="1766570" algn="l"/>
                <a:tab pos="2923540" algn="l"/>
                <a:tab pos="3444875" algn="l"/>
                <a:tab pos="4271010" algn="l"/>
                <a:tab pos="5627370" algn="l"/>
                <a:tab pos="8107045" algn="l"/>
                <a:tab pos="8662035" algn="l"/>
                <a:tab pos="9652635" algn="l"/>
              </a:tabLst>
            </a:pPr>
            <a:r>
              <a:rPr sz="2000" spc="-5" dirty="0">
                <a:latin typeface="Calibri"/>
                <a:cs typeface="Calibri"/>
              </a:rPr>
              <a:t>IPsec	</a:t>
            </a:r>
            <a:r>
              <a:rPr sz="2000" dirty="0">
                <a:latin typeface="Calibri"/>
                <a:cs typeface="Calibri"/>
              </a:rPr>
              <a:t>🡪	</a:t>
            </a:r>
            <a:r>
              <a:rPr sz="2000" spc="-5" dirty="0">
                <a:latin typeface="Calibri"/>
                <a:cs typeface="Calibri"/>
              </a:rPr>
              <a:t>le	choix</a:t>
            </a:r>
            <a:r>
              <a:rPr sz="2000" spc="5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	</a:t>
            </a:r>
            <a:r>
              <a:rPr sz="2000" dirty="0">
                <a:latin typeface="Calibri"/>
                <a:cs typeface="Calibri"/>
              </a:rPr>
              <a:t>clés	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5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	</a:t>
            </a:r>
            <a:r>
              <a:rPr sz="2000" dirty="0">
                <a:latin typeface="Calibri"/>
                <a:cs typeface="Calibri"/>
              </a:rPr>
              <a:t>algorithmes	cryptographiques</a:t>
            </a:r>
            <a:r>
              <a:rPr sz="2000" spc="5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doit	</a:t>
            </a:r>
            <a:r>
              <a:rPr sz="2000" dirty="0">
                <a:latin typeface="Calibri"/>
                <a:cs typeface="Calibri"/>
              </a:rPr>
              <a:t>être	effectué	</a:t>
            </a:r>
            <a:r>
              <a:rPr sz="2000" spc="-5" dirty="0">
                <a:latin typeface="Calibri"/>
                <a:cs typeface="Calibri"/>
              </a:rPr>
              <a:t>pour</a:t>
            </a:r>
            <a:r>
              <a:rPr sz="2000" spc="4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pouvoir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35"/>
              </a:spcBef>
            </a:pPr>
            <a:r>
              <a:rPr sz="2000" spc="-5" dirty="0">
                <a:latin typeface="Calibri"/>
                <a:cs typeface="Calibri"/>
              </a:rPr>
              <a:t>sécuriser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connexion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IP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l’aide</a:t>
            </a:r>
            <a:r>
              <a:rPr sz="2000" dirty="0">
                <a:latin typeface="Calibri"/>
                <a:cs typeface="Calibri"/>
              </a:rPr>
              <a:t> 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AH ou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ESP.</a:t>
            </a:r>
            <a:endParaRPr sz="2000">
              <a:latin typeface="Calibri"/>
              <a:cs typeface="Calibri"/>
            </a:endParaRPr>
          </a:p>
          <a:p>
            <a:pPr marL="355600" marR="7620" indent="-343535">
              <a:lnSpc>
                <a:spcPct val="160000"/>
              </a:lnSpc>
              <a:spcBef>
                <a:spcPts val="605"/>
              </a:spcBef>
              <a:buFont typeface="Arial MT"/>
              <a:buChar char="•"/>
              <a:tabLst>
                <a:tab pos="413384" algn="l"/>
                <a:tab pos="414020" algn="l"/>
              </a:tabLst>
            </a:pPr>
            <a:r>
              <a:rPr dirty="0"/>
              <a:t>	</a:t>
            </a:r>
            <a:r>
              <a:rPr sz="2000" dirty="0">
                <a:latin typeface="Calibri"/>
                <a:cs typeface="Calibri"/>
              </a:rPr>
              <a:t>Pour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pouvoir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établir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dynamiquement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associations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sécurité,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autre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mécanisme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doit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être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mis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place: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689" y="3508705"/>
            <a:ext cx="1149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5269" y="3508705"/>
            <a:ext cx="40125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protocole</a:t>
            </a:r>
            <a:r>
              <a:rPr sz="20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IKE</a:t>
            </a:r>
            <a:r>
              <a:rPr sz="20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(Internet</a:t>
            </a:r>
            <a:r>
              <a:rPr sz="20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Key Exchange)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689" y="4073144"/>
            <a:ext cx="11075035" cy="243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3384" indent="-4013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13384" algn="l"/>
                <a:tab pos="414020" algn="l"/>
              </a:tabLst>
            </a:pPr>
            <a:r>
              <a:rPr sz="2000" b="1" dirty="0">
                <a:latin typeface="Calibri"/>
                <a:cs typeface="Calibri"/>
              </a:rPr>
              <a:t>IKE</a:t>
            </a:r>
            <a:r>
              <a:rPr sz="2000" b="1" spc="2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intervient</a:t>
            </a:r>
            <a:r>
              <a:rPr sz="2000" spc="2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mise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place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première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association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sécurité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chaque</a:t>
            </a:r>
            <a:r>
              <a:rPr sz="2000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renouvellement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5"/>
              </a:spcBef>
            </a:pPr>
            <a:r>
              <a:rPr sz="2000" spc="-5" dirty="0">
                <a:latin typeface="Calibri"/>
                <a:cs typeface="Calibri"/>
              </a:rPr>
              <a:t>d’associations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sécurité.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Calibri"/>
              <a:cs typeface="Calibri"/>
            </a:endParaRPr>
          </a:p>
          <a:p>
            <a:pPr marL="413384" indent="-4013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13384" algn="l"/>
                <a:tab pos="414020" algn="l"/>
              </a:tabLst>
            </a:pPr>
            <a:r>
              <a:rPr sz="2000" b="1" dirty="0">
                <a:latin typeface="Calibri"/>
                <a:cs typeface="Calibri"/>
              </a:rPr>
              <a:t>IKE</a:t>
            </a:r>
            <a:r>
              <a:rPr sz="2000" b="1" spc="3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définit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4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échanges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protocolaires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pour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négocier</a:t>
            </a:r>
            <a:r>
              <a:rPr sz="2000" spc="4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mettre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jour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matériel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cryptographique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000" spc="-5" dirty="0">
                <a:latin typeface="Calibri"/>
                <a:cs typeface="Calibri"/>
              </a:rPr>
              <a:t>nécessaire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à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IPsec.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Calibri"/>
              <a:cs typeface="Calibri"/>
            </a:endParaRPr>
          </a:p>
          <a:p>
            <a:pPr marL="412115" indent="-400050">
              <a:lnSpc>
                <a:spcPct val="100000"/>
              </a:lnSpc>
              <a:buFont typeface="Arial MT"/>
              <a:buChar char="•"/>
              <a:tabLst>
                <a:tab pos="412115" algn="l"/>
                <a:tab pos="412750" algn="l"/>
              </a:tabLst>
            </a:pPr>
            <a:r>
              <a:rPr sz="2000" b="1" dirty="0">
                <a:latin typeface="Calibri"/>
                <a:cs typeface="Calibri"/>
              </a:rPr>
              <a:t>IKE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réalise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l’authentification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mutuelle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deux</a:t>
            </a:r>
            <a:r>
              <a:rPr sz="2000" dirty="0">
                <a:latin typeface="Calibri"/>
                <a:cs typeface="Calibri"/>
              </a:rPr>
              <a:t> parties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impliquées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dans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IPsec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(hôtes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passerelles).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52219" y="235077"/>
            <a:ext cx="6447790" cy="1064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IPsec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Internet</a:t>
            </a:r>
            <a:r>
              <a:rPr sz="4000" b="1" spc="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Key</a:t>
            </a:r>
            <a:r>
              <a:rPr sz="4000" b="1" spc="-1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Exchange</a:t>
            </a:r>
            <a:r>
              <a:rPr sz="4000" b="1" spc="-1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(IKE)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7939" y="1749679"/>
            <a:ext cx="8470265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850" indent="-184785">
              <a:lnSpc>
                <a:spcPct val="100000"/>
              </a:lnSpc>
              <a:spcBef>
                <a:spcPts val="105"/>
              </a:spcBef>
              <a:buFont typeface="Calibri"/>
              <a:buChar char="•"/>
              <a:tabLst>
                <a:tab pos="197485" algn="l"/>
              </a:tabLst>
            </a:pPr>
            <a:r>
              <a:rPr sz="2000" b="1" dirty="0">
                <a:latin typeface="Calibri"/>
                <a:cs typeface="Calibri"/>
              </a:rPr>
              <a:t>IKE</a:t>
            </a:r>
            <a:r>
              <a:rPr sz="2000" b="1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repose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format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messages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ISAKMP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(Internet</a:t>
            </a:r>
            <a:r>
              <a:rPr sz="2000" b="1" spc="2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Security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Associaciation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60000"/>
              </a:lnSpc>
            </a:pP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Key</a:t>
            </a:r>
            <a:r>
              <a:rPr sz="2000" b="1" spc="4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Management</a:t>
            </a:r>
            <a:r>
              <a:rPr sz="2000" b="1" spc="5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Protocol)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pour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syntaxe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messages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décrivant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associations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sécurité.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7939" y="3853434"/>
            <a:ext cx="847090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indent="-184785">
              <a:lnSpc>
                <a:spcPct val="100000"/>
              </a:lnSpc>
              <a:spcBef>
                <a:spcPts val="100"/>
              </a:spcBef>
              <a:buChar char="•"/>
              <a:tabLst>
                <a:tab pos="197485" algn="l"/>
              </a:tabLst>
            </a:pPr>
            <a:r>
              <a:rPr sz="2000" spc="-5" dirty="0">
                <a:latin typeface="Calibri"/>
                <a:cs typeface="Calibri"/>
              </a:rPr>
              <a:t>Il</a:t>
            </a:r>
            <a:r>
              <a:rPr sz="2000" spc="2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existe</a:t>
            </a:r>
            <a:r>
              <a:rPr sz="2000" spc="2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deux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versions</a:t>
            </a:r>
            <a:r>
              <a:rPr sz="2000" spc="2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d’</a:t>
            </a:r>
            <a:r>
              <a:rPr sz="2000" b="1" dirty="0">
                <a:latin typeface="Calibri"/>
                <a:cs typeface="Calibri"/>
              </a:rPr>
              <a:t>IKE</a:t>
            </a:r>
            <a:r>
              <a:rPr sz="2000" b="1" spc="2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qui</a:t>
            </a:r>
            <a:r>
              <a:rPr sz="2000" spc="2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</a:t>
            </a:r>
            <a:r>
              <a:rPr sz="2000" spc="2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sont</a:t>
            </a:r>
            <a:r>
              <a:rPr sz="2000" spc="28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pas</a:t>
            </a:r>
            <a:r>
              <a:rPr sz="2000" spc="2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interopérables</a:t>
            </a:r>
            <a:r>
              <a:rPr sz="2000" spc="2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29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IKEv1</a:t>
            </a:r>
            <a:r>
              <a:rPr sz="2000" b="1" spc="2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IKEv2.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60000"/>
              </a:lnSpc>
            </a:pPr>
            <a:r>
              <a:rPr sz="2000" spc="-5" dirty="0">
                <a:latin typeface="Calibri"/>
                <a:cs typeface="Calibri"/>
              </a:rPr>
              <a:t>L’objectif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deuxième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version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simplifier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protocole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rassembler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toute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description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dans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seul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document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standard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52219" y="235077"/>
            <a:ext cx="6447790" cy="1064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IPsec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Internet</a:t>
            </a:r>
            <a:r>
              <a:rPr sz="4000" b="1" spc="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Key</a:t>
            </a:r>
            <a:r>
              <a:rPr sz="4000" b="1" spc="-1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Exchange</a:t>
            </a:r>
            <a:r>
              <a:rPr sz="4000" b="1" spc="-1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(IKE)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470" y="1542034"/>
            <a:ext cx="6114415" cy="438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C00000"/>
                </a:solidFill>
                <a:latin typeface="Calibri"/>
                <a:cs typeface="Calibri"/>
              </a:rPr>
              <a:t>IKE</a:t>
            </a:r>
            <a:r>
              <a:rPr sz="2400" b="1" i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2400" b="1" i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alibri"/>
                <a:cs typeface="Calibri"/>
              </a:rPr>
              <a:t>version</a:t>
            </a:r>
            <a:r>
              <a:rPr sz="2400" b="1" i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401320" indent="-388620">
              <a:lnSpc>
                <a:spcPct val="100000"/>
              </a:lnSpc>
              <a:spcBef>
                <a:spcPts val="1945"/>
              </a:spcBef>
              <a:buSzPct val="125000"/>
              <a:buFont typeface="Arial MT"/>
              <a:buChar char="•"/>
              <a:tabLst>
                <a:tab pos="400685" algn="l"/>
                <a:tab pos="401320" algn="l"/>
              </a:tabLst>
            </a:pPr>
            <a:r>
              <a:rPr sz="1600" b="1" spc="-10" dirty="0">
                <a:latin typeface="Calibri"/>
                <a:cs typeface="Calibri"/>
              </a:rPr>
              <a:t>IKE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établit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2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niveaux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SA.</a:t>
            </a:r>
            <a:endParaRPr sz="1600">
              <a:latin typeface="Calibri"/>
              <a:cs typeface="Calibri"/>
            </a:endParaRPr>
          </a:p>
          <a:p>
            <a:pPr marL="401320" indent="-388620">
              <a:lnSpc>
                <a:spcPct val="100000"/>
              </a:lnSpc>
              <a:spcBef>
                <a:spcPts val="1750"/>
              </a:spcBef>
              <a:buSzPct val="125000"/>
              <a:buFont typeface="Arial MT"/>
              <a:buChar char="•"/>
              <a:tabLst>
                <a:tab pos="400685" algn="l"/>
                <a:tab pos="401320" algn="l"/>
              </a:tabLst>
            </a:pPr>
            <a:r>
              <a:rPr sz="1600" b="1" spc="-5" dirty="0">
                <a:latin typeface="Calibri"/>
                <a:cs typeface="Calibri"/>
              </a:rPr>
              <a:t>IKEv1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Phase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1 - Phase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marL="355600" marR="5080" indent="-342900">
              <a:lnSpc>
                <a:spcPct val="160000"/>
              </a:lnSpc>
              <a:spcBef>
                <a:spcPts val="605"/>
              </a:spcBef>
              <a:buSzPct val="125000"/>
              <a:buFont typeface="Arial MT"/>
              <a:buChar char="•"/>
              <a:tabLst>
                <a:tab pos="400685" algn="l"/>
                <a:tab pos="401320" algn="l"/>
              </a:tabLst>
            </a:pPr>
            <a:r>
              <a:rPr dirty="0"/>
              <a:t>	</a:t>
            </a:r>
            <a:r>
              <a:rPr sz="1600" spc="-5" dirty="0">
                <a:latin typeface="Calibri"/>
                <a:cs typeface="Calibri"/>
              </a:rPr>
              <a:t>Une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SA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doit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être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mise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en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place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pour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sécuriser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les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échanges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IKE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eux-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mêmes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401320" indent="-388620">
              <a:lnSpc>
                <a:spcPct val="100000"/>
              </a:lnSpc>
              <a:buSzPct val="125000"/>
              <a:buFont typeface="Arial MT"/>
              <a:buChar char="•"/>
              <a:tabLst>
                <a:tab pos="400685" algn="l"/>
                <a:tab pos="401320" algn="l"/>
              </a:tabLst>
            </a:pPr>
            <a:r>
              <a:rPr sz="1600" dirty="0">
                <a:latin typeface="Calibri"/>
                <a:cs typeface="Calibri"/>
              </a:rPr>
              <a:t>Il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s’agit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l’association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sécurité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SA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IKE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appelée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aussi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SA</a:t>
            </a:r>
            <a:r>
              <a:rPr sz="1600" b="1" spc="9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ISAKMP</a:t>
            </a:r>
            <a:endParaRPr sz="16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55"/>
              </a:spcBef>
            </a:pPr>
            <a:r>
              <a:rPr sz="1600" spc="-5" dirty="0">
                <a:latin typeface="Calibri"/>
                <a:cs typeface="Calibri"/>
              </a:rPr>
              <a:t>dans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IKEv1.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Calibri"/>
              <a:cs typeface="Calibri"/>
            </a:endParaRPr>
          </a:p>
          <a:p>
            <a:pPr marL="401320" indent="-388620">
              <a:lnSpc>
                <a:spcPct val="100000"/>
              </a:lnSpc>
              <a:buSzPct val="125000"/>
              <a:buFont typeface="Arial MT"/>
              <a:buChar char="•"/>
              <a:tabLst>
                <a:tab pos="400685" algn="l"/>
                <a:tab pos="401320" algn="l"/>
              </a:tabLst>
            </a:pPr>
            <a:r>
              <a:rPr sz="1600" spc="-5" dirty="0">
                <a:latin typeface="Calibri"/>
                <a:cs typeface="Calibri"/>
              </a:rPr>
              <a:t>Elle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est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bidirectionnelle.</a:t>
            </a:r>
            <a:endParaRPr sz="1600">
              <a:latin typeface="Calibri"/>
              <a:cs typeface="Calibri"/>
            </a:endParaRPr>
          </a:p>
          <a:p>
            <a:pPr marL="401320" indent="-388620">
              <a:lnSpc>
                <a:spcPct val="100000"/>
              </a:lnSpc>
              <a:spcBef>
                <a:spcPts val="1750"/>
              </a:spcBef>
              <a:buSzPct val="125000"/>
              <a:buFont typeface="Arial MT"/>
              <a:buChar char="•"/>
              <a:tabLst>
                <a:tab pos="400685" algn="l"/>
                <a:tab pos="401320" algn="l"/>
              </a:tabLst>
            </a:pPr>
            <a:r>
              <a:rPr sz="1600" spc="-5" dirty="0">
                <a:latin typeface="Calibri"/>
                <a:cs typeface="Calibri"/>
              </a:rPr>
              <a:t>Une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fois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que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cette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SA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IKE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est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établie,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il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est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alors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possible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négocier</a:t>
            </a:r>
            <a:endParaRPr sz="16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55"/>
              </a:spcBef>
            </a:pPr>
            <a:r>
              <a:rPr sz="1600" spc="-5" dirty="0">
                <a:latin typeface="Calibri"/>
                <a:cs typeface="Calibri"/>
              </a:rPr>
              <a:t>les SAs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IPsec unidirectionnelles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pour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protocoles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ESP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et/ou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AH.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9376" y="2043683"/>
            <a:ext cx="4951476" cy="20330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52219" y="235077"/>
            <a:ext cx="6447790" cy="1064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IPsec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Internet</a:t>
            </a:r>
            <a:r>
              <a:rPr sz="4000" b="1" spc="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Key</a:t>
            </a:r>
            <a:r>
              <a:rPr sz="4000" b="1" spc="-1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Exchange</a:t>
            </a:r>
            <a:r>
              <a:rPr sz="4000" b="1" spc="-1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(IKE)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3375" y="3500628"/>
            <a:ext cx="5280660" cy="576580"/>
          </a:xfrm>
          <a:custGeom>
            <a:avLst/>
            <a:gdLst/>
            <a:ahLst/>
            <a:cxnLst/>
            <a:rect l="l" t="t" r="r" b="b"/>
            <a:pathLst>
              <a:path w="5280660" h="576579">
                <a:moveTo>
                  <a:pt x="5280660" y="0"/>
                </a:moveTo>
                <a:lnTo>
                  <a:pt x="0" y="0"/>
                </a:lnTo>
                <a:lnTo>
                  <a:pt x="0" y="576072"/>
                </a:lnTo>
                <a:lnTo>
                  <a:pt x="5280660" y="576072"/>
                </a:lnTo>
                <a:lnTo>
                  <a:pt x="52806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8190" y="1374724"/>
            <a:ext cx="6371590" cy="4652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C00000"/>
                </a:solidFill>
                <a:latin typeface="Calibri"/>
                <a:cs typeface="Calibri"/>
              </a:rPr>
              <a:t>IKE</a:t>
            </a:r>
            <a:r>
              <a:rPr sz="2400" b="1" i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sz="2400" b="1" i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alibri"/>
                <a:cs typeface="Calibri"/>
              </a:rPr>
              <a:t>version</a:t>
            </a:r>
            <a:r>
              <a:rPr sz="2400" b="1" i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IKEv2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commence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avec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deux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échanges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Calibri"/>
              <a:cs typeface="Calibri"/>
            </a:endParaRPr>
          </a:p>
          <a:p>
            <a:pPr marL="196850" indent="-184785" algn="just">
              <a:lnSpc>
                <a:spcPct val="100000"/>
              </a:lnSpc>
              <a:buFont typeface="Calibri"/>
              <a:buChar char="•"/>
              <a:tabLst>
                <a:tab pos="197485" algn="l"/>
              </a:tabLst>
            </a:pPr>
            <a:r>
              <a:rPr sz="2000" b="1" dirty="0">
                <a:latin typeface="Calibri"/>
                <a:cs typeface="Calibri"/>
              </a:rPr>
              <a:t>IKE_SA_INIT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56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négocier</a:t>
            </a:r>
            <a:r>
              <a:rPr sz="2000" spc="5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</a:t>
            </a:r>
            <a:r>
              <a:rPr sz="2000" spc="5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algorithmes</a:t>
            </a:r>
            <a:r>
              <a:rPr sz="2000" spc="5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cryptographiques,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nonces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 les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valeurs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Diffie Hellman</a:t>
            </a:r>
            <a:endParaRPr sz="2000">
              <a:latin typeface="Calibri"/>
              <a:cs typeface="Calibri"/>
            </a:endParaRPr>
          </a:p>
          <a:p>
            <a:pPr marL="12700" marR="5080" algn="just">
              <a:lnSpc>
                <a:spcPct val="160000"/>
              </a:lnSpc>
              <a:spcBef>
                <a:spcPts val="605"/>
              </a:spcBef>
              <a:buFont typeface="Calibri"/>
              <a:buChar char="•"/>
              <a:tabLst>
                <a:tab pos="197485" algn="l"/>
              </a:tabLst>
            </a:pPr>
            <a:r>
              <a:rPr sz="2000" b="1" dirty="0">
                <a:latin typeface="Calibri"/>
                <a:cs typeface="Calibri"/>
              </a:rPr>
              <a:t>IKE_AUTH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authentifier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les</a:t>
            </a:r>
            <a:r>
              <a:rPr sz="2000" dirty="0">
                <a:latin typeface="Calibri"/>
                <a:cs typeface="Calibri"/>
              </a:rPr>
              <a:t> messages</a:t>
            </a:r>
            <a:r>
              <a:rPr sz="2000" spc="4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IKE_SA_INIT, </a:t>
            </a:r>
            <a:r>
              <a:rPr sz="2000" dirty="0">
                <a:latin typeface="Calibri"/>
                <a:cs typeface="Calibri"/>
              </a:rPr>
              <a:t> échanger </a:t>
            </a:r>
            <a:r>
              <a:rPr sz="2000" spc="-5" dirty="0">
                <a:latin typeface="Calibri"/>
                <a:cs typeface="Calibri"/>
              </a:rPr>
              <a:t>les </a:t>
            </a:r>
            <a:r>
              <a:rPr sz="2000" dirty="0">
                <a:latin typeface="Calibri"/>
                <a:cs typeface="Calibri"/>
              </a:rPr>
              <a:t>identités </a:t>
            </a:r>
            <a:r>
              <a:rPr sz="2000" spc="-5" dirty="0">
                <a:latin typeface="Calibri"/>
                <a:cs typeface="Calibri"/>
              </a:rPr>
              <a:t>et </a:t>
            </a:r>
            <a:r>
              <a:rPr sz="2000" dirty="0">
                <a:latin typeface="Calibri"/>
                <a:cs typeface="Calibri"/>
              </a:rPr>
              <a:t>les certificats, établir </a:t>
            </a: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dirty="0">
                <a:latin typeface="Calibri"/>
                <a:cs typeface="Calibri"/>
              </a:rPr>
              <a:t>première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association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sécurité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IPsec,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appelée aussi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SA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CHILD.</a:t>
            </a:r>
            <a:endParaRPr sz="2000">
              <a:latin typeface="Calibri"/>
              <a:cs typeface="Calibri"/>
            </a:endParaRPr>
          </a:p>
          <a:p>
            <a:pPr marL="12700" marR="6350" algn="just">
              <a:lnSpc>
                <a:spcPct val="160000"/>
              </a:lnSpc>
              <a:spcBef>
                <a:spcPts val="600"/>
              </a:spcBef>
              <a:buFont typeface="Calibri"/>
              <a:buChar char="•"/>
              <a:tabLst>
                <a:tab pos="197485" algn="l"/>
              </a:tabLst>
            </a:pPr>
            <a:r>
              <a:rPr sz="2000" b="1" spc="-5" dirty="0">
                <a:latin typeface="Calibri"/>
                <a:cs typeface="Calibri"/>
              </a:rPr>
              <a:t>IKEv2 </a:t>
            </a:r>
            <a:r>
              <a:rPr sz="2000" spc="-5" dirty="0">
                <a:latin typeface="Calibri"/>
                <a:cs typeface="Calibri"/>
              </a:rPr>
              <a:t>utilise </a:t>
            </a:r>
            <a:r>
              <a:rPr sz="2000" dirty="0">
                <a:latin typeface="Calibri"/>
                <a:cs typeface="Calibri"/>
              </a:rPr>
              <a:t>un </a:t>
            </a:r>
            <a:r>
              <a:rPr sz="2000" spc="-5" dirty="0">
                <a:latin typeface="Calibri"/>
                <a:cs typeface="Calibri"/>
              </a:rPr>
              <a:t>échange </a:t>
            </a:r>
            <a:r>
              <a:rPr sz="2000" b="1" spc="-5" dirty="0">
                <a:latin typeface="Calibri"/>
                <a:cs typeface="Calibri"/>
              </a:rPr>
              <a:t>CREATE_CHILD_SA </a:t>
            </a:r>
            <a:r>
              <a:rPr sz="2000" spc="-5" dirty="0">
                <a:latin typeface="Calibri"/>
                <a:cs typeface="Calibri"/>
              </a:rPr>
              <a:t>pour </a:t>
            </a:r>
            <a:r>
              <a:rPr sz="2000" dirty="0">
                <a:latin typeface="Calibri"/>
                <a:cs typeface="Calibri"/>
              </a:rPr>
              <a:t>créer </a:t>
            </a:r>
            <a:r>
              <a:rPr sz="2000" spc="-1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 nouvelles</a:t>
            </a:r>
            <a:r>
              <a:rPr sz="2000" dirty="0">
                <a:latin typeface="Calibri"/>
                <a:cs typeface="Calibri"/>
              </a:rPr>
              <a:t> SA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IPsec </a:t>
            </a:r>
            <a:r>
              <a:rPr sz="2000" spc="-5" dirty="0">
                <a:latin typeface="Calibri"/>
                <a:cs typeface="Calibri"/>
              </a:rPr>
              <a:t>ou </a:t>
            </a:r>
            <a:r>
              <a:rPr sz="2000" dirty="0">
                <a:latin typeface="Calibri"/>
                <a:cs typeface="Calibri"/>
              </a:rPr>
              <a:t>renégocier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clés,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IKEv2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7411" y="1124711"/>
            <a:ext cx="4651248" cy="48783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52219" y="235077"/>
            <a:ext cx="6447790" cy="1064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IPsec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4000" b="1" spc="-5" dirty="0">
                <a:latin typeface="Times New Roman"/>
                <a:cs typeface="Times New Roman"/>
              </a:rPr>
              <a:t>Internet</a:t>
            </a:r>
            <a:r>
              <a:rPr sz="4000" b="1" spc="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Key</a:t>
            </a:r>
            <a:r>
              <a:rPr sz="4000" b="1" spc="-1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Exchange</a:t>
            </a:r>
            <a:r>
              <a:rPr sz="4000" b="1" spc="-1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(IKE)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00256" y="6286601"/>
            <a:ext cx="1225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4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878787"/>
                </a:solidFill>
                <a:latin typeface="Calibri"/>
                <a:cs typeface="Calibri"/>
              </a:rPr>
              <a:t>7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883" y="0"/>
            <a:ext cx="2833116" cy="19202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75226" y="2820415"/>
            <a:ext cx="32277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" dirty="0">
                <a:latin typeface="Times New Roman"/>
                <a:cs typeface="Times New Roman"/>
              </a:rPr>
              <a:t>Fin</a:t>
            </a:r>
            <a:r>
              <a:rPr sz="4800" b="1" spc="-75" dirty="0">
                <a:latin typeface="Times New Roman"/>
                <a:cs typeface="Times New Roman"/>
              </a:rPr>
              <a:t> </a:t>
            </a:r>
            <a:r>
              <a:rPr sz="4800" b="1" dirty="0">
                <a:latin typeface="Times New Roman"/>
                <a:cs typeface="Times New Roman"/>
              </a:rPr>
              <a:t>chapitre</a:t>
            </a:r>
            <a:endParaRPr sz="4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b2e522-fe2d-45eb-8fca-68ca246d40b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D5852A217C4949816470E576B5A5FD" ma:contentTypeVersion="13" ma:contentTypeDescription="Crée un document." ma:contentTypeScope="" ma:versionID="a682db9535e47347d801d0bdc8a0e657">
  <xsd:schema xmlns:xsd="http://www.w3.org/2001/XMLSchema" xmlns:xs="http://www.w3.org/2001/XMLSchema" xmlns:p="http://schemas.microsoft.com/office/2006/metadata/properties" xmlns:ns3="73b2e522-fe2d-45eb-8fca-68ca246d40bd" xmlns:ns4="8164c8d2-d0cc-4025-b139-4ac243dc06ac" targetNamespace="http://schemas.microsoft.com/office/2006/metadata/properties" ma:root="true" ma:fieldsID="87b13b2c7ecf8776c47e8fab9eeba0ae" ns3:_="" ns4:_="">
    <xsd:import namespace="73b2e522-fe2d-45eb-8fca-68ca246d40bd"/>
    <xsd:import namespace="8164c8d2-d0cc-4025-b139-4ac243dc06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2e522-fe2d-45eb-8fca-68ca246d40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64c8d2-d0cc-4025-b139-4ac243dc06a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E87F5E-EE38-4357-ACB0-6D1E8AD73051}">
  <ds:schemaRefs>
    <ds:schemaRef ds:uri="http://www.w3.org/XML/1998/namespace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8164c8d2-d0cc-4025-b139-4ac243dc06ac"/>
    <ds:schemaRef ds:uri="http://schemas.microsoft.com/office/2006/metadata/properties"/>
    <ds:schemaRef ds:uri="http://schemas.openxmlformats.org/package/2006/metadata/core-properties"/>
    <ds:schemaRef ds:uri="73b2e522-fe2d-45eb-8fca-68ca246d40bd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BC273AF-FDA3-4908-ABCB-B8C4684605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b2e522-fe2d-45eb-8fca-68ca246d40bd"/>
    <ds:schemaRef ds:uri="8164c8d2-d0cc-4025-b139-4ac243dc06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3E1F7B-B1AB-485A-B6C6-F2EAF7BDDF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1791</Words>
  <Application>Microsoft Office PowerPoint</Application>
  <PresentationFormat>Grand écran</PresentationFormat>
  <Paragraphs>251</Paragraphs>
  <Slides>25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3" baseType="lpstr">
      <vt:lpstr>Aptos</vt:lpstr>
      <vt:lpstr>Arial</vt:lpstr>
      <vt:lpstr>Arial MT</vt:lpstr>
      <vt:lpstr>Calibri</vt:lpstr>
      <vt:lpstr>Segoe UI Emoji</vt:lpstr>
      <vt:lpstr>Times New Roman</vt:lpstr>
      <vt:lpstr>Wingdings</vt:lpstr>
      <vt:lpstr>Office Theme</vt:lpstr>
      <vt:lpstr>Les réseaux VPN</vt:lpstr>
      <vt:lpstr>Plan</vt:lpstr>
      <vt:lpstr> Qu’est-ce qu’un VPN?</vt:lpstr>
      <vt:lpstr> Besoins de Sécurité</vt:lpstr>
      <vt:lpstr>Plan</vt:lpstr>
      <vt:lpstr>Types de VPN Client-to-Site VPNs</vt:lpstr>
      <vt:lpstr>Types de VPN Site-to-Site VPNs</vt:lpstr>
      <vt:lpstr>Plan</vt:lpstr>
      <vt:lpstr> Encapsulation</vt:lpstr>
      <vt:lpstr> Les prinicipaux protocoles de tunnelisation</vt:lpstr>
      <vt:lpstr>Plan</vt:lpstr>
      <vt:lpstr> IPsec</vt:lpstr>
      <vt:lpstr> OpenVPN</vt:lpstr>
      <vt:lpstr> Comparaison IPsec vs OpenVPN</vt:lpstr>
      <vt:lpstr>Annexe : IPSec</vt:lpstr>
      <vt:lpstr>IPsec VPN IPsec</vt:lpstr>
      <vt:lpstr>IPsec Authentication Header (AH)</vt:lpstr>
      <vt:lpstr>IPsec Authentication Header (AH)</vt:lpstr>
      <vt:lpstr>IPsec Encapsulating Security Payload (ESP)</vt:lpstr>
      <vt:lpstr>IPsec Comment fonctionne IPsec?</vt:lpstr>
      <vt:lpstr>IPsec Internet Key Exchange (IKE)</vt:lpstr>
      <vt:lpstr>IPsec Internet Key Exchange (IKE)</vt:lpstr>
      <vt:lpstr>IPsec Internet Key Exchange (IKE)</vt:lpstr>
      <vt:lpstr>IPsec Internet Key Exchange (IKE)</vt:lpstr>
      <vt:lpstr>Fin chapitre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de Sécurité  des Réseaux Informatiques</dc:title>
  <dc:creator>Ali GHORBEL</dc:creator>
  <cp:lastModifiedBy>ksentini amel</cp:lastModifiedBy>
  <cp:revision>34</cp:revision>
  <dcterms:created xsi:type="dcterms:W3CDTF">2024-09-07T10:53:28Z</dcterms:created>
  <dcterms:modified xsi:type="dcterms:W3CDTF">2025-10-12T09:33:53Z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2024-09-07T00:00:00Z</vt:filetime>
  </property>
  <property fmtid="{D5CDD505-2E9C-101B-9397-08002B2CF9AE}" pid="5" name="ContentTypeId">
    <vt:lpwstr>0x010100D9D5852A217C4949816470E576B5A5FD</vt:lpwstr>
  </property>
</Properties>
</file>