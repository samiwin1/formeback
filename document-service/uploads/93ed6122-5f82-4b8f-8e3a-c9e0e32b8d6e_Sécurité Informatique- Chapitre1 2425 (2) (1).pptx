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media/image2.jpg" ContentType="image/jpg"/>
  <Override PartName="/ppt/media/image4.jpg" ContentType="image/jpg"/>
  <Override PartName="/ppt/media/image5.jpg" ContentType="image/jpg"/>
  <Override PartName="/ppt/media/image12.jpg" ContentType="image/jpg"/>
  <Override PartName="/ppt/media/image16.jpg" ContentType="image/jpg"/>
  <Override PartName="/ppt/media/image18.jpg" ContentType="image/jpg"/>
  <Override PartName="/ppt/media/image19.jpg" ContentType="image/jpg"/>
  <Override PartName="/ppt/media/image27.jpg" ContentType="image/jpg"/>
  <Override PartName="/ppt/media/image28.jpg" ContentType="image/jpg"/>
  <Override PartName="/ppt/media/image34.jpg" ContentType="image/jpg"/>
  <Override PartName="/ppt/media/image35.jpg" ContentType="image/jp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256" r:id="rId2"/>
    <p:sldId id="257" r:id="rId3"/>
    <p:sldId id="302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8" r:id="rId12"/>
    <p:sldId id="269" r:id="rId13"/>
    <p:sldId id="271" r:id="rId14"/>
    <p:sldId id="272" r:id="rId15"/>
    <p:sldId id="273" r:id="rId16"/>
    <p:sldId id="274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7" r:id="rId28"/>
    <p:sldId id="288" r:id="rId29"/>
    <p:sldId id="289" r:id="rId30"/>
    <p:sldId id="290" r:id="rId31"/>
    <p:sldId id="291" r:id="rId32"/>
    <p:sldId id="292" r:id="rId33"/>
    <p:sldId id="293" r:id="rId34"/>
    <p:sldId id="295" r:id="rId35"/>
    <p:sldId id="296" r:id="rId36"/>
    <p:sldId id="297" r:id="rId37"/>
  </p:sldIdLst>
  <p:sldSz cx="12192000" cy="6858000"/>
  <p:notesSz cx="12192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828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" type="title">
  <p:cSld name="Diapositive de titr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fr-FR"/>
              <a:t>Modifiez le style du titre</a:t>
            </a:r>
            <a:endParaRPr/>
          </a:p>
        </p:txBody>
      </p:sp>
      <p:sp>
        <p:nvSpPr>
          <p:cNvPr id="17" name="Google Shape;17;p3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/>
          </a:p>
        </p:txBody>
      </p:sp>
      <p:sp>
        <p:nvSpPr>
          <p:cNvPr id="18" name="Google Shape;18;p3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1D8BD707-D9CF-40AE-B4C6-C98DA3205C09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19" name="Google Shape;19;p3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fr-FR"/>
          </a:p>
        </p:txBody>
      </p:sp>
      <p:sp>
        <p:nvSpPr>
          <p:cNvPr id="20" name="Google Shape;20;p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607536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" type="obj">
  <p:cSld name="Titre et contenu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fr-FR"/>
              <a:t>Modifiez le style du titre</a:t>
            </a:r>
            <a:endParaRPr/>
          </a:p>
        </p:txBody>
      </p:sp>
      <p:sp>
        <p:nvSpPr>
          <p:cNvPr id="23" name="Google Shape;23;p3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4" name="Google Shape;24;p3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1D8BD707-D9CF-40AE-B4C6-C98DA3205C09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25" name="Google Shape;25;p3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fr-FR"/>
          </a:p>
        </p:txBody>
      </p:sp>
      <p:sp>
        <p:nvSpPr>
          <p:cNvPr id="26" name="Google Shape;26;p3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97940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de section" type="secHead">
  <p:cSld name="Titre de section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fr-FR"/>
              <a:t>Modifiez le style du titre</a:t>
            </a:r>
            <a:endParaRPr/>
          </a:p>
        </p:txBody>
      </p:sp>
      <p:sp>
        <p:nvSpPr>
          <p:cNvPr id="29" name="Google Shape;29;p3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0" name="Google Shape;30;p3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1D8BD707-D9CF-40AE-B4C6-C98DA3205C09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31" name="Google Shape;31;p3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fr-FR"/>
          </a:p>
        </p:txBody>
      </p:sp>
      <p:sp>
        <p:nvSpPr>
          <p:cNvPr id="32" name="Google Shape;32;p3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43459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ux contenus" type="twoObj">
  <p:cSld name="Deux contenu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fr-FR"/>
              <a:t>Modifiez le style du titre</a:t>
            </a:r>
            <a:endParaRPr/>
          </a:p>
        </p:txBody>
      </p:sp>
      <p:sp>
        <p:nvSpPr>
          <p:cNvPr id="35" name="Google Shape;35;p4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6" name="Google Shape;36;p4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7" name="Google Shape;37;p4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1D8BD707-D9CF-40AE-B4C6-C98DA3205C09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38" name="Google Shape;38;p4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fr-FR"/>
          </a:p>
        </p:txBody>
      </p:sp>
      <p:sp>
        <p:nvSpPr>
          <p:cNvPr id="39" name="Google Shape;39;p4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20825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" type="twoTxTwoObj">
  <p:cSld name="Comparais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fr-FR"/>
              <a:t>Modifiez le style du titre</a:t>
            </a:r>
            <a:endParaRPr/>
          </a:p>
        </p:txBody>
      </p:sp>
      <p:sp>
        <p:nvSpPr>
          <p:cNvPr id="42" name="Google Shape;42;p4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3" name="Google Shape;43;p4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4" name="Google Shape;44;p4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5" name="Google Shape;45;p4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6" name="Google Shape;46;p4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1D8BD707-D9CF-40AE-B4C6-C98DA3205C09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47" name="Google Shape;47;p4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fr-FR"/>
          </a:p>
        </p:txBody>
      </p:sp>
      <p:sp>
        <p:nvSpPr>
          <p:cNvPr id="48" name="Google Shape;48;p4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99708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seul" type="titleOnly">
  <p:cSld name="Titre seul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fr-FR"/>
              <a:t>Modifiez le style du titre</a:t>
            </a:r>
            <a:endParaRPr/>
          </a:p>
        </p:txBody>
      </p:sp>
      <p:sp>
        <p:nvSpPr>
          <p:cNvPr id="51" name="Google Shape;51;p4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1D8BD707-D9CF-40AE-B4C6-C98DA3205C09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52" name="Google Shape;52;p4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fr-FR"/>
          </a:p>
        </p:txBody>
      </p:sp>
      <p:sp>
        <p:nvSpPr>
          <p:cNvPr id="53" name="Google Shape;53;p4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78676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" type="blank">
  <p:cSld name="Vid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1D8BD707-D9CF-40AE-B4C6-C98DA3205C09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56" name="Google Shape;56;p4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fr-FR"/>
          </a:p>
        </p:txBody>
      </p:sp>
      <p:sp>
        <p:nvSpPr>
          <p:cNvPr id="57" name="Google Shape;57;p4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2168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 avec légende" type="objTx">
  <p:cSld name="Contenu avec légende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fr-FR"/>
              <a:t>Modifiez le style du titre</a:t>
            </a:r>
            <a:endParaRPr/>
          </a:p>
        </p:txBody>
      </p:sp>
      <p:sp>
        <p:nvSpPr>
          <p:cNvPr id="60" name="Google Shape;60;p4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1" name="Google Shape;61;p4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2" name="Google Shape;62;p4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1D8BD707-D9CF-40AE-B4C6-C98DA3205C09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63" name="Google Shape;63;p4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fr-FR"/>
          </a:p>
        </p:txBody>
      </p:sp>
      <p:sp>
        <p:nvSpPr>
          <p:cNvPr id="64" name="Google Shape;64;p4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3002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vec légende" type="picTx">
  <p:cSld name="Image avec légende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fr-FR"/>
              <a:t>Modifiez le style du titre</a:t>
            </a:r>
            <a:endParaRPr/>
          </a:p>
        </p:txBody>
      </p:sp>
      <p:sp>
        <p:nvSpPr>
          <p:cNvPr id="67" name="Google Shape;67;p4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4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9" name="Google Shape;69;p4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1D8BD707-D9CF-40AE-B4C6-C98DA3205C09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70" name="Google Shape;70;p4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fr-FR"/>
          </a:p>
        </p:txBody>
      </p:sp>
      <p:sp>
        <p:nvSpPr>
          <p:cNvPr id="71" name="Google Shape;71;p4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9481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texte vertical" type="vertTx">
  <p:cSld name="Titre et texte vertical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fr-FR"/>
              <a:t>Modifiez le style du titre</a:t>
            </a:r>
            <a:endParaRPr/>
          </a:p>
        </p:txBody>
      </p:sp>
      <p:sp>
        <p:nvSpPr>
          <p:cNvPr id="74" name="Google Shape;74;p4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5" name="Google Shape;75;p4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1D8BD707-D9CF-40AE-B4C6-C98DA3205C09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76" name="Google Shape;76;p4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fr-FR"/>
          </a:p>
        </p:txBody>
      </p:sp>
      <p:sp>
        <p:nvSpPr>
          <p:cNvPr id="77" name="Google Shape;77;p4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09572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vertical et texte" type="vertTitleAndTx">
  <p:cSld name="Titre vertical et texte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fr-FR"/>
              <a:t>Modifiez le style du titre</a:t>
            </a:r>
            <a:endParaRPr/>
          </a:p>
        </p:txBody>
      </p:sp>
      <p:sp>
        <p:nvSpPr>
          <p:cNvPr id="80" name="Google Shape;80;p4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1" name="Google Shape;81;p4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1D8BD707-D9CF-40AE-B4C6-C98DA3205C09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82" name="Google Shape;82;p4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fr-FR"/>
          </a:p>
        </p:txBody>
      </p:sp>
      <p:sp>
        <p:nvSpPr>
          <p:cNvPr id="83" name="Google Shape;83;p4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47509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4F81B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9/5/2024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58901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9/5/2024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541011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5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3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1D8BD707-D9CF-40AE-B4C6-C98DA3205C09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13" name="Google Shape;13;p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fr-FR"/>
          </a:p>
        </p:txBody>
      </p:sp>
      <p:sp>
        <p:nvSpPr>
          <p:cNvPr id="14" name="Google Shape;14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B6F15528-21DE-4FAA-801E-634DDDAF4B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325276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0384B2A4-CBFB-28DB-1833-E88547DE33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4174" y="4038600"/>
            <a:ext cx="10515600" cy="1500187"/>
          </a:xfrm>
        </p:spPr>
        <p:txBody>
          <a:bodyPr/>
          <a:lstStyle/>
          <a:p>
            <a:r>
              <a:rPr lang="en-US" dirty="0"/>
              <a:t>						2024-2025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07FAC0A-FC09-D281-E6DC-729ED314BBB8}"/>
              </a:ext>
            </a:extLst>
          </p:cNvPr>
          <p:cNvSpPr txBox="1"/>
          <p:nvPr/>
        </p:nvSpPr>
        <p:spPr>
          <a:xfrm>
            <a:off x="520464" y="2514600"/>
            <a:ext cx="1062342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3600" b="1" dirty="0">
                <a:solidFill>
                  <a:srgbClr val="FF0000"/>
                </a:solidFill>
                <a:latin typeface="Arial MT"/>
              </a:rPr>
              <a:t>Chapitre 1</a:t>
            </a:r>
          </a:p>
          <a:p>
            <a:pPr algn="ctr"/>
            <a:r>
              <a:rPr lang="fr-FR" sz="3600" b="1" dirty="0">
                <a:solidFill>
                  <a:srgbClr val="FF0000"/>
                </a:solidFill>
                <a:latin typeface="Arial MT"/>
              </a:rPr>
              <a:t>Les notions de base de la sécurité informatique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95400" y="774709"/>
            <a:ext cx="6471666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/>
              <a:t>Plan</a:t>
            </a:r>
            <a:r>
              <a:rPr sz="4000" spc="-235" dirty="0"/>
              <a:t> </a:t>
            </a:r>
            <a:r>
              <a:rPr sz="4000" dirty="0"/>
              <a:t>du</a:t>
            </a:r>
            <a:r>
              <a:rPr sz="4000" spc="-225" dirty="0"/>
              <a:t> </a:t>
            </a:r>
            <a:r>
              <a:rPr sz="4000" spc="-10" dirty="0"/>
              <a:t>chapitre</a:t>
            </a:r>
            <a:endParaRPr sz="4000" dirty="0"/>
          </a:p>
        </p:txBody>
      </p:sp>
      <p:sp>
        <p:nvSpPr>
          <p:cNvPr id="3" name="object 3"/>
          <p:cNvSpPr txBox="1"/>
          <p:nvPr/>
        </p:nvSpPr>
        <p:spPr>
          <a:xfrm>
            <a:off x="644144" y="1584316"/>
            <a:ext cx="9947656" cy="4528163"/>
          </a:xfrm>
          <a:prstGeom prst="rect">
            <a:avLst/>
          </a:prstGeom>
        </p:spPr>
        <p:txBody>
          <a:bodyPr vert="horz" wrap="square" lIns="0" tIns="207010" rIns="0" bIns="0" rtlCol="0">
            <a:spAutoFit/>
          </a:bodyPr>
          <a:lstStyle/>
          <a:p>
            <a:pPr marL="224790" indent="-222250">
              <a:lnSpc>
                <a:spcPct val="100000"/>
              </a:lnSpc>
              <a:spcBef>
                <a:spcPts val="1630"/>
              </a:spcBef>
              <a:buSzPct val="68750"/>
              <a:buFont typeface="Arial MT"/>
              <a:buChar char="▪"/>
              <a:tabLst>
                <a:tab pos="224790" algn="l"/>
              </a:tabLst>
            </a:pPr>
            <a:r>
              <a:rPr lang="fr-FR" sz="2400" spc="-20" dirty="0">
                <a:solidFill>
                  <a:srgbClr val="1D1B0F"/>
                </a:solidFill>
                <a:latin typeface="Calibri"/>
                <a:cs typeface="Calibri"/>
              </a:rPr>
              <a:t>Définition de la sécurité informatique</a:t>
            </a:r>
          </a:p>
          <a:p>
            <a:pPr marL="224790" indent="-222250">
              <a:lnSpc>
                <a:spcPct val="100000"/>
              </a:lnSpc>
              <a:spcBef>
                <a:spcPts val="1630"/>
              </a:spcBef>
              <a:buSzPct val="68750"/>
              <a:buFont typeface="Arial MT"/>
              <a:buChar char="▪"/>
              <a:tabLst>
                <a:tab pos="224790" algn="l"/>
              </a:tabLst>
            </a:pPr>
            <a:r>
              <a:rPr sz="2400" spc="-20" dirty="0">
                <a:solidFill>
                  <a:srgbClr val="1D1B0F"/>
                </a:solidFill>
                <a:latin typeface="Calibri"/>
                <a:cs typeface="Calibri"/>
              </a:rPr>
              <a:t>Les</a:t>
            </a:r>
            <a:r>
              <a:rPr sz="2400" spc="-9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D1B0F"/>
                </a:solidFill>
                <a:latin typeface="Calibri"/>
                <a:cs typeface="Calibri"/>
              </a:rPr>
              <a:t>enjeux</a:t>
            </a:r>
            <a:r>
              <a:rPr sz="2400" spc="-16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de</a:t>
            </a:r>
            <a:r>
              <a:rPr sz="2400" spc="-6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D1B0F"/>
                </a:solidFill>
                <a:latin typeface="Calibri"/>
                <a:cs typeface="Calibri"/>
              </a:rPr>
              <a:t>la</a:t>
            </a:r>
            <a:r>
              <a:rPr sz="2400" spc="-10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spc="-35" dirty="0">
                <a:solidFill>
                  <a:srgbClr val="1D1B0F"/>
                </a:solidFill>
                <a:latin typeface="Calibri"/>
                <a:cs typeface="Calibri"/>
              </a:rPr>
              <a:t>sécurité</a:t>
            </a:r>
            <a:r>
              <a:rPr sz="2400" spc="-9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D1B0F"/>
                </a:solidFill>
                <a:latin typeface="Calibri"/>
                <a:cs typeface="Calibri"/>
              </a:rPr>
              <a:t>informatique</a:t>
            </a:r>
            <a:endParaRPr sz="2400" dirty="0">
              <a:latin typeface="Calibri"/>
              <a:cs typeface="Calibri"/>
            </a:endParaRPr>
          </a:p>
          <a:p>
            <a:pPr marL="224790" indent="-222250">
              <a:lnSpc>
                <a:spcPct val="100000"/>
              </a:lnSpc>
              <a:spcBef>
                <a:spcPts val="1535"/>
              </a:spcBef>
              <a:buSzPct val="68750"/>
              <a:buFont typeface="Arial MT"/>
              <a:buChar char="▪"/>
              <a:tabLst>
                <a:tab pos="224790" algn="l"/>
              </a:tabLst>
            </a:pPr>
            <a:r>
              <a:rPr sz="2400" spc="-10" dirty="0">
                <a:solidFill>
                  <a:srgbClr val="1D1B0F"/>
                </a:solidFill>
                <a:latin typeface="Calibri"/>
                <a:cs typeface="Calibri"/>
              </a:rPr>
              <a:t>Les</a:t>
            </a:r>
            <a:r>
              <a:rPr sz="2400" spc="-9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spc="-40" dirty="0">
                <a:solidFill>
                  <a:srgbClr val="1D1B0F"/>
                </a:solidFill>
                <a:latin typeface="Calibri"/>
                <a:cs typeface="Calibri"/>
              </a:rPr>
              <a:t>métiers</a:t>
            </a:r>
            <a:r>
              <a:rPr sz="2400" spc="-12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de</a:t>
            </a:r>
            <a:r>
              <a:rPr sz="2400" spc="-9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la</a:t>
            </a:r>
            <a:r>
              <a:rPr sz="2400" spc="-8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spc="-35" dirty="0">
                <a:solidFill>
                  <a:srgbClr val="1D1B0F"/>
                </a:solidFill>
                <a:latin typeface="Calibri"/>
                <a:cs typeface="Calibri"/>
              </a:rPr>
              <a:t>sécurité</a:t>
            </a:r>
            <a:r>
              <a:rPr sz="2400" spc="-13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D1B0F"/>
                </a:solidFill>
                <a:latin typeface="Calibri"/>
                <a:cs typeface="Calibri"/>
              </a:rPr>
              <a:t>informatique</a:t>
            </a:r>
            <a:endParaRPr sz="2400" dirty="0">
              <a:latin typeface="Calibri"/>
              <a:cs typeface="Calibri"/>
            </a:endParaRPr>
          </a:p>
          <a:p>
            <a:pPr marL="224790" indent="-222250">
              <a:lnSpc>
                <a:spcPct val="100000"/>
              </a:lnSpc>
              <a:spcBef>
                <a:spcPts val="1650"/>
              </a:spcBef>
              <a:buSzPct val="68750"/>
              <a:buFont typeface="Arial MT"/>
              <a:buChar char="▪"/>
              <a:tabLst>
                <a:tab pos="224790" algn="l"/>
              </a:tabLst>
            </a:pPr>
            <a:r>
              <a:rPr sz="2400" spc="-20" dirty="0">
                <a:solidFill>
                  <a:srgbClr val="1D1B0F"/>
                </a:solidFill>
                <a:latin typeface="Calibri"/>
                <a:cs typeface="Calibri"/>
              </a:rPr>
              <a:t>Les</a:t>
            </a:r>
            <a:r>
              <a:rPr sz="2400" spc="-10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lang="fr-FR" sz="2400" spc="-30" dirty="0">
                <a:solidFill>
                  <a:srgbClr val="1D1B0F"/>
                </a:solidFill>
                <a:latin typeface="Calibri"/>
                <a:cs typeface="Calibri"/>
              </a:rPr>
              <a:t>services</a:t>
            </a:r>
            <a:r>
              <a:rPr sz="2400" spc="-6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D1B0F"/>
                </a:solidFill>
                <a:latin typeface="Calibri"/>
                <a:cs typeface="Calibri"/>
              </a:rPr>
              <a:t>de</a:t>
            </a:r>
            <a:r>
              <a:rPr sz="2400" spc="-10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la</a:t>
            </a:r>
            <a:r>
              <a:rPr sz="2400" spc="-9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spc="-35" dirty="0">
                <a:solidFill>
                  <a:srgbClr val="1D1B0F"/>
                </a:solidFill>
                <a:latin typeface="Calibri"/>
                <a:cs typeface="Calibri"/>
              </a:rPr>
              <a:t>sécurité</a:t>
            </a:r>
            <a:r>
              <a:rPr sz="2400" spc="-10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D1B0F"/>
                </a:solidFill>
                <a:latin typeface="Calibri"/>
                <a:cs typeface="Calibri"/>
              </a:rPr>
              <a:t>informatique:</a:t>
            </a:r>
            <a:endParaRPr sz="2400" dirty="0">
              <a:latin typeface="Calibri"/>
              <a:cs typeface="Calibri"/>
            </a:endParaRPr>
          </a:p>
          <a:p>
            <a:pPr marL="954405" lvl="1" indent="-274320">
              <a:lnSpc>
                <a:spcPct val="100000"/>
              </a:lnSpc>
              <a:spcBef>
                <a:spcPts val="2105"/>
              </a:spcBef>
              <a:buFont typeface="Arial MT"/>
              <a:buChar char="•"/>
              <a:tabLst>
                <a:tab pos="954405" algn="l"/>
              </a:tabLst>
            </a:pPr>
            <a:r>
              <a:rPr sz="2000" spc="-50" dirty="0">
                <a:solidFill>
                  <a:srgbClr val="1D1B0F"/>
                </a:solidFill>
                <a:latin typeface="Calibri"/>
                <a:cs typeface="Calibri"/>
              </a:rPr>
              <a:t>Confidentialité/Intégrité/</a:t>
            </a:r>
            <a:r>
              <a:rPr sz="2000" spc="-50" dirty="0" err="1">
                <a:solidFill>
                  <a:srgbClr val="1D1B0F"/>
                </a:solidFill>
                <a:latin typeface="Calibri"/>
                <a:cs typeface="Calibri"/>
              </a:rPr>
              <a:t>Disponibilité</a:t>
            </a:r>
            <a:r>
              <a:rPr sz="2000" spc="-50" dirty="0">
                <a:solidFill>
                  <a:srgbClr val="1D1B0F"/>
                </a:solidFill>
                <a:latin typeface="Calibri"/>
                <a:cs typeface="Calibri"/>
              </a:rPr>
              <a:t>/</a:t>
            </a:r>
            <a:r>
              <a:rPr lang="fr-FR" sz="2000" spc="-50" dirty="0">
                <a:solidFill>
                  <a:srgbClr val="1D1B0F"/>
                </a:solidFill>
                <a:latin typeface="Calibri"/>
                <a:cs typeface="Calibri"/>
              </a:rPr>
              <a:t>Preuve</a:t>
            </a:r>
            <a:endParaRPr sz="2000" dirty="0">
              <a:latin typeface="Calibri"/>
              <a:cs typeface="Calibri"/>
            </a:endParaRPr>
          </a:p>
          <a:p>
            <a:pPr marL="224790" indent="-222250">
              <a:lnSpc>
                <a:spcPct val="100000"/>
              </a:lnSpc>
              <a:spcBef>
                <a:spcPts val="1340"/>
              </a:spcBef>
              <a:buSzPct val="68750"/>
              <a:buFont typeface="Arial MT"/>
              <a:buChar char="▪"/>
              <a:tabLst>
                <a:tab pos="224790" algn="l"/>
              </a:tabLst>
            </a:pPr>
            <a:r>
              <a:rPr sz="2400" spc="-80" dirty="0">
                <a:solidFill>
                  <a:srgbClr val="1D1B0F"/>
                </a:solidFill>
                <a:latin typeface="Calibri"/>
                <a:cs typeface="Calibri"/>
              </a:rPr>
              <a:t>Terminologies</a:t>
            </a:r>
            <a:r>
              <a:rPr sz="2400" spc="-114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de</a:t>
            </a:r>
            <a:r>
              <a:rPr sz="2400" spc="-8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la</a:t>
            </a:r>
            <a:r>
              <a:rPr sz="2400" spc="-5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spc="-30" dirty="0">
                <a:solidFill>
                  <a:srgbClr val="1D1B0F"/>
                </a:solidFill>
                <a:latin typeface="Calibri"/>
                <a:cs typeface="Calibri"/>
              </a:rPr>
              <a:t>sécurité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spc="-50" dirty="0">
                <a:solidFill>
                  <a:srgbClr val="1D1B0F"/>
                </a:solidFill>
                <a:latin typeface="Calibri"/>
                <a:cs typeface="Calibri"/>
              </a:rPr>
              <a:t>informatique</a:t>
            </a:r>
            <a:r>
              <a:rPr sz="2400" spc="-19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spc="-50" dirty="0">
                <a:solidFill>
                  <a:srgbClr val="1D1B0F"/>
                </a:solidFill>
                <a:latin typeface="Calibri"/>
                <a:cs typeface="Calibri"/>
              </a:rPr>
              <a:t>:</a:t>
            </a:r>
            <a:endParaRPr sz="2400" dirty="0">
              <a:latin typeface="Calibri"/>
              <a:cs typeface="Calibri"/>
            </a:endParaRPr>
          </a:p>
          <a:p>
            <a:pPr marL="954405" lvl="1" indent="-274320">
              <a:lnSpc>
                <a:spcPct val="100000"/>
              </a:lnSpc>
              <a:spcBef>
                <a:spcPts val="2090"/>
              </a:spcBef>
              <a:buFont typeface="Arial MT"/>
              <a:buChar char="•"/>
              <a:tabLst>
                <a:tab pos="954405" algn="l"/>
              </a:tabLst>
            </a:pPr>
            <a:r>
              <a:rPr sz="2000" spc="-40" dirty="0">
                <a:solidFill>
                  <a:srgbClr val="1D1B0F"/>
                </a:solidFill>
                <a:latin typeface="Calibri"/>
                <a:cs typeface="Calibri"/>
              </a:rPr>
              <a:t>Vulnérabilité,</a:t>
            </a:r>
            <a:r>
              <a:rPr sz="2000" spc="-4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000" spc="-40" dirty="0">
                <a:solidFill>
                  <a:srgbClr val="1D1B0F"/>
                </a:solidFill>
                <a:latin typeface="Calibri"/>
                <a:cs typeface="Calibri"/>
              </a:rPr>
              <a:t>menace/agent</a:t>
            </a:r>
            <a:r>
              <a:rPr sz="2000" spc="-7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D1B0F"/>
                </a:solidFill>
                <a:latin typeface="Calibri"/>
                <a:cs typeface="Calibri"/>
              </a:rPr>
              <a:t>de</a:t>
            </a:r>
            <a:r>
              <a:rPr sz="2000" spc="-2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D1B0F"/>
                </a:solidFill>
                <a:latin typeface="Calibri"/>
                <a:cs typeface="Calibri"/>
              </a:rPr>
              <a:t>menace,</a:t>
            </a:r>
            <a:r>
              <a:rPr sz="2000" spc="-3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D1B0F"/>
                </a:solidFill>
                <a:latin typeface="Calibri"/>
                <a:cs typeface="Calibri"/>
              </a:rPr>
              <a:t>risque,</a:t>
            </a:r>
            <a:r>
              <a:rPr sz="2000" spc="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1D1B0F"/>
                </a:solidFill>
                <a:latin typeface="Calibri"/>
                <a:cs typeface="Calibri"/>
              </a:rPr>
              <a:t>impact,</a:t>
            </a:r>
            <a:r>
              <a:rPr sz="2000" spc="-5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000" spc="-45" dirty="0" err="1">
                <a:solidFill>
                  <a:srgbClr val="1D1B0F"/>
                </a:solidFill>
                <a:latin typeface="Calibri"/>
                <a:cs typeface="Calibri"/>
              </a:rPr>
              <a:t>contre-</a:t>
            </a:r>
            <a:r>
              <a:rPr sz="2000" spc="-10" dirty="0" err="1">
                <a:solidFill>
                  <a:srgbClr val="1D1B0F"/>
                </a:solidFill>
                <a:latin typeface="Calibri"/>
                <a:cs typeface="Calibri"/>
              </a:rPr>
              <a:t>mesure</a:t>
            </a:r>
            <a:r>
              <a:rPr sz="2000" spc="-10" dirty="0">
                <a:solidFill>
                  <a:srgbClr val="1D1B0F"/>
                </a:solidFill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  <a:p>
            <a:pPr marL="224790" indent="-222250">
              <a:lnSpc>
                <a:spcPct val="100000"/>
              </a:lnSpc>
              <a:spcBef>
                <a:spcPts val="1340"/>
              </a:spcBef>
              <a:buSzPct val="68750"/>
              <a:buFont typeface="Arial MT"/>
              <a:buChar char="▪"/>
              <a:tabLst>
                <a:tab pos="224790" algn="l"/>
              </a:tabLst>
            </a:pPr>
            <a:r>
              <a:rPr sz="2400" spc="-35" dirty="0">
                <a:solidFill>
                  <a:srgbClr val="1D1B0F"/>
                </a:solidFill>
                <a:latin typeface="Calibri"/>
                <a:cs typeface="Calibri"/>
              </a:rPr>
              <a:t>Règles</a:t>
            </a:r>
            <a:r>
              <a:rPr sz="2400" spc="-21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D1B0F"/>
                </a:solidFill>
                <a:latin typeface="Calibri"/>
                <a:cs typeface="Calibri"/>
              </a:rPr>
              <a:t>de</a:t>
            </a:r>
            <a:r>
              <a:rPr sz="2400" spc="-12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base</a:t>
            </a:r>
            <a:r>
              <a:rPr sz="2400" spc="-7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de</a:t>
            </a:r>
            <a:r>
              <a:rPr sz="2400" spc="-9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la</a:t>
            </a:r>
            <a:r>
              <a:rPr sz="2400" spc="-10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spc="-35" dirty="0" err="1">
                <a:solidFill>
                  <a:srgbClr val="1D1B0F"/>
                </a:solidFill>
                <a:latin typeface="Calibri"/>
                <a:cs typeface="Calibri"/>
              </a:rPr>
              <a:t>sécurité</a:t>
            </a:r>
            <a:r>
              <a:rPr sz="2400" spc="-9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spc="-10" dirty="0" err="1">
                <a:solidFill>
                  <a:srgbClr val="1D1B0F"/>
                </a:solidFill>
                <a:latin typeface="Calibri"/>
                <a:cs typeface="Calibri"/>
              </a:rPr>
              <a:t>informatique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233784" y="6268313"/>
            <a:ext cx="118110" cy="245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50" spc="-50" dirty="0">
                <a:solidFill>
                  <a:srgbClr val="858585"/>
                </a:solidFill>
                <a:latin typeface="Calibri"/>
                <a:cs typeface="Calibri"/>
              </a:rPr>
              <a:t>2</a:t>
            </a:r>
            <a:endParaRPr sz="14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29E54E-CCE6-4AB0-463B-D449158C3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381000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Préambule (1/2) 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FA57F62-B13F-2367-AE33-D2533660AC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8800"/>
            <a:ext cx="10515600" cy="2974975"/>
          </a:xfrm>
        </p:spPr>
        <p:txBody>
          <a:bodyPr>
            <a:normAutofit/>
          </a:bodyPr>
          <a:lstStyle/>
          <a:p>
            <a:r>
              <a:rPr lang="fr-FR" sz="2400" b="1" u="sng" dirty="0"/>
              <a:t>Sécurité informatique: </a:t>
            </a:r>
          </a:p>
          <a:p>
            <a:pPr marL="571500" lvl="1" indent="0">
              <a:buNone/>
            </a:pPr>
            <a:r>
              <a:rPr lang="fr-FR" sz="2000" dirty="0"/>
              <a:t>Ensemble des moyens techniques, pratiques et humains destinés à protéger les systèmes informatiques, les réseaux et les données contre les accès non autorisés, les dommages les vols, etc…</a:t>
            </a:r>
          </a:p>
          <a:p>
            <a:r>
              <a:rPr lang="fr-FR" sz="2400" b="1" dirty="0"/>
              <a:t> </a:t>
            </a:r>
            <a:r>
              <a:rPr lang="fr-FR" sz="2400" b="1" u="sng" dirty="0"/>
              <a:t>Système d’information</a:t>
            </a:r>
          </a:p>
          <a:p>
            <a:pPr lvl="1"/>
            <a:r>
              <a:rPr lang="fr-FR" sz="2000" dirty="0"/>
              <a:t>Ensemble structuré de ressources qui permet de collecter, stocker, traiter, diffuser et distribuer l’information dans une organisation. </a:t>
            </a:r>
          </a:p>
          <a:p>
            <a:endParaRPr lang="fr-FR" sz="2400" dirty="0"/>
          </a:p>
          <a:p>
            <a:pPr lvl="1"/>
            <a:endParaRPr lang="fr-FR" sz="2000" dirty="0"/>
          </a:p>
          <a:p>
            <a:pPr lvl="1"/>
            <a:endParaRPr lang="fr-FR" sz="20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9428179-330E-AB84-4146-EFC3F727183D}"/>
              </a:ext>
            </a:extLst>
          </p:cNvPr>
          <p:cNvSpPr txBox="1"/>
          <p:nvPr/>
        </p:nvSpPr>
        <p:spPr>
          <a:xfrm>
            <a:off x="3143491" y="5260975"/>
            <a:ext cx="19619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accent5">
                    <a:lumMod val="50000"/>
                  </a:schemeClr>
                </a:solidFill>
              </a:rPr>
              <a:t>Ressources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8ACE479E-12E6-D4BF-5C15-89429210B92D}"/>
              </a:ext>
            </a:extLst>
          </p:cNvPr>
          <p:cNvSpPr txBox="1"/>
          <p:nvPr/>
        </p:nvSpPr>
        <p:spPr>
          <a:xfrm>
            <a:off x="5105400" y="4803775"/>
            <a:ext cx="29718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2" indent="-285750">
              <a:buFont typeface="Arial" panose="020B0604020202020204" pitchFamily="34" charset="0"/>
              <a:buChar char="•"/>
            </a:pPr>
            <a:r>
              <a:rPr lang="fr-FR" sz="1600" b="1" dirty="0"/>
              <a:t>Matérielles</a:t>
            </a:r>
          </a:p>
          <a:p>
            <a:pPr marL="285750" lvl="2" indent="-285750">
              <a:buFont typeface="Arial" panose="020B0604020202020204" pitchFamily="34" charset="0"/>
              <a:buChar char="•"/>
            </a:pPr>
            <a:r>
              <a:rPr lang="fr-FR" sz="1600" b="1" dirty="0"/>
              <a:t>Logicielles</a:t>
            </a:r>
          </a:p>
          <a:p>
            <a:pPr marL="285750" lvl="2" indent="-285750">
              <a:buFont typeface="Arial" panose="020B0604020202020204" pitchFamily="34" charset="0"/>
              <a:buChar char="•"/>
            </a:pPr>
            <a:r>
              <a:rPr lang="fr-FR" sz="1600" b="1" dirty="0"/>
              <a:t>Humaines</a:t>
            </a:r>
          </a:p>
          <a:p>
            <a:pPr marL="285750" lvl="2" indent="-285750">
              <a:buFont typeface="Arial" panose="020B0604020202020204" pitchFamily="34" charset="0"/>
              <a:buChar char="•"/>
            </a:pPr>
            <a:r>
              <a:rPr lang="fr-FR" sz="1600" b="1" dirty="0"/>
              <a:t>Des données</a:t>
            </a:r>
          </a:p>
          <a:p>
            <a:pPr marL="285750" lvl="2" indent="-285750">
              <a:buFont typeface="Arial" panose="020B0604020202020204" pitchFamily="34" charset="0"/>
              <a:buChar char="•"/>
            </a:pPr>
            <a:r>
              <a:rPr lang="fr-FR" sz="1600" b="1" dirty="0"/>
              <a:t>Des procédures</a:t>
            </a:r>
          </a:p>
          <a:p>
            <a:endParaRPr lang="fr-FR" sz="1600" b="1" dirty="0"/>
          </a:p>
        </p:txBody>
      </p:sp>
      <p:sp>
        <p:nvSpPr>
          <p:cNvPr id="8" name="Accolade ouvrante 7">
            <a:extLst>
              <a:ext uri="{FF2B5EF4-FFF2-40B4-BE49-F238E27FC236}">
                <a16:creationId xmlns:a16="http://schemas.microsoft.com/office/drawing/2014/main" id="{23F1B0C7-2184-A2ED-52E1-910B721B7ED6}"/>
              </a:ext>
            </a:extLst>
          </p:cNvPr>
          <p:cNvSpPr/>
          <p:nvPr/>
        </p:nvSpPr>
        <p:spPr>
          <a:xfrm>
            <a:off x="4876800" y="4792200"/>
            <a:ext cx="228600" cy="1325563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723349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13256" y="1725929"/>
            <a:ext cx="8544560" cy="3549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47015" indent="-234315">
              <a:lnSpc>
                <a:spcPct val="100000"/>
              </a:lnSpc>
              <a:spcBef>
                <a:spcPts val="110"/>
              </a:spcBef>
              <a:buFont typeface="Arial MT"/>
              <a:buChar char="•"/>
              <a:tabLst>
                <a:tab pos="247015" algn="l"/>
              </a:tabLst>
            </a:pPr>
            <a:r>
              <a:rPr sz="2150" dirty="0">
                <a:solidFill>
                  <a:srgbClr val="1D1B0F"/>
                </a:solidFill>
                <a:latin typeface="Calibri"/>
                <a:cs typeface="Calibri"/>
              </a:rPr>
              <a:t>Le</a:t>
            </a:r>
            <a:r>
              <a:rPr sz="2150" spc="-8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spc="-35" dirty="0">
                <a:solidFill>
                  <a:srgbClr val="1D1B0F"/>
                </a:solidFill>
                <a:latin typeface="Calibri"/>
                <a:cs typeface="Calibri"/>
              </a:rPr>
              <a:t>système </a:t>
            </a:r>
            <a:r>
              <a:rPr sz="2150" spc="-20" dirty="0">
                <a:solidFill>
                  <a:srgbClr val="1D1B0F"/>
                </a:solidFill>
                <a:latin typeface="Calibri"/>
                <a:cs typeface="Calibri"/>
              </a:rPr>
              <a:t>d’information</a:t>
            </a:r>
            <a:r>
              <a:rPr sz="2150" dirty="0">
                <a:solidFill>
                  <a:srgbClr val="1D1B0F"/>
                </a:solidFill>
                <a:latin typeface="Calibri"/>
                <a:cs typeface="Calibri"/>
              </a:rPr>
              <a:t> d’une</a:t>
            </a:r>
            <a:r>
              <a:rPr sz="2150" spc="-3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spc="-25" dirty="0">
                <a:solidFill>
                  <a:srgbClr val="1D1B0F"/>
                </a:solidFill>
                <a:latin typeface="Calibri"/>
                <a:cs typeface="Calibri"/>
              </a:rPr>
              <a:t>organisation</a:t>
            </a:r>
            <a:r>
              <a:rPr sz="2150" spc="2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spc="-10" dirty="0">
                <a:solidFill>
                  <a:srgbClr val="1D1B0F"/>
                </a:solidFill>
                <a:latin typeface="Calibri"/>
                <a:cs typeface="Calibri"/>
              </a:rPr>
              <a:t>contient</a:t>
            </a:r>
            <a:r>
              <a:rPr sz="2150" spc="-7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1D1B0F"/>
                </a:solidFill>
                <a:latin typeface="Calibri"/>
                <a:cs typeface="Calibri"/>
              </a:rPr>
              <a:t>un</a:t>
            </a:r>
            <a:r>
              <a:rPr sz="2150" spc="-3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1D1B0F"/>
                </a:solidFill>
                <a:latin typeface="Calibri"/>
                <a:cs typeface="Calibri"/>
              </a:rPr>
              <a:t>ensemble</a:t>
            </a:r>
            <a:r>
              <a:rPr sz="2150" spc="-4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spc="-60" dirty="0">
                <a:solidFill>
                  <a:srgbClr val="1D1B0F"/>
                </a:solidFill>
                <a:latin typeface="Calibri"/>
                <a:cs typeface="Calibri"/>
              </a:rPr>
              <a:t>d’actifs</a:t>
            </a:r>
            <a:r>
              <a:rPr sz="2150" spc="-11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spc="-50" dirty="0">
                <a:solidFill>
                  <a:srgbClr val="1D1B0F"/>
                </a:solidFill>
                <a:latin typeface="Calibri"/>
                <a:cs typeface="Calibri"/>
              </a:rPr>
              <a:t>: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624819" y="6381089"/>
            <a:ext cx="118110" cy="245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50" spc="-50" dirty="0">
                <a:solidFill>
                  <a:srgbClr val="858585"/>
                </a:solidFill>
                <a:latin typeface="Calibri"/>
                <a:cs typeface="Calibri"/>
              </a:rPr>
              <a:t>4</a:t>
            </a:r>
            <a:endParaRPr sz="145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3247" y="2129027"/>
            <a:ext cx="7086600" cy="381914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32916" y="6266688"/>
            <a:ext cx="9156192" cy="44195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232916" y="6266688"/>
            <a:ext cx="9159240" cy="445134"/>
          </a:xfrm>
          <a:prstGeom prst="rect">
            <a:avLst/>
          </a:prstGeom>
          <a:ln w="9144">
            <a:solidFill>
              <a:srgbClr val="EB7A2E"/>
            </a:solidFill>
          </a:ln>
        </p:spPr>
        <p:txBody>
          <a:bodyPr vert="horz" wrap="square" lIns="0" tIns="47625" rIns="0" bIns="0" rtlCol="0">
            <a:spAutoFit/>
          </a:bodyPr>
          <a:lstStyle/>
          <a:p>
            <a:pPr marL="101600">
              <a:lnSpc>
                <a:spcPct val="100000"/>
              </a:lnSpc>
              <a:spcBef>
                <a:spcPts val="375"/>
              </a:spcBef>
            </a:pPr>
            <a:r>
              <a:rPr sz="2150" dirty="0">
                <a:solidFill>
                  <a:srgbClr val="1D1B0F"/>
                </a:solidFill>
                <a:latin typeface="Calibri"/>
                <a:cs typeface="Calibri"/>
              </a:rPr>
              <a:t>La</a:t>
            </a:r>
            <a:r>
              <a:rPr sz="2150" spc="-8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1D1B0F"/>
                </a:solidFill>
                <a:latin typeface="Calibri"/>
                <a:cs typeface="Calibri"/>
              </a:rPr>
              <a:t>sécurité</a:t>
            </a:r>
            <a:r>
              <a:rPr sz="2150" spc="-4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1D1B0F"/>
                </a:solidFill>
                <a:latin typeface="Calibri"/>
                <a:cs typeface="Calibri"/>
              </a:rPr>
              <a:t>du</a:t>
            </a:r>
            <a:r>
              <a:rPr sz="2150" spc="-7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1D1B0F"/>
                </a:solidFill>
                <a:latin typeface="Calibri"/>
                <a:cs typeface="Calibri"/>
              </a:rPr>
              <a:t>S.I.</a:t>
            </a:r>
            <a:r>
              <a:rPr sz="2150" spc="-6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spc="-25" dirty="0">
                <a:solidFill>
                  <a:srgbClr val="1D1B0F"/>
                </a:solidFill>
                <a:latin typeface="Calibri"/>
                <a:cs typeface="Calibri"/>
              </a:rPr>
              <a:t>consiste</a:t>
            </a:r>
            <a:r>
              <a:rPr sz="2150" spc="3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1D1B0F"/>
                </a:solidFill>
                <a:latin typeface="Calibri"/>
                <a:cs typeface="Calibri"/>
              </a:rPr>
              <a:t>donc</a:t>
            </a:r>
            <a:r>
              <a:rPr sz="2150" spc="-9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1D1B0F"/>
                </a:solidFill>
                <a:latin typeface="Calibri"/>
                <a:cs typeface="Calibri"/>
              </a:rPr>
              <a:t>à</a:t>
            </a:r>
            <a:r>
              <a:rPr sz="2150" spc="-6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1D1B0F"/>
                </a:solidFill>
                <a:latin typeface="Calibri"/>
                <a:cs typeface="Calibri"/>
              </a:rPr>
              <a:t>assurer</a:t>
            </a:r>
            <a:r>
              <a:rPr sz="2150" spc="-3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1D1B0F"/>
                </a:solidFill>
                <a:latin typeface="Calibri"/>
                <a:cs typeface="Calibri"/>
              </a:rPr>
              <a:t>la</a:t>
            </a:r>
            <a:r>
              <a:rPr sz="2150" spc="-7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1D1B0F"/>
                </a:solidFill>
                <a:latin typeface="Calibri"/>
                <a:cs typeface="Calibri"/>
              </a:rPr>
              <a:t>sécurité</a:t>
            </a:r>
            <a:r>
              <a:rPr sz="2150" spc="-2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1D1B0F"/>
                </a:solidFill>
                <a:latin typeface="Calibri"/>
                <a:cs typeface="Calibri"/>
              </a:rPr>
              <a:t>de</a:t>
            </a:r>
            <a:r>
              <a:rPr sz="2150" spc="-7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spc="-40" dirty="0">
                <a:solidFill>
                  <a:srgbClr val="1D1B0F"/>
                </a:solidFill>
                <a:latin typeface="Calibri"/>
                <a:cs typeface="Calibri"/>
              </a:rPr>
              <a:t>l’ensemble</a:t>
            </a:r>
            <a:r>
              <a:rPr sz="2150" spc="1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1D1B0F"/>
                </a:solidFill>
                <a:latin typeface="Calibri"/>
                <a:cs typeface="Calibri"/>
              </a:rPr>
              <a:t>de</a:t>
            </a:r>
            <a:r>
              <a:rPr sz="2150" spc="-6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1D1B0F"/>
                </a:solidFill>
                <a:latin typeface="Calibri"/>
                <a:cs typeface="Calibri"/>
              </a:rPr>
              <a:t>ces</a:t>
            </a:r>
            <a:r>
              <a:rPr sz="2150" spc="-8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spc="-10" dirty="0">
                <a:solidFill>
                  <a:srgbClr val="1D1B0F"/>
                </a:solidFill>
                <a:latin typeface="Calibri"/>
                <a:cs typeface="Calibri"/>
              </a:rPr>
              <a:t>biens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232916" y="493958"/>
            <a:ext cx="10515600" cy="913454"/>
          </a:xfrm>
          <a:prstGeom prst="rect">
            <a:avLst/>
          </a:prstGeom>
        </p:spPr>
        <p:txBody>
          <a:bodyPr vert="horz" wrap="square" lIns="0" tIns="282320" rIns="0" bIns="0" rtlCol="0">
            <a:spAutoFit/>
          </a:bodyPr>
          <a:lstStyle/>
          <a:p>
            <a:pPr marL="3481070">
              <a:lnSpc>
                <a:spcPct val="100000"/>
              </a:lnSpc>
              <a:spcBef>
                <a:spcPts val="95"/>
              </a:spcBef>
            </a:pPr>
            <a:r>
              <a:rPr sz="4000" spc="-45" dirty="0"/>
              <a:t>Préambule</a:t>
            </a:r>
            <a:r>
              <a:rPr sz="4000" spc="-210" dirty="0"/>
              <a:t> </a:t>
            </a:r>
            <a:r>
              <a:rPr sz="4000" spc="-20" dirty="0"/>
              <a:t>(2/2)</a:t>
            </a:r>
            <a:endParaRPr sz="4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6730" y="1754250"/>
            <a:ext cx="9563735" cy="3813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 marR="2472690" indent="-305435">
              <a:lnSpc>
                <a:spcPct val="129400"/>
              </a:lnSpc>
              <a:spcBef>
                <a:spcPts val="100"/>
              </a:spcBef>
              <a:buClr>
                <a:srgbClr val="001F5F"/>
              </a:buClr>
              <a:buFont typeface="Arial MT"/>
              <a:buChar char="□"/>
              <a:tabLst>
                <a:tab pos="368935" algn="l"/>
              </a:tabLst>
            </a:pPr>
            <a:r>
              <a:rPr sz="1800" spc="-20" dirty="0">
                <a:solidFill>
                  <a:srgbClr val="1D1B0F"/>
                </a:solidFill>
                <a:latin typeface="Calibri"/>
                <a:cs typeface="Calibri"/>
              </a:rPr>
              <a:t>Réduire</a:t>
            </a:r>
            <a:r>
              <a:rPr sz="1800" spc="-8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D1B0F"/>
                </a:solidFill>
                <a:latin typeface="Calibri"/>
                <a:cs typeface="Calibri"/>
              </a:rPr>
              <a:t>les</a:t>
            </a:r>
            <a:r>
              <a:rPr sz="1800" spc="-5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D1B0F"/>
                </a:solidFill>
                <a:latin typeface="Calibri"/>
                <a:cs typeface="Calibri"/>
              </a:rPr>
              <a:t>risques</a:t>
            </a:r>
            <a:r>
              <a:rPr sz="1800" spc="-3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1D1B0F"/>
                </a:solidFill>
                <a:latin typeface="Calibri"/>
                <a:cs typeface="Calibri"/>
              </a:rPr>
              <a:t>pesant</a:t>
            </a:r>
            <a:r>
              <a:rPr sz="1800" spc="-9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D1B0F"/>
                </a:solidFill>
                <a:latin typeface="Calibri"/>
                <a:cs typeface="Calibri"/>
              </a:rPr>
              <a:t>sur</a:t>
            </a:r>
            <a:r>
              <a:rPr sz="1800" spc="-3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D1B0F"/>
                </a:solidFill>
                <a:latin typeface="Calibri"/>
                <a:cs typeface="Calibri"/>
              </a:rPr>
              <a:t>le</a:t>
            </a:r>
            <a:r>
              <a:rPr sz="1800" spc="-4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1D1B0F"/>
                </a:solidFill>
                <a:latin typeface="Calibri"/>
                <a:cs typeface="Calibri"/>
              </a:rPr>
              <a:t>système</a:t>
            </a:r>
            <a:r>
              <a:rPr sz="1800" spc="1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spc="-35" dirty="0">
                <a:solidFill>
                  <a:srgbClr val="1D1B0F"/>
                </a:solidFill>
                <a:latin typeface="Calibri"/>
                <a:cs typeface="Calibri"/>
              </a:rPr>
              <a:t>d’information,</a:t>
            </a:r>
            <a:r>
              <a:rPr sz="1800" spc="-10" dirty="0">
                <a:solidFill>
                  <a:srgbClr val="1D1B0F"/>
                </a:solidFill>
                <a:latin typeface="Calibri"/>
                <a:cs typeface="Calibri"/>
              </a:rPr>
              <a:t> pour</a:t>
            </a:r>
            <a:r>
              <a:rPr sz="1800" spc="-10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D1B0F"/>
                </a:solidFill>
                <a:latin typeface="Calibri"/>
                <a:cs typeface="Calibri"/>
              </a:rPr>
              <a:t>limiter</a:t>
            </a:r>
            <a:r>
              <a:rPr sz="1800" spc="-10" dirty="0">
                <a:solidFill>
                  <a:srgbClr val="1D1B0F"/>
                </a:solidFill>
                <a:latin typeface="Calibri"/>
                <a:cs typeface="Calibri"/>
              </a:rPr>
              <a:t> leurs 	impacts</a:t>
            </a:r>
            <a:r>
              <a:rPr sz="1800" spc="-8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D1B0F"/>
                </a:solidFill>
                <a:latin typeface="Calibri"/>
                <a:cs typeface="Calibri"/>
              </a:rPr>
              <a:t>sur</a:t>
            </a:r>
            <a:r>
              <a:rPr sz="1800" spc="-7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D1B0F"/>
                </a:solidFill>
                <a:latin typeface="Calibri"/>
                <a:cs typeface="Calibri"/>
              </a:rPr>
              <a:t>le</a:t>
            </a:r>
            <a:r>
              <a:rPr sz="1800" spc="-6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spc="-35" dirty="0">
                <a:solidFill>
                  <a:srgbClr val="1D1B0F"/>
                </a:solidFill>
                <a:latin typeface="Calibri"/>
                <a:cs typeface="Calibri"/>
              </a:rPr>
              <a:t>fonctionnement </a:t>
            </a:r>
            <a:r>
              <a:rPr sz="1800" dirty="0">
                <a:solidFill>
                  <a:srgbClr val="1D1B0F"/>
                </a:solidFill>
                <a:latin typeface="Calibri"/>
                <a:cs typeface="Calibri"/>
              </a:rPr>
              <a:t>et</a:t>
            </a:r>
            <a:r>
              <a:rPr sz="1800" spc="-7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D1B0F"/>
                </a:solidFill>
                <a:latin typeface="Calibri"/>
                <a:cs typeface="Calibri"/>
              </a:rPr>
              <a:t>les</a:t>
            </a:r>
            <a:r>
              <a:rPr sz="1800" spc="-3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D1B0F"/>
                </a:solidFill>
                <a:latin typeface="Calibri"/>
                <a:cs typeface="Calibri"/>
              </a:rPr>
              <a:t>activités</a:t>
            </a:r>
            <a:r>
              <a:rPr sz="1800" spc="-1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1D1B0F"/>
                </a:solidFill>
                <a:latin typeface="Calibri"/>
                <a:cs typeface="Calibri"/>
              </a:rPr>
              <a:t>métiers</a:t>
            </a:r>
            <a:r>
              <a:rPr sz="1800" spc="-5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D1B0F"/>
                </a:solidFill>
                <a:latin typeface="Calibri"/>
                <a:cs typeface="Calibri"/>
              </a:rPr>
              <a:t>des</a:t>
            </a:r>
            <a:r>
              <a:rPr sz="1800" spc="-4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1D1B0F"/>
                </a:solidFill>
                <a:latin typeface="Calibri"/>
                <a:cs typeface="Calibri"/>
              </a:rPr>
              <a:t>organisations…</a:t>
            </a:r>
            <a:endParaRPr sz="1800" dirty="0">
              <a:latin typeface="Calibri"/>
              <a:cs typeface="Calibri"/>
            </a:endParaRPr>
          </a:p>
          <a:p>
            <a:pPr marL="316865" indent="-304165">
              <a:lnSpc>
                <a:spcPct val="100000"/>
              </a:lnSpc>
              <a:spcBef>
                <a:spcPts val="1525"/>
              </a:spcBef>
              <a:buClr>
                <a:srgbClr val="001F5F"/>
              </a:buClr>
              <a:buFont typeface="Arial MT"/>
              <a:buChar char="□"/>
              <a:tabLst>
                <a:tab pos="316865" algn="l"/>
              </a:tabLst>
            </a:pPr>
            <a:r>
              <a:rPr sz="1800" dirty="0">
                <a:solidFill>
                  <a:srgbClr val="1D1B0F"/>
                </a:solidFill>
                <a:latin typeface="Calibri"/>
                <a:cs typeface="Calibri"/>
              </a:rPr>
              <a:t>Les</a:t>
            </a:r>
            <a:r>
              <a:rPr sz="1800" spc="-4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1D1B0F"/>
                </a:solidFill>
                <a:latin typeface="Calibri"/>
                <a:cs typeface="Calibri"/>
              </a:rPr>
              <a:t>principaux</a:t>
            </a:r>
            <a:r>
              <a:rPr sz="1800" spc="-10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1D1B0F"/>
                </a:solidFill>
                <a:latin typeface="Calibri"/>
                <a:cs typeface="Calibri"/>
              </a:rPr>
              <a:t>objectifs</a:t>
            </a:r>
            <a:r>
              <a:rPr sz="1800" spc="-10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D1B0F"/>
                </a:solidFill>
                <a:latin typeface="Calibri"/>
                <a:cs typeface="Calibri"/>
              </a:rPr>
              <a:t>de</a:t>
            </a:r>
            <a:r>
              <a:rPr sz="1800" spc="-8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D1B0F"/>
                </a:solidFill>
                <a:latin typeface="Calibri"/>
                <a:cs typeface="Calibri"/>
              </a:rPr>
              <a:t>la</a:t>
            </a:r>
            <a:r>
              <a:rPr sz="1800" spc="-20" dirty="0">
                <a:solidFill>
                  <a:srgbClr val="1D1B0F"/>
                </a:solidFill>
                <a:latin typeface="Calibri"/>
                <a:cs typeface="Calibri"/>
              </a:rPr>
              <a:t> sécurité</a:t>
            </a:r>
            <a:r>
              <a:rPr sz="1800" spc="-2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1D1B0F"/>
                </a:solidFill>
                <a:latin typeface="Calibri"/>
                <a:cs typeface="Calibri"/>
              </a:rPr>
              <a:t>informatique:</a:t>
            </a:r>
            <a:endParaRPr sz="1800" dirty="0">
              <a:latin typeface="Calibri"/>
              <a:cs typeface="Calibri"/>
            </a:endParaRPr>
          </a:p>
          <a:p>
            <a:pPr marL="865505" lvl="1" indent="-236220">
              <a:lnSpc>
                <a:spcPct val="100000"/>
              </a:lnSpc>
              <a:spcBef>
                <a:spcPts val="1010"/>
              </a:spcBef>
              <a:buClr>
                <a:srgbClr val="6D2D9F"/>
              </a:buClr>
              <a:buFont typeface="Arial MT"/>
              <a:buChar char="•"/>
              <a:tabLst>
                <a:tab pos="865505" algn="l"/>
              </a:tabLst>
            </a:pPr>
            <a:r>
              <a:rPr sz="1800" spc="-10" dirty="0">
                <a:solidFill>
                  <a:srgbClr val="1D1B0F"/>
                </a:solidFill>
                <a:latin typeface="Calibri"/>
                <a:cs typeface="Calibri"/>
              </a:rPr>
              <a:t>empêcher</a:t>
            </a:r>
            <a:r>
              <a:rPr sz="1800" spc="-7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D1B0F"/>
                </a:solidFill>
                <a:latin typeface="Calibri"/>
                <a:cs typeface="Calibri"/>
              </a:rPr>
              <a:t>la</a:t>
            </a:r>
            <a:r>
              <a:rPr sz="1800" spc="-3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0000"/>
                </a:solidFill>
                <a:latin typeface="Calibri"/>
                <a:cs typeface="Calibri"/>
              </a:rPr>
              <a:t>divulgation</a:t>
            </a:r>
            <a:r>
              <a:rPr sz="1800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40" dirty="0">
                <a:solidFill>
                  <a:srgbClr val="FF0000"/>
                </a:solidFill>
                <a:latin typeface="Calibri"/>
                <a:cs typeface="Calibri"/>
              </a:rPr>
              <a:t>non-</a:t>
            </a:r>
            <a:r>
              <a:rPr sz="1800" spc="-20" dirty="0">
                <a:solidFill>
                  <a:srgbClr val="FF0000"/>
                </a:solidFill>
                <a:latin typeface="Calibri"/>
                <a:cs typeface="Calibri"/>
              </a:rPr>
              <a:t>autorisée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D1B0F"/>
                </a:solidFill>
                <a:latin typeface="Calibri"/>
                <a:cs typeface="Calibri"/>
              </a:rPr>
              <a:t>de</a:t>
            </a:r>
            <a:r>
              <a:rPr sz="1800" spc="-2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1D1B0F"/>
                </a:solidFill>
                <a:latin typeface="Calibri"/>
                <a:cs typeface="Calibri"/>
              </a:rPr>
              <a:t>données</a:t>
            </a:r>
            <a:endParaRPr sz="1800" dirty="0">
              <a:latin typeface="Calibri"/>
              <a:cs typeface="Calibri"/>
            </a:endParaRPr>
          </a:p>
          <a:p>
            <a:pPr marL="865505" lvl="1" indent="-236220">
              <a:lnSpc>
                <a:spcPct val="100000"/>
              </a:lnSpc>
              <a:spcBef>
                <a:spcPts val="395"/>
              </a:spcBef>
              <a:buClr>
                <a:srgbClr val="6D2D9F"/>
              </a:buClr>
              <a:buFont typeface="Arial MT"/>
              <a:buChar char="•"/>
              <a:tabLst>
                <a:tab pos="865505" algn="l"/>
              </a:tabLst>
            </a:pPr>
            <a:r>
              <a:rPr sz="1800" spc="-10" dirty="0">
                <a:solidFill>
                  <a:srgbClr val="1D1B0F"/>
                </a:solidFill>
                <a:latin typeface="Calibri"/>
                <a:cs typeface="Calibri"/>
              </a:rPr>
              <a:t>empêcher</a:t>
            </a:r>
            <a:r>
              <a:rPr sz="1800" spc="-7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D1B0F"/>
                </a:solidFill>
                <a:latin typeface="Calibri"/>
                <a:cs typeface="Calibri"/>
              </a:rPr>
              <a:t>la</a:t>
            </a:r>
            <a:r>
              <a:rPr sz="1800" spc="-3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spc="-30" dirty="0">
                <a:solidFill>
                  <a:srgbClr val="FF0000"/>
                </a:solidFill>
                <a:latin typeface="Calibri"/>
                <a:cs typeface="Calibri"/>
              </a:rPr>
              <a:t>modification</a:t>
            </a:r>
            <a:r>
              <a:rPr sz="18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40" dirty="0">
                <a:solidFill>
                  <a:srgbClr val="FF0000"/>
                </a:solidFill>
                <a:latin typeface="Calibri"/>
                <a:cs typeface="Calibri"/>
              </a:rPr>
              <a:t>non-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autorisée</a:t>
            </a:r>
            <a:r>
              <a:rPr sz="1800" spc="9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D1B0F"/>
                </a:solidFill>
                <a:latin typeface="Calibri"/>
                <a:cs typeface="Calibri"/>
              </a:rPr>
              <a:t>de</a:t>
            </a:r>
            <a:r>
              <a:rPr sz="1800" spc="-5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1D1B0F"/>
                </a:solidFill>
                <a:latin typeface="Calibri"/>
                <a:cs typeface="Calibri"/>
              </a:rPr>
              <a:t>données</a:t>
            </a:r>
            <a:endParaRPr sz="1800" dirty="0">
              <a:latin typeface="Calibri"/>
              <a:cs typeface="Calibri"/>
            </a:endParaRPr>
          </a:p>
          <a:p>
            <a:pPr marL="865505" lvl="1" indent="-234315">
              <a:lnSpc>
                <a:spcPct val="100000"/>
              </a:lnSpc>
              <a:spcBef>
                <a:spcPts val="910"/>
              </a:spcBef>
              <a:buClr>
                <a:srgbClr val="6D2D9F"/>
              </a:buClr>
              <a:buFont typeface="Arial MT"/>
              <a:buChar char="•"/>
              <a:tabLst>
                <a:tab pos="865505" algn="l"/>
              </a:tabLst>
            </a:pPr>
            <a:r>
              <a:rPr sz="1800" dirty="0">
                <a:solidFill>
                  <a:srgbClr val="1D1B0F"/>
                </a:solidFill>
                <a:latin typeface="Calibri"/>
                <a:cs typeface="Calibri"/>
              </a:rPr>
              <a:t>empêcher</a:t>
            </a:r>
            <a:r>
              <a:rPr sz="1800" spc="-9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l'utilisation</a:t>
            </a:r>
            <a:r>
              <a:rPr sz="1800" spc="-40" dirty="0">
                <a:solidFill>
                  <a:srgbClr val="FF0000"/>
                </a:solidFill>
                <a:latin typeface="Calibri"/>
                <a:cs typeface="Calibri"/>
              </a:rPr>
              <a:t> non-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autorisée</a:t>
            </a:r>
            <a:r>
              <a:rPr sz="1800" spc="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D1B0F"/>
                </a:solidFill>
                <a:latin typeface="Calibri"/>
                <a:cs typeface="Calibri"/>
              </a:rPr>
              <a:t>des</a:t>
            </a:r>
            <a:r>
              <a:rPr sz="1800" spc="-6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1D1B0F"/>
                </a:solidFill>
                <a:latin typeface="Calibri"/>
                <a:cs typeface="Calibri"/>
              </a:rPr>
              <a:t>ressources </a:t>
            </a:r>
            <a:r>
              <a:rPr sz="1800" dirty="0">
                <a:solidFill>
                  <a:srgbClr val="1D1B0F"/>
                </a:solidFill>
                <a:latin typeface="Calibri"/>
                <a:cs typeface="Calibri"/>
              </a:rPr>
              <a:t>réseau</a:t>
            </a:r>
            <a:r>
              <a:rPr sz="1800" spc="-4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D1B0F"/>
                </a:solidFill>
                <a:latin typeface="Calibri"/>
                <a:cs typeface="Calibri"/>
              </a:rPr>
              <a:t>ou</a:t>
            </a:r>
            <a:r>
              <a:rPr sz="1800" spc="-2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spc="-30" dirty="0">
                <a:solidFill>
                  <a:srgbClr val="1D1B0F"/>
                </a:solidFill>
                <a:latin typeface="Calibri"/>
                <a:cs typeface="Calibri"/>
              </a:rPr>
              <a:t>informatiques</a:t>
            </a:r>
            <a:r>
              <a:rPr sz="1800" spc="-1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D1B0F"/>
                </a:solidFill>
                <a:latin typeface="Calibri"/>
                <a:cs typeface="Calibri"/>
              </a:rPr>
              <a:t>de</a:t>
            </a:r>
            <a:r>
              <a:rPr sz="1800" spc="-8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1D1B0F"/>
                </a:solidFill>
                <a:latin typeface="Calibri"/>
                <a:cs typeface="Calibri"/>
              </a:rPr>
              <a:t>façon</a:t>
            </a:r>
            <a:r>
              <a:rPr sz="1800" spc="-8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1D1B0F"/>
                </a:solidFill>
                <a:latin typeface="Calibri"/>
                <a:cs typeface="Calibri"/>
              </a:rPr>
              <a:t>générale</a:t>
            </a:r>
            <a:endParaRPr sz="1800" dirty="0">
              <a:latin typeface="Calibri"/>
              <a:cs typeface="Calibri"/>
            </a:endParaRPr>
          </a:p>
          <a:p>
            <a:pPr marL="316865" indent="-304165">
              <a:lnSpc>
                <a:spcPct val="100000"/>
              </a:lnSpc>
              <a:spcBef>
                <a:spcPts val="1550"/>
              </a:spcBef>
              <a:buFont typeface="Arial MT"/>
              <a:buChar char="□"/>
              <a:tabLst>
                <a:tab pos="316865" algn="l"/>
              </a:tabLst>
            </a:pPr>
            <a:r>
              <a:rPr sz="1800" dirty="0">
                <a:solidFill>
                  <a:srgbClr val="1D1B0F"/>
                </a:solidFill>
                <a:latin typeface="Calibri"/>
                <a:cs typeface="Calibri"/>
              </a:rPr>
              <a:t>La</a:t>
            </a:r>
            <a:r>
              <a:rPr sz="1800" spc="-10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1D1B0F"/>
                </a:solidFill>
                <a:latin typeface="Calibri"/>
                <a:cs typeface="Calibri"/>
              </a:rPr>
              <a:t>gestion</a:t>
            </a:r>
            <a:r>
              <a:rPr sz="1800" spc="-11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D1B0F"/>
                </a:solidFill>
                <a:latin typeface="Calibri"/>
                <a:cs typeface="Calibri"/>
              </a:rPr>
              <a:t>de</a:t>
            </a:r>
            <a:r>
              <a:rPr sz="1800" spc="-10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D1B0F"/>
                </a:solidFill>
                <a:latin typeface="Calibri"/>
                <a:cs typeface="Calibri"/>
              </a:rPr>
              <a:t>la</a:t>
            </a:r>
            <a:r>
              <a:rPr sz="1800" spc="-9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D1B0F"/>
                </a:solidFill>
                <a:latin typeface="Calibri"/>
                <a:cs typeface="Calibri"/>
              </a:rPr>
              <a:t>sécurité</a:t>
            </a:r>
            <a:r>
              <a:rPr sz="1800" spc="-1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D1B0F"/>
                </a:solidFill>
                <a:latin typeface="Calibri"/>
                <a:cs typeface="Calibri"/>
              </a:rPr>
              <a:t>au</a:t>
            </a:r>
            <a:r>
              <a:rPr sz="1800" spc="-6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D1B0F"/>
                </a:solidFill>
                <a:latin typeface="Calibri"/>
                <a:cs typeface="Calibri"/>
              </a:rPr>
              <a:t>sein</a:t>
            </a:r>
            <a:r>
              <a:rPr sz="1800" spc="-5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1D1B0F"/>
                </a:solidFill>
                <a:latin typeface="Calibri"/>
                <a:cs typeface="Calibri"/>
              </a:rPr>
              <a:t>d’un</a:t>
            </a:r>
            <a:r>
              <a:rPr sz="1800" spc="-12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spc="-30" dirty="0">
                <a:solidFill>
                  <a:srgbClr val="1D1B0F"/>
                </a:solidFill>
                <a:latin typeface="Calibri"/>
                <a:cs typeface="Calibri"/>
              </a:rPr>
              <a:t>système</a:t>
            </a:r>
            <a:r>
              <a:rPr sz="1800" spc="1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spc="-30" dirty="0">
                <a:solidFill>
                  <a:srgbClr val="1D1B0F"/>
                </a:solidFill>
                <a:latin typeface="Calibri"/>
                <a:cs typeface="Calibri"/>
              </a:rPr>
              <a:t>d’information</a:t>
            </a:r>
            <a:r>
              <a:rPr sz="1800" spc="-2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spc="-90" dirty="0">
                <a:solidFill>
                  <a:srgbClr val="1D1B0F"/>
                </a:solidFill>
                <a:latin typeface="Calibri"/>
                <a:cs typeface="Calibri"/>
              </a:rPr>
              <a:t>n’a</a:t>
            </a:r>
            <a:r>
              <a:rPr sz="1800" spc="-12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D1B0F"/>
                </a:solidFill>
                <a:latin typeface="Calibri"/>
                <a:cs typeface="Calibri"/>
              </a:rPr>
              <a:t>pas</a:t>
            </a:r>
            <a:r>
              <a:rPr sz="1800" spc="-9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D1B0F"/>
                </a:solidFill>
                <a:latin typeface="Calibri"/>
                <a:cs typeface="Calibri"/>
              </a:rPr>
              <a:t>pour</a:t>
            </a:r>
            <a:r>
              <a:rPr sz="1800" spc="35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1D1B0F"/>
                </a:solidFill>
                <a:latin typeface="Calibri"/>
                <a:cs typeface="Calibri"/>
              </a:rPr>
              <a:t>objectif</a:t>
            </a:r>
            <a:r>
              <a:rPr sz="1800" spc="-6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D1B0F"/>
                </a:solidFill>
                <a:latin typeface="Calibri"/>
                <a:cs typeface="Calibri"/>
              </a:rPr>
              <a:t>de</a:t>
            </a:r>
            <a:r>
              <a:rPr sz="1800" spc="-6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1D1B0F"/>
                </a:solidFill>
                <a:latin typeface="Calibri"/>
                <a:cs typeface="Calibri"/>
              </a:rPr>
              <a:t>faire</a:t>
            </a:r>
            <a:r>
              <a:rPr sz="1800" spc="-6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1D1B0F"/>
                </a:solidFill>
                <a:latin typeface="Calibri"/>
                <a:cs typeface="Calibri"/>
              </a:rPr>
              <a:t>de</a:t>
            </a:r>
            <a:endParaRPr sz="1800" dirty="0">
              <a:latin typeface="Calibri"/>
              <a:cs typeface="Calibri"/>
            </a:endParaRPr>
          </a:p>
          <a:p>
            <a:pPr marL="317500">
              <a:lnSpc>
                <a:spcPct val="100000"/>
              </a:lnSpc>
              <a:spcBef>
                <a:spcPts val="640"/>
              </a:spcBef>
            </a:pPr>
            <a:r>
              <a:rPr sz="1800" spc="-50" dirty="0">
                <a:solidFill>
                  <a:srgbClr val="1D1B0F"/>
                </a:solidFill>
                <a:latin typeface="Calibri"/>
                <a:cs typeface="Calibri"/>
              </a:rPr>
              <a:t>l’obstruction.</a:t>
            </a:r>
            <a:r>
              <a:rPr sz="1800" spc="-13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D1B0F"/>
                </a:solidFill>
                <a:latin typeface="Calibri"/>
                <a:cs typeface="Calibri"/>
              </a:rPr>
              <a:t>Au</a:t>
            </a:r>
            <a:r>
              <a:rPr sz="1800" spc="1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spc="-40" dirty="0">
                <a:solidFill>
                  <a:srgbClr val="1D1B0F"/>
                </a:solidFill>
                <a:latin typeface="Calibri"/>
                <a:cs typeface="Calibri"/>
              </a:rPr>
              <a:t>contraire</a:t>
            </a:r>
            <a:r>
              <a:rPr sz="1800" spc="2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1D1B0F"/>
                </a:solidFill>
                <a:latin typeface="Calibri"/>
                <a:cs typeface="Calibri"/>
              </a:rPr>
              <a:t>:</a:t>
            </a:r>
            <a:endParaRPr sz="1800" dirty="0">
              <a:latin typeface="Calibri"/>
              <a:cs typeface="Calibri"/>
            </a:endParaRPr>
          </a:p>
          <a:p>
            <a:pPr marL="865505" lvl="1" indent="-236220">
              <a:lnSpc>
                <a:spcPct val="100000"/>
              </a:lnSpc>
              <a:spcBef>
                <a:spcPts val="525"/>
              </a:spcBef>
              <a:buClr>
                <a:srgbClr val="6D2D9F"/>
              </a:buClr>
              <a:buFont typeface="Arial MT"/>
              <a:buChar char="•"/>
              <a:tabLst>
                <a:tab pos="865505" algn="l"/>
              </a:tabLst>
            </a:pPr>
            <a:r>
              <a:rPr sz="1800" dirty="0">
                <a:solidFill>
                  <a:srgbClr val="1D1B0F"/>
                </a:solidFill>
                <a:latin typeface="Calibri"/>
                <a:cs typeface="Calibri"/>
              </a:rPr>
              <a:t>Elle</a:t>
            </a:r>
            <a:r>
              <a:rPr sz="1800" spc="-6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b="1" spc="-30" dirty="0">
                <a:solidFill>
                  <a:srgbClr val="1D1B0F"/>
                </a:solidFill>
                <a:latin typeface="Calibri"/>
                <a:cs typeface="Calibri"/>
              </a:rPr>
              <a:t>contribue</a:t>
            </a:r>
            <a:r>
              <a:rPr sz="1800" b="1" spc="-4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D1B0F"/>
                </a:solidFill>
                <a:latin typeface="Calibri"/>
                <a:cs typeface="Calibri"/>
              </a:rPr>
              <a:t>à</a:t>
            </a:r>
            <a:r>
              <a:rPr sz="1800" spc="-1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D1B0F"/>
                </a:solidFill>
                <a:latin typeface="Calibri"/>
                <a:cs typeface="Calibri"/>
              </a:rPr>
              <a:t>la</a:t>
            </a:r>
            <a:r>
              <a:rPr sz="1800" spc="-5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1D1B0F"/>
                </a:solidFill>
                <a:latin typeface="Calibri"/>
                <a:cs typeface="Calibri"/>
              </a:rPr>
              <a:t>qualité</a:t>
            </a:r>
            <a:r>
              <a:rPr sz="1800" b="1" spc="-6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1D1B0F"/>
                </a:solidFill>
                <a:latin typeface="Calibri"/>
                <a:cs typeface="Calibri"/>
              </a:rPr>
              <a:t>de</a:t>
            </a:r>
            <a:r>
              <a:rPr sz="1800" b="1" spc="-10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1D1B0F"/>
                </a:solidFill>
                <a:latin typeface="Calibri"/>
                <a:cs typeface="Calibri"/>
              </a:rPr>
              <a:t>service</a:t>
            </a:r>
            <a:r>
              <a:rPr sz="1800" b="1" spc="-8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D1B0F"/>
                </a:solidFill>
                <a:latin typeface="Calibri"/>
                <a:cs typeface="Calibri"/>
              </a:rPr>
              <a:t>que</a:t>
            </a:r>
            <a:r>
              <a:rPr sz="1800" spc="-1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D1B0F"/>
                </a:solidFill>
                <a:latin typeface="Calibri"/>
                <a:cs typeface="Calibri"/>
              </a:rPr>
              <a:t>les</a:t>
            </a:r>
            <a:r>
              <a:rPr sz="1800" spc="-8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spc="-30" dirty="0">
                <a:solidFill>
                  <a:srgbClr val="1D1B0F"/>
                </a:solidFill>
                <a:latin typeface="Calibri"/>
                <a:cs typeface="Calibri"/>
              </a:rPr>
              <a:t>utilisateurs</a:t>
            </a:r>
            <a:r>
              <a:rPr sz="1800" spc="-2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D1B0F"/>
                </a:solidFill>
                <a:latin typeface="Calibri"/>
                <a:cs typeface="Calibri"/>
              </a:rPr>
              <a:t>sont</a:t>
            </a:r>
            <a:r>
              <a:rPr sz="1800" spc="-4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D1B0F"/>
                </a:solidFill>
                <a:latin typeface="Calibri"/>
                <a:cs typeface="Calibri"/>
              </a:rPr>
              <a:t>en</a:t>
            </a:r>
            <a:r>
              <a:rPr sz="1800" spc="-5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1D1B0F"/>
                </a:solidFill>
                <a:latin typeface="Calibri"/>
                <a:cs typeface="Calibri"/>
              </a:rPr>
              <a:t>droit</a:t>
            </a:r>
            <a:r>
              <a:rPr sz="1800" spc="-4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1D1B0F"/>
                </a:solidFill>
                <a:latin typeface="Calibri"/>
                <a:cs typeface="Calibri"/>
              </a:rPr>
              <a:t>d’attendre</a:t>
            </a:r>
            <a:endParaRPr sz="1800" dirty="0">
              <a:latin typeface="Calibri"/>
              <a:cs typeface="Calibri"/>
            </a:endParaRPr>
          </a:p>
          <a:p>
            <a:pPr marL="865505" lvl="1" indent="-236220">
              <a:lnSpc>
                <a:spcPct val="100000"/>
              </a:lnSpc>
              <a:spcBef>
                <a:spcPts val="395"/>
              </a:spcBef>
              <a:buClr>
                <a:srgbClr val="6D2D9F"/>
              </a:buClr>
              <a:buFont typeface="Arial MT"/>
              <a:buChar char="•"/>
              <a:tabLst>
                <a:tab pos="865505" algn="l"/>
              </a:tabLst>
            </a:pPr>
            <a:r>
              <a:rPr sz="1800" spc="-10" dirty="0">
                <a:solidFill>
                  <a:srgbClr val="1D1B0F"/>
                </a:solidFill>
                <a:latin typeface="Calibri"/>
                <a:cs typeface="Calibri"/>
              </a:rPr>
              <a:t>Elle</a:t>
            </a:r>
            <a:r>
              <a:rPr sz="1800" spc="-9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b="1" spc="-35" dirty="0">
                <a:solidFill>
                  <a:srgbClr val="1D1B0F"/>
                </a:solidFill>
                <a:latin typeface="Calibri"/>
                <a:cs typeface="Calibri"/>
              </a:rPr>
              <a:t>garantit</a:t>
            </a:r>
            <a:r>
              <a:rPr sz="1800" b="1" spc="-1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D1B0F"/>
                </a:solidFill>
                <a:latin typeface="Calibri"/>
                <a:cs typeface="Calibri"/>
              </a:rPr>
              <a:t>au</a:t>
            </a:r>
            <a:r>
              <a:rPr sz="1800" spc="-4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1D1B0F"/>
                </a:solidFill>
                <a:latin typeface="Calibri"/>
                <a:cs typeface="Calibri"/>
              </a:rPr>
              <a:t>personnel</a:t>
            </a:r>
            <a:r>
              <a:rPr sz="1800" spc="-3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D1B0F"/>
                </a:solidFill>
                <a:latin typeface="Calibri"/>
                <a:cs typeface="Calibri"/>
              </a:rPr>
              <a:t>le</a:t>
            </a:r>
            <a:r>
              <a:rPr sz="1800" spc="-6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1D1B0F"/>
                </a:solidFill>
                <a:latin typeface="Calibri"/>
                <a:cs typeface="Calibri"/>
              </a:rPr>
              <a:t>niveau</a:t>
            </a:r>
            <a:r>
              <a:rPr sz="1800" b="1" spc="-9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1D1B0F"/>
                </a:solidFill>
                <a:latin typeface="Calibri"/>
                <a:cs typeface="Calibri"/>
              </a:rPr>
              <a:t>de</a:t>
            </a:r>
            <a:r>
              <a:rPr sz="1800" b="1" spc="-10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b="1" spc="-30" dirty="0">
                <a:solidFill>
                  <a:srgbClr val="1D1B0F"/>
                </a:solidFill>
                <a:latin typeface="Calibri"/>
                <a:cs typeface="Calibri"/>
              </a:rPr>
              <a:t>protection</a:t>
            </a:r>
            <a:r>
              <a:rPr sz="1800" b="1" spc="-1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D1B0F"/>
                </a:solidFill>
                <a:latin typeface="Calibri"/>
                <a:cs typeface="Calibri"/>
              </a:rPr>
              <a:t>qu’ils</a:t>
            </a:r>
            <a:r>
              <a:rPr sz="1800" spc="-4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1D1B0F"/>
                </a:solidFill>
                <a:latin typeface="Calibri"/>
                <a:cs typeface="Calibri"/>
              </a:rPr>
              <a:t>sont</a:t>
            </a:r>
            <a:r>
              <a:rPr sz="1800" spc="-8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D1B0F"/>
                </a:solidFill>
                <a:latin typeface="Calibri"/>
                <a:cs typeface="Calibri"/>
              </a:rPr>
              <a:t>en</a:t>
            </a:r>
            <a:r>
              <a:rPr sz="1800" spc="-6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1D1B0F"/>
                </a:solidFill>
                <a:latin typeface="Calibri"/>
                <a:cs typeface="Calibri"/>
              </a:rPr>
              <a:t>droit</a:t>
            </a:r>
            <a:r>
              <a:rPr sz="1800" spc="-8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1D1B0F"/>
                </a:solidFill>
                <a:latin typeface="Calibri"/>
                <a:cs typeface="Calibri"/>
              </a:rPr>
              <a:t>d’attendre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233784" y="6297269"/>
            <a:ext cx="118110" cy="245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50" spc="-50" dirty="0">
                <a:solidFill>
                  <a:srgbClr val="858585"/>
                </a:solidFill>
                <a:latin typeface="Calibri"/>
                <a:cs typeface="Calibri"/>
              </a:rPr>
              <a:t>6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38200" y="586247"/>
            <a:ext cx="10515600" cy="883318"/>
          </a:xfrm>
          <a:prstGeom prst="rect">
            <a:avLst/>
          </a:prstGeom>
        </p:spPr>
        <p:txBody>
          <a:bodyPr vert="horz" wrap="square" lIns="0" tIns="313435" rIns="0" bIns="0" rtlCol="0">
            <a:spAutoFit/>
          </a:bodyPr>
          <a:lstStyle/>
          <a:p>
            <a:pPr marL="1969135">
              <a:lnSpc>
                <a:spcPct val="100000"/>
              </a:lnSpc>
              <a:spcBef>
                <a:spcPts val="100"/>
              </a:spcBef>
            </a:pPr>
            <a:r>
              <a:rPr lang="fr-FR" sz="3600" spc="-10" dirty="0"/>
              <a:t>Les enjeux</a:t>
            </a:r>
            <a:r>
              <a:rPr sz="3600" spc="-150" dirty="0"/>
              <a:t> </a:t>
            </a:r>
            <a:r>
              <a:rPr sz="3600" dirty="0"/>
              <a:t>de</a:t>
            </a:r>
            <a:r>
              <a:rPr sz="3600" spc="-145" dirty="0"/>
              <a:t> </a:t>
            </a:r>
            <a:r>
              <a:rPr sz="3600" dirty="0"/>
              <a:t>la</a:t>
            </a:r>
            <a:r>
              <a:rPr sz="3600" spc="-120" dirty="0"/>
              <a:t> </a:t>
            </a:r>
            <a:r>
              <a:rPr sz="3600" spc="-10" dirty="0"/>
              <a:t>sécurité</a:t>
            </a:r>
            <a:r>
              <a:rPr sz="3600" spc="-185" dirty="0"/>
              <a:t> </a:t>
            </a:r>
            <a:r>
              <a:rPr sz="3600" spc="-10" dirty="0"/>
              <a:t>informatique</a:t>
            </a:r>
            <a:endParaRPr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95400" y="643728"/>
            <a:ext cx="10515600" cy="5796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Pourquoi</a:t>
            </a:r>
            <a:r>
              <a:rPr sz="3600" spc="-204" dirty="0"/>
              <a:t> </a:t>
            </a:r>
            <a:r>
              <a:rPr sz="3600" dirty="0"/>
              <a:t>les</a:t>
            </a:r>
            <a:r>
              <a:rPr sz="3600" spc="-135" dirty="0"/>
              <a:t> </a:t>
            </a:r>
            <a:r>
              <a:rPr sz="3600" dirty="0"/>
              <a:t>pirates</a:t>
            </a:r>
            <a:r>
              <a:rPr sz="3600" spc="-155" dirty="0"/>
              <a:t> </a:t>
            </a:r>
            <a:r>
              <a:rPr sz="3600" spc="-10" dirty="0"/>
              <a:t>s’intéressent</a:t>
            </a:r>
            <a:r>
              <a:rPr sz="3600" spc="-204" dirty="0"/>
              <a:t> </a:t>
            </a:r>
            <a:r>
              <a:rPr sz="3600" dirty="0"/>
              <a:t>aux</a:t>
            </a:r>
            <a:r>
              <a:rPr sz="3600" spc="-160" dirty="0"/>
              <a:t> </a:t>
            </a:r>
            <a:r>
              <a:rPr sz="3600" dirty="0"/>
              <a:t>S.I?</a:t>
            </a:r>
            <a:r>
              <a:rPr sz="3600" spc="-114" dirty="0"/>
              <a:t> </a:t>
            </a:r>
            <a:endParaRPr sz="3600" dirty="0"/>
          </a:p>
        </p:txBody>
      </p:sp>
      <p:sp>
        <p:nvSpPr>
          <p:cNvPr id="3" name="object 3"/>
          <p:cNvSpPr txBox="1"/>
          <p:nvPr/>
        </p:nvSpPr>
        <p:spPr>
          <a:xfrm>
            <a:off x="482600" y="1344029"/>
            <a:ext cx="7451725" cy="1516380"/>
          </a:xfrm>
          <a:prstGeom prst="rect">
            <a:avLst/>
          </a:prstGeom>
        </p:spPr>
        <p:txBody>
          <a:bodyPr vert="horz" wrap="square" lIns="0" tIns="209550" rIns="0" bIns="0" rtlCol="0">
            <a:spAutoFit/>
          </a:bodyPr>
          <a:lstStyle/>
          <a:p>
            <a:pPr marL="231140" indent="-218440">
              <a:lnSpc>
                <a:spcPct val="100000"/>
              </a:lnSpc>
              <a:spcBef>
                <a:spcPts val="1650"/>
              </a:spcBef>
              <a:buFont typeface="Arial MT"/>
              <a:buChar char="•"/>
              <a:tabLst>
                <a:tab pos="231140" algn="l"/>
              </a:tabLst>
            </a:pP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Les</a:t>
            </a:r>
            <a:r>
              <a:rPr sz="2400" spc="-6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D1B0F"/>
                </a:solidFill>
                <a:latin typeface="Calibri"/>
                <a:cs typeface="Calibri"/>
              </a:rPr>
              <a:t>motivations</a:t>
            </a:r>
            <a:r>
              <a:rPr sz="2400" spc="-9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D1B0F"/>
                </a:solidFill>
                <a:latin typeface="Calibri"/>
                <a:cs typeface="Calibri"/>
              </a:rPr>
              <a:t>évoluent</a:t>
            </a:r>
            <a:endParaRPr sz="2400" dirty="0">
              <a:latin typeface="Calibri"/>
              <a:cs typeface="Calibri"/>
            </a:endParaRPr>
          </a:p>
          <a:p>
            <a:pPr marL="780415" lvl="1" indent="-229870">
              <a:lnSpc>
                <a:spcPct val="100000"/>
              </a:lnSpc>
              <a:spcBef>
                <a:spcPts val="1300"/>
              </a:spcBef>
              <a:buFont typeface="Arial MT"/>
              <a:buChar char="•"/>
              <a:tabLst>
                <a:tab pos="780415" algn="l"/>
              </a:tabLst>
            </a:pPr>
            <a:r>
              <a:rPr sz="2000" spc="-10" dirty="0">
                <a:solidFill>
                  <a:srgbClr val="1D1B0F"/>
                </a:solidFill>
                <a:latin typeface="Calibri"/>
                <a:cs typeface="Calibri"/>
              </a:rPr>
              <a:t>Années</a:t>
            </a:r>
            <a:r>
              <a:rPr sz="2000" spc="-12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D1B0F"/>
                </a:solidFill>
                <a:latin typeface="Calibri"/>
                <a:cs typeface="Calibri"/>
              </a:rPr>
              <a:t>80</a:t>
            </a:r>
            <a:r>
              <a:rPr sz="2000" spc="-10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D1B0F"/>
                </a:solidFill>
                <a:latin typeface="Calibri"/>
                <a:cs typeface="Calibri"/>
              </a:rPr>
              <a:t>et</a:t>
            </a:r>
            <a:r>
              <a:rPr sz="2000" spc="-6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D1B0F"/>
                </a:solidFill>
                <a:latin typeface="Calibri"/>
                <a:cs typeface="Calibri"/>
              </a:rPr>
              <a:t>90</a:t>
            </a:r>
            <a:r>
              <a:rPr sz="2000" spc="-114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D1B0F"/>
                </a:solidFill>
                <a:latin typeface="Calibri"/>
                <a:cs typeface="Calibri"/>
              </a:rPr>
              <a:t>:</a:t>
            </a:r>
            <a:r>
              <a:rPr sz="2000" spc="-6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000" spc="-30" dirty="0">
                <a:solidFill>
                  <a:srgbClr val="1D1B0F"/>
                </a:solidFill>
                <a:latin typeface="Calibri"/>
                <a:cs typeface="Calibri"/>
              </a:rPr>
              <a:t>beaucoup</a:t>
            </a:r>
            <a:r>
              <a:rPr sz="2000" spc="-8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D1B0F"/>
                </a:solidFill>
                <a:latin typeface="Calibri"/>
                <a:cs typeface="Calibri"/>
              </a:rPr>
              <a:t>de</a:t>
            </a:r>
            <a:r>
              <a:rPr sz="2000" spc="-6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lang="fr-FR" sz="2000" spc="-65" dirty="0">
                <a:solidFill>
                  <a:srgbClr val="1D1B0F"/>
                </a:solidFill>
                <a:latin typeface="Calibri"/>
                <a:cs typeface="Calibri"/>
              </a:rPr>
              <a:t>"</a:t>
            </a:r>
            <a:r>
              <a:rPr sz="2000" u="heavy" spc="-30" dirty="0" err="1">
                <a:solidFill>
                  <a:srgbClr val="1D1B0F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bidouilleurs</a:t>
            </a:r>
            <a:r>
              <a:rPr sz="2000" u="heavy" spc="-10" dirty="0">
                <a:solidFill>
                  <a:srgbClr val="1D1B0F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u="heavy" spc="-10" dirty="0" err="1">
                <a:solidFill>
                  <a:srgbClr val="1D1B0F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enthousiastes</a:t>
            </a:r>
            <a:r>
              <a:rPr lang="fr-FR" sz="2000" u="heavy" spc="-10" dirty="0">
                <a:solidFill>
                  <a:srgbClr val="1D1B0F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"</a:t>
            </a:r>
            <a:endParaRPr sz="2000" dirty="0">
              <a:latin typeface="Calibri"/>
              <a:cs typeface="Calibri"/>
            </a:endParaRPr>
          </a:p>
          <a:p>
            <a:pPr marL="780415" lvl="1" indent="-229870">
              <a:lnSpc>
                <a:spcPct val="100000"/>
              </a:lnSpc>
              <a:spcBef>
                <a:spcPts val="1205"/>
              </a:spcBef>
              <a:buFont typeface="Arial MT"/>
              <a:buChar char="•"/>
              <a:tabLst>
                <a:tab pos="780415" algn="l"/>
              </a:tabLst>
            </a:pPr>
            <a:r>
              <a:rPr sz="2000" dirty="0">
                <a:solidFill>
                  <a:srgbClr val="1D1B0F"/>
                </a:solidFill>
                <a:latin typeface="Calibri"/>
                <a:cs typeface="Calibri"/>
              </a:rPr>
              <a:t>De</a:t>
            </a:r>
            <a:r>
              <a:rPr sz="2000" spc="-4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1D1B0F"/>
                </a:solidFill>
                <a:latin typeface="Calibri"/>
                <a:cs typeface="Calibri"/>
              </a:rPr>
              <a:t>nos</a:t>
            </a:r>
            <a:r>
              <a:rPr sz="2000" spc="-8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000" spc="-30" dirty="0">
                <a:solidFill>
                  <a:srgbClr val="1D1B0F"/>
                </a:solidFill>
                <a:latin typeface="Calibri"/>
                <a:cs typeface="Calibri"/>
              </a:rPr>
              <a:t>jours</a:t>
            </a:r>
            <a:r>
              <a:rPr sz="2000" spc="-6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D1B0F"/>
                </a:solidFill>
                <a:latin typeface="Calibri"/>
                <a:cs typeface="Calibri"/>
              </a:rPr>
              <a:t>:</a:t>
            </a:r>
            <a:r>
              <a:rPr sz="2000" spc="-2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000" spc="-40" dirty="0">
                <a:solidFill>
                  <a:srgbClr val="1D1B0F"/>
                </a:solidFill>
                <a:latin typeface="Calibri"/>
                <a:cs typeface="Calibri"/>
              </a:rPr>
              <a:t>majoritairement</a:t>
            </a:r>
            <a:r>
              <a:rPr sz="2000" spc="-9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000" u="heavy" dirty="0">
                <a:solidFill>
                  <a:srgbClr val="1D1B0F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des</a:t>
            </a:r>
            <a:r>
              <a:rPr sz="2000" u="heavy" spc="-15" dirty="0">
                <a:solidFill>
                  <a:srgbClr val="1D1B0F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u="heavy" spc="-20" dirty="0">
                <a:solidFill>
                  <a:srgbClr val="1D1B0F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actions</a:t>
            </a:r>
            <a:r>
              <a:rPr sz="2000" u="heavy" spc="-125" dirty="0">
                <a:solidFill>
                  <a:srgbClr val="1D1B0F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u="heavy" spc="-40" dirty="0">
                <a:solidFill>
                  <a:srgbClr val="1D1B0F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organisées</a:t>
            </a:r>
            <a:r>
              <a:rPr sz="2000" u="heavy" spc="-65" dirty="0">
                <a:solidFill>
                  <a:srgbClr val="1D1B0F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u="heavy" dirty="0">
                <a:solidFill>
                  <a:srgbClr val="1D1B0F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et </a:t>
            </a:r>
            <a:r>
              <a:rPr sz="2000" u="heavy" spc="-10" dirty="0">
                <a:solidFill>
                  <a:srgbClr val="1D1B0F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réfléchies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2600" y="2883649"/>
            <a:ext cx="6887845" cy="3802379"/>
          </a:xfrm>
          <a:prstGeom prst="rect">
            <a:avLst/>
          </a:prstGeom>
        </p:spPr>
        <p:txBody>
          <a:bodyPr vert="horz" wrap="square" lIns="0" tIns="209550" rIns="0" bIns="0" rtlCol="0">
            <a:spAutoFit/>
          </a:bodyPr>
          <a:lstStyle/>
          <a:p>
            <a:pPr marL="231140" indent="-218440">
              <a:lnSpc>
                <a:spcPct val="100000"/>
              </a:lnSpc>
              <a:spcBef>
                <a:spcPts val="1650"/>
              </a:spcBef>
              <a:buFont typeface="Arial MT"/>
              <a:buChar char="•"/>
              <a:tabLst>
                <a:tab pos="231140" algn="l"/>
              </a:tabLst>
            </a:pP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Cyber</a:t>
            </a:r>
            <a:r>
              <a:rPr sz="2400" spc="-5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D1B0F"/>
                </a:solidFill>
                <a:latin typeface="Calibri"/>
                <a:cs typeface="Calibri"/>
              </a:rPr>
              <a:t>délinquance</a:t>
            </a:r>
            <a:endParaRPr sz="2400">
              <a:latin typeface="Calibri"/>
              <a:cs typeface="Calibri"/>
            </a:endParaRPr>
          </a:p>
          <a:p>
            <a:pPr marL="780415" lvl="1" indent="-229870">
              <a:lnSpc>
                <a:spcPct val="100000"/>
              </a:lnSpc>
              <a:spcBef>
                <a:spcPts val="1300"/>
              </a:spcBef>
              <a:buFont typeface="Arial MT"/>
              <a:buChar char="•"/>
              <a:tabLst>
                <a:tab pos="780415" algn="l"/>
              </a:tabLst>
            </a:pPr>
            <a:r>
              <a:rPr sz="2000" spc="-10" dirty="0">
                <a:solidFill>
                  <a:srgbClr val="1D1B0F"/>
                </a:solidFill>
                <a:latin typeface="Calibri"/>
                <a:cs typeface="Calibri"/>
              </a:rPr>
              <a:t>Les</a:t>
            </a:r>
            <a:r>
              <a:rPr sz="2000" spc="-8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1D1B0F"/>
                </a:solidFill>
                <a:latin typeface="Calibri"/>
                <a:cs typeface="Calibri"/>
              </a:rPr>
              <a:t>individus</a:t>
            </a:r>
            <a:r>
              <a:rPr sz="2000" spc="-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000" spc="-40" dirty="0">
                <a:solidFill>
                  <a:srgbClr val="1D1B0F"/>
                </a:solidFill>
                <a:latin typeface="Calibri"/>
                <a:cs typeface="Calibri"/>
              </a:rPr>
              <a:t>attirés</a:t>
            </a:r>
            <a:r>
              <a:rPr sz="2000" spc="-6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D1B0F"/>
                </a:solidFill>
                <a:latin typeface="Calibri"/>
                <a:cs typeface="Calibri"/>
              </a:rPr>
              <a:t>par</a:t>
            </a:r>
            <a:r>
              <a:rPr sz="2000" spc="-7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000" spc="-80" dirty="0">
                <a:solidFill>
                  <a:srgbClr val="1D1B0F"/>
                </a:solidFill>
                <a:latin typeface="Calibri"/>
                <a:cs typeface="Calibri"/>
              </a:rPr>
              <a:t>l’appât</a:t>
            </a:r>
            <a:r>
              <a:rPr sz="2000" spc="-4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D1B0F"/>
                </a:solidFill>
                <a:latin typeface="Calibri"/>
                <a:cs typeface="Calibri"/>
              </a:rPr>
              <a:t>du</a:t>
            </a:r>
            <a:r>
              <a:rPr sz="2000" spc="-9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000" b="1" spc="-20" dirty="0">
                <a:solidFill>
                  <a:srgbClr val="1D1B0F"/>
                </a:solidFill>
                <a:latin typeface="Calibri"/>
                <a:cs typeface="Calibri"/>
              </a:rPr>
              <a:t>gain</a:t>
            </a:r>
            <a:endParaRPr sz="2000">
              <a:latin typeface="Calibri"/>
              <a:cs typeface="Calibri"/>
            </a:endParaRPr>
          </a:p>
          <a:p>
            <a:pPr marL="780415" lvl="1" indent="-229870">
              <a:lnSpc>
                <a:spcPct val="100000"/>
              </a:lnSpc>
              <a:spcBef>
                <a:spcPts val="1205"/>
              </a:spcBef>
              <a:buFont typeface="Arial MT"/>
              <a:buChar char="•"/>
              <a:tabLst>
                <a:tab pos="780415" algn="l"/>
              </a:tabLst>
            </a:pPr>
            <a:r>
              <a:rPr sz="2000" dirty="0">
                <a:solidFill>
                  <a:srgbClr val="1D1B0F"/>
                </a:solidFill>
                <a:latin typeface="Calibri"/>
                <a:cs typeface="Calibri"/>
              </a:rPr>
              <a:t>Les</a:t>
            </a:r>
            <a:r>
              <a:rPr sz="2000" spc="-3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D1B0F"/>
                </a:solidFill>
                <a:latin typeface="Calibri"/>
                <a:cs typeface="Calibri"/>
              </a:rPr>
              <a:t>«</a:t>
            </a:r>
            <a:r>
              <a:rPr sz="2000" spc="-7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000" b="1" spc="-40" dirty="0">
                <a:solidFill>
                  <a:srgbClr val="1D1B0F"/>
                </a:solidFill>
                <a:latin typeface="Calibri"/>
                <a:cs typeface="Calibri"/>
              </a:rPr>
              <a:t>hacktivistes</a:t>
            </a:r>
            <a:r>
              <a:rPr sz="2000" b="1" spc="-9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000" spc="-50" dirty="0">
                <a:solidFill>
                  <a:srgbClr val="1D1B0F"/>
                </a:solidFill>
                <a:latin typeface="Calibri"/>
                <a:cs typeface="Calibri"/>
              </a:rPr>
              <a:t>»</a:t>
            </a:r>
            <a:endParaRPr sz="2000">
              <a:latin typeface="Calibri"/>
              <a:cs typeface="Calibri"/>
            </a:endParaRPr>
          </a:p>
          <a:p>
            <a:pPr marL="780415" lvl="1" indent="-229870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780415" algn="l"/>
              </a:tabLst>
            </a:pPr>
            <a:r>
              <a:rPr sz="2000" b="1" spc="-35" dirty="0">
                <a:solidFill>
                  <a:srgbClr val="1D1B0F"/>
                </a:solidFill>
                <a:latin typeface="Calibri"/>
                <a:cs typeface="Calibri"/>
              </a:rPr>
              <a:t>Motivation</a:t>
            </a:r>
            <a:r>
              <a:rPr sz="2000" b="1" spc="-14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000" spc="-30" dirty="0">
                <a:solidFill>
                  <a:srgbClr val="1D1B0F"/>
                </a:solidFill>
                <a:latin typeface="Calibri"/>
                <a:cs typeface="Calibri"/>
              </a:rPr>
              <a:t>politique,</a:t>
            </a:r>
            <a:r>
              <a:rPr sz="2000" spc="-4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1D1B0F"/>
                </a:solidFill>
                <a:latin typeface="Calibri"/>
                <a:cs typeface="Calibri"/>
              </a:rPr>
              <a:t>religieuse,</a:t>
            </a:r>
            <a:r>
              <a:rPr sz="2000" spc="5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1D1B0F"/>
                </a:solidFill>
                <a:latin typeface="Calibri"/>
                <a:cs typeface="Calibri"/>
              </a:rPr>
              <a:t>etc.</a:t>
            </a:r>
            <a:endParaRPr sz="2000">
              <a:latin typeface="Calibri"/>
              <a:cs typeface="Calibri"/>
            </a:endParaRPr>
          </a:p>
          <a:p>
            <a:pPr marL="780415" lvl="1" indent="-229870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780415" algn="l"/>
              </a:tabLst>
            </a:pPr>
            <a:r>
              <a:rPr sz="2000" dirty="0">
                <a:solidFill>
                  <a:srgbClr val="1D1B0F"/>
                </a:solidFill>
                <a:latin typeface="Calibri"/>
                <a:cs typeface="Calibri"/>
              </a:rPr>
              <a:t>Les</a:t>
            </a:r>
            <a:r>
              <a:rPr sz="2000" spc="-6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000" b="1" spc="-30" dirty="0">
                <a:solidFill>
                  <a:srgbClr val="1D1B0F"/>
                </a:solidFill>
                <a:latin typeface="Calibri"/>
                <a:cs typeface="Calibri"/>
              </a:rPr>
              <a:t>concurrents</a:t>
            </a:r>
            <a:r>
              <a:rPr sz="2000" b="1" spc="-6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000" spc="-30" dirty="0">
                <a:solidFill>
                  <a:srgbClr val="1D1B0F"/>
                </a:solidFill>
                <a:latin typeface="Calibri"/>
                <a:cs typeface="Calibri"/>
              </a:rPr>
              <a:t>directs</a:t>
            </a:r>
            <a:r>
              <a:rPr sz="2000" spc="-4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D1B0F"/>
                </a:solidFill>
                <a:latin typeface="Calibri"/>
                <a:cs typeface="Calibri"/>
              </a:rPr>
              <a:t>de</a:t>
            </a:r>
            <a:r>
              <a:rPr sz="2000" spc="-8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000" spc="-70" dirty="0">
                <a:solidFill>
                  <a:srgbClr val="1D1B0F"/>
                </a:solidFill>
                <a:latin typeface="Calibri"/>
                <a:cs typeface="Calibri"/>
              </a:rPr>
              <a:t>l’organisation</a:t>
            </a:r>
            <a:r>
              <a:rPr sz="2000" spc="-3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1D1B0F"/>
                </a:solidFill>
                <a:latin typeface="Calibri"/>
                <a:cs typeface="Calibri"/>
              </a:rPr>
              <a:t>visée</a:t>
            </a:r>
            <a:endParaRPr sz="2000">
              <a:latin typeface="Calibri"/>
              <a:cs typeface="Calibri"/>
            </a:endParaRPr>
          </a:p>
          <a:p>
            <a:pPr marL="780415" lvl="1" indent="-229870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780415" algn="l"/>
              </a:tabLst>
            </a:pPr>
            <a:r>
              <a:rPr sz="2000" dirty="0">
                <a:solidFill>
                  <a:srgbClr val="1D1B0F"/>
                </a:solidFill>
                <a:latin typeface="Calibri"/>
                <a:cs typeface="Calibri"/>
              </a:rPr>
              <a:t>Les</a:t>
            </a:r>
            <a:r>
              <a:rPr sz="2000" spc="-5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000" b="1" spc="-45" dirty="0">
                <a:solidFill>
                  <a:srgbClr val="1D1B0F"/>
                </a:solidFill>
                <a:latin typeface="Calibri"/>
                <a:cs typeface="Calibri"/>
              </a:rPr>
              <a:t>fonctionnaires</a:t>
            </a:r>
            <a:r>
              <a:rPr sz="2000" b="1" spc="-10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D1B0F"/>
                </a:solidFill>
                <a:latin typeface="Calibri"/>
                <a:cs typeface="Calibri"/>
              </a:rPr>
              <a:t>au </a:t>
            </a:r>
            <a:r>
              <a:rPr sz="2000" spc="-10" dirty="0">
                <a:solidFill>
                  <a:srgbClr val="1D1B0F"/>
                </a:solidFill>
                <a:latin typeface="Calibri"/>
                <a:cs typeface="Calibri"/>
              </a:rPr>
              <a:t>service</a:t>
            </a:r>
            <a:r>
              <a:rPr sz="2000" spc="-8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1D1B0F"/>
                </a:solidFill>
                <a:latin typeface="Calibri"/>
                <a:cs typeface="Calibri"/>
              </a:rPr>
              <a:t>d‘un</a:t>
            </a:r>
            <a:r>
              <a:rPr sz="2000" spc="-9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1D1B0F"/>
                </a:solidFill>
                <a:latin typeface="Calibri"/>
                <a:cs typeface="Calibri"/>
              </a:rPr>
              <a:t>état</a:t>
            </a:r>
            <a:endParaRPr sz="2000">
              <a:latin typeface="Calibri"/>
              <a:cs typeface="Calibri"/>
            </a:endParaRPr>
          </a:p>
          <a:p>
            <a:pPr marL="780415" lvl="1" indent="-229870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780415" algn="l"/>
              </a:tabLst>
            </a:pPr>
            <a:r>
              <a:rPr sz="2000" spc="-20" dirty="0">
                <a:solidFill>
                  <a:srgbClr val="1D1B0F"/>
                </a:solidFill>
                <a:latin typeface="Calibri"/>
                <a:cs typeface="Calibri"/>
              </a:rPr>
              <a:t>Les</a:t>
            </a:r>
            <a:r>
              <a:rPr sz="2000" spc="-8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000" b="1" spc="-30" dirty="0">
                <a:solidFill>
                  <a:srgbClr val="1D1B0F"/>
                </a:solidFill>
                <a:latin typeface="Calibri"/>
                <a:cs typeface="Calibri"/>
              </a:rPr>
              <a:t>mercenaires</a:t>
            </a:r>
            <a:r>
              <a:rPr sz="2000" b="1" spc="-1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1D1B0F"/>
                </a:solidFill>
                <a:latin typeface="Calibri"/>
                <a:cs typeface="Calibri"/>
              </a:rPr>
              <a:t>agissant</a:t>
            </a:r>
            <a:r>
              <a:rPr sz="2000" spc="-4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1D1B0F"/>
                </a:solidFill>
                <a:latin typeface="Calibri"/>
                <a:cs typeface="Calibri"/>
              </a:rPr>
              <a:t>pour</a:t>
            </a:r>
            <a:r>
              <a:rPr sz="2000" spc="-13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D1B0F"/>
                </a:solidFill>
                <a:latin typeface="Calibri"/>
                <a:cs typeface="Calibri"/>
              </a:rPr>
              <a:t>le</a:t>
            </a:r>
            <a:r>
              <a:rPr sz="2000" spc="-7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000" spc="-35" dirty="0">
                <a:solidFill>
                  <a:srgbClr val="1D1B0F"/>
                </a:solidFill>
                <a:latin typeface="Calibri"/>
                <a:cs typeface="Calibri"/>
              </a:rPr>
              <a:t>compte</a:t>
            </a:r>
            <a:r>
              <a:rPr sz="2000" spc="-7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D1B0F"/>
                </a:solidFill>
                <a:latin typeface="Calibri"/>
                <a:cs typeface="Calibri"/>
              </a:rPr>
              <a:t>de</a:t>
            </a:r>
            <a:r>
              <a:rPr sz="2000" spc="-9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1D1B0F"/>
                </a:solidFill>
                <a:latin typeface="Calibri"/>
                <a:cs typeface="Calibri"/>
              </a:rPr>
              <a:t>commanditaires</a:t>
            </a:r>
            <a:endParaRPr sz="2000">
              <a:latin typeface="Calibri"/>
              <a:cs typeface="Calibri"/>
            </a:endParaRPr>
          </a:p>
          <a:p>
            <a:pPr marL="780415" lvl="1" indent="-229870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780415" algn="l"/>
              </a:tabLst>
            </a:pPr>
            <a:r>
              <a:rPr sz="2000" spc="-50" dirty="0">
                <a:solidFill>
                  <a:srgbClr val="1D1B0F"/>
                </a:solidFill>
                <a:latin typeface="Calibri"/>
                <a:cs typeface="Calibri"/>
              </a:rPr>
              <a:t>…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0" y="3500628"/>
            <a:ext cx="2932176" cy="146304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0624819" y="6373164"/>
            <a:ext cx="118110" cy="245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50" spc="-50" dirty="0">
                <a:solidFill>
                  <a:srgbClr val="858585"/>
                </a:solidFill>
                <a:latin typeface="Calibri"/>
                <a:cs typeface="Calibri"/>
              </a:rPr>
              <a:t>7</a:t>
            </a:r>
            <a:endParaRPr sz="14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9195" y="1281176"/>
            <a:ext cx="8612505" cy="4864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5900" indent="-215900">
              <a:lnSpc>
                <a:spcPct val="100000"/>
              </a:lnSpc>
              <a:spcBef>
                <a:spcPts val="100"/>
              </a:spcBef>
              <a:buClr>
                <a:srgbClr val="5B9BD2"/>
              </a:buClr>
              <a:buSzPct val="64583"/>
              <a:buFont typeface="Arial MT"/>
              <a:buChar char="▪"/>
              <a:tabLst>
                <a:tab pos="215900" algn="l"/>
                <a:tab pos="7579995" algn="l"/>
              </a:tabLst>
            </a:pPr>
            <a:r>
              <a:rPr sz="2400" spc="-10" dirty="0">
                <a:solidFill>
                  <a:srgbClr val="1D1B0F"/>
                </a:solidFill>
                <a:latin typeface="Calibri"/>
                <a:cs typeface="Calibri"/>
              </a:rPr>
              <a:t>Gains</a:t>
            </a:r>
            <a:r>
              <a:rPr sz="2400" spc="-7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1D1B0F"/>
                </a:solidFill>
                <a:latin typeface="Calibri"/>
                <a:cs typeface="Calibri"/>
              </a:rPr>
              <a:t>financiers</a:t>
            </a:r>
            <a:r>
              <a:rPr sz="2400" spc="-4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1D1B0F"/>
                </a:solidFill>
                <a:latin typeface="Calibri"/>
                <a:cs typeface="Calibri"/>
              </a:rPr>
              <a:t>(accès</a:t>
            </a:r>
            <a:r>
              <a:rPr sz="2400" spc="-8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à</a:t>
            </a:r>
            <a:r>
              <a:rPr sz="2400" spc="-7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spc="-35" dirty="0">
                <a:solidFill>
                  <a:srgbClr val="1D1B0F"/>
                </a:solidFill>
                <a:latin typeface="Calibri"/>
                <a:cs typeface="Calibri"/>
              </a:rPr>
              <a:t>l’information,</a:t>
            </a:r>
            <a:r>
              <a:rPr sz="2400" spc="-4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puis</a:t>
            </a:r>
            <a:r>
              <a:rPr sz="2400" spc="-5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spc="-30" dirty="0">
                <a:solidFill>
                  <a:srgbClr val="1D1B0F"/>
                </a:solidFill>
                <a:latin typeface="Calibri"/>
                <a:cs typeface="Calibri"/>
              </a:rPr>
              <a:t>monétisation</a:t>
            </a:r>
            <a:r>
              <a:rPr sz="2400" spc="-4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1D1B0F"/>
                </a:solidFill>
                <a:latin typeface="Calibri"/>
                <a:cs typeface="Calibri"/>
              </a:rPr>
              <a:t>et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	</a:t>
            </a:r>
            <a:r>
              <a:rPr sz="2400" spc="-35" dirty="0">
                <a:solidFill>
                  <a:srgbClr val="1D1B0F"/>
                </a:solidFill>
                <a:latin typeface="Calibri"/>
                <a:cs typeface="Calibri"/>
              </a:rPr>
              <a:t>revente)</a:t>
            </a:r>
            <a:endParaRPr sz="2400" dirty="0">
              <a:latin typeface="Calibri"/>
              <a:cs typeface="Calibri"/>
            </a:endParaRPr>
          </a:p>
          <a:p>
            <a:pPr marL="783590" lvl="1" indent="-240665">
              <a:lnSpc>
                <a:spcPct val="100000"/>
              </a:lnSpc>
              <a:spcBef>
                <a:spcPts val="1255"/>
              </a:spcBef>
              <a:buFont typeface="Arial MT"/>
              <a:buChar char="•"/>
              <a:tabLst>
                <a:tab pos="783590" algn="l"/>
              </a:tabLst>
            </a:pPr>
            <a:r>
              <a:rPr sz="1600" spc="-40" dirty="0">
                <a:solidFill>
                  <a:srgbClr val="1D1B0F"/>
                </a:solidFill>
                <a:latin typeface="Calibri"/>
                <a:cs typeface="Calibri"/>
              </a:rPr>
              <a:t>Utilisateurs,</a:t>
            </a:r>
            <a:r>
              <a:rPr sz="1600" spc="-3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D1B0F"/>
                </a:solidFill>
                <a:latin typeface="Calibri"/>
                <a:cs typeface="Calibri"/>
              </a:rPr>
              <a:t>emails</a:t>
            </a:r>
            <a:endParaRPr sz="1600" dirty="0">
              <a:latin typeface="Calibri"/>
              <a:cs typeface="Calibri"/>
            </a:endParaRPr>
          </a:p>
          <a:p>
            <a:pPr marL="783590" lvl="1" indent="-240665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783590" algn="l"/>
              </a:tabLst>
            </a:pPr>
            <a:r>
              <a:rPr sz="1600" spc="-40" dirty="0">
                <a:solidFill>
                  <a:srgbClr val="1D1B0F"/>
                </a:solidFill>
                <a:latin typeface="Calibri"/>
                <a:cs typeface="Calibri"/>
              </a:rPr>
              <a:t>Organisation</a:t>
            </a:r>
            <a:r>
              <a:rPr sz="1600" spc="-12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1D1B0F"/>
                </a:solidFill>
                <a:latin typeface="Calibri"/>
                <a:cs typeface="Calibri"/>
              </a:rPr>
              <a:t>interne</a:t>
            </a:r>
            <a:r>
              <a:rPr sz="1600" spc="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D1B0F"/>
                </a:solidFill>
                <a:latin typeface="Calibri"/>
                <a:cs typeface="Calibri"/>
              </a:rPr>
              <a:t>de</a:t>
            </a:r>
            <a:r>
              <a:rPr sz="1600" spc="-4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D1B0F"/>
                </a:solidFill>
                <a:latin typeface="Calibri"/>
                <a:cs typeface="Calibri"/>
              </a:rPr>
              <a:t>l’entreprise</a:t>
            </a:r>
            <a:endParaRPr sz="1600" dirty="0">
              <a:latin typeface="Calibri"/>
              <a:cs typeface="Calibri"/>
            </a:endParaRPr>
          </a:p>
          <a:p>
            <a:pPr marL="783590" lvl="1" indent="-240665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783590" algn="l"/>
              </a:tabLst>
            </a:pPr>
            <a:r>
              <a:rPr sz="1600" spc="-35" dirty="0">
                <a:solidFill>
                  <a:srgbClr val="1D1B0F"/>
                </a:solidFill>
                <a:latin typeface="Calibri"/>
                <a:cs typeface="Calibri"/>
              </a:rPr>
              <a:t>Fichiers</a:t>
            </a:r>
            <a:r>
              <a:rPr sz="1600" spc="-4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D1B0F"/>
                </a:solidFill>
                <a:latin typeface="Calibri"/>
                <a:cs typeface="Calibri"/>
              </a:rPr>
              <a:t>clients</a:t>
            </a:r>
            <a:endParaRPr sz="1600" dirty="0">
              <a:latin typeface="Calibri"/>
              <a:cs typeface="Calibri"/>
            </a:endParaRPr>
          </a:p>
          <a:p>
            <a:pPr marL="783590" lvl="1" indent="-240665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783590" algn="l"/>
              </a:tabLst>
            </a:pPr>
            <a:r>
              <a:rPr sz="1600" spc="-10" dirty="0">
                <a:solidFill>
                  <a:srgbClr val="1D1B0F"/>
                </a:solidFill>
                <a:latin typeface="Calibri"/>
                <a:cs typeface="Calibri"/>
              </a:rPr>
              <a:t>Mots</a:t>
            </a:r>
            <a:r>
              <a:rPr sz="1600" spc="-7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D1B0F"/>
                </a:solidFill>
                <a:latin typeface="Calibri"/>
                <a:cs typeface="Calibri"/>
              </a:rPr>
              <a:t>de</a:t>
            </a:r>
            <a:r>
              <a:rPr sz="1600" spc="-6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600" spc="-30" dirty="0">
                <a:solidFill>
                  <a:srgbClr val="1D1B0F"/>
                </a:solidFill>
                <a:latin typeface="Calibri"/>
                <a:cs typeface="Calibri"/>
              </a:rPr>
              <a:t>passe,</a:t>
            </a:r>
            <a:r>
              <a:rPr sz="1600" spc="-8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D1B0F"/>
                </a:solidFill>
                <a:latin typeface="Calibri"/>
                <a:cs typeface="Calibri"/>
              </a:rPr>
              <a:t>N°</a:t>
            </a:r>
            <a:r>
              <a:rPr sz="1600" spc="-4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D1B0F"/>
                </a:solidFill>
                <a:latin typeface="Calibri"/>
                <a:cs typeface="Calibri"/>
              </a:rPr>
              <a:t>de</a:t>
            </a:r>
            <a:r>
              <a:rPr sz="1600" spc="-6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600" spc="-30" dirty="0">
                <a:solidFill>
                  <a:srgbClr val="1D1B0F"/>
                </a:solidFill>
                <a:latin typeface="Calibri"/>
                <a:cs typeface="Calibri"/>
              </a:rPr>
              <a:t>comptes</a:t>
            </a:r>
            <a:r>
              <a:rPr sz="1600" spc="-2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600" spc="-35" dirty="0">
                <a:solidFill>
                  <a:srgbClr val="1D1B0F"/>
                </a:solidFill>
                <a:latin typeface="Calibri"/>
                <a:cs typeface="Calibri"/>
              </a:rPr>
              <a:t>bancaire,</a:t>
            </a:r>
            <a:r>
              <a:rPr sz="1600" spc="-4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600" spc="-30" dirty="0">
                <a:solidFill>
                  <a:srgbClr val="1D1B0F"/>
                </a:solidFill>
                <a:latin typeface="Calibri"/>
                <a:cs typeface="Calibri"/>
              </a:rPr>
              <a:t>cartes</a:t>
            </a:r>
            <a:r>
              <a:rPr sz="1600" spc="-4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D1B0F"/>
                </a:solidFill>
                <a:latin typeface="Calibri"/>
                <a:cs typeface="Calibri"/>
              </a:rPr>
              <a:t>bancaires</a:t>
            </a:r>
            <a:endParaRPr sz="1600" dirty="0">
              <a:latin typeface="Calibri"/>
              <a:cs typeface="Calibri"/>
            </a:endParaRPr>
          </a:p>
          <a:p>
            <a:pPr marL="215265" marR="281305" indent="-209550">
              <a:lnSpc>
                <a:spcPct val="150100"/>
              </a:lnSpc>
              <a:spcBef>
                <a:spcPts val="400"/>
              </a:spcBef>
              <a:buClr>
                <a:srgbClr val="5B9BD2"/>
              </a:buClr>
              <a:buSzPct val="64583"/>
              <a:buFont typeface="Arial MT"/>
              <a:buChar char="▪"/>
              <a:tabLst>
                <a:tab pos="215265" algn="l"/>
              </a:tabLst>
            </a:pP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Utilisation</a:t>
            </a:r>
            <a:r>
              <a:rPr sz="2400" spc="16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de</a:t>
            </a:r>
            <a:r>
              <a:rPr sz="2400" spc="25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ressources</a:t>
            </a:r>
            <a:r>
              <a:rPr sz="2400" spc="22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(puis</a:t>
            </a:r>
            <a:r>
              <a:rPr sz="2400" spc="24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revente</a:t>
            </a:r>
            <a:r>
              <a:rPr sz="2400" spc="23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ou</a:t>
            </a:r>
            <a:r>
              <a:rPr sz="2400" spc="23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mise</a:t>
            </a:r>
            <a:r>
              <a:rPr sz="2400" spc="21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à</a:t>
            </a:r>
            <a:r>
              <a:rPr sz="2400" spc="25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disposition</a:t>
            </a:r>
            <a:r>
              <a:rPr sz="2400" spc="20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1D1B0F"/>
                </a:solidFill>
                <a:latin typeface="Calibri"/>
                <a:cs typeface="Calibri"/>
              </a:rPr>
              <a:t>en </a:t>
            </a:r>
            <a:r>
              <a:rPr sz="2400" spc="-35" dirty="0">
                <a:solidFill>
                  <a:srgbClr val="1D1B0F"/>
                </a:solidFill>
                <a:latin typeface="Calibri"/>
                <a:cs typeface="Calibri"/>
              </a:rPr>
              <a:t>tant</a:t>
            </a:r>
            <a:r>
              <a:rPr sz="2400" spc="-12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que</a:t>
            </a:r>
            <a:r>
              <a:rPr sz="2400" spc="39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D1B0F"/>
                </a:solidFill>
                <a:latin typeface="Calibri"/>
                <a:cs typeface="Calibri"/>
              </a:rPr>
              <a:t>service</a:t>
            </a:r>
            <a:r>
              <a:rPr sz="2400" spc="-8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spc="-50" dirty="0">
                <a:solidFill>
                  <a:srgbClr val="1D1B0F"/>
                </a:solidFill>
                <a:latin typeface="Calibri"/>
                <a:cs typeface="Calibri"/>
              </a:rPr>
              <a:t>)</a:t>
            </a:r>
            <a:endParaRPr sz="2400" dirty="0">
              <a:latin typeface="Calibri"/>
              <a:cs typeface="Calibri"/>
            </a:endParaRPr>
          </a:p>
          <a:p>
            <a:pPr marL="783590" lvl="1" indent="-240665">
              <a:lnSpc>
                <a:spcPct val="100000"/>
              </a:lnSpc>
              <a:spcBef>
                <a:spcPts val="1460"/>
              </a:spcBef>
              <a:buFont typeface="Arial MT"/>
              <a:buChar char="•"/>
              <a:tabLst>
                <a:tab pos="783590" algn="l"/>
              </a:tabLst>
            </a:pPr>
            <a:r>
              <a:rPr sz="1600" spc="-10" dirty="0">
                <a:solidFill>
                  <a:srgbClr val="1D1B0F"/>
                </a:solidFill>
                <a:latin typeface="Calibri"/>
                <a:cs typeface="Calibri"/>
              </a:rPr>
              <a:t>Bande</a:t>
            </a:r>
            <a:r>
              <a:rPr sz="1600" spc="-7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600" spc="-35" dirty="0">
                <a:solidFill>
                  <a:srgbClr val="1D1B0F"/>
                </a:solidFill>
                <a:latin typeface="Calibri"/>
                <a:cs typeface="Calibri"/>
              </a:rPr>
              <a:t>passante</a:t>
            </a:r>
            <a:r>
              <a:rPr sz="1600" spc="-5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D1B0F"/>
                </a:solidFill>
                <a:latin typeface="Calibri"/>
                <a:cs typeface="Calibri"/>
              </a:rPr>
              <a:t>&amp;</a:t>
            </a:r>
            <a:r>
              <a:rPr sz="1600" spc="-4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D1B0F"/>
                </a:solidFill>
                <a:latin typeface="Calibri"/>
                <a:cs typeface="Calibri"/>
              </a:rPr>
              <a:t>espace</a:t>
            </a:r>
            <a:r>
              <a:rPr sz="1600" spc="-6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D1B0F"/>
                </a:solidFill>
                <a:latin typeface="Calibri"/>
                <a:cs typeface="Calibri"/>
              </a:rPr>
              <a:t>de</a:t>
            </a:r>
            <a:r>
              <a:rPr sz="1600" spc="-6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600" spc="-45" dirty="0">
                <a:solidFill>
                  <a:srgbClr val="1D1B0F"/>
                </a:solidFill>
                <a:latin typeface="Calibri"/>
                <a:cs typeface="Calibri"/>
              </a:rPr>
              <a:t>stockage</a:t>
            </a:r>
            <a:r>
              <a:rPr sz="1600" spc="-12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600" spc="-40" dirty="0">
                <a:solidFill>
                  <a:srgbClr val="1D1B0F"/>
                </a:solidFill>
                <a:latin typeface="Calibri"/>
                <a:cs typeface="Calibri"/>
              </a:rPr>
              <a:t>(hébergement</a:t>
            </a:r>
            <a:r>
              <a:rPr sz="1600" spc="-7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D1B0F"/>
                </a:solidFill>
                <a:latin typeface="Calibri"/>
                <a:cs typeface="Calibri"/>
              </a:rPr>
              <a:t>de</a:t>
            </a:r>
            <a:r>
              <a:rPr sz="1600" spc="-2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1D1B0F"/>
                </a:solidFill>
                <a:latin typeface="Calibri"/>
                <a:cs typeface="Calibri"/>
              </a:rPr>
              <a:t>musique,</a:t>
            </a:r>
            <a:r>
              <a:rPr sz="1600" spc="-1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600" spc="-30" dirty="0">
                <a:solidFill>
                  <a:srgbClr val="1D1B0F"/>
                </a:solidFill>
                <a:latin typeface="Calibri"/>
                <a:cs typeface="Calibri"/>
              </a:rPr>
              <a:t>films</a:t>
            </a:r>
            <a:r>
              <a:rPr sz="1600" spc="-12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D1B0F"/>
                </a:solidFill>
                <a:latin typeface="Calibri"/>
                <a:cs typeface="Calibri"/>
              </a:rPr>
              <a:t>et autres</a:t>
            </a:r>
            <a:r>
              <a:rPr sz="1600" spc="-10" dirty="0">
                <a:solidFill>
                  <a:srgbClr val="1D1B0F"/>
                </a:solidFill>
                <a:latin typeface="Calibri"/>
                <a:cs typeface="Calibri"/>
              </a:rPr>
              <a:t> contenus)</a:t>
            </a:r>
            <a:endParaRPr sz="1600" dirty="0">
              <a:latin typeface="Calibri"/>
              <a:cs typeface="Calibri"/>
            </a:endParaRPr>
          </a:p>
          <a:p>
            <a:pPr marL="783590" lvl="1" indent="-240665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783590" algn="l"/>
              </a:tabLst>
            </a:pPr>
            <a:r>
              <a:rPr sz="1600" spc="-35" dirty="0">
                <a:solidFill>
                  <a:srgbClr val="1D1B0F"/>
                </a:solidFill>
                <a:latin typeface="Calibri"/>
                <a:cs typeface="Calibri"/>
              </a:rPr>
              <a:t>Zombies</a:t>
            </a:r>
            <a:r>
              <a:rPr sz="1600" spc="-5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D1B0F"/>
                </a:solidFill>
                <a:latin typeface="Calibri"/>
                <a:cs typeface="Calibri"/>
              </a:rPr>
              <a:t>(botnets)</a:t>
            </a:r>
            <a:endParaRPr sz="1600" dirty="0">
              <a:latin typeface="Calibri"/>
              <a:cs typeface="Calibri"/>
            </a:endParaRPr>
          </a:p>
          <a:p>
            <a:pPr marL="215900" indent="-209550">
              <a:lnSpc>
                <a:spcPct val="100000"/>
              </a:lnSpc>
              <a:spcBef>
                <a:spcPts val="1840"/>
              </a:spcBef>
              <a:buClr>
                <a:srgbClr val="5B9BD2"/>
              </a:buClr>
              <a:buSzPct val="64583"/>
              <a:buFont typeface="Arial MT"/>
              <a:buChar char="▪"/>
              <a:tabLst>
                <a:tab pos="215900" algn="l"/>
              </a:tabLst>
            </a:pPr>
            <a:r>
              <a:rPr sz="2400" spc="-10" dirty="0">
                <a:solidFill>
                  <a:srgbClr val="1D1B0F"/>
                </a:solidFill>
                <a:latin typeface="Calibri"/>
                <a:cs typeface="Calibri"/>
              </a:rPr>
              <a:t>Chantage/Vengeance</a:t>
            </a:r>
            <a:endParaRPr sz="2400" dirty="0">
              <a:latin typeface="Calibri"/>
              <a:cs typeface="Calibri"/>
            </a:endParaRPr>
          </a:p>
          <a:p>
            <a:pPr marL="783590" lvl="1" indent="-240665">
              <a:lnSpc>
                <a:spcPct val="100000"/>
              </a:lnSpc>
              <a:spcBef>
                <a:spcPts val="1460"/>
              </a:spcBef>
              <a:buFont typeface="Arial MT"/>
              <a:buChar char="•"/>
              <a:tabLst>
                <a:tab pos="783590" algn="l"/>
              </a:tabLst>
            </a:pPr>
            <a:r>
              <a:rPr sz="1600" dirty="0">
                <a:solidFill>
                  <a:srgbClr val="1D1B0F"/>
                </a:solidFill>
                <a:latin typeface="Calibri"/>
                <a:cs typeface="Calibri"/>
              </a:rPr>
              <a:t>Il</a:t>
            </a:r>
            <a:r>
              <a:rPr sz="1600" spc="-10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D1B0F"/>
                </a:solidFill>
                <a:latin typeface="Calibri"/>
                <a:cs typeface="Calibri"/>
              </a:rPr>
              <a:t>arrive</a:t>
            </a:r>
            <a:r>
              <a:rPr sz="1600" spc="1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D1B0F"/>
                </a:solidFill>
                <a:latin typeface="Calibri"/>
                <a:cs typeface="Calibri"/>
              </a:rPr>
              <a:t>que</a:t>
            </a:r>
            <a:r>
              <a:rPr sz="1600" spc="-7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600" spc="-50" dirty="0">
                <a:solidFill>
                  <a:srgbClr val="1D1B0F"/>
                </a:solidFill>
                <a:latin typeface="Calibri"/>
                <a:cs typeface="Calibri"/>
              </a:rPr>
              <a:t>d’anciens</a:t>
            </a:r>
            <a:r>
              <a:rPr sz="1600" spc="-18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600" spc="-30" dirty="0">
                <a:solidFill>
                  <a:srgbClr val="1D1B0F"/>
                </a:solidFill>
                <a:latin typeface="Calibri"/>
                <a:cs typeface="Calibri"/>
              </a:rPr>
              <a:t>employés</a:t>
            </a:r>
            <a:r>
              <a:rPr sz="1600" spc="3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600" spc="-30" dirty="0">
                <a:solidFill>
                  <a:srgbClr val="1D1B0F"/>
                </a:solidFill>
                <a:latin typeface="Calibri"/>
                <a:cs typeface="Calibri"/>
              </a:rPr>
              <a:t>attaquent</a:t>
            </a:r>
            <a:r>
              <a:rPr sz="1600" spc="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D1B0F"/>
                </a:solidFill>
                <a:latin typeface="Calibri"/>
                <a:cs typeface="Calibri"/>
              </a:rPr>
              <a:t>leurs</a:t>
            </a:r>
            <a:r>
              <a:rPr sz="1600" spc="-6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D1B0F"/>
                </a:solidFill>
                <a:latin typeface="Calibri"/>
                <a:cs typeface="Calibri"/>
              </a:rPr>
              <a:t>anciens</a:t>
            </a:r>
            <a:r>
              <a:rPr sz="1600" spc="-6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600" spc="-40" dirty="0">
                <a:solidFill>
                  <a:srgbClr val="1D1B0F"/>
                </a:solidFill>
                <a:latin typeface="Calibri"/>
                <a:cs typeface="Calibri"/>
              </a:rPr>
              <a:t>employeurs</a:t>
            </a:r>
            <a:r>
              <a:rPr sz="1600" spc="-4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D1B0F"/>
                </a:solidFill>
                <a:latin typeface="Calibri"/>
                <a:cs typeface="Calibri"/>
              </a:rPr>
              <a:t>par</a:t>
            </a:r>
            <a:r>
              <a:rPr sz="1600" spc="-9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600" spc="-30" dirty="0">
                <a:solidFill>
                  <a:srgbClr val="1D1B0F"/>
                </a:solidFill>
                <a:latin typeface="Calibri"/>
                <a:cs typeface="Calibri"/>
              </a:rPr>
              <a:t>vengeance.</a:t>
            </a:r>
            <a:r>
              <a:rPr sz="1600" spc="-3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D1B0F"/>
                </a:solidFill>
                <a:latin typeface="Calibri"/>
                <a:cs typeface="Calibri"/>
              </a:rPr>
              <a:t>Ce</a:t>
            </a:r>
            <a:r>
              <a:rPr sz="1600" spc="-4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1D1B0F"/>
                </a:solidFill>
                <a:latin typeface="Calibri"/>
                <a:cs typeface="Calibri"/>
              </a:rPr>
              <a:t>type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50594" y="6242710"/>
            <a:ext cx="58470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30" dirty="0">
                <a:solidFill>
                  <a:srgbClr val="1D1B0F"/>
                </a:solidFill>
                <a:latin typeface="Calibri"/>
                <a:cs typeface="Calibri"/>
              </a:rPr>
              <a:t>d’intrus</a:t>
            </a:r>
            <a:r>
              <a:rPr sz="1600" spc="-4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D1B0F"/>
                </a:solidFill>
                <a:latin typeface="Calibri"/>
                <a:cs typeface="Calibri"/>
              </a:rPr>
              <a:t>est</a:t>
            </a:r>
            <a:r>
              <a:rPr sz="1600" spc="1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600" spc="-40" dirty="0">
                <a:solidFill>
                  <a:srgbClr val="1D1B0F"/>
                </a:solidFill>
                <a:latin typeface="Calibri"/>
                <a:cs typeface="Calibri"/>
              </a:rPr>
              <a:t>particulièrement</a:t>
            </a:r>
            <a:r>
              <a:rPr sz="1600" spc="-14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1D1B0F"/>
                </a:solidFill>
                <a:latin typeface="Calibri"/>
                <a:cs typeface="Calibri"/>
              </a:rPr>
              <a:t>dangereux</a:t>
            </a:r>
            <a:r>
              <a:rPr sz="1600" spc="3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D1B0F"/>
                </a:solidFill>
                <a:latin typeface="Calibri"/>
                <a:cs typeface="Calibri"/>
              </a:rPr>
              <a:t>par</a:t>
            </a:r>
            <a:r>
              <a:rPr sz="1600" spc="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D1B0F"/>
                </a:solidFill>
                <a:latin typeface="Calibri"/>
                <a:cs typeface="Calibri"/>
              </a:rPr>
              <a:t>sa</a:t>
            </a:r>
            <a:r>
              <a:rPr sz="1600" spc="-2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600" spc="-40" dirty="0">
                <a:solidFill>
                  <a:srgbClr val="1D1B0F"/>
                </a:solidFill>
                <a:latin typeface="Calibri"/>
                <a:cs typeface="Calibri"/>
              </a:rPr>
              <a:t>connaissance</a:t>
            </a:r>
            <a:r>
              <a:rPr sz="1600" spc="-10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1D1B0F"/>
                </a:solidFill>
                <a:latin typeface="Calibri"/>
                <a:cs typeface="Calibri"/>
              </a:rPr>
              <a:t>intime</a:t>
            </a:r>
            <a:r>
              <a:rPr sz="1600" spc="-4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D1B0F"/>
                </a:solidFill>
                <a:latin typeface="Calibri"/>
                <a:cs typeface="Calibri"/>
              </a:rPr>
              <a:t>du</a:t>
            </a:r>
            <a:r>
              <a:rPr sz="1600" spc="-1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1D1B0F"/>
                </a:solidFill>
                <a:latin typeface="Calibri"/>
                <a:cs typeface="Calibri"/>
              </a:rPr>
              <a:t>SI.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233784" y="6297269"/>
            <a:ext cx="118110" cy="245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50" spc="-50" dirty="0">
                <a:solidFill>
                  <a:srgbClr val="858585"/>
                </a:solidFill>
                <a:latin typeface="Calibri"/>
                <a:cs typeface="Calibri"/>
              </a:rPr>
              <a:t>8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442127" y="609702"/>
            <a:ext cx="858266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Pourquoi</a:t>
            </a:r>
            <a:r>
              <a:rPr sz="3600" spc="-180" dirty="0"/>
              <a:t> </a:t>
            </a:r>
            <a:r>
              <a:rPr sz="3600" dirty="0"/>
              <a:t>les</a:t>
            </a:r>
            <a:r>
              <a:rPr sz="3600" spc="-100" dirty="0"/>
              <a:t> </a:t>
            </a:r>
            <a:r>
              <a:rPr sz="3600" dirty="0"/>
              <a:t>pirates</a:t>
            </a:r>
            <a:r>
              <a:rPr sz="3600" spc="-125" dirty="0"/>
              <a:t> </a:t>
            </a:r>
            <a:r>
              <a:rPr sz="3600" dirty="0"/>
              <a:t>s’intéressent</a:t>
            </a:r>
            <a:r>
              <a:rPr sz="3600" spc="-165" dirty="0"/>
              <a:t> </a:t>
            </a:r>
            <a:r>
              <a:rPr sz="3600" dirty="0"/>
              <a:t>aux</a:t>
            </a:r>
            <a:r>
              <a:rPr sz="3600" spc="-130" dirty="0"/>
              <a:t> </a:t>
            </a:r>
            <a:r>
              <a:rPr sz="3600" dirty="0"/>
              <a:t>S.I?</a:t>
            </a:r>
            <a:r>
              <a:rPr sz="3600" spc="-80" dirty="0"/>
              <a:t> </a:t>
            </a:r>
            <a:endParaRPr sz="3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7606" y="1282708"/>
            <a:ext cx="10894695" cy="5267325"/>
          </a:xfrm>
          <a:prstGeom prst="rect">
            <a:avLst/>
          </a:prstGeom>
        </p:spPr>
        <p:txBody>
          <a:bodyPr vert="horz" wrap="square" lIns="0" tIns="131445" rIns="0" bIns="0" rtlCol="0">
            <a:spAutoFit/>
          </a:bodyPr>
          <a:lstStyle/>
          <a:p>
            <a:pPr marL="215265" indent="-209550">
              <a:lnSpc>
                <a:spcPct val="100000"/>
              </a:lnSpc>
              <a:spcBef>
                <a:spcPts val="1035"/>
              </a:spcBef>
              <a:buClr>
                <a:srgbClr val="5B9BD2"/>
              </a:buClr>
              <a:buSzPct val="54385"/>
              <a:buFont typeface="Arial MT"/>
              <a:buChar char="▪"/>
              <a:tabLst>
                <a:tab pos="215265" algn="l"/>
              </a:tabLst>
            </a:pPr>
            <a:r>
              <a:rPr sz="2850" spc="-10" dirty="0">
                <a:solidFill>
                  <a:srgbClr val="1D1B0F"/>
                </a:solidFill>
                <a:latin typeface="Calibri"/>
                <a:cs typeface="Calibri"/>
              </a:rPr>
              <a:t>Publicité</a:t>
            </a:r>
            <a:endParaRPr sz="2850">
              <a:latin typeface="Calibri"/>
              <a:cs typeface="Calibri"/>
            </a:endParaRPr>
          </a:p>
          <a:p>
            <a:pPr marL="781685" marR="773430" lvl="1" indent="-236220" algn="just">
              <a:lnSpc>
                <a:spcPts val="2050"/>
              </a:lnSpc>
              <a:spcBef>
                <a:spcPts val="890"/>
              </a:spcBef>
              <a:buFont typeface="Arial MT"/>
              <a:buChar char="•"/>
              <a:tabLst>
                <a:tab pos="783590" algn="l"/>
              </a:tabLst>
            </a:pP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Un</a:t>
            </a:r>
            <a:r>
              <a:rPr sz="1900" spc="4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intrus</a:t>
            </a:r>
            <a:r>
              <a:rPr sz="1900" spc="5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peut</a:t>
            </a:r>
            <a:r>
              <a:rPr sz="1900" spc="6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1D1B0F"/>
                </a:solidFill>
                <a:latin typeface="Calibri"/>
                <a:cs typeface="Calibri"/>
              </a:rPr>
              <a:t>attaquer</a:t>
            </a:r>
            <a:r>
              <a:rPr sz="1900" spc="4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un</a:t>
            </a:r>
            <a:r>
              <a:rPr sz="1900" spc="4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réseau</a:t>
            </a:r>
            <a:r>
              <a:rPr sz="1900" spc="8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ou</a:t>
            </a:r>
            <a:r>
              <a:rPr sz="1900" spc="4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une</a:t>
            </a:r>
            <a:r>
              <a:rPr sz="1900" spc="5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1D1B0F"/>
                </a:solidFill>
                <a:latin typeface="Calibri"/>
                <a:cs typeface="Calibri"/>
              </a:rPr>
              <a:t>application</a:t>
            </a:r>
            <a:r>
              <a:rPr sz="1900" spc="4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pour</a:t>
            </a:r>
            <a:r>
              <a:rPr sz="1900" spc="4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se</a:t>
            </a:r>
            <a:r>
              <a:rPr sz="1900" spc="4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faire</a:t>
            </a:r>
            <a:r>
              <a:rPr sz="1900" spc="4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connaître</a:t>
            </a:r>
            <a:r>
              <a:rPr sz="1900" spc="3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auprès</a:t>
            </a:r>
            <a:r>
              <a:rPr sz="1900" spc="4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du</a:t>
            </a:r>
            <a:r>
              <a:rPr sz="1900" spc="5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1D1B0F"/>
                </a:solidFill>
                <a:latin typeface="Calibri"/>
                <a:cs typeface="Calibri"/>
              </a:rPr>
              <a:t>public 	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ou</a:t>
            </a:r>
            <a:r>
              <a:rPr sz="1900" spc="46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pour</a:t>
            </a:r>
            <a:r>
              <a:rPr sz="1900" spc="45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se</a:t>
            </a:r>
            <a:r>
              <a:rPr sz="1900" spc="47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faire</a:t>
            </a:r>
            <a:r>
              <a:rPr sz="1900" spc="48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de</a:t>
            </a:r>
            <a:r>
              <a:rPr sz="1900" spc="459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la</a:t>
            </a:r>
            <a:r>
              <a:rPr sz="1900" spc="49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publicité</a:t>
            </a:r>
            <a:r>
              <a:rPr sz="1900" spc="46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pour</a:t>
            </a:r>
            <a:r>
              <a:rPr sz="1900" spc="46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ses</a:t>
            </a:r>
            <a:r>
              <a:rPr sz="1900" spc="47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propres</a:t>
            </a:r>
            <a:r>
              <a:rPr sz="1900" spc="47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services.</a:t>
            </a:r>
            <a:r>
              <a:rPr sz="1900" spc="47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Les</a:t>
            </a:r>
            <a:r>
              <a:rPr sz="1900" spc="49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intrus</a:t>
            </a:r>
            <a:r>
              <a:rPr sz="1900" spc="484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à</a:t>
            </a:r>
            <a:r>
              <a:rPr sz="1900" spc="47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la</a:t>
            </a:r>
            <a:r>
              <a:rPr sz="1900" spc="49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recherche</a:t>
            </a:r>
            <a:r>
              <a:rPr sz="1900" spc="47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spc="-25" dirty="0">
                <a:solidFill>
                  <a:srgbClr val="1D1B0F"/>
                </a:solidFill>
                <a:latin typeface="Calibri"/>
                <a:cs typeface="Calibri"/>
              </a:rPr>
              <a:t>de 	</a:t>
            </a:r>
            <a:r>
              <a:rPr sz="1900" spc="-35" dirty="0">
                <a:solidFill>
                  <a:srgbClr val="1D1B0F"/>
                </a:solidFill>
                <a:latin typeface="Calibri"/>
                <a:cs typeface="Calibri"/>
              </a:rPr>
              <a:t>publicité</a:t>
            </a:r>
            <a:r>
              <a:rPr sz="1900" spc="-4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1D1B0F"/>
                </a:solidFill>
                <a:latin typeface="Calibri"/>
                <a:cs typeface="Calibri"/>
              </a:rPr>
              <a:t>font</a:t>
            </a:r>
            <a:r>
              <a:rPr sz="1900" spc="-4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spc="-25" dirty="0">
                <a:solidFill>
                  <a:srgbClr val="1D1B0F"/>
                </a:solidFill>
                <a:latin typeface="Calibri"/>
                <a:cs typeface="Calibri"/>
              </a:rPr>
              <a:t>souvent</a:t>
            </a:r>
            <a:r>
              <a:rPr sz="1900" spc="-6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spc="-30" dirty="0">
                <a:solidFill>
                  <a:srgbClr val="1D1B0F"/>
                </a:solidFill>
                <a:latin typeface="Calibri"/>
                <a:cs typeface="Calibri"/>
              </a:rPr>
              <a:t>état</a:t>
            </a:r>
            <a:r>
              <a:rPr sz="1900" spc="-9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de</a:t>
            </a:r>
            <a:r>
              <a:rPr sz="1900" spc="-5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1D1B0F"/>
                </a:solidFill>
                <a:latin typeface="Calibri"/>
                <a:cs typeface="Calibri"/>
              </a:rPr>
              <a:t>leurs</a:t>
            </a:r>
            <a:r>
              <a:rPr sz="1900" spc="-5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1D1B0F"/>
                </a:solidFill>
                <a:latin typeface="Calibri"/>
                <a:cs typeface="Calibri"/>
              </a:rPr>
              <a:t>attaques.</a:t>
            </a:r>
            <a:endParaRPr sz="1900">
              <a:latin typeface="Calibri"/>
              <a:cs typeface="Calibri"/>
            </a:endParaRPr>
          </a:p>
          <a:p>
            <a:pPr marL="215900" indent="-209550">
              <a:lnSpc>
                <a:spcPct val="100000"/>
              </a:lnSpc>
              <a:spcBef>
                <a:spcPts val="545"/>
              </a:spcBef>
              <a:buClr>
                <a:srgbClr val="5B9BD2"/>
              </a:buClr>
              <a:buSzPct val="54385"/>
              <a:buFont typeface="Arial MT"/>
              <a:buChar char="▪"/>
              <a:tabLst>
                <a:tab pos="215900" algn="l"/>
              </a:tabLst>
            </a:pPr>
            <a:r>
              <a:rPr sz="2850" spc="-10" dirty="0">
                <a:solidFill>
                  <a:srgbClr val="1D1B0F"/>
                </a:solidFill>
                <a:latin typeface="Calibri"/>
                <a:cs typeface="Calibri"/>
              </a:rPr>
              <a:t>Espionnage</a:t>
            </a:r>
            <a:endParaRPr sz="2850">
              <a:latin typeface="Calibri"/>
              <a:cs typeface="Calibri"/>
            </a:endParaRPr>
          </a:p>
          <a:p>
            <a:pPr marL="783590" lvl="1" indent="-240665">
              <a:lnSpc>
                <a:spcPts val="2240"/>
              </a:lnSpc>
              <a:spcBef>
                <a:spcPts val="484"/>
              </a:spcBef>
              <a:buFont typeface="Arial MT"/>
              <a:buChar char="•"/>
              <a:tabLst>
                <a:tab pos="783590" algn="l"/>
              </a:tabLst>
            </a:pP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Un</a:t>
            </a:r>
            <a:r>
              <a:rPr sz="1900" spc="4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intrus</a:t>
            </a:r>
            <a:r>
              <a:rPr sz="1900" spc="5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peut</a:t>
            </a:r>
            <a:r>
              <a:rPr sz="1900" spc="5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espionner</a:t>
            </a:r>
            <a:r>
              <a:rPr sz="1900" spc="4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une</a:t>
            </a:r>
            <a:r>
              <a:rPr sz="1900" spc="5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1D1B0F"/>
                </a:solidFill>
                <a:latin typeface="Calibri"/>
                <a:cs typeface="Calibri"/>
              </a:rPr>
              <a:t>organisation</a:t>
            </a:r>
            <a:r>
              <a:rPr sz="1900" spc="3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ou</a:t>
            </a:r>
            <a:r>
              <a:rPr sz="1900" spc="5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un</a:t>
            </a:r>
            <a:r>
              <a:rPr sz="1900" spc="3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1D1B0F"/>
                </a:solidFill>
                <a:latin typeface="Calibri"/>
                <a:cs typeface="Calibri"/>
              </a:rPr>
              <a:t>gouvernement</a:t>
            </a:r>
            <a:r>
              <a:rPr sz="1900" spc="3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afin</a:t>
            </a:r>
            <a:r>
              <a:rPr sz="1900" spc="3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spc="-30" dirty="0">
                <a:solidFill>
                  <a:srgbClr val="1D1B0F"/>
                </a:solidFill>
                <a:latin typeface="Calibri"/>
                <a:cs typeface="Calibri"/>
              </a:rPr>
              <a:t>d’obtenir</a:t>
            </a:r>
            <a:r>
              <a:rPr sz="1900" spc="2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des</a:t>
            </a:r>
            <a:r>
              <a:rPr sz="1900" spc="3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secrets.</a:t>
            </a:r>
            <a:r>
              <a:rPr sz="1900" spc="4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spc="-25" dirty="0">
                <a:solidFill>
                  <a:srgbClr val="1D1B0F"/>
                </a:solidFill>
                <a:latin typeface="Calibri"/>
                <a:cs typeface="Calibri"/>
              </a:rPr>
              <a:t>Ce</a:t>
            </a:r>
            <a:endParaRPr sz="1900">
              <a:latin typeface="Calibri"/>
              <a:cs typeface="Calibri"/>
            </a:endParaRPr>
          </a:p>
          <a:p>
            <a:pPr marL="783590">
              <a:lnSpc>
                <a:spcPts val="2240"/>
              </a:lnSpc>
            </a:pP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type</a:t>
            </a:r>
            <a:r>
              <a:rPr sz="1900" spc="-10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1D1B0F"/>
                </a:solidFill>
                <a:latin typeface="Calibri"/>
                <a:cs typeface="Calibri"/>
              </a:rPr>
              <a:t>d’intrus</a:t>
            </a:r>
            <a:r>
              <a:rPr sz="1900" spc="-4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est</a:t>
            </a:r>
            <a:r>
              <a:rPr sz="1900" spc="-8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1D1B0F"/>
                </a:solidFill>
                <a:latin typeface="Calibri"/>
                <a:cs typeface="Calibri"/>
              </a:rPr>
              <a:t>souvent motivé</a:t>
            </a:r>
            <a:r>
              <a:rPr sz="1900" spc="-4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par</a:t>
            </a:r>
            <a:r>
              <a:rPr sz="1900" spc="-2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le</a:t>
            </a:r>
            <a:r>
              <a:rPr sz="1900" spc="-6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1D1B0F"/>
                </a:solidFill>
                <a:latin typeface="Calibri"/>
                <a:cs typeface="Calibri"/>
              </a:rPr>
              <a:t>patriotisme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 ou</a:t>
            </a:r>
            <a:r>
              <a:rPr sz="1900" spc="-6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spc="-70" dirty="0">
                <a:solidFill>
                  <a:srgbClr val="1D1B0F"/>
                </a:solidFill>
                <a:latin typeface="Calibri"/>
                <a:cs typeface="Calibri"/>
              </a:rPr>
              <a:t>l’appât</a:t>
            </a:r>
            <a:r>
              <a:rPr sz="1900" spc="-8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du</a:t>
            </a:r>
            <a:r>
              <a:rPr sz="1900" spc="-9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1D1B0F"/>
                </a:solidFill>
                <a:latin typeface="Calibri"/>
                <a:cs typeface="Calibri"/>
              </a:rPr>
              <a:t>gain.</a:t>
            </a:r>
            <a:endParaRPr sz="1900">
              <a:latin typeface="Calibri"/>
              <a:cs typeface="Calibri"/>
            </a:endParaRPr>
          </a:p>
          <a:p>
            <a:pPr marL="215900" indent="-209550">
              <a:lnSpc>
                <a:spcPct val="100000"/>
              </a:lnSpc>
              <a:spcBef>
                <a:spcPts val="575"/>
              </a:spcBef>
              <a:buClr>
                <a:srgbClr val="5B9BD2"/>
              </a:buClr>
              <a:buSzPct val="54385"/>
              <a:buFont typeface="Arial MT"/>
              <a:buChar char="▪"/>
              <a:tabLst>
                <a:tab pos="215900" algn="l"/>
              </a:tabLst>
            </a:pPr>
            <a:r>
              <a:rPr sz="2850" spc="-10" dirty="0">
                <a:solidFill>
                  <a:srgbClr val="1D1B0F"/>
                </a:solidFill>
                <a:latin typeface="Calibri"/>
                <a:cs typeface="Calibri"/>
              </a:rPr>
              <a:t>Terrorisme.</a:t>
            </a:r>
            <a:endParaRPr sz="2850">
              <a:latin typeface="Calibri"/>
              <a:cs typeface="Calibri"/>
            </a:endParaRPr>
          </a:p>
          <a:p>
            <a:pPr marL="781685" marR="777875" lvl="1" indent="-236220" algn="just">
              <a:lnSpc>
                <a:spcPts val="2050"/>
              </a:lnSpc>
              <a:spcBef>
                <a:spcPts val="894"/>
              </a:spcBef>
              <a:buFont typeface="Arial MT"/>
              <a:buChar char="•"/>
              <a:tabLst>
                <a:tab pos="783590" algn="l"/>
              </a:tabLst>
            </a:pP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Un</a:t>
            </a:r>
            <a:r>
              <a:rPr sz="1900" spc="31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intrus</a:t>
            </a:r>
            <a:r>
              <a:rPr sz="1900" spc="31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peut</a:t>
            </a:r>
            <a:r>
              <a:rPr sz="1900" spc="30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attaquer</a:t>
            </a:r>
            <a:r>
              <a:rPr sz="1900" spc="31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un</a:t>
            </a:r>
            <a:r>
              <a:rPr sz="1900" spc="30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réseau</a:t>
            </a:r>
            <a:r>
              <a:rPr sz="1900" spc="31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dans</a:t>
            </a:r>
            <a:r>
              <a:rPr sz="1900" spc="31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le</a:t>
            </a:r>
            <a:r>
              <a:rPr sz="1900" spc="31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cadre</a:t>
            </a:r>
            <a:r>
              <a:rPr sz="1900" spc="31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d’une</a:t>
            </a:r>
            <a:r>
              <a:rPr sz="1900" spc="30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opération</a:t>
            </a:r>
            <a:r>
              <a:rPr sz="1900" spc="31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de</a:t>
            </a:r>
            <a:r>
              <a:rPr sz="1900" spc="30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terrorisme</a:t>
            </a:r>
            <a:r>
              <a:rPr sz="1900" spc="31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d’état</a:t>
            </a:r>
            <a:r>
              <a:rPr sz="1900" spc="30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spc="-25" dirty="0">
                <a:solidFill>
                  <a:srgbClr val="1D1B0F"/>
                </a:solidFill>
                <a:latin typeface="Calibri"/>
                <a:cs typeface="Calibri"/>
              </a:rPr>
              <a:t>ou 	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émanant</a:t>
            </a:r>
            <a:r>
              <a:rPr sz="1900" spc="23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d’un</a:t>
            </a:r>
            <a:r>
              <a:rPr sz="1900" spc="23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groupe.</a:t>
            </a:r>
            <a:r>
              <a:rPr sz="1900" spc="22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Il</a:t>
            </a:r>
            <a:r>
              <a:rPr sz="1900" spc="23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s’agit</a:t>
            </a:r>
            <a:r>
              <a:rPr sz="1900" spc="23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des</a:t>
            </a:r>
            <a:r>
              <a:rPr sz="1900" spc="22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types</a:t>
            </a:r>
            <a:r>
              <a:rPr sz="1900" spc="24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d’intrus</a:t>
            </a:r>
            <a:r>
              <a:rPr sz="1900" spc="24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les</a:t>
            </a:r>
            <a:r>
              <a:rPr sz="1900" spc="229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plus</a:t>
            </a:r>
            <a:r>
              <a:rPr sz="1900" spc="22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graves</a:t>
            </a:r>
            <a:r>
              <a:rPr sz="1900" spc="24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car</a:t>
            </a:r>
            <a:r>
              <a:rPr sz="1900" spc="23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il</a:t>
            </a:r>
            <a:r>
              <a:rPr sz="1900" spc="25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se</a:t>
            </a:r>
            <a:r>
              <a:rPr sz="1900" spc="21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peut</a:t>
            </a:r>
            <a:r>
              <a:rPr sz="1900" spc="22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que</a:t>
            </a:r>
            <a:r>
              <a:rPr sz="1900" spc="24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des</a:t>
            </a:r>
            <a:r>
              <a:rPr sz="1900" spc="22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1D1B0F"/>
                </a:solidFill>
                <a:latin typeface="Calibri"/>
                <a:cs typeface="Calibri"/>
              </a:rPr>
              <a:t>vies 	humaines</a:t>
            </a:r>
            <a:r>
              <a:rPr sz="1900" spc="-9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spc="-25" dirty="0">
                <a:solidFill>
                  <a:srgbClr val="1D1B0F"/>
                </a:solidFill>
                <a:latin typeface="Calibri"/>
                <a:cs typeface="Calibri"/>
              </a:rPr>
              <a:t>soient</a:t>
            </a:r>
            <a:r>
              <a:rPr sz="1900" spc="-4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alors</a:t>
            </a:r>
            <a:r>
              <a:rPr sz="1900" spc="-4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en</a:t>
            </a:r>
            <a:r>
              <a:rPr sz="1900" spc="-9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1D1B0F"/>
                </a:solidFill>
                <a:latin typeface="Calibri"/>
                <a:cs typeface="Calibri"/>
              </a:rPr>
              <a:t>danger.</a:t>
            </a:r>
            <a:endParaRPr sz="1900">
              <a:latin typeface="Calibri"/>
              <a:cs typeface="Calibri"/>
            </a:endParaRPr>
          </a:p>
          <a:p>
            <a:pPr marL="201930">
              <a:lnSpc>
                <a:spcPct val="100000"/>
              </a:lnSpc>
              <a:spcBef>
                <a:spcPts val="1950"/>
              </a:spcBef>
            </a:pP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Les</a:t>
            </a:r>
            <a:r>
              <a:rPr sz="2400" b="1" spc="-1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-30" dirty="0">
                <a:solidFill>
                  <a:srgbClr val="FF0000"/>
                </a:solidFill>
                <a:latin typeface="Calibri"/>
                <a:cs typeface="Calibri"/>
              </a:rPr>
              <a:t>intrus,</a:t>
            </a:r>
            <a:r>
              <a:rPr sz="2400" b="1" spc="-10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Calibri"/>
                <a:cs typeface="Calibri"/>
              </a:rPr>
              <a:t>quelles</a:t>
            </a:r>
            <a:r>
              <a:rPr sz="2400" b="1" spc="-9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que</a:t>
            </a:r>
            <a:r>
              <a:rPr sz="2400" b="1" spc="-7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FF0000"/>
                </a:solidFill>
                <a:latin typeface="Calibri"/>
                <a:cs typeface="Calibri"/>
              </a:rPr>
              <a:t>soient</a:t>
            </a:r>
            <a:r>
              <a:rPr sz="2400" b="1" spc="-9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FF0000"/>
                </a:solidFill>
                <a:latin typeface="Calibri"/>
                <a:cs typeface="Calibri"/>
              </a:rPr>
              <a:t>leurs</a:t>
            </a:r>
            <a:r>
              <a:rPr sz="2400" b="1" spc="-1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-30" dirty="0">
                <a:solidFill>
                  <a:srgbClr val="FF0000"/>
                </a:solidFill>
                <a:latin typeface="Calibri"/>
                <a:cs typeface="Calibri"/>
              </a:rPr>
              <a:t>aptitudes</a:t>
            </a:r>
            <a:r>
              <a:rPr sz="2400" b="1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et</a:t>
            </a:r>
            <a:r>
              <a:rPr sz="2400" b="1" spc="-10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Calibri"/>
                <a:cs typeface="Calibri"/>
              </a:rPr>
              <a:t>leurs</a:t>
            </a:r>
            <a:r>
              <a:rPr sz="2400" b="1" spc="-9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-45" dirty="0">
                <a:solidFill>
                  <a:srgbClr val="FF0000"/>
                </a:solidFill>
                <a:latin typeface="Calibri"/>
                <a:cs typeface="Calibri"/>
              </a:rPr>
              <a:t>motivations,</a:t>
            </a:r>
            <a:r>
              <a:rPr sz="2400" b="1" spc="-9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FF0000"/>
                </a:solidFill>
                <a:latin typeface="Calibri"/>
                <a:cs typeface="Calibri"/>
              </a:rPr>
              <a:t>sont</a:t>
            </a:r>
            <a:endParaRPr sz="2400">
              <a:latin typeface="Calibri"/>
              <a:cs typeface="Calibri"/>
            </a:endParaRPr>
          </a:p>
          <a:p>
            <a:pPr marL="1451610">
              <a:lnSpc>
                <a:spcPct val="100000"/>
              </a:lnSpc>
              <a:spcBef>
                <a:spcPts val="120"/>
              </a:spcBef>
            </a:pPr>
            <a:r>
              <a:rPr sz="2400" b="1" spc="-45" dirty="0">
                <a:solidFill>
                  <a:srgbClr val="FF0000"/>
                </a:solidFill>
                <a:latin typeface="Calibri"/>
                <a:cs typeface="Calibri"/>
              </a:rPr>
              <a:t>dangereux</a:t>
            </a:r>
            <a:r>
              <a:rPr sz="2400" b="1" spc="-9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pour</a:t>
            </a:r>
            <a:r>
              <a:rPr sz="2400" b="1" spc="-10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la</a:t>
            </a:r>
            <a:r>
              <a:rPr sz="2400" b="1" spc="-8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-30" dirty="0">
                <a:solidFill>
                  <a:srgbClr val="FF0000"/>
                </a:solidFill>
                <a:latin typeface="Calibri"/>
                <a:cs typeface="Calibri"/>
              </a:rPr>
              <a:t>sécurité</a:t>
            </a:r>
            <a:r>
              <a:rPr sz="2400" b="1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du</a:t>
            </a:r>
            <a:r>
              <a:rPr sz="2400" b="1" spc="-9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-50" dirty="0">
                <a:solidFill>
                  <a:srgbClr val="FF0000"/>
                </a:solidFill>
                <a:latin typeface="Calibri"/>
                <a:cs typeface="Calibri"/>
              </a:rPr>
              <a:t>système</a:t>
            </a:r>
            <a:r>
              <a:rPr sz="2400" b="1" spc="-8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Calibri"/>
                <a:cs typeface="Calibri"/>
              </a:rPr>
              <a:t>d’information</a:t>
            </a:r>
            <a:endParaRPr sz="240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  <a:spcBef>
                <a:spcPts val="340"/>
              </a:spcBef>
            </a:pPr>
            <a:r>
              <a:rPr sz="1450" spc="-50" dirty="0">
                <a:solidFill>
                  <a:srgbClr val="858585"/>
                </a:solidFill>
                <a:latin typeface="Calibri"/>
                <a:cs typeface="Calibri"/>
              </a:rPr>
              <a:t>9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95400" y="688277"/>
            <a:ext cx="858266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Pourquoi</a:t>
            </a:r>
            <a:r>
              <a:rPr sz="3600" spc="-180" dirty="0"/>
              <a:t> </a:t>
            </a:r>
            <a:r>
              <a:rPr sz="3600" dirty="0"/>
              <a:t>les</a:t>
            </a:r>
            <a:r>
              <a:rPr sz="3600" spc="-100" dirty="0"/>
              <a:t> </a:t>
            </a:r>
            <a:r>
              <a:rPr sz="3600" dirty="0"/>
              <a:t>pirates</a:t>
            </a:r>
            <a:r>
              <a:rPr sz="3600" spc="-125" dirty="0"/>
              <a:t> </a:t>
            </a:r>
            <a:r>
              <a:rPr sz="3600" dirty="0"/>
              <a:t>s’intéressent</a:t>
            </a:r>
            <a:r>
              <a:rPr sz="3600" spc="-165" dirty="0"/>
              <a:t> </a:t>
            </a:r>
            <a:r>
              <a:rPr sz="3600" dirty="0"/>
              <a:t>aux</a:t>
            </a:r>
            <a:r>
              <a:rPr sz="3600" spc="-130" dirty="0"/>
              <a:t> </a:t>
            </a:r>
            <a:r>
              <a:rPr sz="3600" dirty="0"/>
              <a:t>S.I?</a:t>
            </a:r>
            <a:r>
              <a:rPr sz="3600" spc="-80" dirty="0"/>
              <a:t> </a:t>
            </a:r>
            <a:r>
              <a:rPr sz="3600" spc="-10" dirty="0"/>
              <a:t>(</a:t>
            </a:r>
            <a:endParaRPr sz="3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531856" y="6381089"/>
            <a:ext cx="202565" cy="245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50" spc="-25" dirty="0">
                <a:solidFill>
                  <a:srgbClr val="858585"/>
                </a:solidFill>
                <a:latin typeface="Calibri"/>
                <a:cs typeface="Calibri"/>
              </a:rPr>
              <a:t>10</a:t>
            </a:r>
            <a:endParaRPr sz="145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26792" y="1386839"/>
            <a:ext cx="7196328" cy="532485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3435" rIns="0" bIns="0" rtlCol="0">
            <a:spAutoFit/>
          </a:bodyPr>
          <a:lstStyle/>
          <a:p>
            <a:pPr marL="1240155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Impacts</a:t>
            </a:r>
            <a:r>
              <a:rPr sz="3600" spc="-125" dirty="0"/>
              <a:t> </a:t>
            </a:r>
            <a:r>
              <a:rPr sz="3600" dirty="0"/>
              <a:t>de</a:t>
            </a:r>
            <a:r>
              <a:rPr sz="3600" spc="-135" dirty="0"/>
              <a:t> </a:t>
            </a:r>
            <a:r>
              <a:rPr sz="3600" dirty="0"/>
              <a:t>la</a:t>
            </a:r>
            <a:r>
              <a:rPr sz="3600" spc="-150" dirty="0"/>
              <a:t> </a:t>
            </a:r>
            <a:r>
              <a:rPr sz="3600" dirty="0"/>
              <a:t>Sécurité</a:t>
            </a:r>
            <a:r>
              <a:rPr sz="3600" spc="-180" dirty="0"/>
              <a:t> </a:t>
            </a:r>
            <a:r>
              <a:rPr sz="3600" spc="-10" dirty="0"/>
              <a:t>Informatique</a:t>
            </a:r>
            <a:r>
              <a:rPr sz="3600" spc="-110" dirty="0"/>
              <a:t> </a:t>
            </a:r>
            <a:r>
              <a:rPr sz="3600" spc="-10" dirty="0"/>
              <a:t>(1/2)</a:t>
            </a:r>
            <a:endParaRPr sz="3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93114" y="1375695"/>
            <a:ext cx="10057765" cy="5309235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254000" indent="-254000">
              <a:lnSpc>
                <a:spcPct val="100000"/>
              </a:lnSpc>
              <a:spcBef>
                <a:spcPts val="645"/>
              </a:spcBef>
              <a:buClr>
                <a:srgbClr val="5B9BD2"/>
              </a:buClr>
              <a:buSzPct val="66666"/>
              <a:buFont typeface="Arial MT"/>
              <a:buChar char="▪"/>
              <a:tabLst>
                <a:tab pos="254000" algn="l"/>
              </a:tabLst>
            </a:pPr>
            <a:r>
              <a:rPr sz="2850" dirty="0">
                <a:solidFill>
                  <a:srgbClr val="1D1B0F"/>
                </a:solidFill>
                <a:latin typeface="Calibri"/>
                <a:cs typeface="Calibri"/>
              </a:rPr>
              <a:t>Impact</a:t>
            </a:r>
            <a:r>
              <a:rPr sz="2850" spc="-12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850" dirty="0">
                <a:solidFill>
                  <a:srgbClr val="1D1B0F"/>
                </a:solidFill>
                <a:latin typeface="Calibri"/>
                <a:cs typeface="Calibri"/>
              </a:rPr>
              <a:t>sur</a:t>
            </a:r>
            <a:r>
              <a:rPr sz="2850" spc="-4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850" dirty="0">
                <a:solidFill>
                  <a:srgbClr val="1D1B0F"/>
                </a:solidFill>
                <a:latin typeface="Calibri"/>
                <a:cs typeface="Calibri"/>
              </a:rPr>
              <a:t>l’image</a:t>
            </a:r>
            <a:r>
              <a:rPr sz="2850" spc="-10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850" dirty="0">
                <a:solidFill>
                  <a:srgbClr val="1D1B0F"/>
                </a:solidFill>
                <a:latin typeface="Calibri"/>
                <a:cs typeface="Calibri"/>
              </a:rPr>
              <a:t>/</a:t>
            </a:r>
            <a:r>
              <a:rPr sz="2850" spc="-3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850" dirty="0">
                <a:solidFill>
                  <a:srgbClr val="1D1B0F"/>
                </a:solidFill>
                <a:latin typeface="Calibri"/>
                <a:cs typeface="Calibri"/>
              </a:rPr>
              <a:t>le</a:t>
            </a:r>
            <a:r>
              <a:rPr sz="2850" spc="-2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850" spc="-25" dirty="0">
                <a:solidFill>
                  <a:srgbClr val="1D1B0F"/>
                </a:solidFill>
                <a:latin typeface="Calibri"/>
                <a:cs typeface="Calibri"/>
              </a:rPr>
              <a:t>caractère/</a:t>
            </a:r>
            <a:r>
              <a:rPr sz="2850" spc="-4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850" dirty="0">
                <a:solidFill>
                  <a:srgbClr val="1D1B0F"/>
                </a:solidFill>
                <a:latin typeface="Calibri"/>
                <a:cs typeface="Calibri"/>
              </a:rPr>
              <a:t>la</a:t>
            </a:r>
            <a:r>
              <a:rPr sz="2850" spc="-6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850" dirty="0">
                <a:solidFill>
                  <a:srgbClr val="1D1B0F"/>
                </a:solidFill>
                <a:latin typeface="Calibri"/>
                <a:cs typeface="Calibri"/>
              </a:rPr>
              <a:t>vie</a:t>
            </a:r>
            <a:r>
              <a:rPr sz="2850" spc="-4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850" spc="-10" dirty="0">
                <a:solidFill>
                  <a:srgbClr val="1D1B0F"/>
                </a:solidFill>
                <a:latin typeface="Calibri"/>
                <a:cs typeface="Calibri"/>
              </a:rPr>
              <a:t>privée</a:t>
            </a:r>
            <a:endParaRPr sz="2850">
              <a:latin typeface="Calibri"/>
              <a:cs typeface="Calibri"/>
            </a:endParaRPr>
          </a:p>
          <a:p>
            <a:pPr marL="821690" lvl="1" indent="-240665">
              <a:lnSpc>
                <a:spcPct val="100000"/>
              </a:lnSpc>
              <a:spcBef>
                <a:spcPts val="375"/>
              </a:spcBef>
              <a:buFont typeface="Arial MT"/>
              <a:buChar char="•"/>
              <a:tabLst>
                <a:tab pos="821690" algn="l"/>
              </a:tabLst>
            </a:pPr>
            <a:r>
              <a:rPr sz="1900" spc="-40" dirty="0">
                <a:solidFill>
                  <a:srgbClr val="1D1B0F"/>
                </a:solidFill>
                <a:latin typeface="Calibri"/>
                <a:cs typeface="Calibri"/>
              </a:rPr>
              <a:t>Diffamation</a:t>
            </a:r>
            <a:r>
              <a:rPr sz="1900" spc="-6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/</a:t>
            </a:r>
            <a:r>
              <a:rPr sz="1900" spc="7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1D1B0F"/>
                </a:solidFill>
                <a:latin typeface="Calibri"/>
                <a:cs typeface="Calibri"/>
              </a:rPr>
              <a:t>Harcèlement</a:t>
            </a:r>
            <a:endParaRPr sz="1900">
              <a:latin typeface="Calibri"/>
              <a:cs typeface="Calibri"/>
            </a:endParaRPr>
          </a:p>
          <a:p>
            <a:pPr marL="821690" lvl="1" indent="-240665">
              <a:lnSpc>
                <a:spcPct val="100000"/>
              </a:lnSpc>
              <a:spcBef>
                <a:spcPts val="25"/>
              </a:spcBef>
              <a:buFont typeface="Arial MT"/>
              <a:buChar char="•"/>
              <a:tabLst>
                <a:tab pos="821690" algn="l"/>
              </a:tabLst>
            </a:pPr>
            <a:r>
              <a:rPr sz="1900" spc="-35" dirty="0">
                <a:solidFill>
                  <a:srgbClr val="1D1B0F"/>
                </a:solidFill>
                <a:latin typeface="Calibri"/>
                <a:cs typeface="Calibri"/>
              </a:rPr>
              <a:t>Divulgation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spc="-35" dirty="0">
                <a:solidFill>
                  <a:srgbClr val="1D1B0F"/>
                </a:solidFill>
                <a:latin typeface="Calibri"/>
                <a:cs typeface="Calibri"/>
              </a:rPr>
              <a:t>d’informations</a:t>
            </a:r>
            <a:r>
              <a:rPr sz="1900" spc="-1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1D1B0F"/>
                </a:solidFill>
                <a:latin typeface="Calibri"/>
                <a:cs typeface="Calibri"/>
              </a:rPr>
              <a:t>personnelles</a:t>
            </a:r>
            <a:endParaRPr sz="1900">
              <a:latin typeface="Calibri"/>
              <a:cs typeface="Calibri"/>
            </a:endParaRPr>
          </a:p>
          <a:p>
            <a:pPr marL="254000" indent="-254000">
              <a:lnSpc>
                <a:spcPct val="100000"/>
              </a:lnSpc>
              <a:spcBef>
                <a:spcPts val="480"/>
              </a:spcBef>
              <a:buClr>
                <a:srgbClr val="5B9BD2"/>
              </a:buClr>
              <a:buSzPct val="66666"/>
              <a:buFont typeface="Arial MT"/>
              <a:buChar char="▪"/>
              <a:tabLst>
                <a:tab pos="254000" algn="l"/>
              </a:tabLst>
            </a:pPr>
            <a:r>
              <a:rPr sz="2850" spc="-10" dirty="0">
                <a:solidFill>
                  <a:srgbClr val="1D1B0F"/>
                </a:solidFill>
                <a:latin typeface="Calibri"/>
                <a:cs typeface="Calibri"/>
              </a:rPr>
              <a:t>Usurpation</a:t>
            </a:r>
            <a:r>
              <a:rPr sz="2850" spc="-15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850" spc="-10" dirty="0">
                <a:solidFill>
                  <a:srgbClr val="1D1B0F"/>
                </a:solidFill>
                <a:latin typeface="Calibri"/>
                <a:cs typeface="Calibri"/>
              </a:rPr>
              <a:t>d’identité</a:t>
            </a:r>
            <a:endParaRPr sz="2850">
              <a:latin typeface="Calibri"/>
              <a:cs typeface="Calibri"/>
            </a:endParaRPr>
          </a:p>
          <a:p>
            <a:pPr marL="821690" lvl="1" indent="-238125">
              <a:lnSpc>
                <a:spcPts val="2240"/>
              </a:lnSpc>
              <a:spcBef>
                <a:spcPts val="480"/>
              </a:spcBef>
              <a:buFont typeface="Arial MT"/>
              <a:buChar char="•"/>
              <a:tabLst>
                <a:tab pos="821690" algn="l"/>
              </a:tabLst>
            </a:pP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«</a:t>
            </a:r>
            <a:r>
              <a:rPr sz="1900" spc="21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Vol</a:t>
            </a:r>
            <a:r>
              <a:rPr sz="1900" spc="229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»</a:t>
            </a:r>
            <a:r>
              <a:rPr sz="1900" spc="229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et</a:t>
            </a:r>
            <a:r>
              <a:rPr sz="1900" spc="21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réutilisation</a:t>
            </a:r>
            <a:r>
              <a:rPr sz="1900" spc="19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de</a:t>
            </a:r>
            <a:r>
              <a:rPr sz="1900" spc="22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logins/mots</a:t>
            </a:r>
            <a:r>
              <a:rPr sz="1900" spc="204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de</a:t>
            </a:r>
            <a:r>
              <a:rPr sz="1900" spc="19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passe</a:t>
            </a:r>
            <a:r>
              <a:rPr sz="1900" spc="18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pour</a:t>
            </a:r>
            <a:r>
              <a:rPr sz="1900" spc="29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effectuer</a:t>
            </a:r>
            <a:r>
              <a:rPr sz="1900" spc="17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des</a:t>
            </a:r>
            <a:r>
              <a:rPr sz="1900" spc="21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actions</a:t>
            </a:r>
            <a:r>
              <a:rPr sz="1900" spc="229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au</a:t>
            </a:r>
            <a:r>
              <a:rPr sz="1900" spc="18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nom</a:t>
            </a:r>
            <a:r>
              <a:rPr sz="1900" spc="229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de</a:t>
            </a:r>
            <a:r>
              <a:rPr sz="1900" spc="21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spc="-25" dirty="0">
                <a:solidFill>
                  <a:srgbClr val="1D1B0F"/>
                </a:solidFill>
                <a:latin typeface="Calibri"/>
                <a:cs typeface="Calibri"/>
              </a:rPr>
              <a:t>la</a:t>
            </a:r>
            <a:endParaRPr sz="1900">
              <a:latin typeface="Calibri"/>
              <a:cs typeface="Calibri"/>
            </a:endParaRPr>
          </a:p>
          <a:p>
            <a:pPr marL="821690">
              <a:lnSpc>
                <a:spcPts val="2240"/>
              </a:lnSpc>
            </a:pPr>
            <a:r>
              <a:rPr sz="1900" spc="-10" dirty="0">
                <a:solidFill>
                  <a:srgbClr val="1D1B0F"/>
                </a:solidFill>
                <a:latin typeface="Calibri"/>
                <a:cs typeface="Calibri"/>
              </a:rPr>
              <a:t>victime.</a:t>
            </a:r>
            <a:endParaRPr sz="1900">
              <a:latin typeface="Calibri"/>
              <a:cs typeface="Calibri"/>
            </a:endParaRPr>
          </a:p>
          <a:p>
            <a:pPr marL="254000" indent="-254000">
              <a:lnSpc>
                <a:spcPct val="100000"/>
              </a:lnSpc>
              <a:spcBef>
                <a:spcPts val="480"/>
              </a:spcBef>
              <a:buClr>
                <a:srgbClr val="5B9BD2"/>
              </a:buClr>
              <a:buSzPct val="66666"/>
              <a:buFont typeface="Arial MT"/>
              <a:buChar char="▪"/>
              <a:tabLst>
                <a:tab pos="254000" algn="l"/>
              </a:tabLst>
            </a:pPr>
            <a:r>
              <a:rPr sz="2850" dirty="0">
                <a:solidFill>
                  <a:srgbClr val="1D1B0F"/>
                </a:solidFill>
                <a:latin typeface="Calibri"/>
                <a:cs typeface="Calibri"/>
              </a:rPr>
              <a:t>Impacts</a:t>
            </a:r>
            <a:r>
              <a:rPr sz="2850" spc="-114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850" spc="-10" dirty="0">
                <a:solidFill>
                  <a:srgbClr val="1D1B0F"/>
                </a:solidFill>
                <a:latin typeface="Calibri"/>
                <a:cs typeface="Calibri"/>
              </a:rPr>
              <a:t>financiers</a:t>
            </a:r>
            <a:endParaRPr sz="2850">
              <a:latin typeface="Calibri"/>
              <a:cs typeface="Calibri"/>
            </a:endParaRPr>
          </a:p>
          <a:p>
            <a:pPr marL="821690" lvl="1" indent="-240665">
              <a:lnSpc>
                <a:spcPct val="100000"/>
              </a:lnSpc>
              <a:spcBef>
                <a:spcPts val="280"/>
              </a:spcBef>
              <a:buFont typeface="Arial MT"/>
              <a:buChar char="•"/>
              <a:tabLst>
                <a:tab pos="821690" algn="l"/>
              </a:tabLst>
            </a:pP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N°</a:t>
            </a:r>
            <a:r>
              <a:rPr sz="1900" spc="-8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carte</a:t>
            </a:r>
            <a:r>
              <a:rPr sz="1900" spc="-9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spc="-40" dirty="0">
                <a:solidFill>
                  <a:srgbClr val="1D1B0F"/>
                </a:solidFill>
                <a:latin typeface="Calibri"/>
                <a:cs typeface="Calibri"/>
              </a:rPr>
              <a:t>bancaire</a:t>
            </a:r>
            <a:r>
              <a:rPr sz="1900" spc="-7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1D1B0F"/>
                </a:solidFill>
                <a:latin typeface="Calibri"/>
                <a:cs typeface="Calibri"/>
              </a:rPr>
              <a:t>usurpé</a:t>
            </a:r>
            <a:r>
              <a:rPr sz="1900" spc="-2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et</a:t>
            </a:r>
            <a:r>
              <a:rPr sz="1900" spc="-7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spc="-30" dirty="0">
                <a:solidFill>
                  <a:srgbClr val="1D1B0F"/>
                </a:solidFill>
                <a:latin typeface="Calibri"/>
                <a:cs typeface="Calibri"/>
              </a:rPr>
              <a:t>réutilisé</a:t>
            </a:r>
            <a:r>
              <a:rPr sz="1900" spc="-2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pour des</a:t>
            </a:r>
            <a:r>
              <a:rPr sz="1900" spc="-7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achats</a:t>
            </a:r>
            <a:r>
              <a:rPr sz="1900" spc="-6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en</a:t>
            </a:r>
            <a:r>
              <a:rPr sz="1900" spc="-7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1D1B0F"/>
                </a:solidFill>
                <a:latin typeface="Calibri"/>
                <a:cs typeface="Calibri"/>
              </a:rPr>
              <a:t>ligne</a:t>
            </a:r>
            <a:endParaRPr sz="1900">
              <a:latin typeface="Calibri"/>
              <a:cs typeface="Calibri"/>
            </a:endParaRPr>
          </a:p>
          <a:p>
            <a:pPr marL="821690" lvl="1" indent="-240665">
              <a:lnSpc>
                <a:spcPts val="2240"/>
              </a:lnSpc>
              <a:spcBef>
                <a:spcPts val="25"/>
              </a:spcBef>
              <a:buFont typeface="Arial MT"/>
              <a:buChar char="•"/>
              <a:tabLst>
                <a:tab pos="821690" algn="l"/>
              </a:tabLst>
            </a:pPr>
            <a:r>
              <a:rPr sz="1900" spc="-20" dirty="0">
                <a:solidFill>
                  <a:srgbClr val="1D1B0F"/>
                </a:solidFill>
                <a:latin typeface="Calibri"/>
                <a:cs typeface="Calibri"/>
              </a:rPr>
              <a:t>Chantage</a:t>
            </a:r>
            <a:r>
              <a:rPr sz="1900" spc="-4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1D1B0F"/>
                </a:solidFill>
                <a:latin typeface="Calibri"/>
                <a:cs typeface="Calibri"/>
              </a:rPr>
              <a:t>(divulgation</a:t>
            </a:r>
            <a:r>
              <a:rPr sz="1900" spc="2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de</a:t>
            </a:r>
            <a:r>
              <a:rPr sz="1900" spc="-2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photos</a:t>
            </a:r>
            <a:r>
              <a:rPr sz="1900" spc="1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ou</a:t>
            </a:r>
            <a:r>
              <a:rPr sz="1900" spc="-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1D1B0F"/>
                </a:solidFill>
                <a:latin typeface="Calibri"/>
                <a:cs typeface="Calibri"/>
              </a:rPr>
              <a:t>d’informations</a:t>
            </a:r>
            <a:r>
              <a:rPr sz="1900" spc="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spc="-25" dirty="0">
                <a:solidFill>
                  <a:srgbClr val="1D1B0F"/>
                </a:solidFill>
                <a:latin typeface="Calibri"/>
                <a:cs typeface="Calibri"/>
              </a:rPr>
              <a:t>compromettantes</a:t>
            </a:r>
            <a:r>
              <a:rPr sz="1900" spc="2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si</a:t>
            </a:r>
            <a:r>
              <a:rPr sz="1900" spc="-4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non</a:t>
            </a:r>
            <a:r>
              <a:rPr sz="1900" spc="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paiement</a:t>
            </a:r>
            <a:r>
              <a:rPr sz="1900" spc="-3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1D1B0F"/>
                </a:solidFill>
                <a:latin typeface="Calibri"/>
                <a:cs typeface="Calibri"/>
              </a:rPr>
              <a:t>d’une</a:t>
            </a:r>
            <a:endParaRPr sz="1900">
              <a:latin typeface="Calibri"/>
              <a:cs typeface="Calibri"/>
            </a:endParaRPr>
          </a:p>
          <a:p>
            <a:pPr marL="821690">
              <a:lnSpc>
                <a:spcPts val="2240"/>
              </a:lnSpc>
            </a:pPr>
            <a:r>
              <a:rPr sz="1900" spc="-10" dirty="0">
                <a:solidFill>
                  <a:srgbClr val="1D1B0F"/>
                </a:solidFill>
                <a:latin typeface="Calibri"/>
                <a:cs typeface="Calibri"/>
              </a:rPr>
              <a:t>rançon).</a:t>
            </a:r>
            <a:endParaRPr sz="1900">
              <a:latin typeface="Calibri"/>
              <a:cs typeface="Calibri"/>
            </a:endParaRPr>
          </a:p>
          <a:p>
            <a:pPr marL="254000" indent="-254000">
              <a:lnSpc>
                <a:spcPct val="100000"/>
              </a:lnSpc>
              <a:spcBef>
                <a:spcPts val="480"/>
              </a:spcBef>
              <a:buClr>
                <a:srgbClr val="5B9BD2"/>
              </a:buClr>
              <a:buSzPct val="66666"/>
              <a:buFont typeface="Arial MT"/>
              <a:buChar char="▪"/>
              <a:tabLst>
                <a:tab pos="254000" algn="l"/>
              </a:tabLst>
            </a:pPr>
            <a:r>
              <a:rPr sz="2850" spc="-10" dirty="0">
                <a:solidFill>
                  <a:srgbClr val="1D1B0F"/>
                </a:solidFill>
                <a:latin typeface="Calibri"/>
                <a:cs typeface="Calibri"/>
              </a:rPr>
              <a:t>Perte</a:t>
            </a:r>
            <a:r>
              <a:rPr sz="2850" spc="-13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850" spc="-10" dirty="0">
                <a:solidFill>
                  <a:srgbClr val="1D1B0F"/>
                </a:solidFill>
                <a:latin typeface="Calibri"/>
                <a:cs typeface="Calibri"/>
              </a:rPr>
              <a:t>définitive</a:t>
            </a:r>
            <a:r>
              <a:rPr sz="2850" spc="-7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850" dirty="0">
                <a:solidFill>
                  <a:srgbClr val="1D1B0F"/>
                </a:solidFill>
                <a:latin typeface="Calibri"/>
                <a:cs typeface="Calibri"/>
              </a:rPr>
              <a:t>de</a:t>
            </a:r>
            <a:r>
              <a:rPr sz="2850" spc="-9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850" spc="-10" dirty="0">
                <a:solidFill>
                  <a:srgbClr val="1D1B0F"/>
                </a:solidFill>
                <a:latin typeface="Calibri"/>
                <a:cs typeface="Calibri"/>
              </a:rPr>
              <a:t>données</a:t>
            </a:r>
            <a:endParaRPr sz="2850">
              <a:latin typeface="Calibri"/>
              <a:cs typeface="Calibri"/>
            </a:endParaRPr>
          </a:p>
          <a:p>
            <a:pPr marL="821690" marR="714375" lvl="1" indent="-238125">
              <a:lnSpc>
                <a:spcPts val="1930"/>
              </a:lnSpc>
              <a:spcBef>
                <a:spcPts val="840"/>
              </a:spcBef>
              <a:buFont typeface="Arial MT"/>
              <a:buChar char="•"/>
              <a:tabLst>
                <a:tab pos="821690" algn="l"/>
              </a:tabLst>
            </a:pPr>
            <a:r>
              <a:rPr sz="1900" spc="-20" dirty="0">
                <a:solidFill>
                  <a:srgbClr val="1D1B0F"/>
                </a:solidFill>
                <a:latin typeface="Calibri"/>
                <a:cs typeface="Calibri"/>
              </a:rPr>
              <a:t>Malware</a:t>
            </a:r>
            <a:r>
              <a:rPr sz="1900" spc="-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1D1B0F"/>
                </a:solidFill>
                <a:latin typeface="Calibri"/>
                <a:cs typeface="Calibri"/>
              </a:rPr>
              <a:t>récents</a:t>
            </a:r>
            <a:r>
              <a:rPr sz="1900" spc="-6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spc="-25" dirty="0">
                <a:solidFill>
                  <a:srgbClr val="1D1B0F"/>
                </a:solidFill>
                <a:latin typeface="Calibri"/>
                <a:cs typeface="Calibri"/>
              </a:rPr>
              <a:t>(rançongiciel)</a:t>
            </a:r>
            <a:r>
              <a:rPr sz="1900" spc="-3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qui</a:t>
            </a:r>
            <a:r>
              <a:rPr sz="1900" spc="-9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spc="-25" dirty="0">
                <a:solidFill>
                  <a:srgbClr val="1D1B0F"/>
                </a:solidFill>
                <a:latin typeface="Calibri"/>
                <a:cs typeface="Calibri"/>
              </a:rPr>
              <a:t>chiffre</a:t>
            </a:r>
            <a:r>
              <a:rPr sz="1900" spc="-3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les</a:t>
            </a:r>
            <a:r>
              <a:rPr sz="1900" spc="-6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1D1B0F"/>
                </a:solidFill>
                <a:latin typeface="Calibri"/>
                <a:cs typeface="Calibri"/>
              </a:rPr>
              <a:t>données</a:t>
            </a:r>
            <a:r>
              <a:rPr sz="1900" spc="-5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spc="-25" dirty="0">
                <a:solidFill>
                  <a:srgbClr val="1D1B0F"/>
                </a:solidFill>
                <a:latin typeface="Calibri"/>
                <a:cs typeface="Calibri"/>
              </a:rPr>
              <a:t>personnelles</a:t>
            </a:r>
            <a:r>
              <a:rPr sz="1900" spc="-5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puis</a:t>
            </a:r>
            <a:r>
              <a:rPr sz="1900" spc="-8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1D1B0F"/>
                </a:solidFill>
                <a:latin typeface="Calibri"/>
                <a:cs typeface="Calibri"/>
              </a:rPr>
              <a:t>demande</a:t>
            </a:r>
            <a:r>
              <a:rPr sz="1900" spc="-7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à</a:t>
            </a:r>
            <a:r>
              <a:rPr sz="1900" spc="-6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1D1B0F"/>
                </a:solidFill>
                <a:latin typeface="Calibri"/>
                <a:cs typeface="Calibri"/>
              </a:rPr>
              <a:t>leur </a:t>
            </a:r>
            <a:r>
              <a:rPr sz="1900" spc="-40" dirty="0">
                <a:solidFill>
                  <a:srgbClr val="1D1B0F"/>
                </a:solidFill>
                <a:latin typeface="Calibri"/>
                <a:cs typeface="Calibri"/>
              </a:rPr>
              <a:t>propriétaire</a:t>
            </a:r>
            <a:r>
              <a:rPr sz="1900" spc="-5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de</a:t>
            </a:r>
            <a:r>
              <a:rPr sz="1900" spc="-3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spc="-25" dirty="0">
                <a:solidFill>
                  <a:srgbClr val="1D1B0F"/>
                </a:solidFill>
                <a:latin typeface="Calibri"/>
                <a:cs typeface="Calibri"/>
              </a:rPr>
              <a:t>payer</a:t>
            </a:r>
            <a:r>
              <a:rPr sz="1900" spc="-5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une</a:t>
            </a:r>
            <a:r>
              <a:rPr sz="1900" spc="-5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1D1B0F"/>
                </a:solidFill>
                <a:latin typeface="Calibri"/>
                <a:cs typeface="Calibri"/>
              </a:rPr>
              <a:t>rançon</a:t>
            </a:r>
            <a:r>
              <a:rPr sz="1900" spc="-3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1D1B0F"/>
                </a:solidFill>
                <a:latin typeface="Calibri"/>
                <a:cs typeface="Calibri"/>
              </a:rPr>
              <a:t>contre</a:t>
            </a:r>
            <a:r>
              <a:rPr sz="1900" spc="-2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en</a:t>
            </a:r>
            <a:r>
              <a:rPr sz="1900" spc="-6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1D1B0F"/>
                </a:solidFill>
                <a:latin typeface="Calibri"/>
                <a:cs typeface="Calibri"/>
              </a:rPr>
              <a:t>échange</a:t>
            </a:r>
            <a:r>
              <a:rPr sz="1900" spc="-7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de</a:t>
            </a:r>
            <a:r>
              <a:rPr sz="1900" spc="-4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la</a:t>
            </a:r>
            <a:r>
              <a:rPr sz="1900" spc="-7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clé</a:t>
            </a:r>
            <a:r>
              <a:rPr sz="1900" spc="-6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de</a:t>
            </a:r>
            <a:r>
              <a:rPr sz="1900" spc="-6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1D1B0F"/>
                </a:solidFill>
                <a:latin typeface="Calibri"/>
                <a:cs typeface="Calibri"/>
              </a:rPr>
              <a:t>déchiffrement.</a:t>
            </a:r>
            <a:endParaRPr sz="1900">
              <a:latin typeface="Calibri"/>
              <a:cs typeface="Calibri"/>
            </a:endParaRPr>
          </a:p>
          <a:p>
            <a:pPr marL="821690" lvl="1" indent="-240665">
              <a:lnSpc>
                <a:spcPts val="1964"/>
              </a:lnSpc>
              <a:buFont typeface="Arial MT"/>
              <a:buChar char="•"/>
              <a:tabLst>
                <a:tab pos="821690" algn="l"/>
              </a:tabLst>
            </a:pPr>
            <a:r>
              <a:rPr sz="1900" spc="-10" dirty="0">
                <a:solidFill>
                  <a:srgbClr val="1D1B0F"/>
                </a:solidFill>
                <a:latin typeface="Calibri"/>
                <a:cs typeface="Calibri"/>
              </a:rPr>
              <a:t>Connexion</a:t>
            </a:r>
            <a:r>
              <a:rPr sz="1900" spc="1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1D1B0F"/>
                </a:solidFill>
                <a:latin typeface="Calibri"/>
                <a:cs typeface="Calibri"/>
              </a:rPr>
              <a:t>frauduleuse</a:t>
            </a:r>
            <a:r>
              <a:rPr sz="1900" spc="3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à</a:t>
            </a:r>
            <a:r>
              <a:rPr sz="1900" spc="1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un</a:t>
            </a:r>
            <a:r>
              <a:rPr sz="1900" spc="-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compte</a:t>
            </a:r>
            <a:r>
              <a:rPr sz="1900" spc="-3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«</a:t>
            </a:r>
            <a:r>
              <a:rPr sz="1900" spc="4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cloud</a:t>
            </a:r>
            <a:r>
              <a:rPr sz="1900" spc="-2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»</a:t>
            </a:r>
            <a:r>
              <a:rPr sz="1900" spc="2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et</a:t>
            </a:r>
            <a:r>
              <a:rPr sz="1900" spc="-1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1D1B0F"/>
                </a:solidFill>
                <a:latin typeface="Calibri"/>
                <a:cs typeface="Calibri"/>
              </a:rPr>
              <a:t>suppression</a:t>
            </a:r>
            <a:r>
              <a:rPr sz="1900" spc="2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spc="-30" dirty="0">
                <a:solidFill>
                  <a:srgbClr val="1D1B0F"/>
                </a:solidFill>
                <a:latin typeface="Calibri"/>
                <a:cs typeface="Calibri"/>
              </a:rPr>
              <a:t>malveillante</a:t>
            </a:r>
            <a:r>
              <a:rPr sz="1900" spc="3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de</a:t>
            </a:r>
            <a:r>
              <a:rPr sz="1900" spc="2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spc="-45" dirty="0">
                <a:solidFill>
                  <a:srgbClr val="1D1B0F"/>
                </a:solidFill>
                <a:latin typeface="Calibri"/>
                <a:cs typeface="Calibri"/>
              </a:rPr>
              <a:t>l’ensemble</a:t>
            </a:r>
            <a:r>
              <a:rPr sz="1900" spc="-6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1D1B0F"/>
                </a:solidFill>
                <a:latin typeface="Calibri"/>
                <a:cs typeface="Calibri"/>
              </a:rPr>
              <a:t>des</a:t>
            </a:r>
            <a:r>
              <a:rPr sz="2175" spc="-15" baseline="-15325" dirty="0">
                <a:solidFill>
                  <a:srgbClr val="858585"/>
                </a:solidFill>
                <a:latin typeface="Calibri"/>
                <a:cs typeface="Calibri"/>
              </a:rPr>
              <a:t>11</a:t>
            </a:r>
            <a:endParaRPr sz="2175" baseline="-15325">
              <a:latin typeface="Calibri"/>
              <a:cs typeface="Calibri"/>
            </a:endParaRPr>
          </a:p>
          <a:p>
            <a:pPr marL="821690">
              <a:lnSpc>
                <a:spcPct val="100000"/>
              </a:lnSpc>
              <a:spcBef>
                <a:spcPts val="10"/>
              </a:spcBef>
            </a:pPr>
            <a:r>
              <a:rPr sz="1900" spc="-10" dirty="0">
                <a:solidFill>
                  <a:srgbClr val="1D1B0F"/>
                </a:solidFill>
                <a:latin typeface="Calibri"/>
                <a:cs typeface="Calibri"/>
              </a:rPr>
              <a:t>données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594" rIns="0" bIns="0" rtlCol="0">
            <a:spAutoFit/>
          </a:bodyPr>
          <a:lstStyle/>
          <a:p>
            <a:pPr marL="100076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Impacts</a:t>
            </a:r>
            <a:r>
              <a:rPr sz="3600" spc="-125" dirty="0"/>
              <a:t> </a:t>
            </a:r>
            <a:r>
              <a:rPr sz="3600" dirty="0"/>
              <a:t>de</a:t>
            </a:r>
            <a:r>
              <a:rPr sz="3600" spc="-140" dirty="0"/>
              <a:t> </a:t>
            </a:r>
            <a:r>
              <a:rPr sz="3600" dirty="0"/>
              <a:t>la</a:t>
            </a:r>
            <a:r>
              <a:rPr sz="3600" spc="-145" dirty="0"/>
              <a:t> </a:t>
            </a:r>
            <a:r>
              <a:rPr sz="3600" dirty="0"/>
              <a:t>Sécurité</a:t>
            </a:r>
            <a:r>
              <a:rPr sz="3600" spc="-175" dirty="0"/>
              <a:t> </a:t>
            </a:r>
            <a:r>
              <a:rPr sz="3600" spc="-10" dirty="0"/>
              <a:t>Informatique</a:t>
            </a:r>
            <a:r>
              <a:rPr sz="3600" spc="-114" dirty="0"/>
              <a:t> </a:t>
            </a:r>
            <a:r>
              <a:rPr sz="3600" spc="-10" dirty="0"/>
              <a:t>(2/2)</a:t>
            </a:r>
            <a:endParaRPr sz="3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6457166" y="1906523"/>
            <a:ext cx="1461642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985">
              <a:lnSpc>
                <a:spcPct val="100000"/>
              </a:lnSpc>
              <a:spcBef>
                <a:spcPts val="95"/>
              </a:spcBef>
              <a:buSzPct val="83928"/>
              <a:tabLst>
                <a:tab pos="168910" algn="l"/>
              </a:tabLst>
            </a:pPr>
            <a:r>
              <a:rPr sz="2800" b="1" spc="-25" dirty="0">
                <a:solidFill>
                  <a:srgbClr val="1D1B0F"/>
                </a:solidFill>
                <a:latin typeface="Calibri"/>
                <a:cs typeface="Calibri"/>
              </a:rPr>
              <a:t>DIC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63161" y="2243073"/>
            <a:ext cx="5694045" cy="39357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9860" marR="71120" indent="-137160">
              <a:lnSpc>
                <a:spcPct val="150700"/>
              </a:lnSpc>
              <a:spcBef>
                <a:spcPts val="95"/>
              </a:spcBef>
              <a:buSzPct val="88372"/>
              <a:buFont typeface="Calibri"/>
              <a:buChar char="•"/>
              <a:tabLst>
                <a:tab pos="149860" algn="l"/>
              </a:tabLst>
            </a:pPr>
            <a:r>
              <a:rPr sz="2150" b="1" spc="-30" dirty="0">
                <a:solidFill>
                  <a:srgbClr val="1D1B0F"/>
                </a:solidFill>
                <a:latin typeface="Calibri"/>
                <a:cs typeface="Calibri"/>
              </a:rPr>
              <a:t>Disponibilité</a:t>
            </a:r>
            <a:r>
              <a:rPr sz="2150" spc="-30" dirty="0">
                <a:solidFill>
                  <a:srgbClr val="1D1B0F"/>
                </a:solidFill>
                <a:latin typeface="Calibri"/>
                <a:cs typeface="Calibri"/>
              </a:rPr>
              <a:t>:</a:t>
            </a:r>
            <a:r>
              <a:rPr sz="2150" spc="-1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spc="-30" dirty="0">
                <a:solidFill>
                  <a:srgbClr val="1D1B0F"/>
                </a:solidFill>
                <a:latin typeface="Calibri"/>
                <a:cs typeface="Calibri"/>
              </a:rPr>
              <a:t>Propriété</a:t>
            </a:r>
            <a:r>
              <a:rPr sz="2150" spc="2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spc="-20" dirty="0">
                <a:solidFill>
                  <a:srgbClr val="1D1B0F"/>
                </a:solidFill>
                <a:latin typeface="Calibri"/>
                <a:cs typeface="Calibri"/>
              </a:rPr>
              <a:t>d'accessibilité</a:t>
            </a:r>
            <a:r>
              <a:rPr sz="2150" spc="4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1D1B0F"/>
                </a:solidFill>
                <a:latin typeface="Calibri"/>
                <a:cs typeface="Calibri"/>
              </a:rPr>
              <a:t>au</a:t>
            </a:r>
            <a:r>
              <a:rPr sz="2150" spc="-3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spc="-10" dirty="0">
                <a:solidFill>
                  <a:srgbClr val="1D1B0F"/>
                </a:solidFill>
                <a:latin typeface="Calibri"/>
                <a:cs typeface="Calibri"/>
              </a:rPr>
              <a:t>moment </a:t>
            </a:r>
            <a:r>
              <a:rPr sz="2150" dirty="0">
                <a:solidFill>
                  <a:srgbClr val="1D1B0F"/>
                </a:solidFill>
                <a:latin typeface="Calibri"/>
                <a:cs typeface="Calibri"/>
              </a:rPr>
              <a:t>voulu</a:t>
            </a:r>
            <a:r>
              <a:rPr sz="2150" spc="-5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1D1B0F"/>
                </a:solidFill>
                <a:latin typeface="Calibri"/>
                <a:cs typeface="Calibri"/>
              </a:rPr>
              <a:t>des</a:t>
            </a:r>
            <a:r>
              <a:rPr sz="2150" spc="-4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1D1B0F"/>
                </a:solidFill>
                <a:latin typeface="Calibri"/>
                <a:cs typeface="Calibri"/>
              </a:rPr>
              <a:t>biens</a:t>
            </a:r>
            <a:r>
              <a:rPr sz="2150" spc="-4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1D1B0F"/>
                </a:solidFill>
                <a:latin typeface="Calibri"/>
                <a:cs typeface="Calibri"/>
              </a:rPr>
              <a:t>par</a:t>
            </a:r>
            <a:r>
              <a:rPr sz="2150" spc="-6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1D1B0F"/>
                </a:solidFill>
                <a:latin typeface="Calibri"/>
                <a:cs typeface="Calibri"/>
              </a:rPr>
              <a:t>les</a:t>
            </a:r>
            <a:r>
              <a:rPr sz="2150" spc="-6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spc="-10" dirty="0">
                <a:solidFill>
                  <a:srgbClr val="1D1B0F"/>
                </a:solidFill>
                <a:latin typeface="Calibri"/>
                <a:cs typeface="Calibri"/>
              </a:rPr>
              <a:t>personnes.</a:t>
            </a:r>
            <a:endParaRPr sz="2150" dirty="0">
              <a:latin typeface="Calibri"/>
              <a:cs typeface="Calibri"/>
            </a:endParaRPr>
          </a:p>
          <a:p>
            <a:pPr marL="178435" marR="5080" indent="-137160">
              <a:lnSpc>
                <a:spcPts val="3890"/>
              </a:lnSpc>
              <a:spcBef>
                <a:spcPts val="25"/>
              </a:spcBef>
              <a:buSzPct val="88372"/>
              <a:buFont typeface="Calibri"/>
              <a:buChar char="•"/>
              <a:tabLst>
                <a:tab pos="178435" algn="l"/>
              </a:tabLst>
            </a:pPr>
            <a:r>
              <a:rPr sz="2150" b="1" spc="-35" dirty="0">
                <a:solidFill>
                  <a:srgbClr val="1D1B0F"/>
                </a:solidFill>
                <a:latin typeface="Calibri"/>
                <a:cs typeface="Calibri"/>
              </a:rPr>
              <a:t>Intégrité</a:t>
            </a:r>
            <a:r>
              <a:rPr sz="2150" spc="-35" dirty="0">
                <a:solidFill>
                  <a:srgbClr val="1D1B0F"/>
                </a:solidFill>
                <a:latin typeface="Calibri"/>
                <a:cs typeface="Calibri"/>
              </a:rPr>
              <a:t>:</a:t>
            </a:r>
            <a:r>
              <a:rPr sz="2150" spc="-2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spc="-30" dirty="0">
                <a:solidFill>
                  <a:srgbClr val="1D1B0F"/>
                </a:solidFill>
                <a:latin typeface="Calibri"/>
                <a:cs typeface="Calibri"/>
              </a:rPr>
              <a:t>Propriété</a:t>
            </a:r>
            <a:r>
              <a:rPr sz="2150" spc="1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spc="-25" dirty="0">
                <a:solidFill>
                  <a:srgbClr val="1D1B0F"/>
                </a:solidFill>
                <a:latin typeface="Calibri"/>
                <a:cs typeface="Calibri"/>
              </a:rPr>
              <a:t>d'exactitude</a:t>
            </a:r>
            <a:r>
              <a:rPr sz="2150" spc="-1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1D1B0F"/>
                </a:solidFill>
                <a:latin typeface="Calibri"/>
                <a:cs typeface="Calibri"/>
              </a:rPr>
              <a:t>et</a:t>
            </a:r>
            <a:r>
              <a:rPr sz="2150" spc="-8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1D1B0F"/>
                </a:solidFill>
                <a:latin typeface="Calibri"/>
                <a:cs typeface="Calibri"/>
              </a:rPr>
              <a:t>de</a:t>
            </a:r>
            <a:r>
              <a:rPr sz="2150" spc="-4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spc="-10" dirty="0">
                <a:solidFill>
                  <a:srgbClr val="1D1B0F"/>
                </a:solidFill>
                <a:latin typeface="Calibri"/>
                <a:cs typeface="Calibri"/>
              </a:rPr>
              <a:t>complétude </a:t>
            </a:r>
            <a:r>
              <a:rPr sz="2150" dirty="0">
                <a:solidFill>
                  <a:srgbClr val="1D1B0F"/>
                </a:solidFill>
                <a:latin typeface="Calibri"/>
                <a:cs typeface="Calibri"/>
              </a:rPr>
              <a:t>des</a:t>
            </a:r>
            <a:r>
              <a:rPr sz="2150" spc="-3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1D1B0F"/>
                </a:solidFill>
                <a:latin typeface="Calibri"/>
                <a:cs typeface="Calibri"/>
              </a:rPr>
              <a:t>biens</a:t>
            </a:r>
            <a:r>
              <a:rPr sz="2150" spc="-2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1D1B0F"/>
                </a:solidFill>
                <a:latin typeface="Calibri"/>
                <a:cs typeface="Calibri"/>
              </a:rPr>
              <a:t>et</a:t>
            </a:r>
            <a:r>
              <a:rPr sz="2150" spc="-30" dirty="0">
                <a:solidFill>
                  <a:srgbClr val="1D1B0F"/>
                </a:solidFill>
                <a:latin typeface="Calibri"/>
                <a:cs typeface="Calibri"/>
              </a:rPr>
              <a:t> informations</a:t>
            </a:r>
            <a:r>
              <a:rPr sz="2150" spc="-5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1D1B0F"/>
                </a:solidFill>
                <a:latin typeface="Calibri"/>
                <a:cs typeface="Calibri"/>
              </a:rPr>
              <a:t>(i.e.</a:t>
            </a:r>
            <a:r>
              <a:rPr sz="2150" spc="-1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1D1B0F"/>
                </a:solidFill>
                <a:latin typeface="Calibri"/>
                <a:cs typeface="Calibri"/>
              </a:rPr>
              <a:t>une</a:t>
            </a:r>
            <a:r>
              <a:rPr sz="2150" spc="-5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spc="-10" dirty="0">
                <a:solidFill>
                  <a:srgbClr val="1D1B0F"/>
                </a:solidFill>
                <a:latin typeface="Calibri"/>
                <a:cs typeface="Calibri"/>
              </a:rPr>
              <a:t>modification</a:t>
            </a:r>
            <a:endParaRPr sz="2150" dirty="0">
              <a:latin typeface="Calibri"/>
              <a:cs typeface="Calibri"/>
            </a:endParaRPr>
          </a:p>
          <a:p>
            <a:pPr marL="178435" marR="132080">
              <a:lnSpc>
                <a:spcPts val="3890"/>
              </a:lnSpc>
            </a:pPr>
            <a:r>
              <a:rPr sz="2150" dirty="0">
                <a:solidFill>
                  <a:srgbClr val="1D1B0F"/>
                </a:solidFill>
                <a:latin typeface="Calibri"/>
                <a:cs typeface="Calibri"/>
              </a:rPr>
              <a:t>illégitime</a:t>
            </a:r>
            <a:r>
              <a:rPr sz="2150" spc="-3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1D1B0F"/>
                </a:solidFill>
                <a:latin typeface="Calibri"/>
                <a:cs typeface="Calibri"/>
              </a:rPr>
              <a:t>d’un</a:t>
            </a:r>
            <a:r>
              <a:rPr sz="2150" spc="-9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1D1B0F"/>
                </a:solidFill>
                <a:latin typeface="Calibri"/>
                <a:cs typeface="Calibri"/>
              </a:rPr>
              <a:t>bien</a:t>
            </a:r>
            <a:r>
              <a:rPr sz="2150" spc="-6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1D1B0F"/>
                </a:solidFill>
                <a:latin typeface="Calibri"/>
                <a:cs typeface="Calibri"/>
              </a:rPr>
              <a:t>doit</a:t>
            </a:r>
            <a:r>
              <a:rPr sz="2150" spc="-7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spc="-10" dirty="0">
                <a:solidFill>
                  <a:srgbClr val="1D1B0F"/>
                </a:solidFill>
                <a:latin typeface="Calibri"/>
                <a:cs typeface="Calibri"/>
              </a:rPr>
              <a:t>pouvoir</a:t>
            </a:r>
            <a:r>
              <a:rPr sz="2150" spc="-8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1D1B0F"/>
                </a:solidFill>
                <a:latin typeface="Calibri"/>
                <a:cs typeface="Calibri"/>
              </a:rPr>
              <a:t>être</a:t>
            </a:r>
            <a:r>
              <a:rPr sz="2150" spc="-6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spc="-10" dirty="0">
                <a:solidFill>
                  <a:srgbClr val="1D1B0F"/>
                </a:solidFill>
                <a:latin typeface="Calibri"/>
                <a:cs typeface="Calibri"/>
              </a:rPr>
              <a:t>détectée</a:t>
            </a:r>
            <a:r>
              <a:rPr sz="2150" spc="-25" dirty="0">
                <a:solidFill>
                  <a:srgbClr val="1D1B0F"/>
                </a:solidFill>
                <a:latin typeface="Calibri"/>
                <a:cs typeface="Calibri"/>
              </a:rPr>
              <a:t> et </a:t>
            </a:r>
            <a:r>
              <a:rPr sz="2150" spc="-10" dirty="0">
                <a:solidFill>
                  <a:srgbClr val="1D1B0F"/>
                </a:solidFill>
                <a:latin typeface="Calibri"/>
                <a:cs typeface="Calibri"/>
              </a:rPr>
              <a:t>corrigée)</a:t>
            </a:r>
            <a:endParaRPr sz="2150" dirty="0">
              <a:latin typeface="Calibri"/>
              <a:cs typeface="Calibri"/>
            </a:endParaRPr>
          </a:p>
          <a:p>
            <a:pPr marL="177800" indent="-136525">
              <a:lnSpc>
                <a:spcPct val="100000"/>
              </a:lnSpc>
              <a:spcBef>
                <a:spcPts val="955"/>
              </a:spcBef>
              <a:buSzPct val="88372"/>
              <a:buFont typeface="Calibri"/>
              <a:buChar char="•"/>
              <a:tabLst>
                <a:tab pos="177800" algn="l"/>
              </a:tabLst>
            </a:pPr>
            <a:r>
              <a:rPr sz="2150" b="1" spc="-30" dirty="0">
                <a:solidFill>
                  <a:srgbClr val="1D1B0F"/>
                </a:solidFill>
                <a:latin typeface="Calibri"/>
                <a:cs typeface="Calibri"/>
              </a:rPr>
              <a:t>Confidentialité</a:t>
            </a:r>
            <a:r>
              <a:rPr sz="2150" spc="-30" dirty="0">
                <a:solidFill>
                  <a:srgbClr val="1D1B0F"/>
                </a:solidFill>
                <a:latin typeface="Calibri"/>
                <a:cs typeface="Calibri"/>
              </a:rPr>
              <a:t>:</a:t>
            </a:r>
            <a:r>
              <a:rPr sz="2150" spc="-6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spc="-35" dirty="0">
                <a:solidFill>
                  <a:srgbClr val="1D1B0F"/>
                </a:solidFill>
                <a:latin typeface="Calibri"/>
                <a:cs typeface="Calibri"/>
              </a:rPr>
              <a:t>Propriété</a:t>
            </a:r>
            <a:r>
              <a:rPr sz="2150" spc="2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1D1B0F"/>
                </a:solidFill>
                <a:latin typeface="Calibri"/>
                <a:cs typeface="Calibri"/>
              </a:rPr>
              <a:t>des</a:t>
            </a:r>
            <a:r>
              <a:rPr sz="2150" spc="-4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1D1B0F"/>
                </a:solidFill>
                <a:latin typeface="Calibri"/>
                <a:cs typeface="Calibri"/>
              </a:rPr>
              <a:t>biens</a:t>
            </a:r>
            <a:r>
              <a:rPr sz="2150" spc="-4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1D1B0F"/>
                </a:solidFill>
                <a:latin typeface="Calibri"/>
                <a:cs typeface="Calibri"/>
              </a:rPr>
              <a:t>de</a:t>
            </a:r>
            <a:r>
              <a:rPr sz="2150" spc="-3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spc="-10" dirty="0">
                <a:solidFill>
                  <a:srgbClr val="1D1B0F"/>
                </a:solidFill>
                <a:latin typeface="Calibri"/>
                <a:cs typeface="Calibri"/>
              </a:rPr>
              <a:t>n'être</a:t>
            </a:r>
            <a:endParaRPr sz="2150" dirty="0">
              <a:latin typeface="Calibri"/>
              <a:cs typeface="Calibri"/>
            </a:endParaRPr>
          </a:p>
          <a:p>
            <a:pPr marL="178435">
              <a:lnSpc>
                <a:spcPct val="100000"/>
              </a:lnSpc>
              <a:spcBef>
                <a:spcPts val="1310"/>
              </a:spcBef>
            </a:pPr>
            <a:r>
              <a:rPr sz="2150" dirty="0">
                <a:solidFill>
                  <a:srgbClr val="1D1B0F"/>
                </a:solidFill>
                <a:latin typeface="Calibri"/>
                <a:cs typeface="Calibri"/>
              </a:rPr>
              <a:t>accessibles</a:t>
            </a:r>
            <a:r>
              <a:rPr sz="2150" spc="-8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1D1B0F"/>
                </a:solidFill>
                <a:latin typeface="Calibri"/>
                <a:cs typeface="Calibri"/>
              </a:rPr>
              <a:t>qu'aux</a:t>
            </a:r>
            <a:r>
              <a:rPr sz="2150" spc="-7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spc="-10" dirty="0">
                <a:solidFill>
                  <a:srgbClr val="1D1B0F"/>
                </a:solidFill>
                <a:latin typeface="Calibri"/>
                <a:cs typeface="Calibri"/>
              </a:rPr>
              <a:t>personnes</a:t>
            </a:r>
            <a:r>
              <a:rPr sz="2150" spc="-10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spc="-10" dirty="0">
                <a:solidFill>
                  <a:srgbClr val="1D1B0F"/>
                </a:solidFill>
                <a:latin typeface="Calibri"/>
                <a:cs typeface="Calibri"/>
              </a:rPr>
              <a:t>autorisées.</a:t>
            </a:r>
            <a:endParaRPr sz="215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066800" y="355900"/>
            <a:ext cx="10515600" cy="891012"/>
          </a:xfrm>
          <a:prstGeom prst="rect">
            <a:avLst/>
          </a:prstGeom>
        </p:spPr>
        <p:txBody>
          <a:bodyPr vert="horz" wrap="square" lIns="0" tIns="321055" rIns="0" bIns="0" rtlCol="0">
            <a:spAutoFit/>
          </a:bodyPr>
          <a:lstStyle/>
          <a:p>
            <a:pPr marL="1121410">
              <a:lnSpc>
                <a:spcPct val="100000"/>
              </a:lnSpc>
              <a:spcBef>
                <a:spcPts val="100"/>
              </a:spcBef>
            </a:pPr>
            <a:r>
              <a:rPr lang="fr-FR" sz="3600" spc="-20" dirty="0"/>
              <a:t>Les services de la sécurité</a:t>
            </a:r>
            <a:endParaRPr sz="3600" dirty="0"/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97924" y="3429000"/>
            <a:ext cx="1365503" cy="1316736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1163427" y="6301841"/>
            <a:ext cx="211454" cy="245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50" spc="-25" dirty="0">
                <a:solidFill>
                  <a:srgbClr val="858585"/>
                </a:solidFill>
                <a:latin typeface="Calibri"/>
                <a:cs typeface="Calibri"/>
              </a:rPr>
              <a:t>13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15" name="Triangle isocèle 14">
            <a:extLst>
              <a:ext uri="{FF2B5EF4-FFF2-40B4-BE49-F238E27FC236}">
                <a16:creationId xmlns:a16="http://schemas.microsoft.com/office/drawing/2014/main" id="{36B8AE0F-EE49-EC4E-E6A2-298760833BA3}"/>
              </a:ext>
            </a:extLst>
          </p:cNvPr>
          <p:cNvSpPr/>
          <p:nvPr/>
        </p:nvSpPr>
        <p:spPr>
          <a:xfrm>
            <a:off x="838200" y="3276600"/>
            <a:ext cx="2362200" cy="1371600"/>
          </a:xfrm>
          <a:prstGeom prst="triangl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EACCA021-A77E-4CDA-5B6E-2D6065BC2CE9}"/>
              </a:ext>
            </a:extLst>
          </p:cNvPr>
          <p:cNvSpPr txBox="1"/>
          <p:nvPr/>
        </p:nvSpPr>
        <p:spPr>
          <a:xfrm>
            <a:off x="1778689" y="2691825"/>
            <a:ext cx="4812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>
                <a:solidFill>
                  <a:schemeClr val="accent5">
                    <a:lumMod val="50000"/>
                  </a:schemeClr>
                </a:solidFill>
              </a:rPr>
              <a:t>D</a:t>
            </a:r>
            <a:endParaRPr lang="fr-FR" sz="20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28065401-CD61-F4E5-AFB2-5C8011BDEA23}"/>
              </a:ext>
            </a:extLst>
          </p:cNvPr>
          <p:cNvSpPr txBox="1"/>
          <p:nvPr/>
        </p:nvSpPr>
        <p:spPr>
          <a:xfrm>
            <a:off x="3283300" y="4355812"/>
            <a:ext cx="298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>
                <a:solidFill>
                  <a:schemeClr val="accent5">
                    <a:lumMod val="50000"/>
                  </a:schemeClr>
                </a:solidFill>
              </a:rPr>
              <a:t>I</a:t>
            </a:r>
            <a:endParaRPr lang="fr-FR" sz="20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8E0E75B4-5CD7-6AE3-7A3D-BBAB4185A95D}"/>
              </a:ext>
            </a:extLst>
          </p:cNvPr>
          <p:cNvSpPr txBox="1"/>
          <p:nvPr/>
        </p:nvSpPr>
        <p:spPr>
          <a:xfrm>
            <a:off x="356978" y="4355812"/>
            <a:ext cx="4812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>
                <a:solidFill>
                  <a:schemeClr val="accent5">
                    <a:lumMod val="50000"/>
                  </a:schemeClr>
                </a:solidFill>
              </a:rPr>
              <a:t>C</a:t>
            </a:r>
            <a:endParaRPr lang="fr-FR" sz="2000" b="1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600" y="1383870"/>
            <a:ext cx="11707190" cy="388927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63220" marR="758825" lvl="1" indent="-137160">
              <a:lnSpc>
                <a:spcPct val="151600"/>
              </a:lnSpc>
              <a:spcBef>
                <a:spcPts val="560"/>
              </a:spcBef>
              <a:buFont typeface="Calibri"/>
              <a:buChar char="•"/>
              <a:tabLst>
                <a:tab pos="363220" algn="l"/>
              </a:tabLst>
            </a:pPr>
            <a:r>
              <a:rPr lang="fr-FR" sz="1800" b="1" spc="-30" dirty="0">
                <a:solidFill>
                  <a:srgbClr val="1D1B0F"/>
                </a:solidFill>
                <a:latin typeface="Calibri"/>
                <a:cs typeface="Calibri"/>
              </a:rPr>
              <a:t>P</a:t>
            </a:r>
            <a:r>
              <a:rPr sz="1800" b="1" spc="-30" dirty="0" err="1">
                <a:solidFill>
                  <a:srgbClr val="1D1B0F"/>
                </a:solidFill>
                <a:latin typeface="Calibri"/>
                <a:cs typeface="Calibri"/>
              </a:rPr>
              <a:t>reuve</a:t>
            </a:r>
            <a:r>
              <a:rPr lang="fr-FR" sz="1800" b="1" spc="-30" dirty="0">
                <a:solidFill>
                  <a:srgbClr val="1D1B0F"/>
                </a:solidFill>
                <a:latin typeface="Calibri"/>
                <a:cs typeface="Calibri"/>
              </a:rPr>
              <a:t>/traçabilité</a:t>
            </a:r>
            <a:r>
              <a:rPr sz="1800" spc="-30" dirty="0">
                <a:solidFill>
                  <a:srgbClr val="1D1B0F"/>
                </a:solidFill>
                <a:latin typeface="Calibri"/>
                <a:cs typeface="Calibri"/>
              </a:rPr>
              <a:t>:</a:t>
            </a:r>
            <a:r>
              <a:rPr sz="1800" spc="-4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1D1B0F"/>
                </a:solidFill>
                <a:latin typeface="Calibri"/>
                <a:cs typeface="Calibri"/>
              </a:rPr>
              <a:t>Propriété</a:t>
            </a:r>
            <a:r>
              <a:rPr sz="1800" spc="1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1D1B0F"/>
                </a:solidFill>
                <a:latin typeface="Calibri"/>
                <a:cs typeface="Calibri"/>
              </a:rPr>
              <a:t>d'un</a:t>
            </a:r>
            <a:r>
              <a:rPr sz="1800" spc="-8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1D1B0F"/>
                </a:solidFill>
                <a:latin typeface="Calibri"/>
                <a:cs typeface="Calibri"/>
              </a:rPr>
              <a:t>bien</a:t>
            </a:r>
            <a:r>
              <a:rPr sz="1800" spc="-9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spc="-35" dirty="0">
                <a:solidFill>
                  <a:srgbClr val="1D1B0F"/>
                </a:solidFill>
                <a:latin typeface="Calibri"/>
                <a:cs typeface="Calibri"/>
              </a:rPr>
              <a:t>permettant</a:t>
            </a:r>
            <a:r>
              <a:rPr sz="1800" spc="-17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D1B0F"/>
                </a:solidFill>
                <a:latin typeface="Calibri"/>
                <a:cs typeface="Calibri"/>
              </a:rPr>
              <a:t>de</a:t>
            </a:r>
            <a:r>
              <a:rPr sz="1800" spc="-4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spc="-60" dirty="0">
                <a:solidFill>
                  <a:srgbClr val="1D1B0F"/>
                </a:solidFill>
                <a:latin typeface="Calibri"/>
                <a:cs typeface="Calibri"/>
              </a:rPr>
              <a:t>retrouver,</a:t>
            </a:r>
            <a:r>
              <a:rPr sz="1800" spc="5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D1B0F"/>
                </a:solidFill>
                <a:latin typeface="Calibri"/>
                <a:cs typeface="Calibri"/>
              </a:rPr>
              <a:t>avec</a:t>
            </a:r>
            <a:r>
              <a:rPr sz="1800" spc="4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1D1B0F"/>
                </a:solidFill>
                <a:latin typeface="Calibri"/>
                <a:cs typeface="Calibri"/>
              </a:rPr>
              <a:t>une</a:t>
            </a:r>
            <a:r>
              <a:rPr sz="1800" b="1" spc="-9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b="1" spc="-20" dirty="0">
                <a:solidFill>
                  <a:srgbClr val="1D1B0F"/>
                </a:solidFill>
                <a:latin typeface="Calibri"/>
                <a:cs typeface="Calibri"/>
              </a:rPr>
              <a:t>confiance</a:t>
            </a:r>
            <a:r>
              <a:rPr sz="1800" b="1" spc="-3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b="1" spc="-20" dirty="0">
                <a:solidFill>
                  <a:srgbClr val="1D1B0F"/>
                </a:solidFill>
                <a:latin typeface="Calibri"/>
                <a:cs typeface="Calibri"/>
              </a:rPr>
              <a:t>suffisante</a:t>
            </a:r>
            <a:r>
              <a:rPr sz="1800" spc="-20" dirty="0">
                <a:solidFill>
                  <a:srgbClr val="1D1B0F"/>
                </a:solidFill>
                <a:latin typeface="Calibri"/>
                <a:cs typeface="Calibri"/>
              </a:rPr>
              <a:t>,</a:t>
            </a:r>
            <a:r>
              <a:rPr sz="1800" spc="-3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1D1B0F"/>
                </a:solidFill>
                <a:latin typeface="Calibri"/>
                <a:cs typeface="Calibri"/>
              </a:rPr>
              <a:t>les </a:t>
            </a:r>
            <a:r>
              <a:rPr sz="1800" spc="-40" dirty="0">
                <a:solidFill>
                  <a:srgbClr val="1D1B0F"/>
                </a:solidFill>
                <a:latin typeface="Calibri"/>
                <a:cs typeface="Calibri"/>
              </a:rPr>
              <a:t>circonstances</a:t>
            </a:r>
            <a:r>
              <a:rPr sz="1800" spc="-8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D1B0F"/>
                </a:solidFill>
                <a:latin typeface="Calibri"/>
                <a:cs typeface="Calibri"/>
              </a:rPr>
              <a:t>dans</a:t>
            </a:r>
            <a:r>
              <a:rPr sz="1800" spc="-7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spc="-30" dirty="0">
                <a:solidFill>
                  <a:srgbClr val="1D1B0F"/>
                </a:solidFill>
                <a:latin typeface="Calibri"/>
                <a:cs typeface="Calibri"/>
              </a:rPr>
              <a:t>lesquelles </a:t>
            </a:r>
            <a:r>
              <a:rPr sz="1800" dirty="0">
                <a:solidFill>
                  <a:srgbClr val="1D1B0F"/>
                </a:solidFill>
                <a:latin typeface="Calibri"/>
                <a:cs typeface="Calibri"/>
              </a:rPr>
              <a:t>ce</a:t>
            </a:r>
            <a:r>
              <a:rPr sz="1800" spc="-6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D1B0F"/>
                </a:solidFill>
                <a:latin typeface="Calibri"/>
                <a:cs typeface="Calibri"/>
              </a:rPr>
              <a:t>bien</a:t>
            </a:r>
            <a:r>
              <a:rPr sz="1800" spc="-7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1D1B0F"/>
                </a:solidFill>
                <a:latin typeface="Calibri"/>
                <a:cs typeface="Calibri"/>
              </a:rPr>
              <a:t>évolue.</a:t>
            </a:r>
            <a:r>
              <a:rPr sz="1800" spc="-3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1D1B0F"/>
                </a:solidFill>
                <a:latin typeface="Calibri"/>
                <a:cs typeface="Calibri"/>
              </a:rPr>
              <a:t>Cette</a:t>
            </a:r>
            <a:r>
              <a:rPr sz="1800" spc="-6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1D1B0F"/>
                </a:solidFill>
                <a:latin typeface="Calibri"/>
                <a:cs typeface="Calibri"/>
              </a:rPr>
              <a:t>propriété</a:t>
            </a:r>
            <a:r>
              <a:rPr sz="1800" spc="-1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D1B0F"/>
                </a:solidFill>
                <a:latin typeface="Calibri"/>
                <a:cs typeface="Calibri"/>
              </a:rPr>
              <a:t>englobe</a:t>
            </a:r>
            <a:r>
              <a:rPr sz="1800" spc="-3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1D1B0F"/>
                </a:solidFill>
                <a:latin typeface="Calibri"/>
                <a:cs typeface="Calibri"/>
              </a:rPr>
              <a:t>notamment</a:t>
            </a:r>
            <a:r>
              <a:rPr sz="1800" spc="-6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1D1B0F"/>
                </a:solidFill>
                <a:latin typeface="Calibri"/>
                <a:cs typeface="Calibri"/>
              </a:rPr>
              <a:t>:</a:t>
            </a:r>
            <a:endParaRPr sz="1800" dirty="0">
              <a:latin typeface="Calibri"/>
              <a:cs typeface="Calibri"/>
            </a:endParaRPr>
          </a:p>
          <a:p>
            <a:pPr marL="226060" marR="443230" lvl="2">
              <a:lnSpc>
                <a:spcPct val="151600"/>
              </a:lnSpc>
              <a:spcBef>
                <a:spcPts val="1600"/>
              </a:spcBef>
              <a:tabLst>
                <a:tab pos="363220" algn="l"/>
              </a:tabLst>
            </a:pPr>
            <a:r>
              <a:rPr lang="fr-FR" sz="1800" b="1" spc="-60" dirty="0">
                <a:solidFill>
                  <a:srgbClr val="1D1B0F"/>
                </a:solidFill>
                <a:latin typeface="Calibri"/>
                <a:cs typeface="Calibri"/>
              </a:rPr>
              <a:t> - A</a:t>
            </a:r>
            <a:r>
              <a:rPr sz="1800" b="1" spc="-60" dirty="0" err="1">
                <a:solidFill>
                  <a:srgbClr val="1D1B0F"/>
                </a:solidFill>
                <a:latin typeface="Calibri"/>
                <a:cs typeface="Calibri"/>
              </a:rPr>
              <a:t>uthentification</a:t>
            </a:r>
            <a:r>
              <a:rPr sz="1800" spc="-60" dirty="0">
                <a:solidFill>
                  <a:srgbClr val="1D1B0F"/>
                </a:solidFill>
                <a:latin typeface="Calibri"/>
                <a:cs typeface="Calibri"/>
              </a:rPr>
              <a:t>: </a:t>
            </a:r>
            <a:r>
              <a:rPr sz="1800" spc="-20" dirty="0">
                <a:solidFill>
                  <a:srgbClr val="1D1B0F"/>
                </a:solidFill>
                <a:latin typeface="Calibri"/>
                <a:cs typeface="Calibri"/>
              </a:rPr>
              <a:t>Avoir</a:t>
            </a:r>
            <a:r>
              <a:rPr sz="1800" spc="-6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spc="-55" dirty="0">
                <a:solidFill>
                  <a:srgbClr val="1D1B0F"/>
                </a:solidFill>
                <a:latin typeface="Calibri"/>
                <a:cs typeface="Calibri"/>
              </a:rPr>
              <a:t>l’assurance</a:t>
            </a:r>
            <a:r>
              <a:rPr sz="1800" spc="-13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D1B0F"/>
                </a:solidFill>
                <a:latin typeface="Calibri"/>
                <a:cs typeface="Calibri"/>
              </a:rPr>
              <a:t>de</a:t>
            </a:r>
            <a:r>
              <a:rPr sz="1800" spc="-7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spc="-30" dirty="0">
                <a:solidFill>
                  <a:srgbClr val="1D1B0F"/>
                </a:solidFill>
                <a:latin typeface="Calibri"/>
                <a:cs typeface="Calibri"/>
              </a:rPr>
              <a:t>l’identité</a:t>
            </a:r>
            <a:r>
              <a:rPr sz="1800" spc="-2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1D1B0F"/>
                </a:solidFill>
                <a:latin typeface="Calibri"/>
                <a:cs typeface="Calibri"/>
              </a:rPr>
              <a:t>d’une</a:t>
            </a:r>
            <a:r>
              <a:rPr sz="1800" spc="-8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1D1B0F"/>
                </a:solidFill>
                <a:latin typeface="Calibri"/>
                <a:cs typeface="Calibri"/>
              </a:rPr>
              <a:t>personne</a:t>
            </a:r>
            <a:r>
              <a:rPr sz="1800" spc="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D1B0F"/>
                </a:solidFill>
                <a:latin typeface="Calibri"/>
                <a:cs typeface="Calibri"/>
              </a:rPr>
              <a:t>(ou</a:t>
            </a:r>
            <a:r>
              <a:rPr sz="1800" spc="-3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1D1B0F"/>
                </a:solidFill>
                <a:latin typeface="Calibri"/>
                <a:cs typeface="Calibri"/>
              </a:rPr>
              <a:t>d’un</a:t>
            </a:r>
            <a:r>
              <a:rPr sz="1800" spc="-8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D1B0F"/>
                </a:solidFill>
                <a:latin typeface="Calibri"/>
                <a:cs typeface="Calibri"/>
              </a:rPr>
              <a:t>serveur)</a:t>
            </a:r>
            <a:r>
              <a:rPr sz="1800" spc="3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lang="fr-FR" sz="1800" dirty="0">
                <a:solidFill>
                  <a:srgbClr val="1D1B0F"/>
                </a:solidFill>
                <a:latin typeface="Calibri"/>
                <a:cs typeface="Calibri"/>
              </a:rPr>
              <a:t>dans le SI.</a:t>
            </a:r>
            <a:endParaRPr sz="1800" dirty="0">
              <a:latin typeface="Calibri"/>
              <a:cs typeface="Calibri"/>
            </a:endParaRPr>
          </a:p>
          <a:p>
            <a:pPr marL="222885" marR="5080" lvl="2">
              <a:lnSpc>
                <a:spcPct val="151700"/>
              </a:lnSpc>
              <a:spcBef>
                <a:spcPts val="1700"/>
              </a:spcBef>
              <a:tabLst>
                <a:tab pos="363220" algn="l"/>
              </a:tabLst>
            </a:pPr>
            <a:r>
              <a:rPr lang="fr-FR" sz="1800" b="1" dirty="0">
                <a:solidFill>
                  <a:srgbClr val="1D1B0F"/>
                </a:solidFill>
                <a:latin typeface="Calibri"/>
                <a:cs typeface="Calibri"/>
              </a:rPr>
              <a:t>- N</a:t>
            </a:r>
            <a:r>
              <a:rPr sz="1800" b="1" dirty="0">
                <a:solidFill>
                  <a:srgbClr val="1D1B0F"/>
                </a:solidFill>
                <a:latin typeface="Calibri"/>
                <a:cs typeface="Calibri"/>
              </a:rPr>
              <a:t>on</a:t>
            </a:r>
            <a:r>
              <a:rPr sz="1800" b="1" spc="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b="1" spc="-30" dirty="0">
                <a:solidFill>
                  <a:srgbClr val="1D1B0F"/>
                </a:solidFill>
                <a:latin typeface="Calibri"/>
                <a:cs typeface="Calibri"/>
              </a:rPr>
              <a:t>répudiation</a:t>
            </a:r>
            <a:r>
              <a:rPr sz="1800" spc="-30" dirty="0">
                <a:solidFill>
                  <a:srgbClr val="1D1B0F"/>
                </a:solidFill>
                <a:latin typeface="Calibri"/>
                <a:cs typeface="Calibri"/>
              </a:rPr>
              <a:t>:</a:t>
            </a:r>
            <a:r>
              <a:rPr sz="1800" spc="-6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lang="fr-FR" sz="1800" spc="-65" dirty="0">
                <a:solidFill>
                  <a:srgbClr val="1D1B0F"/>
                </a:solidFill>
                <a:latin typeface="Calibri"/>
                <a:cs typeface="Calibri"/>
              </a:rPr>
              <a:t>C’est le critère qui permet qu’une entité ne puisse pas nier ses actions dans le SI.</a:t>
            </a:r>
          </a:p>
          <a:p>
            <a:pPr marL="222885" marR="5080" lvl="2">
              <a:lnSpc>
                <a:spcPct val="151700"/>
              </a:lnSpc>
              <a:spcBef>
                <a:spcPts val="1700"/>
              </a:spcBef>
              <a:tabLst>
                <a:tab pos="363220" algn="l"/>
              </a:tabLst>
            </a:pPr>
            <a:r>
              <a:rPr lang="fr-FR" sz="1800" spc="-65" dirty="0">
                <a:solidFill>
                  <a:srgbClr val="1D1B0F"/>
                </a:solidFill>
                <a:latin typeface="Calibri"/>
                <a:cs typeface="Calibri"/>
              </a:rPr>
              <a:t>Exemple: </a:t>
            </a:r>
            <a:r>
              <a:rPr sz="1800" spc="-30" dirty="0" err="1">
                <a:solidFill>
                  <a:srgbClr val="1D1B0F"/>
                </a:solidFill>
                <a:latin typeface="Calibri"/>
                <a:cs typeface="Calibri"/>
              </a:rPr>
              <a:t>Avoir</a:t>
            </a:r>
            <a:r>
              <a:rPr sz="1800" spc="-3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spc="-45" dirty="0">
                <a:solidFill>
                  <a:srgbClr val="1D1B0F"/>
                </a:solidFill>
                <a:latin typeface="Calibri"/>
                <a:cs typeface="Calibri"/>
              </a:rPr>
              <a:t>l’assurance</a:t>
            </a:r>
            <a:r>
              <a:rPr sz="1800" spc="-1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D1B0F"/>
                </a:solidFill>
                <a:latin typeface="Calibri"/>
                <a:cs typeface="Calibri"/>
              </a:rPr>
              <a:t>que</a:t>
            </a:r>
            <a:r>
              <a:rPr sz="1800" spc="1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1D1B0F"/>
                </a:solidFill>
                <a:latin typeface="Calibri"/>
                <a:cs typeface="Calibri"/>
              </a:rPr>
              <a:t>l’expéditeur</a:t>
            </a:r>
            <a:r>
              <a:rPr sz="1800" spc="-3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1D1B0F"/>
                </a:solidFill>
                <a:latin typeface="Calibri"/>
                <a:cs typeface="Calibri"/>
              </a:rPr>
              <a:t>d’un</a:t>
            </a:r>
            <a:r>
              <a:rPr sz="1800" spc="-5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1D1B0F"/>
                </a:solidFill>
                <a:latin typeface="Calibri"/>
                <a:cs typeface="Calibri"/>
              </a:rPr>
              <a:t>document</a:t>
            </a:r>
            <a:r>
              <a:rPr sz="1800" spc="-4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D1B0F"/>
                </a:solidFill>
                <a:latin typeface="Calibri"/>
                <a:cs typeface="Calibri"/>
              </a:rPr>
              <a:t>ne</a:t>
            </a:r>
            <a:r>
              <a:rPr sz="1800" spc="-1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1D1B0F"/>
                </a:solidFill>
                <a:latin typeface="Calibri"/>
                <a:cs typeface="Calibri"/>
              </a:rPr>
              <a:t>puisse</a:t>
            </a:r>
            <a:r>
              <a:rPr sz="1800" spc="-3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D1B0F"/>
                </a:solidFill>
                <a:latin typeface="Calibri"/>
                <a:cs typeface="Calibri"/>
              </a:rPr>
              <a:t>nier </a:t>
            </a:r>
            <a:r>
              <a:rPr sz="1800" spc="-75" dirty="0">
                <a:solidFill>
                  <a:srgbClr val="1D1B0F"/>
                </a:solidFill>
                <a:latin typeface="Calibri"/>
                <a:cs typeface="Calibri"/>
              </a:rPr>
              <a:t>l’avoir</a:t>
            </a:r>
            <a:r>
              <a:rPr sz="1800" spc="-9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1D1B0F"/>
                </a:solidFill>
                <a:latin typeface="Calibri"/>
                <a:cs typeface="Calibri"/>
              </a:rPr>
              <a:t>envoyé </a:t>
            </a:r>
            <a:r>
              <a:rPr sz="1800" dirty="0">
                <a:solidFill>
                  <a:srgbClr val="1D1B0F"/>
                </a:solidFill>
                <a:latin typeface="Calibri"/>
                <a:cs typeface="Calibri"/>
              </a:rPr>
              <a:t>ou</a:t>
            </a:r>
            <a:r>
              <a:rPr sz="1800" spc="-3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D1B0F"/>
                </a:solidFill>
                <a:latin typeface="Calibri"/>
                <a:cs typeface="Calibri"/>
              </a:rPr>
              <a:t>que</a:t>
            </a:r>
            <a:r>
              <a:rPr sz="1800" spc="-1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D1B0F"/>
                </a:solidFill>
                <a:latin typeface="Calibri"/>
                <a:cs typeface="Calibri"/>
              </a:rPr>
              <a:t>le</a:t>
            </a:r>
            <a:r>
              <a:rPr sz="1800" spc="-5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spc="-45" dirty="0">
                <a:solidFill>
                  <a:srgbClr val="1D1B0F"/>
                </a:solidFill>
                <a:latin typeface="Calibri"/>
                <a:cs typeface="Calibri"/>
              </a:rPr>
              <a:t>destinataire</a:t>
            </a:r>
            <a:r>
              <a:rPr sz="1800" spc="-7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D1B0F"/>
                </a:solidFill>
                <a:latin typeface="Calibri"/>
                <a:cs typeface="Calibri"/>
              </a:rPr>
              <a:t>ne</a:t>
            </a:r>
            <a:r>
              <a:rPr sz="1800" spc="-2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1D1B0F"/>
                </a:solidFill>
                <a:latin typeface="Calibri"/>
                <a:cs typeface="Calibri"/>
              </a:rPr>
              <a:t>puisse</a:t>
            </a:r>
            <a:r>
              <a:rPr sz="1800" spc="-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D1B0F"/>
                </a:solidFill>
                <a:latin typeface="Calibri"/>
                <a:cs typeface="Calibri"/>
              </a:rPr>
              <a:t>nier</a:t>
            </a:r>
            <a:r>
              <a:rPr sz="1800" spc="-4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spc="-75" dirty="0">
                <a:solidFill>
                  <a:srgbClr val="1D1B0F"/>
                </a:solidFill>
                <a:latin typeface="Calibri"/>
                <a:cs typeface="Calibri"/>
              </a:rPr>
              <a:t>l’avoir</a:t>
            </a:r>
            <a:r>
              <a:rPr sz="1800" spc="-20" dirty="0">
                <a:solidFill>
                  <a:srgbClr val="1D1B0F"/>
                </a:solidFill>
                <a:latin typeface="Calibri"/>
                <a:cs typeface="Calibri"/>
              </a:rPr>
              <a:t> reçu</a:t>
            </a:r>
            <a:endParaRPr sz="1800" dirty="0">
              <a:latin typeface="Calibri"/>
              <a:cs typeface="Calibri"/>
            </a:endParaRPr>
          </a:p>
          <a:p>
            <a:pPr marL="226060" lvl="2">
              <a:tabLst>
                <a:tab pos="362585" algn="l"/>
              </a:tabLst>
            </a:pPr>
            <a:r>
              <a:rPr lang="fr-FR" sz="1800" b="1" spc="-40" dirty="0">
                <a:solidFill>
                  <a:srgbClr val="1D1B0F"/>
                </a:solidFill>
                <a:latin typeface="Calibri"/>
                <a:cs typeface="Calibri"/>
              </a:rPr>
              <a:t>- 	H</a:t>
            </a:r>
            <a:r>
              <a:rPr sz="1800" b="1" spc="-40" dirty="0" err="1">
                <a:solidFill>
                  <a:srgbClr val="1D1B0F"/>
                </a:solidFill>
                <a:latin typeface="Calibri"/>
                <a:cs typeface="Calibri"/>
              </a:rPr>
              <a:t>orodatage</a:t>
            </a:r>
            <a:r>
              <a:rPr sz="1800" spc="-40" dirty="0">
                <a:solidFill>
                  <a:srgbClr val="1D1B0F"/>
                </a:solidFill>
                <a:latin typeface="Calibri"/>
                <a:cs typeface="Calibri"/>
              </a:rPr>
              <a:t>:</a:t>
            </a:r>
            <a:r>
              <a:rPr sz="1800" spc="-4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1D1B0F"/>
                </a:solidFill>
                <a:latin typeface="Calibri"/>
                <a:cs typeface="Calibri"/>
              </a:rPr>
              <a:t>Avoir</a:t>
            </a:r>
            <a:r>
              <a:rPr sz="1800" spc="-3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spc="-45" dirty="0">
                <a:solidFill>
                  <a:srgbClr val="1D1B0F"/>
                </a:solidFill>
                <a:latin typeface="Calibri"/>
                <a:cs typeface="Calibri"/>
              </a:rPr>
              <a:t>l’assurance</a:t>
            </a:r>
            <a:r>
              <a:rPr sz="1800" spc="-4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D1B0F"/>
                </a:solidFill>
                <a:latin typeface="Calibri"/>
                <a:cs typeface="Calibri"/>
              </a:rPr>
              <a:t>de</a:t>
            </a:r>
            <a:r>
              <a:rPr sz="1800" spc="-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D1B0F"/>
                </a:solidFill>
                <a:latin typeface="Calibri"/>
                <a:cs typeface="Calibri"/>
              </a:rPr>
              <a:t>la</a:t>
            </a:r>
            <a:r>
              <a:rPr sz="1800" spc="-1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1D1B0F"/>
                </a:solidFill>
                <a:latin typeface="Calibri"/>
                <a:cs typeface="Calibri"/>
              </a:rPr>
              <a:t>date</a:t>
            </a:r>
            <a:r>
              <a:rPr sz="1800" spc="-6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D1B0F"/>
                </a:solidFill>
                <a:latin typeface="Calibri"/>
                <a:cs typeface="Calibri"/>
              </a:rPr>
              <a:t>et</a:t>
            </a:r>
            <a:r>
              <a:rPr sz="1800" spc="-1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1D1B0F"/>
                </a:solidFill>
                <a:latin typeface="Calibri"/>
                <a:cs typeface="Calibri"/>
              </a:rPr>
              <a:t>l’heure</a:t>
            </a:r>
            <a:r>
              <a:rPr sz="1800" spc="-6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D1B0F"/>
                </a:solidFill>
                <a:latin typeface="Calibri"/>
                <a:cs typeface="Calibri"/>
              </a:rPr>
              <a:t>de</a:t>
            </a:r>
            <a:r>
              <a:rPr sz="1800" spc="-1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spc="-70" dirty="0">
                <a:solidFill>
                  <a:srgbClr val="1D1B0F"/>
                </a:solidFill>
                <a:latin typeface="Calibri"/>
                <a:cs typeface="Calibri"/>
              </a:rPr>
              <a:t>l’exécution</a:t>
            </a:r>
            <a:r>
              <a:rPr sz="1800" spc="-10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1D1B0F"/>
                </a:solidFill>
                <a:latin typeface="Calibri"/>
                <a:cs typeface="Calibri"/>
              </a:rPr>
              <a:t>d’une</a:t>
            </a:r>
            <a:r>
              <a:rPr sz="1800" spc="-6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D1B0F"/>
                </a:solidFill>
                <a:latin typeface="Calibri"/>
                <a:cs typeface="Calibri"/>
              </a:rPr>
              <a:t>action</a:t>
            </a:r>
            <a:r>
              <a:rPr sz="1800" spc="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spc="-35" dirty="0">
                <a:solidFill>
                  <a:srgbClr val="1D1B0F"/>
                </a:solidFill>
                <a:latin typeface="Calibri"/>
                <a:cs typeface="Calibri"/>
              </a:rPr>
              <a:t>(envoi,</a:t>
            </a:r>
            <a:r>
              <a:rPr sz="1800" spc="-2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1D1B0F"/>
                </a:solidFill>
                <a:latin typeface="Calibri"/>
                <a:cs typeface="Calibri"/>
              </a:rPr>
              <a:t>réception,</a:t>
            </a:r>
            <a:endParaRPr sz="1800" dirty="0">
              <a:latin typeface="Calibri"/>
              <a:cs typeface="Calibri"/>
            </a:endParaRPr>
          </a:p>
          <a:p>
            <a:pPr marL="363220" lvl="1">
              <a:spcBef>
                <a:spcPts val="1175"/>
              </a:spcBef>
            </a:pPr>
            <a:r>
              <a:rPr sz="1800" spc="-30" dirty="0">
                <a:solidFill>
                  <a:srgbClr val="1D1B0F"/>
                </a:solidFill>
                <a:latin typeface="Calibri"/>
                <a:cs typeface="Calibri"/>
              </a:rPr>
              <a:t>signature,</a:t>
            </a:r>
            <a:r>
              <a:rPr sz="1800" spc="-2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D1B0F"/>
                </a:solidFill>
                <a:latin typeface="Calibri"/>
                <a:cs typeface="Calibri"/>
              </a:rPr>
              <a:t>…)</a:t>
            </a:r>
            <a:r>
              <a:rPr sz="1800" spc="-2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D1B0F"/>
                </a:solidFill>
                <a:latin typeface="Calibri"/>
                <a:cs typeface="Calibri"/>
              </a:rPr>
              <a:t>sur</a:t>
            </a:r>
            <a:r>
              <a:rPr sz="1800" spc="-6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D1B0F"/>
                </a:solidFill>
                <a:latin typeface="Calibri"/>
                <a:cs typeface="Calibri"/>
              </a:rPr>
              <a:t>un</a:t>
            </a:r>
            <a:r>
              <a:rPr sz="1800" spc="-6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1D1B0F"/>
                </a:solidFill>
                <a:latin typeface="Calibri"/>
                <a:cs typeface="Calibri"/>
              </a:rPr>
              <a:t>document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163427" y="6301841"/>
            <a:ext cx="211454" cy="245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50" spc="-25" dirty="0">
                <a:solidFill>
                  <a:srgbClr val="858585"/>
                </a:solidFill>
                <a:latin typeface="Calibri"/>
                <a:cs typeface="Calibri"/>
              </a:rPr>
              <a:t>14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362200" y="376430"/>
            <a:ext cx="10515600" cy="631326"/>
          </a:xfrm>
          <a:prstGeom prst="rect">
            <a:avLst/>
          </a:prstGeom>
        </p:spPr>
        <p:txBody>
          <a:bodyPr vert="horz" wrap="square" lIns="0" tIns="63880" rIns="0" bIns="0" rtlCol="0">
            <a:spAutoFit/>
          </a:bodyPr>
          <a:lstStyle/>
          <a:p>
            <a:pPr marL="749935">
              <a:lnSpc>
                <a:spcPct val="100000"/>
              </a:lnSpc>
              <a:spcBef>
                <a:spcPts val="100"/>
              </a:spcBef>
            </a:pPr>
            <a:r>
              <a:rPr lang="fr-FR" sz="3600" spc="-25" dirty="0"/>
              <a:t>Objectifs</a:t>
            </a:r>
            <a:r>
              <a:rPr sz="3600" spc="-170" dirty="0"/>
              <a:t> </a:t>
            </a:r>
            <a:r>
              <a:rPr sz="3600" spc="-20" dirty="0"/>
              <a:t>complémentaires</a:t>
            </a:r>
            <a:endParaRPr sz="3600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795E1F38-D11B-6088-A08B-F86B3B24E02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811" t="6569" r="7027" b="12531"/>
          <a:stretch/>
        </p:blipFill>
        <p:spPr>
          <a:xfrm>
            <a:off x="4833894" y="4970249"/>
            <a:ext cx="2466622" cy="175260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89860" y="5224271"/>
            <a:ext cx="1127760" cy="908303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3802379" y="4704651"/>
            <a:ext cx="5777865" cy="1828800"/>
            <a:chOff x="3802379" y="4704651"/>
            <a:chExt cx="5777865" cy="1828800"/>
          </a:xfrm>
        </p:grpSpPr>
        <p:sp>
          <p:nvSpPr>
            <p:cNvPr id="4" name="object 4"/>
            <p:cNvSpPr/>
            <p:nvPr/>
          </p:nvSpPr>
          <p:spPr>
            <a:xfrm>
              <a:off x="4224527" y="4968189"/>
              <a:ext cx="5347970" cy="1557655"/>
            </a:xfrm>
            <a:custGeom>
              <a:avLst/>
              <a:gdLst/>
              <a:ahLst/>
              <a:cxnLst/>
              <a:rect l="l" t="t" r="r" b="b"/>
              <a:pathLst>
                <a:path w="5347970" h="1557654">
                  <a:moveTo>
                    <a:pt x="5347589" y="0"/>
                  </a:moveTo>
                  <a:lnTo>
                    <a:pt x="0" y="0"/>
                  </a:lnTo>
                  <a:lnTo>
                    <a:pt x="0" y="1557273"/>
                  </a:lnTo>
                  <a:lnTo>
                    <a:pt x="5347589" y="1557273"/>
                  </a:lnTo>
                  <a:lnTo>
                    <a:pt x="534758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226051" y="4969713"/>
              <a:ext cx="5347970" cy="1557655"/>
            </a:xfrm>
            <a:custGeom>
              <a:avLst/>
              <a:gdLst/>
              <a:ahLst/>
              <a:cxnLst/>
              <a:rect l="l" t="t" r="r" b="b"/>
              <a:pathLst>
                <a:path w="5347970" h="1557654">
                  <a:moveTo>
                    <a:pt x="0" y="1557273"/>
                  </a:moveTo>
                  <a:lnTo>
                    <a:pt x="5347588" y="1557273"/>
                  </a:lnTo>
                  <a:lnTo>
                    <a:pt x="5347588" y="0"/>
                  </a:lnTo>
                  <a:lnTo>
                    <a:pt x="0" y="0"/>
                  </a:lnTo>
                  <a:lnTo>
                    <a:pt x="0" y="1557273"/>
                  </a:lnTo>
                  <a:close/>
                </a:path>
              </a:pathLst>
            </a:custGeom>
            <a:ln w="12192">
              <a:solidFill>
                <a:srgbClr val="A2A2A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08347" y="6178296"/>
              <a:ext cx="338327" cy="29260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06951" y="4709160"/>
              <a:ext cx="830579" cy="332231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806951" y="4709223"/>
              <a:ext cx="830580" cy="335280"/>
            </a:xfrm>
            <a:custGeom>
              <a:avLst/>
              <a:gdLst/>
              <a:ahLst/>
              <a:cxnLst/>
              <a:rect l="l" t="t" r="r" b="b"/>
              <a:pathLst>
                <a:path w="830579" h="335279">
                  <a:moveTo>
                    <a:pt x="0" y="334835"/>
                  </a:moveTo>
                  <a:lnTo>
                    <a:pt x="830287" y="334835"/>
                  </a:lnTo>
                  <a:lnTo>
                    <a:pt x="830287" y="0"/>
                  </a:lnTo>
                  <a:lnTo>
                    <a:pt x="0" y="0"/>
                  </a:lnTo>
                  <a:lnTo>
                    <a:pt x="0" y="334835"/>
                  </a:lnTo>
                  <a:close/>
                </a:path>
              </a:pathLst>
            </a:custGeom>
            <a:ln w="9144">
              <a:solidFill>
                <a:srgbClr val="A2A2A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6191" rIns="0" bIns="0" rtlCol="0">
            <a:spAutoFit/>
          </a:bodyPr>
          <a:lstStyle/>
          <a:p>
            <a:pPr marL="128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Exemple</a:t>
            </a:r>
            <a:r>
              <a:rPr sz="3600" spc="-75" dirty="0"/>
              <a:t> </a:t>
            </a:r>
            <a:r>
              <a:rPr sz="3600" spc="-10" dirty="0"/>
              <a:t>d’</a:t>
            </a:r>
            <a:r>
              <a:rPr sz="3600" b="1" spc="-10" dirty="0">
                <a:latin typeface="Times New Roman"/>
                <a:cs typeface="Times New Roman"/>
              </a:rPr>
              <a:t>évaluation</a:t>
            </a:r>
            <a:r>
              <a:rPr sz="3600" b="1" spc="-200" dirty="0">
                <a:latin typeface="Times New Roman"/>
                <a:cs typeface="Times New Roman"/>
              </a:rPr>
              <a:t> </a:t>
            </a:r>
            <a:r>
              <a:rPr sz="3600" spc="-20" dirty="0"/>
              <a:t>DICP</a:t>
            </a:r>
            <a:endParaRPr sz="3600">
              <a:latin typeface="Times New Roman"/>
              <a:cs typeface="Times New Roman"/>
            </a:endParaRPr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3152" y="1560575"/>
            <a:ext cx="9939528" cy="1569720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4408678" y="1870659"/>
            <a:ext cx="1367790" cy="901065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 marR="5080" indent="22860" algn="just">
              <a:lnSpc>
                <a:spcPct val="83300"/>
              </a:lnSpc>
              <a:spcBef>
                <a:spcPts val="540"/>
              </a:spcBef>
            </a:pPr>
            <a:r>
              <a:rPr sz="2150" b="1" dirty="0">
                <a:solidFill>
                  <a:srgbClr val="1D1B0F"/>
                </a:solidFill>
                <a:latin typeface="Calibri"/>
                <a:cs typeface="Calibri"/>
              </a:rPr>
              <a:t>Evaluer</a:t>
            </a:r>
            <a:r>
              <a:rPr sz="2150" b="1" spc="22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b="1" spc="-25" dirty="0">
                <a:solidFill>
                  <a:srgbClr val="1D1B0F"/>
                </a:solidFill>
                <a:latin typeface="Calibri"/>
                <a:cs typeface="Calibri"/>
              </a:rPr>
              <a:t>ces </a:t>
            </a:r>
            <a:r>
              <a:rPr sz="2150" b="1" dirty="0">
                <a:solidFill>
                  <a:srgbClr val="1D1B0F"/>
                </a:solidFill>
                <a:latin typeface="Calibri"/>
                <a:cs typeface="Calibri"/>
              </a:rPr>
              <a:t>critères</a:t>
            </a:r>
            <a:r>
              <a:rPr sz="2150" b="1" spc="18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b="1" spc="-25" dirty="0">
                <a:solidFill>
                  <a:srgbClr val="1D1B0F"/>
                </a:solidFill>
                <a:latin typeface="Calibri"/>
                <a:cs typeface="Calibri"/>
              </a:rPr>
              <a:t>sur </a:t>
            </a:r>
            <a:r>
              <a:rPr sz="2150" b="1" dirty="0">
                <a:solidFill>
                  <a:srgbClr val="1D1B0F"/>
                </a:solidFill>
                <a:latin typeface="Calibri"/>
                <a:cs typeface="Calibri"/>
              </a:rPr>
              <a:t>une</a:t>
            </a:r>
            <a:r>
              <a:rPr sz="2150" b="1" spc="409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b="1" spc="-25" dirty="0">
                <a:solidFill>
                  <a:srgbClr val="1D1B0F"/>
                </a:solidFill>
                <a:latin typeface="Calibri"/>
                <a:cs typeface="Calibri"/>
              </a:rPr>
              <a:t>échelle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270750" y="1872088"/>
            <a:ext cx="2491740" cy="1016000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20"/>
              </a:spcBef>
            </a:pPr>
            <a:r>
              <a:rPr sz="2150" b="1" spc="-10" dirty="0">
                <a:solidFill>
                  <a:srgbClr val="1D1B0F"/>
                </a:solidFill>
                <a:latin typeface="Calibri"/>
                <a:cs typeface="Calibri"/>
              </a:rPr>
              <a:t>Déterminer</a:t>
            </a:r>
            <a:r>
              <a:rPr sz="2150" b="1" spc="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1D1B0F"/>
                </a:solidFill>
                <a:latin typeface="Calibri"/>
                <a:cs typeface="Calibri"/>
              </a:rPr>
              <a:t>si</a:t>
            </a:r>
            <a:r>
              <a:rPr sz="2150" b="1" spc="-5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1D1B0F"/>
                </a:solidFill>
                <a:latin typeface="Calibri"/>
                <a:cs typeface="Calibri"/>
              </a:rPr>
              <a:t>ce</a:t>
            </a:r>
            <a:r>
              <a:rPr sz="2150" b="1" spc="39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b="1" spc="-20" dirty="0">
                <a:solidFill>
                  <a:srgbClr val="1D1B0F"/>
                </a:solidFill>
                <a:latin typeface="Calibri"/>
                <a:cs typeface="Calibri"/>
              </a:rPr>
              <a:t>bien</a:t>
            </a:r>
            <a:endParaRPr sz="2150">
              <a:latin typeface="Calibri"/>
              <a:cs typeface="Calibri"/>
            </a:endParaRPr>
          </a:p>
          <a:p>
            <a:pPr marL="264160" marR="256540" algn="ctr">
              <a:lnSpc>
                <a:spcPts val="2200"/>
              </a:lnSpc>
              <a:spcBef>
                <a:spcPts val="605"/>
              </a:spcBef>
            </a:pPr>
            <a:r>
              <a:rPr sz="2150" b="1" dirty="0">
                <a:solidFill>
                  <a:srgbClr val="1D1B0F"/>
                </a:solidFill>
                <a:latin typeface="Calibri"/>
                <a:cs typeface="Calibri"/>
              </a:rPr>
              <a:t>est</a:t>
            </a:r>
            <a:r>
              <a:rPr sz="2150" b="1" spc="31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b="1" spc="-25" dirty="0">
                <a:solidFill>
                  <a:srgbClr val="1D1B0F"/>
                </a:solidFill>
                <a:latin typeface="Calibri"/>
                <a:cs typeface="Calibri"/>
              </a:rPr>
              <a:t>correctement </a:t>
            </a:r>
            <a:r>
              <a:rPr sz="2150" b="1" spc="-10" dirty="0">
                <a:solidFill>
                  <a:srgbClr val="1D1B0F"/>
                </a:solidFill>
                <a:latin typeface="Calibri"/>
                <a:cs typeface="Calibri"/>
              </a:rPr>
              <a:t>sécurisé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35000" y="1691716"/>
            <a:ext cx="2184400" cy="1392555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12700" marR="5080" indent="19685" algn="ctr">
              <a:lnSpc>
                <a:spcPct val="87000"/>
              </a:lnSpc>
              <a:spcBef>
                <a:spcPts val="415"/>
              </a:spcBef>
            </a:pPr>
            <a:r>
              <a:rPr sz="2000" b="1" spc="-10" dirty="0">
                <a:solidFill>
                  <a:srgbClr val="1D1B0F"/>
                </a:solidFill>
                <a:latin typeface="Calibri"/>
                <a:cs typeface="Calibri"/>
              </a:rPr>
              <a:t>Auditer</a:t>
            </a:r>
            <a:r>
              <a:rPr sz="2000" b="1" spc="-7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1D1B0F"/>
                </a:solidFill>
                <a:latin typeface="Calibri"/>
                <a:cs typeface="Calibri"/>
              </a:rPr>
              <a:t>le</a:t>
            </a:r>
            <a:r>
              <a:rPr sz="2000" b="1" spc="44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000" b="1" spc="-40" dirty="0">
                <a:solidFill>
                  <a:srgbClr val="1D1B0F"/>
                </a:solidFill>
                <a:latin typeface="Calibri"/>
                <a:cs typeface="Calibri"/>
              </a:rPr>
              <a:t>niveau</a:t>
            </a:r>
            <a:r>
              <a:rPr sz="2000" b="1" spc="-10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000" b="1" spc="-25" dirty="0">
                <a:solidFill>
                  <a:srgbClr val="1D1B0F"/>
                </a:solidFill>
                <a:latin typeface="Calibri"/>
                <a:cs typeface="Calibri"/>
              </a:rPr>
              <a:t>de </a:t>
            </a:r>
            <a:r>
              <a:rPr sz="2000" b="1" spc="-10" dirty="0">
                <a:solidFill>
                  <a:srgbClr val="1D1B0F"/>
                </a:solidFill>
                <a:latin typeface="Calibri"/>
                <a:cs typeface="Calibri"/>
              </a:rPr>
              <a:t>Disponibilité, Intégrité, </a:t>
            </a:r>
            <a:r>
              <a:rPr sz="2000" b="1" spc="-20" dirty="0">
                <a:solidFill>
                  <a:srgbClr val="1D1B0F"/>
                </a:solidFill>
                <a:latin typeface="Calibri"/>
                <a:cs typeface="Calibri"/>
              </a:rPr>
              <a:t>Confidentialité</a:t>
            </a:r>
            <a:r>
              <a:rPr sz="2000" b="1" spc="-6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1D1B0F"/>
                </a:solidFill>
                <a:latin typeface="Calibri"/>
                <a:cs typeface="Calibri"/>
              </a:rPr>
              <a:t>et</a:t>
            </a:r>
            <a:r>
              <a:rPr sz="2000" b="1" spc="-4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000" b="1" spc="-25" dirty="0">
                <a:solidFill>
                  <a:srgbClr val="1D1B0F"/>
                </a:solidFill>
                <a:latin typeface="Calibri"/>
                <a:cs typeface="Calibri"/>
              </a:rPr>
              <a:t>de </a:t>
            </a:r>
            <a:r>
              <a:rPr sz="2000" b="1" spc="-10" dirty="0">
                <a:solidFill>
                  <a:srgbClr val="1D1B0F"/>
                </a:solidFill>
                <a:latin typeface="Calibri"/>
                <a:cs typeface="Calibri"/>
              </a:rPr>
              <a:t>Preuve</a:t>
            </a:r>
            <a:r>
              <a:rPr sz="2000" b="1" spc="-4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1D1B0F"/>
                </a:solidFill>
                <a:latin typeface="Calibri"/>
                <a:cs typeface="Calibri"/>
              </a:rPr>
              <a:t>pour</a:t>
            </a:r>
            <a:r>
              <a:rPr sz="2000" b="1" spc="-9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1D1B0F"/>
                </a:solidFill>
                <a:latin typeface="Calibri"/>
                <a:cs typeface="Calibri"/>
              </a:rPr>
              <a:t>le</a:t>
            </a:r>
            <a:r>
              <a:rPr sz="2000" b="1" spc="-9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000" b="1" spc="-20" dirty="0">
                <a:solidFill>
                  <a:srgbClr val="1D1B0F"/>
                </a:solidFill>
                <a:latin typeface="Calibri"/>
                <a:cs typeface="Calibri"/>
              </a:rPr>
              <a:t>bien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728977" y="3320288"/>
            <a:ext cx="7480934" cy="16681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10"/>
              </a:spcBef>
            </a:pPr>
            <a:r>
              <a:rPr sz="3225" spc="-67" baseline="6459" dirty="0">
                <a:solidFill>
                  <a:srgbClr val="1D1B0F"/>
                </a:solidFill>
                <a:latin typeface="Calibri"/>
                <a:cs typeface="Calibri"/>
              </a:rPr>
              <a:t>.</a:t>
            </a:r>
            <a:r>
              <a:rPr sz="1650" spc="-45" dirty="0">
                <a:solidFill>
                  <a:srgbClr val="1D1B0F"/>
                </a:solidFill>
                <a:latin typeface="Calibri"/>
                <a:cs typeface="Calibri"/>
              </a:rPr>
              <a:t>•L’expression</a:t>
            </a:r>
            <a:r>
              <a:rPr sz="1650" spc="-2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1D1B0F"/>
                </a:solidFill>
                <a:latin typeface="Calibri"/>
                <a:cs typeface="Calibri"/>
              </a:rPr>
              <a:t>du</a:t>
            </a:r>
            <a:r>
              <a:rPr sz="1650" spc="-5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1D1B0F"/>
                </a:solidFill>
                <a:latin typeface="Calibri"/>
                <a:cs typeface="Calibri"/>
              </a:rPr>
              <a:t>besoin</a:t>
            </a:r>
            <a:r>
              <a:rPr sz="1650" spc="-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1D1B0F"/>
                </a:solidFill>
                <a:latin typeface="Calibri"/>
                <a:cs typeface="Calibri"/>
              </a:rPr>
              <a:t>attendu</a:t>
            </a:r>
            <a:r>
              <a:rPr sz="1650" spc="3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1D1B0F"/>
                </a:solidFill>
                <a:latin typeface="Calibri"/>
                <a:cs typeface="Calibri"/>
              </a:rPr>
              <a:t>peut-</a:t>
            </a:r>
            <a:r>
              <a:rPr sz="1650" dirty="0">
                <a:solidFill>
                  <a:srgbClr val="1D1B0F"/>
                </a:solidFill>
                <a:latin typeface="Calibri"/>
                <a:cs typeface="Calibri"/>
              </a:rPr>
              <a:t>être</a:t>
            </a:r>
            <a:r>
              <a:rPr sz="1650" spc="8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1D1B0F"/>
                </a:solidFill>
                <a:latin typeface="Calibri"/>
                <a:cs typeface="Calibri"/>
              </a:rPr>
              <a:t>d’origine</a:t>
            </a:r>
            <a:endParaRPr sz="1650">
              <a:latin typeface="Calibri"/>
              <a:cs typeface="Calibri"/>
            </a:endParaRPr>
          </a:p>
          <a:p>
            <a:pPr marL="873760" indent="-139700">
              <a:lnSpc>
                <a:spcPct val="100000"/>
              </a:lnSpc>
              <a:spcBef>
                <a:spcPts val="114"/>
              </a:spcBef>
              <a:buFont typeface="Calibri"/>
              <a:buChar char="•"/>
              <a:tabLst>
                <a:tab pos="873760" algn="l"/>
              </a:tabLst>
            </a:pPr>
            <a:r>
              <a:rPr sz="1650" b="1" dirty="0">
                <a:solidFill>
                  <a:srgbClr val="1D1B0F"/>
                </a:solidFill>
                <a:latin typeface="Calibri"/>
                <a:cs typeface="Calibri"/>
              </a:rPr>
              <a:t>Interne</a:t>
            </a:r>
            <a:r>
              <a:rPr sz="1650" b="1" spc="-1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1D1B0F"/>
                </a:solidFill>
                <a:latin typeface="Calibri"/>
                <a:cs typeface="Calibri"/>
              </a:rPr>
              <a:t>:</a:t>
            </a:r>
            <a:r>
              <a:rPr sz="1650" spc="-4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1D1B0F"/>
                </a:solidFill>
                <a:latin typeface="Calibri"/>
                <a:cs typeface="Calibri"/>
              </a:rPr>
              <a:t>inhérente</a:t>
            </a:r>
            <a:r>
              <a:rPr sz="1650" spc="-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1D1B0F"/>
                </a:solidFill>
                <a:latin typeface="Calibri"/>
                <a:cs typeface="Calibri"/>
              </a:rPr>
              <a:t>au</a:t>
            </a:r>
            <a:r>
              <a:rPr sz="1650" spc="-3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1D1B0F"/>
                </a:solidFill>
                <a:latin typeface="Calibri"/>
                <a:cs typeface="Calibri"/>
              </a:rPr>
              <a:t>métier</a:t>
            </a:r>
            <a:r>
              <a:rPr sz="1650" spc="-2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1D1B0F"/>
                </a:solidFill>
                <a:latin typeface="Calibri"/>
                <a:cs typeface="Calibri"/>
              </a:rPr>
              <a:t>de</a:t>
            </a:r>
            <a:r>
              <a:rPr sz="1650" spc="-5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1D1B0F"/>
                </a:solidFill>
                <a:latin typeface="Calibri"/>
                <a:cs typeface="Calibri"/>
              </a:rPr>
              <a:t>l’entreprise</a:t>
            </a:r>
            <a:endParaRPr sz="1650">
              <a:latin typeface="Calibri"/>
              <a:cs typeface="Calibri"/>
            </a:endParaRPr>
          </a:p>
          <a:p>
            <a:pPr marL="873760" indent="-139700">
              <a:lnSpc>
                <a:spcPct val="100000"/>
              </a:lnSpc>
              <a:spcBef>
                <a:spcPts val="1620"/>
              </a:spcBef>
              <a:buFont typeface="Calibri"/>
              <a:buChar char="•"/>
              <a:tabLst>
                <a:tab pos="873760" algn="l"/>
              </a:tabLst>
            </a:pPr>
            <a:r>
              <a:rPr sz="1650" b="1" dirty="0">
                <a:solidFill>
                  <a:srgbClr val="1D1B0F"/>
                </a:solidFill>
                <a:latin typeface="Calibri"/>
                <a:cs typeface="Calibri"/>
              </a:rPr>
              <a:t>externe</a:t>
            </a:r>
            <a:r>
              <a:rPr sz="1650" b="1" spc="3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1D1B0F"/>
                </a:solidFill>
                <a:latin typeface="Calibri"/>
                <a:cs typeface="Calibri"/>
              </a:rPr>
              <a:t>:</a:t>
            </a:r>
            <a:r>
              <a:rPr sz="1650" spc="-2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1D1B0F"/>
                </a:solidFill>
                <a:latin typeface="Calibri"/>
                <a:cs typeface="Calibri"/>
              </a:rPr>
              <a:t>issue</a:t>
            </a:r>
            <a:r>
              <a:rPr sz="1650" spc="-1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1D1B0F"/>
                </a:solidFill>
                <a:latin typeface="Calibri"/>
                <a:cs typeface="Calibri"/>
              </a:rPr>
              <a:t>des</a:t>
            </a:r>
            <a:r>
              <a:rPr sz="1650" spc="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650" spc="-20" dirty="0">
                <a:solidFill>
                  <a:srgbClr val="1D1B0F"/>
                </a:solidFill>
                <a:latin typeface="Calibri"/>
                <a:cs typeface="Calibri"/>
              </a:rPr>
              <a:t>contraintes</a:t>
            </a:r>
            <a:r>
              <a:rPr sz="165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1D1B0F"/>
                </a:solidFill>
                <a:latin typeface="Calibri"/>
                <a:cs typeface="Calibri"/>
              </a:rPr>
              <a:t>légales </a:t>
            </a:r>
            <a:r>
              <a:rPr sz="1650" dirty="0">
                <a:solidFill>
                  <a:srgbClr val="1D1B0F"/>
                </a:solidFill>
                <a:latin typeface="Calibri"/>
                <a:cs typeface="Calibri"/>
              </a:rPr>
              <a:t>qui</a:t>
            </a:r>
            <a:r>
              <a:rPr sz="1650" spc="-3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1D1B0F"/>
                </a:solidFill>
                <a:latin typeface="Calibri"/>
                <a:cs typeface="Calibri"/>
              </a:rPr>
              <a:t>pèsent</a:t>
            </a:r>
            <a:r>
              <a:rPr sz="1650" spc="-4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1D1B0F"/>
                </a:solidFill>
                <a:latin typeface="Calibri"/>
                <a:cs typeface="Calibri"/>
              </a:rPr>
              <a:t>sur</a:t>
            </a:r>
            <a:r>
              <a:rPr sz="1650" spc="-2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1D1B0F"/>
                </a:solidFill>
                <a:latin typeface="Calibri"/>
                <a:cs typeface="Calibri"/>
              </a:rPr>
              <a:t>les</a:t>
            </a:r>
            <a:r>
              <a:rPr sz="1650" spc="-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1D1B0F"/>
                </a:solidFill>
                <a:latin typeface="Calibri"/>
                <a:cs typeface="Calibri"/>
              </a:rPr>
              <a:t>biens</a:t>
            </a:r>
            <a:r>
              <a:rPr sz="1650" spc="-3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1D1B0F"/>
                </a:solidFill>
                <a:latin typeface="Calibri"/>
                <a:cs typeface="Calibri"/>
              </a:rPr>
              <a:t>de</a:t>
            </a:r>
            <a:r>
              <a:rPr sz="1650" spc="-2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1D1B0F"/>
                </a:solidFill>
                <a:latin typeface="Calibri"/>
                <a:cs typeface="Calibri"/>
              </a:rPr>
              <a:t>l’entreprise.</a:t>
            </a:r>
            <a:endParaRPr sz="16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90"/>
              </a:spcBef>
            </a:pPr>
            <a:endParaRPr sz="1650">
              <a:latin typeface="Calibri"/>
              <a:cs typeface="Calibri"/>
            </a:endParaRPr>
          </a:p>
          <a:p>
            <a:pPr marL="2175510">
              <a:lnSpc>
                <a:spcPct val="100000"/>
              </a:lnSpc>
            </a:pPr>
            <a:r>
              <a:rPr sz="1450" spc="-10" dirty="0">
                <a:solidFill>
                  <a:srgbClr val="1D1B0F"/>
                </a:solidFill>
                <a:latin typeface="Calibri"/>
                <a:cs typeface="Calibri"/>
              </a:rPr>
              <a:t>Exemple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365617" y="5010987"/>
            <a:ext cx="624205" cy="22732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-10" dirty="0">
                <a:solidFill>
                  <a:srgbClr val="1D1B0F"/>
                </a:solidFill>
                <a:latin typeface="Arial MT"/>
                <a:cs typeface="Arial MT"/>
              </a:rPr>
              <a:t>Très</a:t>
            </a:r>
            <a:r>
              <a:rPr sz="1300" spc="-75" dirty="0">
                <a:solidFill>
                  <a:srgbClr val="1D1B0F"/>
                </a:solidFill>
                <a:latin typeface="Arial MT"/>
                <a:cs typeface="Arial MT"/>
              </a:rPr>
              <a:t> </a:t>
            </a:r>
            <a:r>
              <a:rPr sz="1300" spc="-20" dirty="0">
                <a:solidFill>
                  <a:srgbClr val="1D1B0F"/>
                </a:solidFill>
                <a:latin typeface="Arial MT"/>
                <a:cs typeface="Arial MT"/>
              </a:rPr>
              <a:t>fort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451217" y="5273802"/>
            <a:ext cx="50927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-20" dirty="0">
                <a:solidFill>
                  <a:srgbClr val="1D1B0F"/>
                </a:solidFill>
                <a:latin typeface="Arial MT"/>
                <a:cs typeface="Arial MT"/>
              </a:rPr>
              <a:t>Moyen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322190" y="4949596"/>
            <a:ext cx="2409825" cy="79819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 marR="5080">
              <a:lnSpc>
                <a:spcPct val="128499"/>
              </a:lnSpc>
              <a:spcBef>
                <a:spcPts val="160"/>
              </a:spcBef>
            </a:pPr>
            <a:r>
              <a:rPr sz="1300" dirty="0">
                <a:solidFill>
                  <a:srgbClr val="1D1B0F"/>
                </a:solidFill>
                <a:latin typeface="Arial MT"/>
                <a:cs typeface="Arial MT"/>
              </a:rPr>
              <a:t>Niveau</a:t>
            </a:r>
            <a:r>
              <a:rPr sz="1300" spc="-45" dirty="0">
                <a:solidFill>
                  <a:srgbClr val="1D1B0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1D1B0F"/>
                </a:solidFill>
                <a:latin typeface="Arial MT"/>
                <a:cs typeface="Arial MT"/>
              </a:rPr>
              <a:t>de</a:t>
            </a:r>
            <a:r>
              <a:rPr sz="1300" spc="-30" dirty="0">
                <a:solidFill>
                  <a:srgbClr val="1D1B0F"/>
                </a:solidFill>
                <a:latin typeface="Arial MT"/>
                <a:cs typeface="Arial MT"/>
              </a:rPr>
              <a:t> </a:t>
            </a:r>
            <a:r>
              <a:rPr sz="1300" spc="-20" dirty="0">
                <a:solidFill>
                  <a:srgbClr val="1D1B0F"/>
                </a:solidFill>
                <a:latin typeface="Arial MT"/>
                <a:cs typeface="Arial MT"/>
              </a:rPr>
              <a:t>Disponibilité</a:t>
            </a:r>
            <a:r>
              <a:rPr sz="1300" spc="60" dirty="0">
                <a:solidFill>
                  <a:srgbClr val="1D1B0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1D1B0F"/>
                </a:solidFill>
                <a:latin typeface="Arial MT"/>
                <a:cs typeface="Arial MT"/>
              </a:rPr>
              <a:t>du</a:t>
            </a:r>
            <a:r>
              <a:rPr sz="1300" spc="-30" dirty="0">
                <a:solidFill>
                  <a:srgbClr val="1D1B0F"/>
                </a:solidFill>
                <a:latin typeface="Arial MT"/>
                <a:cs typeface="Arial MT"/>
              </a:rPr>
              <a:t> </a:t>
            </a:r>
            <a:r>
              <a:rPr sz="1300" spc="-20" dirty="0">
                <a:solidFill>
                  <a:srgbClr val="1D1B0F"/>
                </a:solidFill>
                <a:latin typeface="Arial MT"/>
                <a:cs typeface="Arial MT"/>
              </a:rPr>
              <a:t>bien </a:t>
            </a:r>
            <a:r>
              <a:rPr sz="1300" dirty="0">
                <a:solidFill>
                  <a:srgbClr val="1D1B0F"/>
                </a:solidFill>
                <a:latin typeface="Arial MT"/>
                <a:cs typeface="Arial MT"/>
              </a:rPr>
              <a:t>Niveau</a:t>
            </a:r>
            <a:r>
              <a:rPr sz="1300" spc="-60" dirty="0">
                <a:solidFill>
                  <a:srgbClr val="1D1B0F"/>
                </a:solidFill>
                <a:latin typeface="Arial MT"/>
                <a:cs typeface="Arial MT"/>
              </a:rPr>
              <a:t> </a:t>
            </a:r>
            <a:r>
              <a:rPr sz="1300" spc="-25" dirty="0">
                <a:solidFill>
                  <a:srgbClr val="1D1B0F"/>
                </a:solidFill>
                <a:latin typeface="Arial MT"/>
                <a:cs typeface="Arial MT"/>
              </a:rPr>
              <a:t>d’Intégrité</a:t>
            </a:r>
            <a:r>
              <a:rPr sz="1300" spc="75" dirty="0">
                <a:solidFill>
                  <a:srgbClr val="1D1B0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1D1B0F"/>
                </a:solidFill>
                <a:latin typeface="Arial MT"/>
                <a:cs typeface="Arial MT"/>
              </a:rPr>
              <a:t>du</a:t>
            </a:r>
            <a:r>
              <a:rPr sz="1300" spc="-30" dirty="0">
                <a:solidFill>
                  <a:srgbClr val="1D1B0F"/>
                </a:solidFill>
                <a:latin typeface="Arial MT"/>
                <a:cs typeface="Arial MT"/>
              </a:rPr>
              <a:t> </a:t>
            </a:r>
            <a:r>
              <a:rPr sz="1300" spc="-20" dirty="0">
                <a:solidFill>
                  <a:srgbClr val="1D1B0F"/>
                </a:solidFill>
                <a:latin typeface="Arial MT"/>
                <a:cs typeface="Arial MT"/>
              </a:rPr>
              <a:t>bien</a:t>
            </a:r>
            <a:r>
              <a:rPr sz="1300" spc="500" dirty="0">
                <a:solidFill>
                  <a:srgbClr val="1D1B0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1D1B0F"/>
                </a:solidFill>
                <a:latin typeface="Arial MT"/>
                <a:cs typeface="Arial MT"/>
              </a:rPr>
              <a:t>Niveau</a:t>
            </a:r>
            <a:r>
              <a:rPr sz="1300" spc="5" dirty="0">
                <a:solidFill>
                  <a:srgbClr val="1D1B0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1D1B0F"/>
                </a:solidFill>
                <a:latin typeface="Arial MT"/>
                <a:cs typeface="Arial MT"/>
              </a:rPr>
              <a:t>de</a:t>
            </a:r>
            <a:r>
              <a:rPr sz="1300" spc="-30" dirty="0">
                <a:solidFill>
                  <a:srgbClr val="1D1B0F"/>
                </a:solidFill>
                <a:latin typeface="Arial MT"/>
                <a:cs typeface="Arial MT"/>
              </a:rPr>
              <a:t> </a:t>
            </a:r>
            <a:r>
              <a:rPr sz="1300" spc="-25" dirty="0">
                <a:solidFill>
                  <a:srgbClr val="1D1B0F"/>
                </a:solidFill>
                <a:latin typeface="Arial MT"/>
                <a:cs typeface="Arial MT"/>
              </a:rPr>
              <a:t>Confidentialité</a:t>
            </a:r>
            <a:r>
              <a:rPr sz="1300" spc="45" dirty="0">
                <a:solidFill>
                  <a:srgbClr val="1D1B0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1D1B0F"/>
                </a:solidFill>
                <a:latin typeface="Arial MT"/>
                <a:cs typeface="Arial MT"/>
              </a:rPr>
              <a:t>du</a:t>
            </a:r>
            <a:r>
              <a:rPr sz="1300" spc="-20" dirty="0">
                <a:solidFill>
                  <a:srgbClr val="1D1B0F"/>
                </a:solidFill>
                <a:latin typeface="Arial MT"/>
                <a:cs typeface="Arial MT"/>
              </a:rPr>
              <a:t> bien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365617" y="5520639"/>
            <a:ext cx="62420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-10" dirty="0">
                <a:solidFill>
                  <a:srgbClr val="1D1B0F"/>
                </a:solidFill>
                <a:latin typeface="Arial MT"/>
                <a:cs typeface="Arial MT"/>
              </a:rPr>
              <a:t>Très</a:t>
            </a:r>
            <a:r>
              <a:rPr sz="1300" spc="-70" dirty="0">
                <a:solidFill>
                  <a:srgbClr val="1D1B0F"/>
                </a:solidFill>
                <a:latin typeface="Arial MT"/>
                <a:cs typeface="Arial MT"/>
              </a:rPr>
              <a:t> </a:t>
            </a:r>
            <a:r>
              <a:rPr sz="1300" spc="-20" dirty="0">
                <a:solidFill>
                  <a:srgbClr val="1D1B0F"/>
                </a:solidFill>
                <a:latin typeface="Arial MT"/>
                <a:cs typeface="Arial MT"/>
              </a:rPr>
              <a:t>fort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322190" y="5747715"/>
            <a:ext cx="3983990" cy="76200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209800" algn="l"/>
              </a:tabLst>
            </a:pPr>
            <a:r>
              <a:rPr sz="1300" dirty="0">
                <a:solidFill>
                  <a:srgbClr val="1D1B0F"/>
                </a:solidFill>
                <a:latin typeface="Arial MT"/>
                <a:cs typeface="Arial MT"/>
              </a:rPr>
              <a:t>Niveau</a:t>
            </a:r>
            <a:r>
              <a:rPr sz="1300" spc="-35" dirty="0">
                <a:solidFill>
                  <a:srgbClr val="1D1B0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1D1B0F"/>
                </a:solidFill>
                <a:latin typeface="Arial MT"/>
                <a:cs typeface="Arial MT"/>
              </a:rPr>
              <a:t>de</a:t>
            </a:r>
            <a:r>
              <a:rPr sz="1300" spc="-40" dirty="0">
                <a:solidFill>
                  <a:srgbClr val="1D1B0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1D1B0F"/>
                </a:solidFill>
                <a:latin typeface="Arial MT"/>
                <a:cs typeface="Arial MT"/>
              </a:rPr>
              <a:t>Preuve</a:t>
            </a:r>
            <a:r>
              <a:rPr sz="1300" spc="-120" dirty="0">
                <a:solidFill>
                  <a:srgbClr val="1D1B0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1D1B0F"/>
                </a:solidFill>
                <a:latin typeface="Arial MT"/>
                <a:cs typeface="Arial MT"/>
              </a:rPr>
              <a:t>du</a:t>
            </a:r>
            <a:r>
              <a:rPr sz="1300" spc="-40" dirty="0">
                <a:solidFill>
                  <a:srgbClr val="1D1B0F"/>
                </a:solidFill>
                <a:latin typeface="Arial MT"/>
                <a:cs typeface="Arial MT"/>
              </a:rPr>
              <a:t> </a:t>
            </a:r>
            <a:r>
              <a:rPr sz="1300" spc="-20" dirty="0">
                <a:solidFill>
                  <a:srgbClr val="1D1B0F"/>
                </a:solidFill>
                <a:latin typeface="Arial MT"/>
                <a:cs typeface="Arial MT"/>
              </a:rPr>
              <a:t>bien</a:t>
            </a:r>
            <a:r>
              <a:rPr sz="1300" dirty="0">
                <a:solidFill>
                  <a:srgbClr val="1D1B0F"/>
                </a:solidFill>
                <a:latin typeface="Arial MT"/>
                <a:cs typeface="Arial MT"/>
              </a:rPr>
              <a:t>	</a:t>
            </a:r>
            <a:r>
              <a:rPr sz="1300" spc="-10" dirty="0">
                <a:solidFill>
                  <a:srgbClr val="1D1B0F"/>
                </a:solidFill>
                <a:latin typeface="Arial MT"/>
                <a:cs typeface="Arial MT"/>
              </a:rPr>
              <a:t>Faible</a:t>
            </a: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55"/>
              </a:spcBef>
            </a:pPr>
            <a:endParaRPr sz="1300">
              <a:latin typeface="Arial MT"/>
              <a:cs typeface="Arial MT"/>
            </a:endParaRPr>
          </a:p>
          <a:p>
            <a:pPr marL="382905">
              <a:lnSpc>
                <a:spcPct val="100000"/>
              </a:lnSpc>
            </a:pPr>
            <a:r>
              <a:rPr sz="1300" dirty="0">
                <a:solidFill>
                  <a:srgbClr val="1D1B0F"/>
                </a:solidFill>
                <a:latin typeface="Arial MT"/>
                <a:cs typeface="Arial MT"/>
              </a:rPr>
              <a:t>Le</a:t>
            </a:r>
            <a:r>
              <a:rPr sz="1300" spc="-80" dirty="0">
                <a:solidFill>
                  <a:srgbClr val="1D1B0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1D1B0F"/>
                </a:solidFill>
                <a:latin typeface="Arial MT"/>
                <a:cs typeface="Arial MT"/>
              </a:rPr>
              <a:t>bien</a:t>
            </a:r>
            <a:r>
              <a:rPr sz="1300" spc="-35" dirty="0">
                <a:solidFill>
                  <a:srgbClr val="1D1B0F"/>
                </a:solidFill>
                <a:latin typeface="Arial MT"/>
                <a:cs typeface="Arial MT"/>
              </a:rPr>
              <a:t> </a:t>
            </a:r>
            <a:r>
              <a:rPr sz="1300" spc="-20" dirty="0">
                <a:solidFill>
                  <a:srgbClr val="1D1B0F"/>
                </a:solidFill>
                <a:latin typeface="Arial MT"/>
                <a:cs typeface="Arial MT"/>
              </a:rPr>
              <a:t>bénéficie</a:t>
            </a:r>
            <a:r>
              <a:rPr sz="1300" spc="35" dirty="0">
                <a:solidFill>
                  <a:srgbClr val="1D1B0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1D1B0F"/>
                </a:solidFill>
                <a:latin typeface="Arial MT"/>
                <a:cs typeface="Arial MT"/>
              </a:rPr>
              <a:t>d’un</a:t>
            </a:r>
            <a:r>
              <a:rPr sz="1300" spc="-70" dirty="0">
                <a:solidFill>
                  <a:srgbClr val="1D1B0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1D1B0F"/>
                </a:solidFill>
                <a:latin typeface="Arial MT"/>
                <a:cs typeface="Arial MT"/>
              </a:rPr>
              <a:t>niveau</a:t>
            </a:r>
            <a:r>
              <a:rPr sz="1300" spc="-65" dirty="0">
                <a:solidFill>
                  <a:srgbClr val="1D1B0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1D1B0F"/>
                </a:solidFill>
                <a:latin typeface="Arial MT"/>
                <a:cs typeface="Arial MT"/>
              </a:rPr>
              <a:t>de</a:t>
            </a:r>
            <a:r>
              <a:rPr sz="1300" spc="-80" dirty="0">
                <a:solidFill>
                  <a:srgbClr val="1D1B0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1D1B0F"/>
                </a:solidFill>
                <a:latin typeface="Arial MT"/>
                <a:cs typeface="Arial MT"/>
              </a:rPr>
              <a:t>sécurité</a:t>
            </a:r>
            <a:r>
              <a:rPr sz="1300" spc="-20" dirty="0">
                <a:solidFill>
                  <a:srgbClr val="1D1B0F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1D1B0F"/>
                </a:solidFill>
                <a:latin typeface="Arial MT"/>
                <a:cs typeface="Arial MT"/>
              </a:rPr>
              <a:t>adéquat</a:t>
            </a:r>
            <a:endParaRPr sz="1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21168" y="3258311"/>
            <a:ext cx="3630168" cy="220675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184381" y="6304889"/>
            <a:ext cx="202565" cy="245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50" spc="-25" dirty="0">
                <a:solidFill>
                  <a:srgbClr val="858585"/>
                </a:solidFill>
                <a:latin typeface="Calibri"/>
                <a:cs typeface="Calibri"/>
              </a:rPr>
              <a:t>17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042920" y="164033"/>
            <a:ext cx="675957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Actions</a:t>
            </a:r>
            <a:r>
              <a:rPr sz="3600" spc="-155" dirty="0"/>
              <a:t> </a:t>
            </a:r>
            <a:r>
              <a:rPr sz="3600" dirty="0"/>
              <a:t>de</a:t>
            </a:r>
            <a:r>
              <a:rPr sz="3600" spc="-100" dirty="0"/>
              <a:t> </a:t>
            </a:r>
            <a:r>
              <a:rPr sz="3600" dirty="0"/>
              <a:t>Sécurité</a:t>
            </a:r>
            <a:r>
              <a:rPr sz="3600" spc="-125" dirty="0"/>
              <a:t> </a:t>
            </a:r>
            <a:r>
              <a:rPr sz="3600" dirty="0"/>
              <a:t>à</a:t>
            </a:r>
            <a:r>
              <a:rPr sz="3600" spc="-110" dirty="0"/>
              <a:t> </a:t>
            </a:r>
            <a:r>
              <a:rPr sz="3600" dirty="0"/>
              <a:t>mettre</a:t>
            </a:r>
            <a:r>
              <a:rPr sz="3600" spc="-10" dirty="0"/>
              <a:t> </a:t>
            </a:r>
            <a:r>
              <a:rPr sz="3600" dirty="0"/>
              <a:t>en</a:t>
            </a:r>
            <a:r>
              <a:rPr sz="3600" spc="-120" dirty="0"/>
              <a:t> </a:t>
            </a:r>
            <a:r>
              <a:rPr sz="3600" spc="-10" dirty="0"/>
              <a:t>place</a:t>
            </a:r>
            <a:endParaRPr sz="3600"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63495" y="2822448"/>
            <a:ext cx="4163567" cy="87477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63495" y="3995928"/>
            <a:ext cx="4163567" cy="108661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0022840" y="1446403"/>
            <a:ext cx="11633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63880" algn="l"/>
              </a:tabLst>
            </a:pPr>
            <a:r>
              <a:rPr sz="2400" spc="-25" dirty="0">
                <a:solidFill>
                  <a:srgbClr val="1D1B0F"/>
                </a:solidFill>
                <a:latin typeface="Calibri"/>
                <a:cs typeface="Calibri"/>
              </a:rPr>
              <a:t>ont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	</a:t>
            </a:r>
            <a:r>
              <a:rPr sz="2400" spc="-20" dirty="0">
                <a:solidFill>
                  <a:srgbClr val="1D1B0F"/>
                </a:solidFill>
                <a:latin typeface="Calibri"/>
                <a:cs typeface="Calibri"/>
              </a:rPr>
              <a:t>pour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02893" y="1446403"/>
            <a:ext cx="8776335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>
              <a:lnSpc>
                <a:spcPts val="2590"/>
              </a:lnSpc>
              <a:spcBef>
                <a:spcPts val="425"/>
              </a:spcBef>
              <a:tabLst>
                <a:tab pos="501650" algn="l"/>
                <a:tab pos="1658620" algn="l"/>
                <a:tab pos="3485515" algn="l"/>
                <a:tab pos="3766185" algn="l"/>
                <a:tab pos="4719320" algn="l"/>
                <a:tab pos="5163820" algn="l"/>
                <a:tab pos="6820534" algn="l"/>
                <a:tab pos="6893559" algn="l"/>
                <a:tab pos="7267575" algn="l"/>
                <a:tab pos="8381365" algn="l"/>
              </a:tabLst>
            </a:pPr>
            <a:r>
              <a:rPr sz="2400" spc="-25" dirty="0">
                <a:solidFill>
                  <a:srgbClr val="1D1B0F"/>
                </a:solidFill>
                <a:latin typeface="Calibri"/>
                <a:cs typeface="Calibri"/>
              </a:rPr>
              <a:t>Un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	</a:t>
            </a:r>
            <a:r>
              <a:rPr sz="2400" spc="-10" dirty="0">
                <a:solidFill>
                  <a:srgbClr val="1D1B0F"/>
                </a:solidFill>
                <a:latin typeface="Calibri"/>
                <a:cs typeface="Calibri"/>
              </a:rPr>
              <a:t>Système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	</a:t>
            </a:r>
            <a:r>
              <a:rPr sz="2400" spc="-10" dirty="0">
                <a:solidFill>
                  <a:srgbClr val="1D1B0F"/>
                </a:solidFill>
                <a:latin typeface="Calibri"/>
                <a:cs typeface="Calibri"/>
              </a:rPr>
              <a:t>d’Information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	</a:t>
            </a:r>
            <a:r>
              <a:rPr sz="2400" spc="-50" dirty="0">
                <a:solidFill>
                  <a:srgbClr val="1D1B0F"/>
                </a:solidFill>
                <a:latin typeface="Calibri"/>
                <a:cs typeface="Calibri"/>
              </a:rPr>
              <a:t>a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	</a:t>
            </a:r>
            <a:r>
              <a:rPr sz="2400" spc="-10" dirty="0">
                <a:solidFill>
                  <a:srgbClr val="1D1B0F"/>
                </a:solidFill>
                <a:latin typeface="Calibri"/>
                <a:cs typeface="Calibri"/>
              </a:rPr>
              <a:t>besoin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	</a:t>
            </a:r>
            <a:r>
              <a:rPr sz="2400" spc="-25" dirty="0">
                <a:solidFill>
                  <a:srgbClr val="1D1B0F"/>
                </a:solidFill>
                <a:latin typeface="Calibri"/>
                <a:cs typeface="Calibri"/>
              </a:rPr>
              <a:t>de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	</a:t>
            </a:r>
            <a:r>
              <a:rPr sz="2400" spc="-10" dirty="0">
                <a:solidFill>
                  <a:srgbClr val="1D1B0F"/>
                </a:solidFill>
                <a:latin typeface="Calibri"/>
                <a:cs typeface="Calibri"/>
              </a:rPr>
              <a:t>mécanismes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	</a:t>
            </a:r>
            <a:r>
              <a:rPr sz="2400" spc="-25" dirty="0">
                <a:solidFill>
                  <a:srgbClr val="1D1B0F"/>
                </a:solidFill>
                <a:latin typeface="Calibri"/>
                <a:cs typeface="Calibri"/>
              </a:rPr>
              <a:t>de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	</a:t>
            </a:r>
            <a:r>
              <a:rPr sz="2400" spc="-10" dirty="0">
                <a:solidFill>
                  <a:srgbClr val="1D1B0F"/>
                </a:solidFill>
                <a:latin typeface="Calibri"/>
                <a:cs typeface="Calibri"/>
              </a:rPr>
              <a:t>sécurité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	</a:t>
            </a:r>
            <a:r>
              <a:rPr sz="2400" spc="-45" dirty="0">
                <a:solidFill>
                  <a:srgbClr val="1D1B0F"/>
                </a:solidFill>
                <a:latin typeface="Calibri"/>
                <a:cs typeface="Calibri"/>
              </a:rPr>
              <a:t>qui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objectif</a:t>
            </a:r>
            <a:r>
              <a:rPr sz="2400" spc="-4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spc="-35" dirty="0">
                <a:solidFill>
                  <a:srgbClr val="1D1B0F"/>
                </a:solidFill>
                <a:latin typeface="Calibri"/>
                <a:cs typeface="Calibri"/>
              </a:rPr>
              <a:t>d’assurer</a:t>
            </a:r>
            <a:r>
              <a:rPr sz="2400" spc="-8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de</a:t>
            </a:r>
            <a:r>
              <a:rPr sz="2400" spc="-5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spc="-30" dirty="0">
                <a:solidFill>
                  <a:srgbClr val="1D1B0F"/>
                </a:solidFill>
                <a:latin typeface="Calibri"/>
                <a:cs typeface="Calibri"/>
              </a:rPr>
              <a:t>garantir</a:t>
            </a:r>
            <a:r>
              <a:rPr sz="2400" spc="-9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les</a:t>
            </a:r>
            <a:r>
              <a:rPr sz="2400" spc="-6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1D1B0F"/>
                </a:solidFill>
                <a:latin typeface="Calibri"/>
                <a:cs typeface="Calibri"/>
              </a:rPr>
              <a:t>propriétés</a:t>
            </a:r>
            <a:r>
              <a:rPr sz="2400" spc="-3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DICP</a:t>
            </a:r>
            <a:r>
              <a:rPr sz="2400" spc="-10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sur</a:t>
            </a:r>
            <a:r>
              <a:rPr sz="2400" spc="-5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1D1B0F"/>
                </a:solidFill>
                <a:latin typeface="Calibri"/>
                <a:cs typeface="Calibri"/>
              </a:rPr>
              <a:t>les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		biens</a:t>
            </a:r>
            <a:r>
              <a:rPr sz="2400" spc="-8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de</a:t>
            </a:r>
            <a:r>
              <a:rPr sz="2400" spc="-7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ce</a:t>
            </a:r>
            <a:r>
              <a:rPr sz="2400" spc="-11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1D1B0F"/>
                </a:solidFill>
                <a:latin typeface="Calibri"/>
                <a:cs typeface="Calibri"/>
              </a:rPr>
              <a:t>S.I.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63495" y="5843015"/>
            <a:ext cx="4163567" cy="858012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2199258" y="2228396"/>
            <a:ext cx="3612515" cy="3502025"/>
          </a:xfrm>
          <a:prstGeom prst="rect">
            <a:avLst/>
          </a:prstGeom>
        </p:spPr>
        <p:txBody>
          <a:bodyPr vert="horz" wrap="square" lIns="0" tIns="170180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1340"/>
              </a:spcBef>
            </a:pPr>
            <a:r>
              <a:rPr sz="1800" b="1" spc="-55" dirty="0">
                <a:solidFill>
                  <a:srgbClr val="1D1B0F"/>
                </a:solidFill>
                <a:latin typeface="Calibri"/>
                <a:cs typeface="Calibri"/>
              </a:rPr>
              <a:t>Techniques</a:t>
            </a:r>
            <a:r>
              <a:rPr sz="1800" b="1" spc="-50" dirty="0">
                <a:solidFill>
                  <a:srgbClr val="1D1B0F"/>
                </a:solidFill>
                <a:latin typeface="Calibri"/>
                <a:cs typeface="Calibri"/>
              </a:rPr>
              <a:t> :</a:t>
            </a:r>
            <a:endParaRPr sz="1800">
              <a:latin typeface="Calibri"/>
              <a:cs typeface="Calibri"/>
            </a:endParaRPr>
          </a:p>
          <a:p>
            <a:pPr marL="41275">
              <a:lnSpc>
                <a:spcPct val="100000"/>
              </a:lnSpc>
              <a:spcBef>
                <a:spcPts val="1240"/>
              </a:spcBef>
            </a:pPr>
            <a:r>
              <a:rPr sz="1800" dirty="0">
                <a:solidFill>
                  <a:srgbClr val="1D1B0F"/>
                </a:solidFill>
                <a:latin typeface="Calibri"/>
                <a:cs typeface="Calibri"/>
              </a:rPr>
              <a:t>les</a:t>
            </a:r>
            <a:r>
              <a:rPr sz="1800" spc="-4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1D1B0F"/>
                </a:solidFill>
                <a:latin typeface="Calibri"/>
                <a:cs typeface="Calibri"/>
              </a:rPr>
              <a:t>solutions</a:t>
            </a:r>
            <a:r>
              <a:rPr sz="1800" spc="1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spc="-30" dirty="0">
                <a:solidFill>
                  <a:srgbClr val="1D1B0F"/>
                </a:solidFill>
                <a:latin typeface="Calibri"/>
                <a:cs typeface="Calibri"/>
              </a:rPr>
              <a:t>matérielles</a:t>
            </a:r>
            <a:r>
              <a:rPr sz="1800" spc="-3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D1B0F"/>
                </a:solidFill>
                <a:latin typeface="Calibri"/>
                <a:cs typeface="Calibri"/>
              </a:rPr>
              <a:t>et</a:t>
            </a:r>
            <a:r>
              <a:rPr sz="1800" spc="-7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1D1B0F"/>
                </a:solidFill>
                <a:latin typeface="Calibri"/>
                <a:cs typeface="Calibri"/>
              </a:rPr>
              <a:t>logicielles</a:t>
            </a:r>
            <a:endParaRPr sz="1800">
              <a:latin typeface="Calibri"/>
              <a:cs typeface="Calibri"/>
            </a:endParaRPr>
          </a:p>
          <a:p>
            <a:pPr marL="151130" marR="1355090" indent="-137160">
              <a:lnSpc>
                <a:spcPct val="106100"/>
              </a:lnSpc>
              <a:spcBef>
                <a:spcPts val="240"/>
              </a:spcBef>
              <a:buSzPct val="88888"/>
              <a:buChar char="•"/>
              <a:tabLst>
                <a:tab pos="151130" algn="l"/>
              </a:tabLst>
            </a:pPr>
            <a:r>
              <a:rPr sz="1800" spc="-40" dirty="0">
                <a:solidFill>
                  <a:srgbClr val="1D1B0F"/>
                </a:solidFill>
                <a:latin typeface="Calibri"/>
                <a:cs typeface="Calibri"/>
              </a:rPr>
              <a:t>Antivirus,Antispam,FW, </a:t>
            </a:r>
            <a:r>
              <a:rPr sz="1800" spc="-30" dirty="0">
                <a:solidFill>
                  <a:srgbClr val="1D1B0F"/>
                </a:solidFill>
                <a:latin typeface="Calibri"/>
                <a:cs typeface="Calibri"/>
              </a:rPr>
              <a:t>contrôleur</a:t>
            </a:r>
            <a:r>
              <a:rPr sz="1800" spc="-1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1D1B0F"/>
                </a:solidFill>
                <a:latin typeface="Calibri"/>
                <a:cs typeface="Calibri"/>
              </a:rPr>
              <a:t>d’accès,</a:t>
            </a:r>
            <a:r>
              <a:rPr sz="1800" spc="-3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1D1B0F"/>
                </a:solidFill>
                <a:latin typeface="Calibri"/>
                <a:cs typeface="Calibri"/>
              </a:rPr>
              <a:t>etc.</a:t>
            </a:r>
            <a:endParaRPr sz="1800">
              <a:latin typeface="Calibri"/>
              <a:cs typeface="Calibri"/>
            </a:endParaRPr>
          </a:p>
          <a:p>
            <a:pPr marL="41275">
              <a:lnSpc>
                <a:spcPct val="100000"/>
              </a:lnSpc>
              <a:spcBef>
                <a:spcPts val="705"/>
              </a:spcBef>
            </a:pPr>
            <a:r>
              <a:rPr sz="1800" b="1" spc="-10" dirty="0">
                <a:solidFill>
                  <a:srgbClr val="1D1B0F"/>
                </a:solidFill>
                <a:latin typeface="Calibri"/>
                <a:cs typeface="Calibri"/>
              </a:rPr>
              <a:t>Humains</a:t>
            </a:r>
            <a:endParaRPr sz="1800">
              <a:latin typeface="Calibri"/>
              <a:cs typeface="Calibri"/>
            </a:endParaRPr>
          </a:p>
          <a:p>
            <a:pPr marL="151130" indent="-138430">
              <a:lnSpc>
                <a:spcPct val="100000"/>
              </a:lnSpc>
              <a:spcBef>
                <a:spcPts val="1120"/>
              </a:spcBef>
              <a:buSzPct val="88888"/>
              <a:buChar char="•"/>
              <a:tabLst>
                <a:tab pos="151130" algn="l"/>
              </a:tabLst>
            </a:pPr>
            <a:r>
              <a:rPr sz="1800" spc="-10" dirty="0">
                <a:solidFill>
                  <a:srgbClr val="1D1B0F"/>
                </a:solidFill>
                <a:latin typeface="Calibri"/>
                <a:cs typeface="Calibri"/>
              </a:rPr>
              <a:t>Direction</a:t>
            </a:r>
            <a:r>
              <a:rPr sz="1800" spc="-2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spc="-35" dirty="0">
                <a:solidFill>
                  <a:srgbClr val="1D1B0F"/>
                </a:solidFill>
                <a:latin typeface="Calibri"/>
                <a:cs typeface="Calibri"/>
              </a:rPr>
              <a:t>informatique:</a:t>
            </a:r>
            <a:r>
              <a:rPr sz="1800" spc="-4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1D1B0F"/>
                </a:solidFill>
                <a:latin typeface="Calibri"/>
                <a:cs typeface="Calibri"/>
              </a:rPr>
              <a:t>Assure</a:t>
            </a:r>
            <a:r>
              <a:rPr sz="1800" spc="-8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1D1B0F"/>
                </a:solidFill>
                <a:latin typeface="Calibri"/>
                <a:cs typeface="Calibri"/>
              </a:rPr>
              <a:t>le</a:t>
            </a:r>
            <a:endParaRPr sz="1800">
              <a:latin typeface="Calibri"/>
              <a:cs typeface="Calibri"/>
            </a:endParaRPr>
          </a:p>
          <a:p>
            <a:pPr marL="151130" marR="5080">
              <a:lnSpc>
                <a:spcPct val="111100"/>
              </a:lnSpc>
            </a:pPr>
            <a:r>
              <a:rPr sz="1800" dirty="0">
                <a:solidFill>
                  <a:srgbClr val="1D1B0F"/>
                </a:solidFill>
                <a:latin typeface="Calibri"/>
                <a:cs typeface="Calibri"/>
              </a:rPr>
              <a:t>bon</a:t>
            </a:r>
            <a:r>
              <a:rPr sz="1800" spc="-4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spc="-30" dirty="0">
                <a:solidFill>
                  <a:srgbClr val="1D1B0F"/>
                </a:solidFill>
                <a:latin typeface="Calibri"/>
                <a:cs typeface="Calibri"/>
              </a:rPr>
              <a:t>fonctionnement</a:t>
            </a:r>
            <a:r>
              <a:rPr sz="1800" spc="-1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1D1B0F"/>
                </a:solidFill>
                <a:latin typeface="Calibri"/>
                <a:cs typeface="Calibri"/>
              </a:rPr>
              <a:t>des</a:t>
            </a:r>
            <a:r>
              <a:rPr sz="1800" spc="-9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1D1B0F"/>
                </a:solidFill>
                <a:latin typeface="Calibri"/>
                <a:cs typeface="Calibri"/>
              </a:rPr>
              <a:t>applications, </a:t>
            </a:r>
            <a:r>
              <a:rPr sz="1800" spc="-45" dirty="0">
                <a:solidFill>
                  <a:srgbClr val="1D1B0F"/>
                </a:solidFill>
                <a:latin typeface="Calibri"/>
                <a:cs typeface="Calibri"/>
              </a:rPr>
              <a:t>contrôler</a:t>
            </a:r>
            <a:r>
              <a:rPr sz="1800" spc="-10" dirty="0">
                <a:solidFill>
                  <a:srgbClr val="1D1B0F"/>
                </a:solidFill>
                <a:latin typeface="Calibri"/>
                <a:cs typeface="Calibri"/>
              </a:rPr>
              <a:t> les</a:t>
            </a:r>
            <a:r>
              <a:rPr sz="1800" spc="-9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1D1B0F"/>
                </a:solidFill>
                <a:latin typeface="Calibri"/>
                <a:cs typeface="Calibri"/>
              </a:rPr>
              <a:t>accès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40"/>
              </a:spcBef>
            </a:pPr>
            <a:endParaRPr sz="1800">
              <a:latin typeface="Calibri"/>
              <a:cs typeface="Calibri"/>
            </a:endParaRPr>
          </a:p>
          <a:p>
            <a:pPr marL="151130">
              <a:lnSpc>
                <a:spcPct val="100000"/>
              </a:lnSpc>
              <a:spcBef>
                <a:spcPts val="5"/>
              </a:spcBef>
            </a:pPr>
            <a:r>
              <a:rPr sz="1800" b="1" spc="-10" dirty="0">
                <a:solidFill>
                  <a:srgbClr val="1D1B0F"/>
                </a:solidFill>
                <a:latin typeface="Calibri"/>
                <a:cs typeface="Calibri"/>
              </a:rPr>
              <a:t>Organisationnels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08758" y="6021730"/>
            <a:ext cx="3124835" cy="63500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248285" indent="-235585">
              <a:lnSpc>
                <a:spcPct val="100000"/>
              </a:lnSpc>
              <a:spcBef>
                <a:spcPts val="340"/>
              </a:spcBef>
              <a:buSzPct val="88888"/>
              <a:buChar char="•"/>
              <a:tabLst>
                <a:tab pos="248285" algn="l"/>
              </a:tabLst>
            </a:pPr>
            <a:r>
              <a:rPr sz="1800" spc="-35" dirty="0">
                <a:solidFill>
                  <a:srgbClr val="1D1B0F"/>
                </a:solidFill>
                <a:latin typeface="Calibri"/>
                <a:cs typeface="Calibri"/>
              </a:rPr>
              <a:t>Etablissement</a:t>
            </a:r>
            <a:r>
              <a:rPr sz="1800" spc="-6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D1B0F"/>
                </a:solidFill>
                <a:latin typeface="Calibri"/>
                <a:cs typeface="Calibri"/>
              </a:rPr>
              <a:t>de</a:t>
            </a:r>
            <a:r>
              <a:rPr sz="1800" spc="-1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D1B0F"/>
                </a:solidFill>
                <a:latin typeface="Calibri"/>
                <a:cs typeface="Calibri"/>
              </a:rPr>
              <a:t>la</a:t>
            </a:r>
            <a:r>
              <a:rPr sz="1800" spc="-4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1D1B0F"/>
                </a:solidFill>
                <a:latin typeface="Calibri"/>
                <a:cs typeface="Calibri"/>
              </a:rPr>
              <a:t>politique</a:t>
            </a:r>
            <a:r>
              <a:rPr sz="1800" spc="3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1D1B0F"/>
                </a:solidFill>
                <a:latin typeface="Calibri"/>
                <a:cs typeface="Calibri"/>
              </a:rPr>
              <a:t>et</a:t>
            </a:r>
            <a:endParaRPr sz="1800">
              <a:latin typeface="Calibri"/>
              <a:cs typeface="Calibri"/>
            </a:endParaRPr>
          </a:p>
          <a:p>
            <a:pPr marL="143510">
              <a:lnSpc>
                <a:spcPct val="100000"/>
              </a:lnSpc>
              <a:spcBef>
                <a:spcPts val="240"/>
              </a:spcBef>
            </a:pPr>
            <a:r>
              <a:rPr sz="1800" spc="-50" dirty="0">
                <a:solidFill>
                  <a:srgbClr val="1D1B0F"/>
                </a:solidFill>
                <a:latin typeface="Calibri"/>
                <a:cs typeface="Calibri"/>
              </a:rPr>
              <a:t>l’organisation</a:t>
            </a:r>
            <a:r>
              <a:rPr sz="1800" spc="-1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D1B0F"/>
                </a:solidFill>
                <a:latin typeface="Calibri"/>
                <a:cs typeface="Calibri"/>
              </a:rPr>
              <a:t>de</a:t>
            </a:r>
            <a:r>
              <a:rPr sz="1800" spc="-6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D1B0F"/>
                </a:solidFill>
                <a:latin typeface="Calibri"/>
                <a:cs typeface="Calibri"/>
              </a:rPr>
              <a:t>la</a:t>
            </a:r>
            <a:r>
              <a:rPr sz="1800" spc="-1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1D1B0F"/>
                </a:solidFill>
                <a:latin typeface="Calibri"/>
                <a:cs typeface="Calibri"/>
              </a:rPr>
              <a:t>sécurité.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48257" y="1707642"/>
            <a:ext cx="4286885" cy="3181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spc="-20" dirty="0">
                <a:solidFill>
                  <a:srgbClr val="1D1B0F"/>
                </a:solidFill>
                <a:latin typeface="Arial"/>
                <a:cs typeface="Arial"/>
              </a:rPr>
              <a:t>Exemples</a:t>
            </a:r>
            <a:r>
              <a:rPr sz="1900" b="1" spc="-15" dirty="0">
                <a:solidFill>
                  <a:srgbClr val="1D1B0F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1D1B0F"/>
                </a:solidFill>
                <a:latin typeface="Arial"/>
                <a:cs typeface="Arial"/>
              </a:rPr>
              <a:t>de</a:t>
            </a:r>
            <a:r>
              <a:rPr sz="1900" b="1" spc="-95" dirty="0">
                <a:solidFill>
                  <a:srgbClr val="1D1B0F"/>
                </a:solidFill>
                <a:latin typeface="Arial"/>
                <a:cs typeface="Arial"/>
              </a:rPr>
              <a:t> </a:t>
            </a:r>
            <a:r>
              <a:rPr sz="1900" b="1" spc="-20" dirty="0">
                <a:solidFill>
                  <a:srgbClr val="1D1B0F"/>
                </a:solidFill>
                <a:latin typeface="Arial"/>
                <a:cs typeface="Arial"/>
              </a:rPr>
              <a:t>mécanismes</a:t>
            </a:r>
            <a:r>
              <a:rPr sz="1900" b="1" spc="-65" dirty="0">
                <a:solidFill>
                  <a:srgbClr val="1D1B0F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1D1B0F"/>
                </a:solidFill>
                <a:latin typeface="Arial"/>
                <a:cs typeface="Arial"/>
              </a:rPr>
              <a:t>de</a:t>
            </a:r>
            <a:r>
              <a:rPr sz="1900" b="1" spc="-95" dirty="0">
                <a:solidFill>
                  <a:srgbClr val="1D1B0F"/>
                </a:solidFill>
                <a:latin typeface="Arial"/>
                <a:cs typeface="Arial"/>
              </a:rPr>
              <a:t> </a:t>
            </a:r>
            <a:r>
              <a:rPr sz="1900" b="1" spc="-10" dirty="0">
                <a:solidFill>
                  <a:srgbClr val="1D1B0F"/>
                </a:solidFill>
                <a:latin typeface="Arial"/>
                <a:cs typeface="Arial"/>
              </a:rPr>
              <a:t>sécurité</a:t>
            </a:r>
            <a:endParaRPr sz="19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74877" y="3544570"/>
            <a:ext cx="1860550" cy="3549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50" b="1" spc="-25" dirty="0">
                <a:solidFill>
                  <a:srgbClr val="FF0000"/>
                </a:solidFill>
                <a:latin typeface="Arial"/>
                <a:cs typeface="Arial"/>
              </a:rPr>
              <a:t>Cryptographie</a:t>
            </a:r>
            <a:endParaRPr sz="21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4877" y="4222496"/>
            <a:ext cx="1090930" cy="3549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50" b="1" spc="-40" dirty="0">
                <a:solidFill>
                  <a:srgbClr val="FF0000"/>
                </a:solidFill>
                <a:latin typeface="Arial"/>
                <a:cs typeface="Arial"/>
              </a:rPr>
              <a:t>Pare-</a:t>
            </a:r>
            <a:r>
              <a:rPr sz="2150" b="1" spc="-25" dirty="0">
                <a:solidFill>
                  <a:srgbClr val="FF0000"/>
                </a:solidFill>
                <a:latin typeface="Arial"/>
                <a:cs typeface="Arial"/>
              </a:rPr>
              <a:t>feu</a:t>
            </a:r>
            <a:endParaRPr sz="21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06722" y="3495547"/>
            <a:ext cx="4963795" cy="102108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213995">
              <a:lnSpc>
                <a:spcPts val="1700"/>
              </a:lnSpc>
              <a:spcBef>
                <a:spcPts val="180"/>
              </a:spcBef>
            </a:pPr>
            <a:r>
              <a:rPr sz="1450" spc="-25" dirty="0">
                <a:solidFill>
                  <a:srgbClr val="1D1B0F"/>
                </a:solidFill>
                <a:latin typeface="Arial MT"/>
                <a:cs typeface="Arial MT"/>
              </a:rPr>
              <a:t>Mécanisme</a:t>
            </a:r>
            <a:r>
              <a:rPr sz="1450" spc="-30" dirty="0">
                <a:solidFill>
                  <a:srgbClr val="1D1B0F"/>
                </a:solidFill>
                <a:latin typeface="Arial MT"/>
                <a:cs typeface="Arial MT"/>
              </a:rPr>
              <a:t> </a:t>
            </a:r>
            <a:r>
              <a:rPr sz="1450" spc="-25" dirty="0">
                <a:solidFill>
                  <a:srgbClr val="1D1B0F"/>
                </a:solidFill>
                <a:latin typeface="Arial MT"/>
                <a:cs typeface="Arial MT"/>
              </a:rPr>
              <a:t>permettant</a:t>
            </a:r>
            <a:r>
              <a:rPr sz="1450" spc="-40" dirty="0">
                <a:solidFill>
                  <a:srgbClr val="1D1B0F"/>
                </a:solidFill>
                <a:latin typeface="Arial MT"/>
                <a:cs typeface="Arial MT"/>
              </a:rPr>
              <a:t> </a:t>
            </a:r>
            <a:r>
              <a:rPr sz="1450" spc="-30" dirty="0">
                <a:solidFill>
                  <a:srgbClr val="1D1B0F"/>
                </a:solidFill>
                <a:latin typeface="Arial MT"/>
                <a:cs typeface="Arial MT"/>
              </a:rPr>
              <a:t>d’implémenter</a:t>
            </a:r>
            <a:r>
              <a:rPr sz="1450" spc="-40" dirty="0">
                <a:solidFill>
                  <a:srgbClr val="1D1B0F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1D1B0F"/>
                </a:solidFill>
                <a:latin typeface="Arial MT"/>
                <a:cs typeface="Arial MT"/>
              </a:rPr>
              <a:t>du</a:t>
            </a:r>
            <a:r>
              <a:rPr sz="1450" spc="-30" dirty="0">
                <a:solidFill>
                  <a:srgbClr val="1D1B0F"/>
                </a:solidFill>
                <a:latin typeface="Arial MT"/>
                <a:cs typeface="Arial MT"/>
              </a:rPr>
              <a:t> </a:t>
            </a:r>
            <a:r>
              <a:rPr sz="1450" spc="-25" dirty="0">
                <a:solidFill>
                  <a:srgbClr val="1D1B0F"/>
                </a:solidFill>
                <a:latin typeface="Arial MT"/>
                <a:cs typeface="Arial MT"/>
              </a:rPr>
              <a:t>chiffrement</a:t>
            </a:r>
            <a:r>
              <a:rPr sz="1450" spc="-35" dirty="0">
                <a:solidFill>
                  <a:srgbClr val="1D1B0F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1D1B0F"/>
                </a:solidFill>
                <a:latin typeface="Arial MT"/>
                <a:cs typeface="Arial MT"/>
              </a:rPr>
              <a:t>et</a:t>
            </a:r>
            <a:r>
              <a:rPr sz="1450" spc="-15" dirty="0">
                <a:solidFill>
                  <a:srgbClr val="1D1B0F"/>
                </a:solidFill>
                <a:latin typeface="Arial MT"/>
                <a:cs typeface="Arial MT"/>
              </a:rPr>
              <a:t> </a:t>
            </a:r>
            <a:r>
              <a:rPr sz="1450" spc="-25" dirty="0">
                <a:solidFill>
                  <a:srgbClr val="1D1B0F"/>
                </a:solidFill>
                <a:latin typeface="Arial MT"/>
                <a:cs typeface="Arial MT"/>
              </a:rPr>
              <a:t>des </a:t>
            </a:r>
            <a:r>
              <a:rPr sz="1450" spc="-30" dirty="0">
                <a:solidFill>
                  <a:srgbClr val="1D1B0F"/>
                </a:solidFill>
                <a:latin typeface="Arial MT"/>
                <a:cs typeface="Arial MT"/>
              </a:rPr>
              <a:t>signatures</a:t>
            </a:r>
            <a:r>
              <a:rPr sz="1450" spc="-10" dirty="0">
                <a:solidFill>
                  <a:srgbClr val="1D1B0F"/>
                </a:solidFill>
                <a:latin typeface="Arial MT"/>
                <a:cs typeface="Arial MT"/>
              </a:rPr>
              <a:t> électroniques</a:t>
            </a:r>
            <a:endParaRPr sz="1450">
              <a:latin typeface="Arial MT"/>
              <a:cs typeface="Arial MT"/>
            </a:endParaRPr>
          </a:p>
          <a:p>
            <a:pPr marL="12700">
              <a:lnSpc>
                <a:spcPts val="1720"/>
              </a:lnSpc>
              <a:spcBef>
                <a:spcPts val="910"/>
              </a:spcBef>
            </a:pPr>
            <a:r>
              <a:rPr sz="1450" spc="-20" dirty="0">
                <a:solidFill>
                  <a:srgbClr val="1D1B0F"/>
                </a:solidFill>
                <a:latin typeface="Arial MT"/>
                <a:cs typeface="Arial MT"/>
              </a:rPr>
              <a:t>Équipement</a:t>
            </a:r>
            <a:r>
              <a:rPr sz="1450" spc="-55" dirty="0">
                <a:solidFill>
                  <a:srgbClr val="1D1B0F"/>
                </a:solidFill>
                <a:latin typeface="Arial MT"/>
                <a:cs typeface="Arial MT"/>
              </a:rPr>
              <a:t> </a:t>
            </a:r>
            <a:r>
              <a:rPr sz="1450" spc="-20" dirty="0">
                <a:solidFill>
                  <a:srgbClr val="1D1B0F"/>
                </a:solidFill>
                <a:latin typeface="Arial MT"/>
                <a:cs typeface="Arial MT"/>
              </a:rPr>
              <a:t>permettant</a:t>
            </a:r>
            <a:r>
              <a:rPr sz="1450" spc="-40" dirty="0">
                <a:solidFill>
                  <a:srgbClr val="1D1B0F"/>
                </a:solidFill>
                <a:latin typeface="Arial MT"/>
                <a:cs typeface="Arial MT"/>
              </a:rPr>
              <a:t> </a:t>
            </a:r>
            <a:r>
              <a:rPr sz="1450" spc="-20" dirty="0">
                <a:solidFill>
                  <a:srgbClr val="1D1B0F"/>
                </a:solidFill>
                <a:latin typeface="Arial MT"/>
                <a:cs typeface="Arial MT"/>
              </a:rPr>
              <a:t>d’isoler</a:t>
            </a:r>
            <a:r>
              <a:rPr sz="1450" spc="-80" dirty="0">
                <a:solidFill>
                  <a:srgbClr val="1D1B0F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1D1B0F"/>
                </a:solidFill>
                <a:latin typeface="Arial MT"/>
                <a:cs typeface="Arial MT"/>
              </a:rPr>
              <a:t>des</a:t>
            </a:r>
            <a:r>
              <a:rPr sz="1450" spc="-65" dirty="0">
                <a:solidFill>
                  <a:srgbClr val="1D1B0F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1D1B0F"/>
                </a:solidFill>
                <a:latin typeface="Arial MT"/>
                <a:cs typeface="Arial MT"/>
              </a:rPr>
              <a:t>zones</a:t>
            </a:r>
            <a:r>
              <a:rPr sz="1450" spc="-5" dirty="0">
                <a:solidFill>
                  <a:srgbClr val="1D1B0F"/>
                </a:solidFill>
                <a:latin typeface="Arial MT"/>
                <a:cs typeface="Arial MT"/>
              </a:rPr>
              <a:t> </a:t>
            </a:r>
            <a:r>
              <a:rPr sz="1450" spc="-10" dirty="0">
                <a:solidFill>
                  <a:srgbClr val="1D1B0F"/>
                </a:solidFill>
                <a:latin typeface="Arial MT"/>
                <a:cs typeface="Arial MT"/>
              </a:rPr>
              <a:t>réseaux</a:t>
            </a:r>
            <a:r>
              <a:rPr sz="1450" spc="-30" dirty="0">
                <a:solidFill>
                  <a:srgbClr val="1D1B0F"/>
                </a:solidFill>
                <a:latin typeface="Arial MT"/>
                <a:cs typeface="Arial MT"/>
              </a:rPr>
              <a:t> </a:t>
            </a:r>
            <a:r>
              <a:rPr sz="1450" spc="-55" dirty="0">
                <a:solidFill>
                  <a:srgbClr val="1D1B0F"/>
                </a:solidFill>
                <a:latin typeface="Arial MT"/>
                <a:cs typeface="Arial MT"/>
              </a:rPr>
              <a:t>entre-</a:t>
            </a:r>
            <a:r>
              <a:rPr sz="1450" spc="-10" dirty="0">
                <a:solidFill>
                  <a:srgbClr val="1D1B0F"/>
                </a:solidFill>
                <a:latin typeface="Arial MT"/>
                <a:cs typeface="Arial MT"/>
              </a:rPr>
              <a:t>elles</a:t>
            </a:r>
            <a:endParaRPr sz="1450">
              <a:latin typeface="Arial MT"/>
              <a:cs typeface="Arial MT"/>
            </a:endParaRPr>
          </a:p>
          <a:p>
            <a:pPr marL="12700">
              <a:lnSpc>
                <a:spcPts val="1720"/>
              </a:lnSpc>
            </a:pPr>
            <a:r>
              <a:rPr sz="1450" dirty="0">
                <a:solidFill>
                  <a:srgbClr val="1D1B0F"/>
                </a:solidFill>
                <a:latin typeface="Arial MT"/>
                <a:cs typeface="Arial MT"/>
              </a:rPr>
              <a:t>et</a:t>
            </a:r>
            <a:r>
              <a:rPr sz="1450" spc="-100" dirty="0">
                <a:solidFill>
                  <a:srgbClr val="1D1B0F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1D1B0F"/>
                </a:solidFill>
                <a:latin typeface="Arial MT"/>
                <a:cs typeface="Arial MT"/>
              </a:rPr>
              <a:t>de</a:t>
            </a:r>
            <a:r>
              <a:rPr sz="1450" spc="-100" dirty="0">
                <a:solidFill>
                  <a:srgbClr val="1D1B0F"/>
                </a:solidFill>
                <a:latin typeface="Arial MT"/>
                <a:cs typeface="Arial MT"/>
              </a:rPr>
              <a:t> </a:t>
            </a:r>
            <a:r>
              <a:rPr sz="1450" spc="-40" dirty="0">
                <a:solidFill>
                  <a:srgbClr val="1D1B0F"/>
                </a:solidFill>
                <a:latin typeface="Arial MT"/>
                <a:cs typeface="Arial MT"/>
              </a:rPr>
              <a:t>n’autoriser</a:t>
            </a:r>
            <a:r>
              <a:rPr sz="1450" spc="10" dirty="0">
                <a:solidFill>
                  <a:srgbClr val="1D1B0F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1D1B0F"/>
                </a:solidFill>
                <a:latin typeface="Arial MT"/>
                <a:cs typeface="Arial MT"/>
              </a:rPr>
              <a:t>le</a:t>
            </a:r>
            <a:r>
              <a:rPr sz="1450" spc="-80" dirty="0">
                <a:solidFill>
                  <a:srgbClr val="1D1B0F"/>
                </a:solidFill>
                <a:latin typeface="Arial MT"/>
                <a:cs typeface="Arial MT"/>
              </a:rPr>
              <a:t> </a:t>
            </a:r>
            <a:r>
              <a:rPr sz="1450" spc="-30" dirty="0">
                <a:solidFill>
                  <a:srgbClr val="1D1B0F"/>
                </a:solidFill>
                <a:latin typeface="Arial MT"/>
                <a:cs typeface="Arial MT"/>
              </a:rPr>
              <a:t>passage</a:t>
            </a:r>
            <a:r>
              <a:rPr sz="1450" spc="-80" dirty="0">
                <a:solidFill>
                  <a:srgbClr val="1D1B0F"/>
                </a:solidFill>
                <a:latin typeface="Arial MT"/>
                <a:cs typeface="Arial MT"/>
              </a:rPr>
              <a:t> </a:t>
            </a:r>
            <a:r>
              <a:rPr sz="1450" spc="-20" dirty="0">
                <a:solidFill>
                  <a:srgbClr val="1D1B0F"/>
                </a:solidFill>
                <a:latin typeface="Arial MT"/>
                <a:cs typeface="Arial MT"/>
              </a:rPr>
              <a:t>que</a:t>
            </a:r>
            <a:r>
              <a:rPr sz="1450" spc="-80" dirty="0">
                <a:solidFill>
                  <a:srgbClr val="1D1B0F"/>
                </a:solidFill>
                <a:latin typeface="Arial MT"/>
                <a:cs typeface="Arial MT"/>
              </a:rPr>
              <a:t> </a:t>
            </a:r>
            <a:r>
              <a:rPr sz="1450" spc="-30" dirty="0">
                <a:solidFill>
                  <a:srgbClr val="1D1B0F"/>
                </a:solidFill>
                <a:latin typeface="Arial MT"/>
                <a:cs typeface="Arial MT"/>
              </a:rPr>
              <a:t>de</a:t>
            </a:r>
            <a:r>
              <a:rPr sz="1450" spc="-80" dirty="0">
                <a:solidFill>
                  <a:srgbClr val="1D1B0F"/>
                </a:solidFill>
                <a:latin typeface="Arial MT"/>
                <a:cs typeface="Arial MT"/>
              </a:rPr>
              <a:t> </a:t>
            </a:r>
            <a:r>
              <a:rPr sz="1450" spc="-10" dirty="0">
                <a:solidFill>
                  <a:srgbClr val="1D1B0F"/>
                </a:solidFill>
                <a:latin typeface="Arial MT"/>
                <a:cs typeface="Arial MT"/>
              </a:rPr>
              <a:t>certains </a:t>
            </a:r>
            <a:r>
              <a:rPr sz="1450" dirty="0">
                <a:solidFill>
                  <a:srgbClr val="1D1B0F"/>
                </a:solidFill>
                <a:latin typeface="Arial MT"/>
                <a:cs typeface="Arial MT"/>
              </a:rPr>
              <a:t>flux</a:t>
            </a:r>
            <a:r>
              <a:rPr sz="1450" spc="-55" dirty="0">
                <a:solidFill>
                  <a:srgbClr val="1D1B0F"/>
                </a:solidFill>
                <a:latin typeface="Arial MT"/>
                <a:cs typeface="Arial MT"/>
              </a:rPr>
              <a:t> </a:t>
            </a:r>
            <a:r>
              <a:rPr sz="1450" spc="-10" dirty="0">
                <a:solidFill>
                  <a:srgbClr val="1D1B0F"/>
                </a:solidFill>
                <a:latin typeface="Arial MT"/>
                <a:cs typeface="Arial MT"/>
              </a:rPr>
              <a:t>seulement</a:t>
            </a:r>
            <a:endParaRPr sz="14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056880" y="4863465"/>
            <a:ext cx="1043940" cy="245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838835" algn="l"/>
              </a:tabLst>
            </a:pPr>
            <a:r>
              <a:rPr sz="1450" spc="-10" dirty="0">
                <a:solidFill>
                  <a:srgbClr val="1D1B0F"/>
                </a:solidFill>
                <a:latin typeface="Arial MT"/>
                <a:cs typeface="Arial MT"/>
              </a:rPr>
              <a:t>l’accès</a:t>
            </a:r>
            <a:r>
              <a:rPr sz="1450" dirty="0">
                <a:solidFill>
                  <a:srgbClr val="1D1B0F"/>
                </a:solidFill>
                <a:latin typeface="Arial MT"/>
                <a:cs typeface="Arial MT"/>
              </a:rPr>
              <a:t>	</a:t>
            </a:r>
            <a:r>
              <a:rPr sz="1450" spc="-30" dirty="0">
                <a:solidFill>
                  <a:srgbClr val="1D1B0F"/>
                </a:solidFill>
                <a:latin typeface="Arial MT"/>
                <a:cs typeface="Arial MT"/>
              </a:rPr>
              <a:t>en</a:t>
            </a:r>
            <a:endParaRPr sz="14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057768" y="5080838"/>
            <a:ext cx="1027430" cy="2457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12445" algn="l"/>
              </a:tabLst>
            </a:pPr>
            <a:r>
              <a:rPr sz="1450" spc="-25" dirty="0">
                <a:solidFill>
                  <a:srgbClr val="1D1B0F"/>
                </a:solidFill>
                <a:latin typeface="Arial MT"/>
                <a:cs typeface="Arial MT"/>
              </a:rPr>
              <a:t>aux</a:t>
            </a:r>
            <a:r>
              <a:rPr sz="1450" dirty="0">
                <a:solidFill>
                  <a:srgbClr val="1D1B0F"/>
                </a:solidFill>
                <a:latin typeface="Arial MT"/>
                <a:cs typeface="Arial MT"/>
              </a:rPr>
              <a:t>	</a:t>
            </a:r>
            <a:r>
              <a:rPr sz="1450" spc="-40" dirty="0">
                <a:solidFill>
                  <a:srgbClr val="1D1B0F"/>
                </a:solidFill>
                <a:latin typeface="Arial MT"/>
                <a:cs typeface="Arial MT"/>
              </a:rPr>
              <a:t>seules</a:t>
            </a:r>
            <a:endParaRPr sz="145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06722" y="4866513"/>
            <a:ext cx="2265680" cy="672465"/>
          </a:xfrm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marL="12700" marR="5080" algn="just">
              <a:lnSpc>
                <a:spcPct val="96700"/>
              </a:lnSpc>
              <a:spcBef>
                <a:spcPts val="145"/>
              </a:spcBef>
            </a:pPr>
            <a:r>
              <a:rPr sz="1450" dirty="0">
                <a:solidFill>
                  <a:srgbClr val="1D1B0F"/>
                </a:solidFill>
                <a:latin typeface="Arial MT"/>
                <a:cs typeface="Arial MT"/>
              </a:rPr>
              <a:t>Mécanismes</a:t>
            </a:r>
            <a:r>
              <a:rPr sz="1450" spc="240" dirty="0">
                <a:solidFill>
                  <a:srgbClr val="1D1B0F"/>
                </a:solidFill>
                <a:latin typeface="Arial MT"/>
                <a:cs typeface="Arial MT"/>
              </a:rPr>
              <a:t>   </a:t>
            </a:r>
            <a:r>
              <a:rPr sz="1450" spc="-10" dirty="0">
                <a:solidFill>
                  <a:srgbClr val="1D1B0F"/>
                </a:solidFill>
                <a:latin typeface="Arial MT"/>
                <a:cs typeface="Arial MT"/>
              </a:rPr>
              <a:t>permettant </a:t>
            </a:r>
            <a:r>
              <a:rPr sz="1450" spc="-20" dirty="0">
                <a:solidFill>
                  <a:srgbClr val="1D1B0F"/>
                </a:solidFill>
                <a:latin typeface="Arial MT"/>
                <a:cs typeface="Arial MT"/>
              </a:rPr>
              <a:t>lecture/écriture/suppression </a:t>
            </a:r>
            <a:r>
              <a:rPr sz="1450" spc="-45" dirty="0">
                <a:solidFill>
                  <a:srgbClr val="1D1B0F"/>
                </a:solidFill>
                <a:latin typeface="Arial MT"/>
                <a:cs typeface="Arial MT"/>
              </a:rPr>
              <a:t>personnes</a:t>
            </a:r>
            <a:r>
              <a:rPr sz="1450" spc="-40" dirty="0">
                <a:solidFill>
                  <a:srgbClr val="1D1B0F"/>
                </a:solidFill>
                <a:latin typeface="Arial MT"/>
                <a:cs typeface="Arial MT"/>
              </a:rPr>
              <a:t> dument</a:t>
            </a:r>
            <a:r>
              <a:rPr sz="1450" spc="-45" dirty="0">
                <a:solidFill>
                  <a:srgbClr val="1D1B0F"/>
                </a:solidFill>
                <a:latin typeface="Arial MT"/>
                <a:cs typeface="Arial MT"/>
              </a:rPr>
              <a:t> </a:t>
            </a:r>
            <a:r>
              <a:rPr sz="1450" spc="-40" dirty="0">
                <a:solidFill>
                  <a:srgbClr val="1D1B0F"/>
                </a:solidFill>
                <a:latin typeface="Arial MT"/>
                <a:cs typeface="Arial MT"/>
              </a:rPr>
              <a:t>habilitées</a:t>
            </a:r>
            <a:endParaRPr sz="145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42075" y="4866513"/>
            <a:ext cx="1395730" cy="4584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1710"/>
              </a:lnSpc>
              <a:spcBef>
                <a:spcPts val="90"/>
              </a:spcBef>
              <a:tabLst>
                <a:tab pos="485140" algn="l"/>
              </a:tabLst>
            </a:pPr>
            <a:r>
              <a:rPr sz="1450" spc="-25" dirty="0">
                <a:solidFill>
                  <a:srgbClr val="1D1B0F"/>
                </a:solidFill>
                <a:latin typeface="Arial MT"/>
                <a:cs typeface="Arial MT"/>
              </a:rPr>
              <a:t>de</a:t>
            </a:r>
            <a:r>
              <a:rPr sz="1450" dirty="0">
                <a:solidFill>
                  <a:srgbClr val="1D1B0F"/>
                </a:solidFill>
                <a:latin typeface="Arial MT"/>
                <a:cs typeface="Arial MT"/>
              </a:rPr>
              <a:t>	</a:t>
            </a:r>
            <a:r>
              <a:rPr sz="1450" spc="-10" dirty="0">
                <a:solidFill>
                  <a:srgbClr val="1D1B0F"/>
                </a:solidFill>
                <a:latin typeface="Arial MT"/>
                <a:cs typeface="Arial MT"/>
              </a:rPr>
              <a:t>restreindre</a:t>
            </a:r>
            <a:endParaRPr sz="1450">
              <a:latin typeface="Arial MT"/>
              <a:cs typeface="Arial MT"/>
            </a:endParaRPr>
          </a:p>
          <a:p>
            <a:pPr marL="24765">
              <a:lnSpc>
                <a:spcPts val="1710"/>
              </a:lnSpc>
              <a:tabLst>
                <a:tab pos="527685" algn="l"/>
              </a:tabLst>
            </a:pPr>
            <a:r>
              <a:rPr sz="1450" spc="-25" dirty="0">
                <a:solidFill>
                  <a:srgbClr val="1D1B0F"/>
                </a:solidFill>
                <a:latin typeface="Arial MT"/>
                <a:cs typeface="Arial MT"/>
              </a:rPr>
              <a:t>aux</a:t>
            </a:r>
            <a:r>
              <a:rPr sz="1450" dirty="0">
                <a:solidFill>
                  <a:srgbClr val="1D1B0F"/>
                </a:solidFill>
                <a:latin typeface="Arial MT"/>
                <a:cs typeface="Arial MT"/>
              </a:rPr>
              <a:t>	</a:t>
            </a:r>
            <a:r>
              <a:rPr sz="1450" spc="-40" dirty="0">
                <a:solidFill>
                  <a:srgbClr val="1D1B0F"/>
                </a:solidFill>
                <a:latin typeface="Arial MT"/>
                <a:cs typeface="Arial MT"/>
              </a:rPr>
              <a:t>ressources</a:t>
            </a:r>
            <a:endParaRPr sz="145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72744" y="4809235"/>
            <a:ext cx="2914015" cy="15817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89915">
              <a:lnSpc>
                <a:spcPct val="101400"/>
              </a:lnSpc>
              <a:spcBef>
                <a:spcPts val="70"/>
              </a:spcBef>
            </a:pPr>
            <a:r>
              <a:rPr sz="2150" b="1" spc="-25" dirty="0">
                <a:solidFill>
                  <a:srgbClr val="FF0000"/>
                </a:solidFill>
                <a:latin typeface="Arial"/>
                <a:cs typeface="Arial"/>
              </a:rPr>
              <a:t>Contrôles</a:t>
            </a:r>
            <a:r>
              <a:rPr sz="2150" b="1" spc="-7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150" b="1" spc="-30" dirty="0">
                <a:solidFill>
                  <a:srgbClr val="FF0000"/>
                </a:solidFill>
                <a:latin typeface="Arial"/>
                <a:cs typeface="Arial"/>
              </a:rPr>
              <a:t>d’accès </a:t>
            </a:r>
            <a:r>
              <a:rPr sz="2150" b="1" spc="-10" dirty="0">
                <a:solidFill>
                  <a:srgbClr val="FF0000"/>
                </a:solidFill>
                <a:latin typeface="Arial"/>
                <a:cs typeface="Arial"/>
              </a:rPr>
              <a:t>logiques</a:t>
            </a:r>
            <a:endParaRPr sz="2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875"/>
              </a:spcBef>
            </a:pPr>
            <a:r>
              <a:rPr sz="2150" b="1" dirty="0">
                <a:solidFill>
                  <a:srgbClr val="FF0000"/>
                </a:solidFill>
                <a:latin typeface="Arial"/>
                <a:cs typeface="Arial"/>
              </a:rPr>
              <a:t>Sécurité</a:t>
            </a:r>
            <a:r>
              <a:rPr sz="2150" b="1" spc="-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150" b="1" dirty="0">
                <a:solidFill>
                  <a:srgbClr val="FF0000"/>
                </a:solidFill>
                <a:latin typeface="Arial"/>
                <a:cs typeface="Arial"/>
              </a:rPr>
              <a:t>physique</a:t>
            </a:r>
            <a:r>
              <a:rPr sz="2150" b="1" spc="-10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150" b="1" spc="-25" dirty="0">
                <a:solidFill>
                  <a:srgbClr val="FF0000"/>
                </a:solidFill>
                <a:latin typeface="Arial"/>
                <a:cs typeface="Arial"/>
              </a:rPr>
              <a:t>des</a:t>
            </a:r>
            <a:endParaRPr sz="2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2150" b="1" spc="-20" dirty="0">
                <a:solidFill>
                  <a:srgbClr val="FF0000"/>
                </a:solidFill>
                <a:latin typeface="Arial"/>
                <a:cs typeface="Arial"/>
              </a:rPr>
              <a:t>équipements</a:t>
            </a:r>
            <a:r>
              <a:rPr sz="2150" b="1" spc="-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150" b="1" dirty="0">
                <a:solidFill>
                  <a:srgbClr val="FF0000"/>
                </a:solidFill>
                <a:latin typeface="Arial"/>
                <a:cs typeface="Arial"/>
              </a:rPr>
              <a:t>et</a:t>
            </a:r>
            <a:r>
              <a:rPr sz="2150" b="1" spc="-1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150" b="1" spc="-10" dirty="0">
                <a:solidFill>
                  <a:srgbClr val="FF0000"/>
                </a:solidFill>
                <a:latin typeface="Arial"/>
                <a:cs typeface="Arial"/>
              </a:rPr>
              <a:t>locaux</a:t>
            </a:r>
            <a:endParaRPr sz="21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002404" y="5837326"/>
            <a:ext cx="4633595" cy="461645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700"/>
              </a:lnSpc>
              <a:spcBef>
                <a:spcPts val="180"/>
              </a:spcBef>
            </a:pPr>
            <a:r>
              <a:rPr sz="1450" spc="-10" dirty="0">
                <a:solidFill>
                  <a:srgbClr val="1D1B0F"/>
                </a:solidFill>
                <a:latin typeface="Arial MT"/>
                <a:cs typeface="Arial MT"/>
              </a:rPr>
              <a:t>Mécanismes</a:t>
            </a:r>
            <a:r>
              <a:rPr sz="1450" spc="105" dirty="0">
                <a:solidFill>
                  <a:srgbClr val="1D1B0F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1D1B0F"/>
                </a:solidFill>
                <a:latin typeface="Arial MT"/>
                <a:cs typeface="Arial MT"/>
              </a:rPr>
              <a:t>de</a:t>
            </a:r>
            <a:r>
              <a:rPr sz="1450" spc="90" dirty="0">
                <a:solidFill>
                  <a:srgbClr val="1D1B0F"/>
                </a:solidFill>
                <a:latin typeface="Arial MT"/>
                <a:cs typeface="Arial MT"/>
              </a:rPr>
              <a:t> </a:t>
            </a:r>
            <a:r>
              <a:rPr sz="1450" spc="-10" dirty="0">
                <a:solidFill>
                  <a:srgbClr val="1D1B0F"/>
                </a:solidFill>
                <a:latin typeface="Arial MT"/>
                <a:cs typeface="Arial MT"/>
              </a:rPr>
              <a:t>protection</a:t>
            </a:r>
            <a:r>
              <a:rPr sz="1450" spc="90" dirty="0">
                <a:solidFill>
                  <a:srgbClr val="1D1B0F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1D1B0F"/>
                </a:solidFill>
                <a:latin typeface="Arial MT"/>
                <a:cs typeface="Arial MT"/>
              </a:rPr>
              <a:t>destinés</a:t>
            </a:r>
            <a:r>
              <a:rPr sz="1450" spc="85" dirty="0">
                <a:solidFill>
                  <a:srgbClr val="1D1B0F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1D1B0F"/>
                </a:solidFill>
                <a:latin typeface="Arial MT"/>
                <a:cs typeface="Arial MT"/>
              </a:rPr>
              <a:t>à</a:t>
            </a:r>
            <a:r>
              <a:rPr sz="1450" spc="75" dirty="0">
                <a:solidFill>
                  <a:srgbClr val="1D1B0F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1D1B0F"/>
                </a:solidFill>
                <a:latin typeface="Arial MT"/>
                <a:cs typeface="Arial MT"/>
              </a:rPr>
              <a:t>protéger</a:t>
            </a:r>
            <a:r>
              <a:rPr sz="1450" spc="70" dirty="0">
                <a:solidFill>
                  <a:srgbClr val="1D1B0F"/>
                </a:solidFill>
                <a:latin typeface="Arial MT"/>
                <a:cs typeface="Arial MT"/>
              </a:rPr>
              <a:t> </a:t>
            </a:r>
            <a:r>
              <a:rPr sz="1450" spc="-25" dirty="0">
                <a:solidFill>
                  <a:srgbClr val="1D1B0F"/>
                </a:solidFill>
                <a:latin typeface="Arial MT"/>
                <a:cs typeface="Arial MT"/>
              </a:rPr>
              <a:t>l’intégrité </a:t>
            </a:r>
            <a:r>
              <a:rPr sz="1450" spc="-40" dirty="0">
                <a:solidFill>
                  <a:srgbClr val="1D1B0F"/>
                </a:solidFill>
                <a:latin typeface="Arial MT"/>
                <a:cs typeface="Arial MT"/>
              </a:rPr>
              <a:t>physique</a:t>
            </a:r>
            <a:r>
              <a:rPr sz="1450" spc="20" dirty="0">
                <a:solidFill>
                  <a:srgbClr val="1D1B0F"/>
                </a:solidFill>
                <a:latin typeface="Arial MT"/>
                <a:cs typeface="Arial MT"/>
              </a:rPr>
              <a:t> </a:t>
            </a:r>
            <a:r>
              <a:rPr sz="1450" spc="-30" dirty="0">
                <a:solidFill>
                  <a:srgbClr val="1D1B0F"/>
                </a:solidFill>
                <a:latin typeface="Arial MT"/>
                <a:cs typeface="Arial MT"/>
              </a:rPr>
              <a:t>du</a:t>
            </a:r>
            <a:r>
              <a:rPr sz="1450" spc="-75" dirty="0">
                <a:solidFill>
                  <a:srgbClr val="1D1B0F"/>
                </a:solidFill>
                <a:latin typeface="Arial MT"/>
                <a:cs typeface="Arial MT"/>
              </a:rPr>
              <a:t> </a:t>
            </a:r>
            <a:r>
              <a:rPr sz="1450" spc="-30" dirty="0">
                <a:solidFill>
                  <a:srgbClr val="1D1B0F"/>
                </a:solidFill>
                <a:latin typeface="Arial MT"/>
                <a:cs typeface="Arial MT"/>
              </a:rPr>
              <a:t>matériel</a:t>
            </a:r>
            <a:r>
              <a:rPr sz="1450" spc="-75" dirty="0">
                <a:solidFill>
                  <a:srgbClr val="1D1B0F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1D1B0F"/>
                </a:solidFill>
                <a:latin typeface="Arial MT"/>
                <a:cs typeface="Arial MT"/>
              </a:rPr>
              <a:t>et</a:t>
            </a:r>
            <a:r>
              <a:rPr sz="1450" spc="-70" dirty="0">
                <a:solidFill>
                  <a:srgbClr val="1D1B0F"/>
                </a:solidFill>
                <a:latin typeface="Arial MT"/>
                <a:cs typeface="Arial MT"/>
              </a:rPr>
              <a:t> </a:t>
            </a:r>
            <a:r>
              <a:rPr sz="1450" spc="-30" dirty="0">
                <a:solidFill>
                  <a:srgbClr val="1D1B0F"/>
                </a:solidFill>
                <a:latin typeface="Arial MT"/>
                <a:cs typeface="Arial MT"/>
              </a:rPr>
              <a:t>des</a:t>
            </a:r>
            <a:r>
              <a:rPr sz="1450" spc="-90" dirty="0">
                <a:solidFill>
                  <a:srgbClr val="1D1B0F"/>
                </a:solidFill>
                <a:latin typeface="Arial MT"/>
                <a:cs typeface="Arial MT"/>
              </a:rPr>
              <a:t> </a:t>
            </a:r>
            <a:r>
              <a:rPr sz="1450" spc="-10" dirty="0">
                <a:solidFill>
                  <a:srgbClr val="1D1B0F"/>
                </a:solidFill>
                <a:latin typeface="Arial MT"/>
                <a:cs typeface="Arial MT"/>
              </a:rPr>
              <a:t>bâtiments/bureaux.</a:t>
            </a:r>
            <a:endParaRPr sz="145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74877" y="2805810"/>
            <a:ext cx="1266190" cy="3549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50" b="1" spc="-40" dirty="0">
                <a:solidFill>
                  <a:srgbClr val="FF0000"/>
                </a:solidFill>
                <a:latin typeface="Arial"/>
                <a:cs typeface="Arial"/>
              </a:rPr>
              <a:t>Anti-</a:t>
            </a:r>
            <a:r>
              <a:rPr sz="2150" b="1" spc="-20" dirty="0">
                <a:solidFill>
                  <a:srgbClr val="FF0000"/>
                </a:solidFill>
                <a:latin typeface="Arial"/>
                <a:cs typeface="Arial"/>
              </a:rPr>
              <a:t>virus</a:t>
            </a:r>
            <a:endParaRPr sz="2150" dirty="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002404" y="2636011"/>
            <a:ext cx="4661535" cy="4616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1720"/>
              </a:lnSpc>
              <a:spcBef>
                <a:spcPts val="90"/>
              </a:spcBef>
            </a:pPr>
            <a:r>
              <a:rPr sz="1450" spc="-20" dirty="0">
                <a:solidFill>
                  <a:srgbClr val="1D1B0F"/>
                </a:solidFill>
                <a:latin typeface="Arial MT"/>
                <a:cs typeface="Arial MT"/>
              </a:rPr>
              <a:t>Mécanisme</a:t>
            </a:r>
            <a:r>
              <a:rPr sz="1450" spc="-80" dirty="0">
                <a:solidFill>
                  <a:srgbClr val="1D1B0F"/>
                </a:solidFill>
                <a:latin typeface="Arial MT"/>
                <a:cs typeface="Arial MT"/>
              </a:rPr>
              <a:t> </a:t>
            </a:r>
            <a:r>
              <a:rPr sz="1450" spc="-40" dirty="0">
                <a:solidFill>
                  <a:srgbClr val="1D1B0F"/>
                </a:solidFill>
                <a:latin typeface="Arial MT"/>
                <a:cs typeface="Arial MT"/>
              </a:rPr>
              <a:t>technique</a:t>
            </a:r>
            <a:r>
              <a:rPr sz="1450" spc="-10" dirty="0">
                <a:solidFill>
                  <a:srgbClr val="1D1B0F"/>
                </a:solidFill>
                <a:latin typeface="Arial MT"/>
                <a:cs typeface="Arial MT"/>
              </a:rPr>
              <a:t> </a:t>
            </a:r>
            <a:r>
              <a:rPr sz="1450" spc="-40" dirty="0">
                <a:solidFill>
                  <a:srgbClr val="1D1B0F"/>
                </a:solidFill>
                <a:latin typeface="Arial MT"/>
                <a:cs typeface="Arial MT"/>
              </a:rPr>
              <a:t>permettant</a:t>
            </a:r>
            <a:r>
              <a:rPr sz="1450" spc="5" dirty="0">
                <a:solidFill>
                  <a:srgbClr val="1D1B0F"/>
                </a:solidFill>
                <a:latin typeface="Arial MT"/>
                <a:cs typeface="Arial MT"/>
              </a:rPr>
              <a:t> </a:t>
            </a:r>
            <a:r>
              <a:rPr sz="1450" spc="-25" dirty="0">
                <a:solidFill>
                  <a:srgbClr val="1D1B0F"/>
                </a:solidFill>
                <a:latin typeface="Arial MT"/>
                <a:cs typeface="Arial MT"/>
              </a:rPr>
              <a:t>de</a:t>
            </a:r>
            <a:r>
              <a:rPr sz="1450" spc="-90" dirty="0">
                <a:solidFill>
                  <a:srgbClr val="1D1B0F"/>
                </a:solidFill>
                <a:latin typeface="Arial MT"/>
                <a:cs typeface="Arial MT"/>
              </a:rPr>
              <a:t> </a:t>
            </a:r>
            <a:r>
              <a:rPr sz="1450" spc="-35" dirty="0">
                <a:solidFill>
                  <a:srgbClr val="1D1B0F"/>
                </a:solidFill>
                <a:latin typeface="Arial MT"/>
                <a:cs typeface="Arial MT"/>
              </a:rPr>
              <a:t>détecter</a:t>
            </a:r>
            <a:r>
              <a:rPr sz="1450" spc="5" dirty="0">
                <a:solidFill>
                  <a:srgbClr val="1D1B0F"/>
                </a:solidFill>
                <a:latin typeface="Arial MT"/>
                <a:cs typeface="Arial MT"/>
              </a:rPr>
              <a:t> </a:t>
            </a:r>
            <a:r>
              <a:rPr sz="1450" spc="-25" dirty="0">
                <a:solidFill>
                  <a:srgbClr val="1D1B0F"/>
                </a:solidFill>
                <a:latin typeface="Arial MT"/>
                <a:cs typeface="Arial MT"/>
              </a:rPr>
              <a:t>toute</a:t>
            </a:r>
            <a:r>
              <a:rPr sz="1450" spc="-90" dirty="0">
                <a:solidFill>
                  <a:srgbClr val="1D1B0F"/>
                </a:solidFill>
                <a:latin typeface="Arial MT"/>
                <a:cs typeface="Arial MT"/>
              </a:rPr>
              <a:t> </a:t>
            </a:r>
            <a:r>
              <a:rPr sz="1450" spc="-10" dirty="0">
                <a:solidFill>
                  <a:srgbClr val="1D1B0F"/>
                </a:solidFill>
                <a:latin typeface="Arial MT"/>
                <a:cs typeface="Arial MT"/>
              </a:rPr>
              <a:t>attaque</a:t>
            </a:r>
            <a:endParaRPr sz="1450" dirty="0">
              <a:latin typeface="Arial MT"/>
              <a:cs typeface="Arial MT"/>
            </a:endParaRPr>
          </a:p>
          <a:p>
            <a:pPr marL="12700">
              <a:lnSpc>
                <a:spcPts val="1720"/>
              </a:lnSpc>
            </a:pPr>
            <a:r>
              <a:rPr sz="1450" spc="-20" dirty="0">
                <a:solidFill>
                  <a:srgbClr val="1D1B0F"/>
                </a:solidFill>
                <a:latin typeface="Arial MT"/>
                <a:cs typeface="Arial MT"/>
              </a:rPr>
              <a:t>virale</a:t>
            </a:r>
            <a:r>
              <a:rPr sz="1450" spc="-60" dirty="0">
                <a:solidFill>
                  <a:srgbClr val="1D1B0F"/>
                </a:solidFill>
                <a:latin typeface="Arial MT"/>
                <a:cs typeface="Arial MT"/>
              </a:rPr>
              <a:t> </a:t>
            </a:r>
            <a:r>
              <a:rPr sz="1450" spc="-10" dirty="0">
                <a:solidFill>
                  <a:srgbClr val="1D1B0F"/>
                </a:solidFill>
                <a:latin typeface="Arial MT"/>
                <a:cs typeface="Arial MT"/>
              </a:rPr>
              <a:t>qui</a:t>
            </a:r>
            <a:r>
              <a:rPr sz="1450" spc="-55" dirty="0">
                <a:solidFill>
                  <a:srgbClr val="1D1B0F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1D1B0F"/>
                </a:solidFill>
                <a:latin typeface="Arial MT"/>
                <a:cs typeface="Arial MT"/>
              </a:rPr>
              <a:t>a</a:t>
            </a:r>
            <a:r>
              <a:rPr sz="1450" spc="-50" dirty="0">
                <a:solidFill>
                  <a:srgbClr val="1D1B0F"/>
                </a:solidFill>
                <a:latin typeface="Arial MT"/>
                <a:cs typeface="Arial MT"/>
              </a:rPr>
              <a:t> </a:t>
            </a:r>
            <a:r>
              <a:rPr sz="1450" spc="-20" dirty="0">
                <a:solidFill>
                  <a:srgbClr val="1D1B0F"/>
                </a:solidFill>
                <a:latin typeface="Arial MT"/>
                <a:cs typeface="Arial MT"/>
              </a:rPr>
              <a:t>déjà</a:t>
            </a:r>
            <a:r>
              <a:rPr sz="1450" spc="-75" dirty="0">
                <a:solidFill>
                  <a:srgbClr val="1D1B0F"/>
                </a:solidFill>
                <a:latin typeface="Arial MT"/>
                <a:cs typeface="Arial MT"/>
              </a:rPr>
              <a:t> </a:t>
            </a:r>
            <a:r>
              <a:rPr sz="1450" spc="-20" dirty="0">
                <a:solidFill>
                  <a:srgbClr val="1D1B0F"/>
                </a:solidFill>
                <a:latin typeface="Arial MT"/>
                <a:cs typeface="Arial MT"/>
              </a:rPr>
              <a:t>été</a:t>
            </a:r>
            <a:r>
              <a:rPr sz="1450" spc="-80" dirty="0">
                <a:solidFill>
                  <a:srgbClr val="1D1B0F"/>
                </a:solidFill>
                <a:latin typeface="Arial MT"/>
                <a:cs typeface="Arial MT"/>
              </a:rPr>
              <a:t> </a:t>
            </a:r>
            <a:r>
              <a:rPr sz="1450" spc="-35" dirty="0">
                <a:solidFill>
                  <a:srgbClr val="1D1B0F"/>
                </a:solidFill>
                <a:latin typeface="Arial MT"/>
                <a:cs typeface="Arial MT"/>
              </a:rPr>
              <a:t>identifiée</a:t>
            </a:r>
            <a:r>
              <a:rPr sz="1450" spc="45" dirty="0">
                <a:solidFill>
                  <a:srgbClr val="1D1B0F"/>
                </a:solidFill>
                <a:latin typeface="Arial MT"/>
                <a:cs typeface="Arial MT"/>
              </a:rPr>
              <a:t> </a:t>
            </a:r>
            <a:r>
              <a:rPr sz="1450" spc="-25" dirty="0">
                <a:solidFill>
                  <a:srgbClr val="1D1B0F"/>
                </a:solidFill>
                <a:latin typeface="Arial MT"/>
                <a:cs typeface="Arial MT"/>
              </a:rPr>
              <a:t>par</a:t>
            </a:r>
            <a:r>
              <a:rPr sz="1450" spc="-95" dirty="0">
                <a:solidFill>
                  <a:srgbClr val="1D1B0F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1D1B0F"/>
                </a:solidFill>
                <a:latin typeface="Arial MT"/>
                <a:cs typeface="Arial MT"/>
              </a:rPr>
              <a:t>la</a:t>
            </a:r>
            <a:r>
              <a:rPr sz="1450" spc="-75" dirty="0">
                <a:solidFill>
                  <a:srgbClr val="1D1B0F"/>
                </a:solidFill>
                <a:latin typeface="Arial MT"/>
                <a:cs typeface="Arial MT"/>
              </a:rPr>
              <a:t> </a:t>
            </a:r>
            <a:r>
              <a:rPr sz="1450" spc="-30" dirty="0">
                <a:solidFill>
                  <a:srgbClr val="1D1B0F"/>
                </a:solidFill>
                <a:latin typeface="Arial MT"/>
                <a:cs typeface="Arial MT"/>
              </a:rPr>
              <a:t>communauté</a:t>
            </a:r>
            <a:r>
              <a:rPr sz="1450" spc="-65" dirty="0">
                <a:solidFill>
                  <a:srgbClr val="1D1B0F"/>
                </a:solidFill>
                <a:latin typeface="Arial MT"/>
                <a:cs typeface="Arial MT"/>
              </a:rPr>
              <a:t> </a:t>
            </a:r>
            <a:r>
              <a:rPr sz="1450" spc="-10" dirty="0">
                <a:solidFill>
                  <a:srgbClr val="1D1B0F"/>
                </a:solidFill>
                <a:latin typeface="Arial MT"/>
                <a:cs typeface="Arial MT"/>
              </a:rPr>
              <a:t>sécurité</a:t>
            </a:r>
            <a:endParaRPr sz="1450" dirty="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640569" y="2600655"/>
            <a:ext cx="22923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solidFill>
                  <a:srgbClr val="FF0000"/>
                </a:solidFill>
                <a:latin typeface="Arial"/>
                <a:cs typeface="Arial"/>
              </a:rPr>
              <a:t>P</a:t>
            </a:r>
            <a:endParaRPr sz="24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640569" y="2026285"/>
            <a:ext cx="1497965" cy="1172210"/>
          </a:xfrm>
          <a:prstGeom prst="rect">
            <a:avLst/>
          </a:prstGeom>
        </p:spPr>
        <p:txBody>
          <a:bodyPr vert="horz" wrap="square" lIns="0" tIns="2203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35"/>
              </a:spcBef>
              <a:tabLst>
                <a:tab pos="560705" algn="l"/>
                <a:tab pos="1109345" algn="l"/>
              </a:tabLst>
            </a:pPr>
            <a:r>
              <a:rPr sz="2400" b="1" spc="-50" dirty="0">
                <a:solidFill>
                  <a:srgbClr val="FF0000"/>
                </a:solidFill>
                <a:latin typeface="Arial"/>
                <a:cs typeface="Arial"/>
              </a:rPr>
              <a:t>D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	</a:t>
            </a:r>
            <a:r>
              <a:rPr sz="2400" b="1" spc="-50" dirty="0">
                <a:solidFill>
                  <a:srgbClr val="FF0000"/>
                </a:solidFill>
                <a:latin typeface="Arial"/>
                <a:cs typeface="Arial"/>
              </a:rPr>
              <a:t>I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	</a:t>
            </a:r>
            <a:r>
              <a:rPr sz="2400" b="1" spc="-50" dirty="0">
                <a:solidFill>
                  <a:srgbClr val="FF0000"/>
                </a:solidFill>
                <a:latin typeface="Arial"/>
                <a:cs typeface="Arial"/>
              </a:rPr>
              <a:t>C</a:t>
            </a:r>
            <a:endParaRPr sz="2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635"/>
              </a:spcBef>
              <a:tabLst>
                <a:tab pos="560705" algn="l"/>
                <a:tab pos="1179830" algn="l"/>
              </a:tabLst>
            </a:pPr>
            <a:r>
              <a:rPr sz="2400" spc="-50" dirty="0">
                <a:solidFill>
                  <a:srgbClr val="FF0000"/>
                </a:solidFill>
                <a:latin typeface="MS UI Gothic"/>
                <a:cs typeface="MS UI Gothic"/>
              </a:rPr>
              <a:t>✔</a:t>
            </a:r>
            <a:r>
              <a:rPr sz="2400" dirty="0">
                <a:solidFill>
                  <a:srgbClr val="FF0000"/>
                </a:solidFill>
                <a:latin typeface="MS UI Gothic"/>
                <a:cs typeface="MS UI Gothic"/>
              </a:rPr>
              <a:t>	</a:t>
            </a:r>
            <a:r>
              <a:rPr sz="2400" spc="-50" dirty="0">
                <a:solidFill>
                  <a:srgbClr val="FF0000"/>
                </a:solidFill>
                <a:latin typeface="MS UI Gothic"/>
                <a:cs typeface="MS UI Gothic"/>
              </a:rPr>
              <a:t>✔</a:t>
            </a:r>
            <a:r>
              <a:rPr sz="2400" dirty="0">
                <a:solidFill>
                  <a:srgbClr val="FF0000"/>
                </a:solidFill>
                <a:latin typeface="MS UI Gothic"/>
                <a:cs typeface="MS UI Gothic"/>
              </a:rPr>
              <a:t>	</a:t>
            </a:r>
            <a:r>
              <a:rPr sz="2400" spc="-50" dirty="0">
                <a:solidFill>
                  <a:srgbClr val="FF0000"/>
                </a:solidFill>
                <a:latin typeface="MS UI Gothic"/>
                <a:cs typeface="MS UI Gothic"/>
              </a:rPr>
              <a:t>✔</a:t>
            </a:r>
            <a:endParaRPr sz="2400" dirty="0">
              <a:latin typeface="MS UI Gothic"/>
              <a:cs typeface="MS UI Gothic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189209" y="3475990"/>
            <a:ext cx="9493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31190" algn="l"/>
              </a:tabLst>
            </a:pPr>
            <a:r>
              <a:rPr sz="2400" spc="-50" dirty="0">
                <a:solidFill>
                  <a:srgbClr val="FF0000"/>
                </a:solidFill>
                <a:latin typeface="MS UI Gothic"/>
                <a:cs typeface="MS UI Gothic"/>
              </a:rPr>
              <a:t>✔</a:t>
            </a:r>
            <a:r>
              <a:rPr sz="2400" dirty="0">
                <a:solidFill>
                  <a:srgbClr val="FF0000"/>
                </a:solidFill>
                <a:latin typeface="MS UI Gothic"/>
                <a:cs typeface="MS UI Gothic"/>
              </a:rPr>
              <a:t>	</a:t>
            </a:r>
            <a:r>
              <a:rPr sz="2400" spc="-50" dirty="0">
                <a:solidFill>
                  <a:srgbClr val="FF0000"/>
                </a:solidFill>
                <a:latin typeface="MS UI Gothic"/>
                <a:cs typeface="MS UI Gothic"/>
              </a:rPr>
              <a:t>✔</a:t>
            </a:r>
            <a:endParaRPr sz="2400" dirty="0">
              <a:latin typeface="MS UI Gothic"/>
              <a:cs typeface="MS UI Gothic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640569" y="3946905"/>
            <a:ext cx="330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FF0000"/>
                </a:solidFill>
                <a:latin typeface="MS UI Gothic"/>
                <a:cs typeface="MS UI Gothic"/>
              </a:rPr>
              <a:t>✔</a:t>
            </a:r>
            <a:endParaRPr sz="2400" dirty="0">
              <a:latin typeface="MS UI Gothic"/>
              <a:cs typeface="MS UI Gothic"/>
            </a:endParaRPr>
          </a:p>
        </p:txBody>
      </p:sp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9609963" y="4296981"/>
          <a:ext cx="1590040" cy="2016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8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08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6105">
                <a:tc>
                  <a:txBody>
                    <a:bodyPr/>
                    <a:lstStyle/>
                    <a:p>
                      <a:pPr marR="73025" algn="ctr">
                        <a:lnSpc>
                          <a:spcPts val="2545"/>
                        </a:lnSpc>
                      </a:pPr>
                      <a:r>
                        <a:rPr sz="2400" spc="-50" dirty="0">
                          <a:solidFill>
                            <a:srgbClr val="FF0000"/>
                          </a:solidFill>
                          <a:latin typeface="MS UI Gothic"/>
                          <a:cs typeface="MS UI Gothic"/>
                        </a:rPr>
                        <a:t>✔</a:t>
                      </a:r>
                      <a:endParaRPr sz="2400">
                        <a:latin typeface="MS UI Gothic"/>
                        <a:cs typeface="MS UI Goth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545"/>
                        </a:lnSpc>
                      </a:pPr>
                      <a:r>
                        <a:rPr sz="2400" spc="-50" dirty="0">
                          <a:solidFill>
                            <a:srgbClr val="FF0000"/>
                          </a:solidFill>
                          <a:latin typeface="MS UI Gothic"/>
                          <a:cs typeface="MS UI Gothic"/>
                        </a:rPr>
                        <a:t>✔</a:t>
                      </a:r>
                      <a:endParaRPr sz="2400">
                        <a:latin typeface="MS UI Gothic"/>
                        <a:cs typeface="MS UI Gothic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65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1880"/>
                        </a:spcBef>
                      </a:pPr>
                      <a:r>
                        <a:rPr sz="2400" spc="-50" dirty="0">
                          <a:solidFill>
                            <a:srgbClr val="FF0000"/>
                          </a:solidFill>
                          <a:latin typeface="MS UI Gothic"/>
                          <a:cs typeface="MS UI Gothic"/>
                        </a:rPr>
                        <a:t>✔</a:t>
                      </a:r>
                      <a:endParaRPr sz="2400">
                        <a:latin typeface="MS UI Gothic"/>
                        <a:cs typeface="MS UI Gothic"/>
                      </a:endParaRPr>
                    </a:p>
                  </a:txBody>
                  <a:tcPr marL="0" marR="0" marT="23876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1880"/>
                        </a:spcBef>
                      </a:pPr>
                      <a:r>
                        <a:rPr sz="2400" spc="-50" dirty="0">
                          <a:solidFill>
                            <a:srgbClr val="FF0000"/>
                          </a:solidFill>
                          <a:latin typeface="MS UI Gothic"/>
                          <a:cs typeface="MS UI Gothic"/>
                        </a:rPr>
                        <a:t>✔</a:t>
                      </a:r>
                      <a:endParaRPr sz="2400">
                        <a:latin typeface="MS UI Gothic"/>
                        <a:cs typeface="MS UI Gothic"/>
                      </a:endParaRPr>
                    </a:p>
                  </a:txBody>
                  <a:tcPr marL="0" marR="0" marT="23876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275">
                <a:tc>
                  <a:txBody>
                    <a:bodyPr/>
                    <a:lstStyle/>
                    <a:p>
                      <a:pPr marR="73025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2400" spc="-50" dirty="0">
                          <a:solidFill>
                            <a:srgbClr val="FF0000"/>
                          </a:solidFill>
                          <a:latin typeface="MS UI Gothic"/>
                          <a:cs typeface="MS UI Gothic"/>
                        </a:rPr>
                        <a:t>✔</a:t>
                      </a:r>
                      <a:endParaRPr sz="2400">
                        <a:latin typeface="MS UI Gothic"/>
                        <a:cs typeface="MS UI Gothic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1790">
                <a:tc>
                  <a:txBody>
                    <a:bodyPr/>
                    <a:lstStyle/>
                    <a:p>
                      <a:pPr marR="73025" algn="ctr">
                        <a:lnSpc>
                          <a:spcPts val="2640"/>
                        </a:lnSpc>
                        <a:spcBef>
                          <a:spcPts val="35"/>
                        </a:spcBef>
                      </a:pPr>
                      <a:r>
                        <a:rPr sz="2400" spc="-50" dirty="0">
                          <a:solidFill>
                            <a:srgbClr val="FF0000"/>
                          </a:solidFill>
                          <a:latin typeface="MS UI Gothic"/>
                          <a:cs typeface="MS UI Gothic"/>
                        </a:rPr>
                        <a:t>✔</a:t>
                      </a:r>
                      <a:endParaRPr sz="2400">
                        <a:latin typeface="MS UI Gothic"/>
                        <a:cs typeface="MS UI Gothic"/>
                      </a:endParaRPr>
                    </a:p>
                  </a:txBody>
                  <a:tcPr marL="0" marR="0" marT="4445" marB="0"/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ts val="2640"/>
                        </a:lnSpc>
                        <a:spcBef>
                          <a:spcPts val="35"/>
                        </a:spcBef>
                      </a:pPr>
                      <a:r>
                        <a:rPr sz="2400" spc="-50" dirty="0">
                          <a:solidFill>
                            <a:srgbClr val="FF0000"/>
                          </a:solidFill>
                          <a:latin typeface="MS UI Gothic"/>
                          <a:cs typeface="MS UI Gothic"/>
                        </a:rPr>
                        <a:t>✔</a:t>
                      </a:r>
                      <a:endParaRPr sz="2400">
                        <a:latin typeface="MS UI Gothic"/>
                        <a:cs typeface="MS UI Gothic"/>
                      </a:endParaRPr>
                    </a:p>
                  </a:txBody>
                  <a:tcPr marL="0" marR="0" marT="444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640"/>
                        </a:lnSpc>
                        <a:spcBef>
                          <a:spcPts val="35"/>
                        </a:spcBef>
                      </a:pPr>
                      <a:r>
                        <a:rPr sz="2400" spc="-50" dirty="0">
                          <a:solidFill>
                            <a:srgbClr val="FF0000"/>
                          </a:solidFill>
                          <a:latin typeface="MS UI Gothic"/>
                          <a:cs typeface="MS UI Gothic"/>
                        </a:rPr>
                        <a:t>✔</a:t>
                      </a:r>
                      <a:endParaRPr sz="2400" dirty="0">
                        <a:latin typeface="MS UI Gothic"/>
                        <a:cs typeface="MS UI Gothic"/>
                      </a:endParaRPr>
                    </a:p>
                  </a:txBody>
                  <a:tcPr marL="0" marR="0" marT="444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6060" rIns="0" bIns="0" rtlCol="0">
            <a:spAutoFit/>
          </a:bodyPr>
          <a:lstStyle/>
          <a:p>
            <a:pPr marL="112141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Mécanismes</a:t>
            </a:r>
            <a:r>
              <a:rPr spc="-45" dirty="0"/>
              <a:t> </a:t>
            </a:r>
            <a:r>
              <a:rPr dirty="0"/>
              <a:t>de</a:t>
            </a:r>
            <a:r>
              <a:rPr spc="-50" dirty="0"/>
              <a:t> </a:t>
            </a:r>
            <a:r>
              <a:rPr spc="-10" dirty="0"/>
              <a:t>Sécurité</a:t>
            </a:r>
            <a:r>
              <a:rPr spc="-140" dirty="0"/>
              <a:t> </a:t>
            </a:r>
            <a:r>
              <a:rPr dirty="0"/>
              <a:t>pour</a:t>
            </a:r>
            <a:r>
              <a:rPr spc="-75" dirty="0"/>
              <a:t> </a:t>
            </a:r>
            <a:r>
              <a:rPr dirty="0"/>
              <a:t>atteindre</a:t>
            </a:r>
            <a:r>
              <a:rPr spc="-125" dirty="0"/>
              <a:t> </a:t>
            </a:r>
            <a:r>
              <a:rPr dirty="0"/>
              <a:t>les</a:t>
            </a:r>
            <a:r>
              <a:rPr spc="-95" dirty="0"/>
              <a:t> </a:t>
            </a:r>
            <a:r>
              <a:rPr dirty="0"/>
              <a:t>besoins</a:t>
            </a:r>
            <a:r>
              <a:rPr spc="-85" dirty="0"/>
              <a:t> </a:t>
            </a:r>
            <a:r>
              <a:rPr spc="-40" dirty="0"/>
              <a:t>DICP</a:t>
            </a:r>
            <a:r>
              <a:rPr spc="-135" dirty="0"/>
              <a:t> </a:t>
            </a:r>
            <a:r>
              <a:rPr spc="-10" dirty="0"/>
              <a:t>(1/2)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87627" y="1846910"/>
            <a:ext cx="2093595" cy="3549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50" b="1" spc="-25" dirty="0">
                <a:solidFill>
                  <a:srgbClr val="FF0000"/>
                </a:solidFill>
                <a:latin typeface="Arial"/>
                <a:cs typeface="Arial"/>
              </a:rPr>
              <a:t>Capacité</a:t>
            </a:r>
            <a:r>
              <a:rPr sz="2150" b="1" spc="-8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150" b="1" spc="-10" dirty="0">
                <a:solidFill>
                  <a:srgbClr val="FF0000"/>
                </a:solidFill>
                <a:latin typeface="Arial"/>
                <a:cs typeface="Arial"/>
              </a:rPr>
              <a:t>d’audit</a:t>
            </a:r>
            <a:endParaRPr sz="21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1369" y="3029839"/>
            <a:ext cx="2577465" cy="1051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737235">
              <a:lnSpc>
                <a:spcPct val="100499"/>
              </a:lnSpc>
              <a:spcBef>
                <a:spcPts val="95"/>
              </a:spcBef>
            </a:pPr>
            <a:r>
              <a:rPr sz="2150" b="1" spc="-10" dirty="0">
                <a:solidFill>
                  <a:srgbClr val="FF0000"/>
                </a:solidFill>
                <a:latin typeface="Arial"/>
                <a:cs typeface="Arial"/>
              </a:rPr>
              <a:t>Clauses </a:t>
            </a:r>
            <a:r>
              <a:rPr sz="2150" b="1" spc="-30" dirty="0">
                <a:solidFill>
                  <a:srgbClr val="FF0000"/>
                </a:solidFill>
                <a:latin typeface="Arial"/>
                <a:cs typeface="Arial"/>
              </a:rPr>
              <a:t>contractuelles</a:t>
            </a:r>
            <a:endParaRPr sz="2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2150" b="1" dirty="0">
                <a:solidFill>
                  <a:srgbClr val="FF0000"/>
                </a:solidFill>
                <a:latin typeface="Arial"/>
                <a:cs typeface="Arial"/>
              </a:rPr>
              <a:t>avec</a:t>
            </a:r>
            <a:r>
              <a:rPr sz="2150" b="1" spc="-1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150" b="1" dirty="0">
                <a:solidFill>
                  <a:srgbClr val="FF0000"/>
                </a:solidFill>
                <a:latin typeface="Arial"/>
                <a:cs typeface="Arial"/>
              </a:rPr>
              <a:t>les</a:t>
            </a:r>
            <a:r>
              <a:rPr sz="2150" b="1" spc="-1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150" b="1" spc="-25" dirty="0">
                <a:solidFill>
                  <a:srgbClr val="FF0000"/>
                </a:solidFill>
                <a:latin typeface="Arial"/>
                <a:cs typeface="Arial"/>
              </a:rPr>
              <a:t>partenaires</a:t>
            </a:r>
            <a:endParaRPr sz="21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40809" y="2149856"/>
            <a:ext cx="5288280" cy="8972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20"/>
              </a:spcBef>
            </a:pPr>
            <a:r>
              <a:rPr sz="1900" dirty="0">
                <a:solidFill>
                  <a:srgbClr val="1D1B0F"/>
                </a:solidFill>
                <a:latin typeface="Arial MT"/>
                <a:cs typeface="Arial MT"/>
              </a:rPr>
              <a:t>s’assurer</a:t>
            </a:r>
            <a:r>
              <a:rPr sz="1900" spc="285" dirty="0">
                <a:solidFill>
                  <a:srgbClr val="1D1B0F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1D1B0F"/>
                </a:solidFill>
                <a:latin typeface="Arial MT"/>
                <a:cs typeface="Arial MT"/>
              </a:rPr>
              <a:t>de</a:t>
            </a:r>
            <a:r>
              <a:rPr sz="1900" spc="295" dirty="0">
                <a:solidFill>
                  <a:srgbClr val="1D1B0F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1D1B0F"/>
                </a:solidFill>
                <a:latin typeface="Arial MT"/>
                <a:cs typeface="Arial MT"/>
              </a:rPr>
              <a:t>l’efficacité</a:t>
            </a:r>
            <a:r>
              <a:rPr sz="1900" spc="300" dirty="0">
                <a:solidFill>
                  <a:srgbClr val="1D1B0F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1D1B0F"/>
                </a:solidFill>
                <a:latin typeface="Arial MT"/>
                <a:cs typeface="Arial MT"/>
              </a:rPr>
              <a:t>et</a:t>
            </a:r>
            <a:r>
              <a:rPr sz="1900" spc="315" dirty="0">
                <a:solidFill>
                  <a:srgbClr val="1D1B0F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1D1B0F"/>
                </a:solidFill>
                <a:latin typeface="Arial MT"/>
                <a:cs typeface="Arial MT"/>
              </a:rPr>
              <a:t>de</a:t>
            </a:r>
            <a:r>
              <a:rPr sz="1900" spc="300" dirty="0">
                <a:solidFill>
                  <a:srgbClr val="1D1B0F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1D1B0F"/>
                </a:solidFill>
                <a:latin typeface="Arial MT"/>
                <a:cs typeface="Arial MT"/>
              </a:rPr>
              <a:t>la</a:t>
            </a:r>
            <a:r>
              <a:rPr sz="1900" spc="295" dirty="0">
                <a:solidFill>
                  <a:srgbClr val="1D1B0F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1D1B0F"/>
                </a:solidFill>
                <a:latin typeface="Arial MT"/>
                <a:cs typeface="Arial MT"/>
              </a:rPr>
              <a:t>pertinence</a:t>
            </a:r>
            <a:r>
              <a:rPr sz="1900" spc="295" dirty="0">
                <a:solidFill>
                  <a:srgbClr val="1D1B0F"/>
                </a:solidFill>
                <a:latin typeface="Arial MT"/>
                <a:cs typeface="Arial MT"/>
              </a:rPr>
              <a:t> </a:t>
            </a:r>
            <a:r>
              <a:rPr sz="1900" spc="-25" dirty="0">
                <a:solidFill>
                  <a:srgbClr val="1D1B0F"/>
                </a:solidFill>
                <a:latin typeface="Arial MT"/>
                <a:cs typeface="Arial MT"/>
              </a:rPr>
              <a:t>des </a:t>
            </a:r>
            <a:r>
              <a:rPr sz="1900" dirty="0">
                <a:solidFill>
                  <a:srgbClr val="1D1B0F"/>
                </a:solidFill>
                <a:latin typeface="Arial MT"/>
                <a:cs typeface="Arial MT"/>
              </a:rPr>
              <a:t>mesures</a:t>
            </a:r>
            <a:r>
              <a:rPr sz="1900" spc="280" dirty="0">
                <a:solidFill>
                  <a:srgbClr val="1D1B0F"/>
                </a:solidFill>
                <a:latin typeface="Arial MT"/>
                <a:cs typeface="Arial MT"/>
              </a:rPr>
              <a:t>   </a:t>
            </a:r>
            <a:r>
              <a:rPr sz="1900" dirty="0">
                <a:solidFill>
                  <a:srgbClr val="1D1B0F"/>
                </a:solidFill>
                <a:latin typeface="Arial MT"/>
                <a:cs typeface="Arial MT"/>
              </a:rPr>
              <a:t>mises</a:t>
            </a:r>
            <a:r>
              <a:rPr sz="1900" spc="285" dirty="0">
                <a:solidFill>
                  <a:srgbClr val="1D1B0F"/>
                </a:solidFill>
                <a:latin typeface="Arial MT"/>
                <a:cs typeface="Arial MT"/>
              </a:rPr>
              <a:t>   </a:t>
            </a:r>
            <a:r>
              <a:rPr sz="1900" dirty="0">
                <a:solidFill>
                  <a:srgbClr val="1D1B0F"/>
                </a:solidFill>
                <a:latin typeface="Arial MT"/>
                <a:cs typeface="Arial MT"/>
              </a:rPr>
              <a:t>en</a:t>
            </a:r>
            <a:r>
              <a:rPr sz="1900" spc="295" dirty="0">
                <a:solidFill>
                  <a:srgbClr val="1D1B0F"/>
                </a:solidFill>
                <a:latin typeface="Arial MT"/>
                <a:cs typeface="Arial MT"/>
              </a:rPr>
              <a:t>   </a:t>
            </a:r>
            <a:r>
              <a:rPr sz="1900" dirty="0">
                <a:solidFill>
                  <a:srgbClr val="1D1B0F"/>
                </a:solidFill>
                <a:latin typeface="Arial MT"/>
                <a:cs typeface="Arial MT"/>
              </a:rPr>
              <a:t>œuvre.</a:t>
            </a:r>
            <a:r>
              <a:rPr sz="1900" spc="290" dirty="0">
                <a:solidFill>
                  <a:srgbClr val="1D1B0F"/>
                </a:solidFill>
                <a:latin typeface="Arial MT"/>
                <a:cs typeface="Arial MT"/>
              </a:rPr>
              <a:t>   </a:t>
            </a:r>
            <a:r>
              <a:rPr sz="1900" dirty="0">
                <a:solidFill>
                  <a:srgbClr val="1D1B0F"/>
                </a:solidFill>
                <a:latin typeface="Arial MT"/>
                <a:cs typeface="Arial MT"/>
              </a:rPr>
              <a:t>Participe</a:t>
            </a:r>
            <a:r>
              <a:rPr sz="1900" spc="285" dirty="0">
                <a:solidFill>
                  <a:srgbClr val="1D1B0F"/>
                </a:solidFill>
                <a:latin typeface="Arial MT"/>
                <a:cs typeface="Arial MT"/>
              </a:rPr>
              <a:t>   </a:t>
            </a:r>
            <a:r>
              <a:rPr sz="1900" spc="-50" dirty="0">
                <a:solidFill>
                  <a:srgbClr val="1D1B0F"/>
                </a:solidFill>
                <a:latin typeface="Arial MT"/>
                <a:cs typeface="Arial MT"/>
              </a:rPr>
              <a:t>à </a:t>
            </a:r>
            <a:r>
              <a:rPr sz="1900" spc="-25" dirty="0">
                <a:solidFill>
                  <a:srgbClr val="1D1B0F"/>
                </a:solidFill>
                <a:latin typeface="Arial MT"/>
                <a:cs typeface="Arial MT"/>
              </a:rPr>
              <a:t>l’amélioration</a:t>
            </a:r>
            <a:r>
              <a:rPr sz="1900" spc="-75" dirty="0">
                <a:solidFill>
                  <a:srgbClr val="1D1B0F"/>
                </a:solidFill>
                <a:latin typeface="Arial MT"/>
                <a:cs typeface="Arial MT"/>
              </a:rPr>
              <a:t> </a:t>
            </a:r>
            <a:r>
              <a:rPr sz="1900" spc="-25" dirty="0">
                <a:solidFill>
                  <a:srgbClr val="1D1B0F"/>
                </a:solidFill>
                <a:latin typeface="Arial MT"/>
                <a:cs typeface="Arial MT"/>
              </a:rPr>
              <a:t>continue </a:t>
            </a:r>
            <a:r>
              <a:rPr sz="1900" dirty="0">
                <a:solidFill>
                  <a:srgbClr val="1D1B0F"/>
                </a:solidFill>
                <a:latin typeface="Arial MT"/>
                <a:cs typeface="Arial MT"/>
              </a:rPr>
              <a:t>de</a:t>
            </a:r>
            <a:r>
              <a:rPr sz="1900" spc="-90" dirty="0">
                <a:solidFill>
                  <a:srgbClr val="1D1B0F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1D1B0F"/>
                </a:solidFill>
                <a:latin typeface="Arial MT"/>
                <a:cs typeface="Arial MT"/>
              </a:rPr>
              <a:t>la</a:t>
            </a:r>
            <a:r>
              <a:rPr sz="1900" spc="-100" dirty="0">
                <a:solidFill>
                  <a:srgbClr val="1D1B0F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1D1B0F"/>
                </a:solidFill>
                <a:latin typeface="Arial MT"/>
                <a:cs typeface="Arial MT"/>
              </a:rPr>
              <a:t>sécurité du</a:t>
            </a:r>
            <a:r>
              <a:rPr sz="1900" spc="-100" dirty="0">
                <a:solidFill>
                  <a:srgbClr val="1D1B0F"/>
                </a:solidFill>
                <a:latin typeface="Arial MT"/>
                <a:cs typeface="Arial MT"/>
              </a:rPr>
              <a:t> </a:t>
            </a:r>
            <a:r>
              <a:rPr sz="1900" spc="-20" dirty="0">
                <a:solidFill>
                  <a:srgbClr val="1D1B0F"/>
                </a:solidFill>
                <a:latin typeface="Arial MT"/>
                <a:cs typeface="Arial MT"/>
              </a:rPr>
              <a:t>S.I.</a:t>
            </a:r>
            <a:endParaRPr sz="1900" dirty="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01369" y="4565650"/>
            <a:ext cx="1889760" cy="6838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499"/>
              </a:lnSpc>
              <a:spcBef>
                <a:spcPts val="95"/>
              </a:spcBef>
            </a:pPr>
            <a:r>
              <a:rPr sz="2150" b="1" dirty="0">
                <a:solidFill>
                  <a:srgbClr val="FF0000"/>
                </a:solidFill>
                <a:latin typeface="Arial"/>
                <a:cs typeface="Arial"/>
              </a:rPr>
              <a:t>Formation</a:t>
            </a:r>
            <a:r>
              <a:rPr sz="2150" b="1" spc="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150" b="1" spc="-25" dirty="0">
                <a:solidFill>
                  <a:srgbClr val="FF0000"/>
                </a:solidFill>
                <a:latin typeface="Arial"/>
                <a:cs typeface="Arial"/>
              </a:rPr>
              <a:t>et </a:t>
            </a:r>
            <a:r>
              <a:rPr sz="2150" b="1" spc="-30" dirty="0">
                <a:solidFill>
                  <a:srgbClr val="FF0000"/>
                </a:solidFill>
                <a:latin typeface="Arial"/>
                <a:cs typeface="Arial"/>
              </a:rPr>
              <a:t>sensibilisation</a:t>
            </a:r>
            <a:endParaRPr sz="21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40809" y="3092576"/>
            <a:ext cx="5264150" cy="3181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1731645" algn="l"/>
                <a:tab pos="3858260" algn="l"/>
                <a:tab pos="5115560" algn="l"/>
              </a:tabLst>
            </a:pPr>
            <a:r>
              <a:rPr sz="1900" spc="-10" dirty="0">
                <a:solidFill>
                  <a:srgbClr val="1D1B0F"/>
                </a:solidFill>
                <a:latin typeface="Arial MT"/>
                <a:cs typeface="Arial MT"/>
              </a:rPr>
              <a:t>Mécanismes</a:t>
            </a:r>
            <a:r>
              <a:rPr sz="1900" dirty="0">
                <a:solidFill>
                  <a:srgbClr val="1D1B0F"/>
                </a:solidFill>
                <a:latin typeface="Arial MT"/>
                <a:cs typeface="Arial MT"/>
              </a:rPr>
              <a:t>	</a:t>
            </a:r>
            <a:r>
              <a:rPr sz="1900" spc="-10" dirty="0">
                <a:solidFill>
                  <a:srgbClr val="1D1B0F"/>
                </a:solidFill>
                <a:latin typeface="Arial MT"/>
                <a:cs typeface="Arial MT"/>
              </a:rPr>
              <a:t>organisationnels</a:t>
            </a:r>
            <a:r>
              <a:rPr sz="1900" dirty="0">
                <a:solidFill>
                  <a:srgbClr val="1D1B0F"/>
                </a:solidFill>
                <a:latin typeface="Arial MT"/>
                <a:cs typeface="Arial MT"/>
              </a:rPr>
              <a:t>	</a:t>
            </a:r>
            <a:r>
              <a:rPr sz="1900" spc="-10" dirty="0">
                <a:solidFill>
                  <a:srgbClr val="1D1B0F"/>
                </a:solidFill>
                <a:latin typeface="Arial MT"/>
                <a:cs typeface="Arial MT"/>
              </a:rPr>
              <a:t>destinés</a:t>
            </a:r>
            <a:r>
              <a:rPr sz="1900" dirty="0">
                <a:solidFill>
                  <a:srgbClr val="1D1B0F"/>
                </a:solidFill>
                <a:latin typeface="Arial MT"/>
                <a:cs typeface="Arial MT"/>
              </a:rPr>
              <a:t>	</a:t>
            </a:r>
            <a:r>
              <a:rPr sz="1900" spc="-50" dirty="0">
                <a:solidFill>
                  <a:srgbClr val="1D1B0F"/>
                </a:solidFill>
                <a:latin typeface="Arial MT"/>
                <a:cs typeface="Arial MT"/>
              </a:rPr>
              <a:t>à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40809" y="3366642"/>
            <a:ext cx="5233670" cy="3181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1170940" algn="l"/>
                <a:tab pos="1750060" algn="l"/>
                <a:tab pos="2231390" algn="l"/>
                <a:tab pos="3616960" algn="l"/>
                <a:tab pos="3990340" algn="l"/>
              </a:tabLst>
            </a:pPr>
            <a:r>
              <a:rPr sz="1900" spc="-10" dirty="0">
                <a:solidFill>
                  <a:srgbClr val="1D1B0F"/>
                </a:solidFill>
                <a:latin typeface="Arial MT"/>
                <a:cs typeface="Arial MT"/>
              </a:rPr>
              <a:t>s’assurer</a:t>
            </a:r>
            <a:r>
              <a:rPr sz="1900" dirty="0">
                <a:solidFill>
                  <a:srgbClr val="1D1B0F"/>
                </a:solidFill>
                <a:latin typeface="Arial MT"/>
                <a:cs typeface="Arial MT"/>
              </a:rPr>
              <a:t>	</a:t>
            </a:r>
            <a:r>
              <a:rPr sz="1900" spc="-25" dirty="0">
                <a:solidFill>
                  <a:srgbClr val="1D1B0F"/>
                </a:solidFill>
                <a:latin typeface="Arial MT"/>
                <a:cs typeface="Arial MT"/>
              </a:rPr>
              <a:t>que</a:t>
            </a:r>
            <a:r>
              <a:rPr sz="1900" dirty="0">
                <a:solidFill>
                  <a:srgbClr val="1D1B0F"/>
                </a:solidFill>
                <a:latin typeface="Arial MT"/>
                <a:cs typeface="Arial MT"/>
              </a:rPr>
              <a:t>	</a:t>
            </a:r>
            <a:r>
              <a:rPr sz="1900" spc="-25" dirty="0">
                <a:solidFill>
                  <a:srgbClr val="1D1B0F"/>
                </a:solidFill>
                <a:latin typeface="Arial MT"/>
                <a:cs typeface="Arial MT"/>
              </a:rPr>
              <a:t>les</a:t>
            </a:r>
            <a:r>
              <a:rPr sz="1900" dirty="0">
                <a:solidFill>
                  <a:srgbClr val="1D1B0F"/>
                </a:solidFill>
                <a:latin typeface="Arial MT"/>
                <a:cs typeface="Arial MT"/>
              </a:rPr>
              <a:t>	</a:t>
            </a:r>
            <a:r>
              <a:rPr sz="1900" spc="-10" dirty="0">
                <a:solidFill>
                  <a:srgbClr val="1D1B0F"/>
                </a:solidFill>
                <a:latin typeface="Arial MT"/>
                <a:cs typeface="Arial MT"/>
              </a:rPr>
              <a:t>partenaires</a:t>
            </a:r>
            <a:r>
              <a:rPr sz="1900" dirty="0">
                <a:solidFill>
                  <a:srgbClr val="1D1B0F"/>
                </a:solidFill>
                <a:latin typeface="Arial MT"/>
                <a:cs typeface="Arial MT"/>
              </a:rPr>
              <a:t>	</a:t>
            </a:r>
            <a:r>
              <a:rPr sz="1900" spc="-25" dirty="0">
                <a:solidFill>
                  <a:srgbClr val="1D1B0F"/>
                </a:solidFill>
                <a:latin typeface="Arial MT"/>
                <a:cs typeface="Arial MT"/>
              </a:rPr>
              <a:t>et</a:t>
            </a:r>
            <a:r>
              <a:rPr sz="1900" dirty="0">
                <a:solidFill>
                  <a:srgbClr val="1D1B0F"/>
                </a:solidFill>
                <a:latin typeface="Arial MT"/>
                <a:cs typeface="Arial MT"/>
              </a:rPr>
              <a:t>	</a:t>
            </a:r>
            <a:r>
              <a:rPr sz="1900" spc="-25" dirty="0">
                <a:solidFill>
                  <a:srgbClr val="1D1B0F"/>
                </a:solidFill>
                <a:latin typeface="Arial MT"/>
                <a:cs typeface="Arial MT"/>
              </a:rPr>
              <a:t>prestataires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40809" y="3614165"/>
            <a:ext cx="5296535" cy="1264920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 marR="5080" algn="just">
              <a:lnSpc>
                <a:spcPct val="103200"/>
              </a:lnSpc>
              <a:spcBef>
                <a:spcPts val="45"/>
              </a:spcBef>
            </a:pPr>
            <a:r>
              <a:rPr sz="1900" dirty="0">
                <a:solidFill>
                  <a:srgbClr val="1D1B0F"/>
                </a:solidFill>
                <a:latin typeface="Arial MT"/>
                <a:cs typeface="Arial MT"/>
              </a:rPr>
              <a:t>mettent</a:t>
            </a:r>
            <a:r>
              <a:rPr sz="1900" spc="65" dirty="0">
                <a:solidFill>
                  <a:srgbClr val="1D1B0F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1D1B0F"/>
                </a:solidFill>
                <a:latin typeface="Arial MT"/>
                <a:cs typeface="Arial MT"/>
              </a:rPr>
              <a:t>en</a:t>
            </a:r>
            <a:r>
              <a:rPr sz="1900" spc="60" dirty="0">
                <a:solidFill>
                  <a:srgbClr val="1D1B0F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1D1B0F"/>
                </a:solidFill>
                <a:latin typeface="Arial MT"/>
                <a:cs typeface="Arial MT"/>
              </a:rPr>
              <a:t>œuvre</a:t>
            </a:r>
            <a:r>
              <a:rPr sz="1900" spc="100" dirty="0">
                <a:solidFill>
                  <a:srgbClr val="1D1B0F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1D1B0F"/>
                </a:solidFill>
                <a:latin typeface="Arial MT"/>
                <a:cs typeface="Arial MT"/>
              </a:rPr>
              <a:t>les</a:t>
            </a:r>
            <a:r>
              <a:rPr sz="1900" spc="75" dirty="0">
                <a:solidFill>
                  <a:srgbClr val="1D1B0F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1D1B0F"/>
                </a:solidFill>
                <a:latin typeface="Arial MT"/>
                <a:cs typeface="Arial MT"/>
              </a:rPr>
              <a:t>mesures</a:t>
            </a:r>
            <a:r>
              <a:rPr sz="1900" spc="75" dirty="0">
                <a:solidFill>
                  <a:srgbClr val="1D1B0F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1D1B0F"/>
                </a:solidFill>
                <a:latin typeface="Arial MT"/>
                <a:cs typeface="Arial MT"/>
              </a:rPr>
              <a:t>nécessaires</a:t>
            </a:r>
            <a:r>
              <a:rPr sz="1900" spc="65" dirty="0">
                <a:solidFill>
                  <a:srgbClr val="1D1B0F"/>
                </a:solidFill>
                <a:latin typeface="Arial MT"/>
                <a:cs typeface="Arial MT"/>
              </a:rPr>
              <a:t> </a:t>
            </a:r>
            <a:r>
              <a:rPr sz="1900" spc="-20" dirty="0">
                <a:solidFill>
                  <a:srgbClr val="1D1B0F"/>
                </a:solidFill>
                <a:latin typeface="Arial MT"/>
                <a:cs typeface="Arial MT"/>
              </a:rPr>
              <a:t>pour </a:t>
            </a:r>
            <a:r>
              <a:rPr sz="1900" dirty="0">
                <a:solidFill>
                  <a:srgbClr val="1D1B0F"/>
                </a:solidFill>
                <a:latin typeface="Arial MT"/>
                <a:cs typeface="Arial MT"/>
              </a:rPr>
              <a:t>ne</a:t>
            </a:r>
            <a:r>
              <a:rPr sz="1900" spc="-5" dirty="0">
                <a:solidFill>
                  <a:srgbClr val="1D1B0F"/>
                </a:solidFill>
                <a:latin typeface="Arial MT"/>
                <a:cs typeface="Arial MT"/>
              </a:rPr>
              <a:t>  </a:t>
            </a:r>
            <a:r>
              <a:rPr sz="1900" dirty="0">
                <a:solidFill>
                  <a:srgbClr val="1D1B0F"/>
                </a:solidFill>
                <a:latin typeface="Arial MT"/>
                <a:cs typeface="Arial MT"/>
              </a:rPr>
              <a:t>pas</a:t>
            </a:r>
            <a:r>
              <a:rPr sz="1900" spc="-5" dirty="0">
                <a:solidFill>
                  <a:srgbClr val="1D1B0F"/>
                </a:solidFill>
                <a:latin typeface="Arial MT"/>
                <a:cs typeface="Arial MT"/>
              </a:rPr>
              <a:t>  </a:t>
            </a:r>
            <a:r>
              <a:rPr sz="1900" dirty="0">
                <a:solidFill>
                  <a:srgbClr val="1D1B0F"/>
                </a:solidFill>
                <a:latin typeface="Arial MT"/>
                <a:cs typeface="Arial MT"/>
              </a:rPr>
              <a:t>impacter  la  sécurité</a:t>
            </a:r>
            <a:r>
              <a:rPr sz="1900" spc="5" dirty="0">
                <a:solidFill>
                  <a:srgbClr val="1D1B0F"/>
                </a:solidFill>
                <a:latin typeface="Arial MT"/>
                <a:cs typeface="Arial MT"/>
              </a:rPr>
              <a:t>  </a:t>
            </a:r>
            <a:r>
              <a:rPr sz="1900" dirty="0">
                <a:solidFill>
                  <a:srgbClr val="1D1B0F"/>
                </a:solidFill>
                <a:latin typeface="Arial MT"/>
                <a:cs typeface="Arial MT"/>
              </a:rPr>
              <a:t>des  S.I.  de</a:t>
            </a:r>
            <a:r>
              <a:rPr sz="1900" spc="-5" dirty="0">
                <a:solidFill>
                  <a:srgbClr val="1D1B0F"/>
                </a:solidFill>
                <a:latin typeface="Arial MT"/>
                <a:cs typeface="Arial MT"/>
              </a:rPr>
              <a:t>  </a:t>
            </a:r>
            <a:r>
              <a:rPr sz="1900" spc="-10" dirty="0">
                <a:solidFill>
                  <a:srgbClr val="1D1B0F"/>
                </a:solidFill>
                <a:latin typeface="Arial MT"/>
                <a:cs typeface="Arial MT"/>
              </a:rPr>
              <a:t>leurs clients</a:t>
            </a:r>
            <a:endParaRPr sz="1900">
              <a:latin typeface="Arial MT"/>
              <a:cs typeface="Arial MT"/>
            </a:endParaRPr>
          </a:p>
          <a:p>
            <a:pPr marL="12700" algn="just">
              <a:lnSpc>
                <a:spcPct val="100000"/>
              </a:lnSpc>
              <a:spcBef>
                <a:spcPts val="470"/>
              </a:spcBef>
            </a:pPr>
            <a:r>
              <a:rPr sz="1900" dirty="0">
                <a:solidFill>
                  <a:srgbClr val="1D1B0F"/>
                </a:solidFill>
                <a:latin typeface="Arial MT"/>
                <a:cs typeface="Arial MT"/>
              </a:rPr>
              <a:t>Mécanismes</a:t>
            </a:r>
            <a:r>
              <a:rPr sz="1900" spc="265" dirty="0">
                <a:solidFill>
                  <a:srgbClr val="1D1B0F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1D1B0F"/>
                </a:solidFill>
                <a:latin typeface="Arial MT"/>
                <a:cs typeface="Arial MT"/>
              </a:rPr>
              <a:t>organisationnels</a:t>
            </a:r>
            <a:r>
              <a:rPr sz="1900" spc="285" dirty="0">
                <a:solidFill>
                  <a:srgbClr val="1D1B0F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1D1B0F"/>
                </a:solidFill>
                <a:latin typeface="Arial MT"/>
                <a:cs typeface="Arial MT"/>
              </a:rPr>
              <a:t>dont</a:t>
            </a:r>
            <a:r>
              <a:rPr sz="1900" spc="235" dirty="0">
                <a:solidFill>
                  <a:srgbClr val="1D1B0F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1D1B0F"/>
                </a:solidFill>
                <a:latin typeface="Arial MT"/>
                <a:cs typeface="Arial MT"/>
              </a:rPr>
              <a:t>l’objectif</a:t>
            </a:r>
            <a:r>
              <a:rPr sz="1900" spc="300" dirty="0">
                <a:solidFill>
                  <a:srgbClr val="1D1B0F"/>
                </a:solidFill>
                <a:latin typeface="Arial MT"/>
                <a:cs typeface="Arial MT"/>
              </a:rPr>
              <a:t> </a:t>
            </a:r>
            <a:r>
              <a:rPr sz="1900" spc="-25" dirty="0">
                <a:solidFill>
                  <a:srgbClr val="1D1B0F"/>
                </a:solidFill>
                <a:latin typeface="Arial MT"/>
                <a:cs typeface="Arial MT"/>
              </a:rPr>
              <a:t>est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40809" y="4841239"/>
            <a:ext cx="5295900" cy="3181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1443990" algn="l"/>
                <a:tab pos="2097405" algn="l"/>
                <a:tab pos="3583940" algn="l"/>
              </a:tabLst>
            </a:pPr>
            <a:r>
              <a:rPr sz="1900" spc="-10" dirty="0">
                <a:solidFill>
                  <a:srgbClr val="1D1B0F"/>
                </a:solidFill>
                <a:latin typeface="Arial MT"/>
                <a:cs typeface="Arial MT"/>
              </a:rPr>
              <a:t>d’expliquer</a:t>
            </a:r>
            <a:r>
              <a:rPr sz="1900" dirty="0">
                <a:solidFill>
                  <a:srgbClr val="1D1B0F"/>
                </a:solidFill>
                <a:latin typeface="Arial MT"/>
                <a:cs typeface="Arial MT"/>
              </a:rPr>
              <a:t>	</a:t>
            </a:r>
            <a:r>
              <a:rPr sz="1900" spc="-25" dirty="0">
                <a:solidFill>
                  <a:srgbClr val="1D1B0F"/>
                </a:solidFill>
                <a:latin typeface="Arial MT"/>
                <a:cs typeface="Arial MT"/>
              </a:rPr>
              <a:t>aux</a:t>
            </a:r>
            <a:r>
              <a:rPr sz="1900" dirty="0">
                <a:solidFill>
                  <a:srgbClr val="1D1B0F"/>
                </a:solidFill>
                <a:latin typeface="Arial MT"/>
                <a:cs typeface="Arial MT"/>
              </a:rPr>
              <a:t>	</a:t>
            </a:r>
            <a:r>
              <a:rPr sz="1900" spc="-10" dirty="0">
                <a:solidFill>
                  <a:srgbClr val="1D1B0F"/>
                </a:solidFill>
                <a:latin typeface="Arial MT"/>
                <a:cs typeface="Arial MT"/>
              </a:rPr>
              <a:t>utilisateurs,</a:t>
            </a:r>
            <a:r>
              <a:rPr sz="1900" dirty="0">
                <a:solidFill>
                  <a:srgbClr val="1D1B0F"/>
                </a:solidFill>
                <a:latin typeface="Arial MT"/>
                <a:cs typeface="Arial MT"/>
              </a:rPr>
              <a:t>	</a:t>
            </a:r>
            <a:r>
              <a:rPr sz="1900" spc="-10" dirty="0">
                <a:solidFill>
                  <a:srgbClr val="1D1B0F"/>
                </a:solidFill>
                <a:latin typeface="Arial MT"/>
                <a:cs typeface="Arial MT"/>
              </a:rPr>
              <a:t>administrateurs,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940809" y="5139944"/>
            <a:ext cx="5297170" cy="126492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 algn="just">
              <a:lnSpc>
                <a:spcPct val="102899"/>
              </a:lnSpc>
              <a:spcBef>
                <a:spcPts val="50"/>
              </a:spcBef>
            </a:pPr>
            <a:r>
              <a:rPr sz="1900" dirty="0">
                <a:solidFill>
                  <a:srgbClr val="1D1B0F"/>
                </a:solidFill>
                <a:latin typeface="Arial MT"/>
                <a:cs typeface="Arial MT"/>
              </a:rPr>
              <a:t>techniciens,</a:t>
            </a:r>
            <a:r>
              <a:rPr sz="1900" spc="315" dirty="0">
                <a:solidFill>
                  <a:srgbClr val="1D1B0F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1D1B0F"/>
                </a:solidFill>
                <a:latin typeface="Arial MT"/>
                <a:cs typeface="Arial MT"/>
              </a:rPr>
              <a:t>PDG,</a:t>
            </a:r>
            <a:r>
              <a:rPr sz="1900" spc="335" dirty="0">
                <a:solidFill>
                  <a:srgbClr val="1D1B0F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1D1B0F"/>
                </a:solidFill>
                <a:latin typeface="Arial MT"/>
                <a:cs typeface="Arial MT"/>
              </a:rPr>
              <a:t>clients,</a:t>
            </a:r>
            <a:r>
              <a:rPr sz="1900" spc="315" dirty="0">
                <a:solidFill>
                  <a:srgbClr val="1D1B0F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1D1B0F"/>
                </a:solidFill>
                <a:latin typeface="Arial MT"/>
                <a:cs typeface="Arial MT"/>
              </a:rPr>
              <a:t>grand</a:t>
            </a:r>
            <a:r>
              <a:rPr sz="1900" spc="325" dirty="0">
                <a:solidFill>
                  <a:srgbClr val="1D1B0F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1D1B0F"/>
                </a:solidFill>
                <a:latin typeface="Arial MT"/>
                <a:cs typeface="Arial MT"/>
              </a:rPr>
              <a:t>public,</a:t>
            </a:r>
            <a:r>
              <a:rPr sz="1900" spc="325" dirty="0">
                <a:solidFill>
                  <a:srgbClr val="1D1B0F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1D1B0F"/>
                </a:solidFill>
                <a:latin typeface="Arial MT"/>
                <a:cs typeface="Arial MT"/>
              </a:rPr>
              <a:t>etc.</a:t>
            </a:r>
            <a:r>
              <a:rPr sz="1900" spc="335" dirty="0">
                <a:solidFill>
                  <a:srgbClr val="1D1B0F"/>
                </a:solidFill>
                <a:latin typeface="Arial MT"/>
                <a:cs typeface="Arial MT"/>
              </a:rPr>
              <a:t> </a:t>
            </a:r>
            <a:r>
              <a:rPr sz="1900" spc="-25" dirty="0">
                <a:solidFill>
                  <a:srgbClr val="1D1B0F"/>
                </a:solidFill>
                <a:latin typeface="Arial MT"/>
                <a:cs typeface="Arial MT"/>
              </a:rPr>
              <a:t>en </a:t>
            </a:r>
            <a:r>
              <a:rPr sz="1900" dirty="0">
                <a:solidFill>
                  <a:srgbClr val="1D1B0F"/>
                </a:solidFill>
                <a:latin typeface="Arial MT"/>
                <a:cs typeface="Arial MT"/>
              </a:rPr>
              <a:t>quoi</a:t>
            </a:r>
            <a:r>
              <a:rPr sz="1900" spc="320" dirty="0">
                <a:solidFill>
                  <a:srgbClr val="1D1B0F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1D1B0F"/>
                </a:solidFill>
                <a:latin typeface="Arial MT"/>
                <a:cs typeface="Arial MT"/>
              </a:rPr>
              <a:t>leurs</a:t>
            </a:r>
            <a:r>
              <a:rPr sz="1900" spc="330" dirty="0">
                <a:solidFill>
                  <a:srgbClr val="1D1B0F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1D1B0F"/>
                </a:solidFill>
                <a:latin typeface="Arial MT"/>
                <a:cs typeface="Arial MT"/>
              </a:rPr>
              <a:t>actions</a:t>
            </a:r>
            <a:r>
              <a:rPr sz="1900" spc="335" dirty="0">
                <a:solidFill>
                  <a:srgbClr val="1D1B0F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1D1B0F"/>
                </a:solidFill>
                <a:latin typeface="Arial MT"/>
                <a:cs typeface="Arial MT"/>
              </a:rPr>
              <a:t>affectent</a:t>
            </a:r>
            <a:r>
              <a:rPr sz="1900" spc="340" dirty="0">
                <a:solidFill>
                  <a:srgbClr val="1D1B0F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1D1B0F"/>
                </a:solidFill>
                <a:latin typeface="Arial MT"/>
                <a:cs typeface="Arial MT"/>
              </a:rPr>
              <a:t>la</a:t>
            </a:r>
            <a:r>
              <a:rPr sz="1900" spc="350" dirty="0">
                <a:solidFill>
                  <a:srgbClr val="1D1B0F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1D1B0F"/>
                </a:solidFill>
                <a:latin typeface="Arial MT"/>
                <a:cs typeface="Arial MT"/>
              </a:rPr>
              <a:t>sécurité</a:t>
            </a:r>
            <a:r>
              <a:rPr sz="1900" spc="330" dirty="0">
                <a:solidFill>
                  <a:srgbClr val="1D1B0F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1D1B0F"/>
                </a:solidFill>
                <a:latin typeface="Arial MT"/>
                <a:cs typeface="Arial MT"/>
              </a:rPr>
              <a:t>des</a:t>
            </a:r>
            <a:r>
              <a:rPr sz="1900" spc="320" dirty="0">
                <a:solidFill>
                  <a:srgbClr val="1D1B0F"/>
                </a:solidFill>
                <a:latin typeface="Arial MT"/>
                <a:cs typeface="Arial MT"/>
              </a:rPr>
              <a:t> </a:t>
            </a:r>
            <a:r>
              <a:rPr sz="1900" spc="-20" dirty="0">
                <a:solidFill>
                  <a:srgbClr val="1D1B0F"/>
                </a:solidFill>
                <a:latin typeface="Arial MT"/>
                <a:cs typeface="Arial MT"/>
              </a:rPr>
              <a:t>S.I. </a:t>
            </a:r>
            <a:r>
              <a:rPr sz="1900" spc="-25" dirty="0">
                <a:solidFill>
                  <a:srgbClr val="1D1B0F"/>
                </a:solidFill>
                <a:latin typeface="Arial MT"/>
                <a:cs typeface="Arial MT"/>
              </a:rPr>
              <a:t>Diffusion</a:t>
            </a:r>
            <a:r>
              <a:rPr sz="1900" spc="-110" dirty="0">
                <a:solidFill>
                  <a:srgbClr val="1D1B0F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1D1B0F"/>
                </a:solidFill>
                <a:latin typeface="Arial MT"/>
                <a:cs typeface="Arial MT"/>
              </a:rPr>
              <a:t>des</a:t>
            </a:r>
            <a:r>
              <a:rPr sz="1900" spc="-100" dirty="0">
                <a:solidFill>
                  <a:srgbClr val="1D1B0F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1D1B0F"/>
                </a:solidFill>
                <a:latin typeface="Arial MT"/>
                <a:cs typeface="Arial MT"/>
              </a:rPr>
              <a:t>bonnes</a:t>
            </a:r>
            <a:r>
              <a:rPr sz="1900" spc="-90" dirty="0">
                <a:solidFill>
                  <a:srgbClr val="1D1B0F"/>
                </a:solidFill>
                <a:latin typeface="Arial MT"/>
                <a:cs typeface="Arial MT"/>
              </a:rPr>
              <a:t> </a:t>
            </a:r>
            <a:r>
              <a:rPr sz="1900" spc="-25" dirty="0">
                <a:solidFill>
                  <a:srgbClr val="1D1B0F"/>
                </a:solidFill>
                <a:latin typeface="Arial MT"/>
                <a:cs typeface="Arial MT"/>
              </a:rPr>
              <a:t>pratiques</a:t>
            </a:r>
            <a:r>
              <a:rPr sz="1900" spc="-35" dirty="0">
                <a:solidFill>
                  <a:srgbClr val="1D1B0F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1D1B0F"/>
                </a:solidFill>
                <a:latin typeface="Arial MT"/>
                <a:cs typeface="Arial MT"/>
              </a:rPr>
              <a:t>de</a:t>
            </a:r>
            <a:r>
              <a:rPr sz="1900" spc="-70" dirty="0">
                <a:solidFill>
                  <a:srgbClr val="1D1B0F"/>
                </a:solidFill>
                <a:latin typeface="Arial MT"/>
                <a:cs typeface="Arial MT"/>
              </a:rPr>
              <a:t> </a:t>
            </a:r>
            <a:r>
              <a:rPr sz="1900" spc="-10" dirty="0">
                <a:solidFill>
                  <a:srgbClr val="1D1B0F"/>
                </a:solidFill>
                <a:latin typeface="Arial MT"/>
                <a:cs typeface="Arial MT"/>
              </a:rPr>
              <a:t>sécurité.</a:t>
            </a:r>
            <a:endParaRPr sz="1900">
              <a:latin typeface="Arial MT"/>
              <a:cs typeface="Arial MT"/>
            </a:endParaRPr>
          </a:p>
          <a:p>
            <a:pPr marL="12700" algn="just">
              <a:lnSpc>
                <a:spcPct val="100000"/>
              </a:lnSpc>
              <a:spcBef>
                <a:spcPts val="484"/>
              </a:spcBef>
            </a:pPr>
            <a:r>
              <a:rPr sz="1900" dirty="0">
                <a:solidFill>
                  <a:srgbClr val="1D1B0F"/>
                </a:solidFill>
                <a:latin typeface="Arial MT"/>
                <a:cs typeface="Arial MT"/>
              </a:rPr>
              <a:t>Le</a:t>
            </a:r>
            <a:r>
              <a:rPr sz="1900" spc="-100" dirty="0">
                <a:solidFill>
                  <a:srgbClr val="1D1B0F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1D1B0F"/>
                </a:solidFill>
                <a:latin typeface="Arial MT"/>
                <a:cs typeface="Arial MT"/>
              </a:rPr>
              <a:t>cours</a:t>
            </a:r>
            <a:r>
              <a:rPr sz="1900" spc="-45" dirty="0">
                <a:solidFill>
                  <a:srgbClr val="1D1B0F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1D1B0F"/>
                </a:solidFill>
                <a:latin typeface="Arial MT"/>
                <a:cs typeface="Arial MT"/>
              </a:rPr>
              <a:t>actuel</a:t>
            </a:r>
            <a:r>
              <a:rPr sz="1900" spc="-45" dirty="0">
                <a:solidFill>
                  <a:srgbClr val="1D1B0F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1D1B0F"/>
                </a:solidFill>
                <a:latin typeface="Arial MT"/>
                <a:cs typeface="Arial MT"/>
              </a:rPr>
              <a:t>en</a:t>
            </a:r>
            <a:r>
              <a:rPr sz="1900" spc="-130" dirty="0">
                <a:solidFill>
                  <a:srgbClr val="1D1B0F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1D1B0F"/>
                </a:solidFill>
                <a:latin typeface="Arial MT"/>
                <a:cs typeface="Arial MT"/>
              </a:rPr>
              <a:t>est</a:t>
            </a:r>
            <a:r>
              <a:rPr sz="1900" spc="-65" dirty="0">
                <a:solidFill>
                  <a:srgbClr val="1D1B0F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1D1B0F"/>
                </a:solidFill>
                <a:latin typeface="Arial MT"/>
                <a:cs typeface="Arial MT"/>
              </a:rPr>
              <a:t>une</a:t>
            </a:r>
            <a:r>
              <a:rPr sz="1900" spc="-90" dirty="0">
                <a:solidFill>
                  <a:srgbClr val="1D1B0F"/>
                </a:solidFill>
                <a:latin typeface="Arial MT"/>
                <a:cs typeface="Arial MT"/>
              </a:rPr>
              <a:t> </a:t>
            </a:r>
            <a:r>
              <a:rPr sz="1900" spc="-20" dirty="0">
                <a:solidFill>
                  <a:srgbClr val="1D1B0F"/>
                </a:solidFill>
                <a:latin typeface="Arial MT"/>
                <a:cs typeface="Arial MT"/>
              </a:rPr>
              <a:t>illustration</a:t>
            </a:r>
            <a:r>
              <a:rPr sz="1900" spc="-55" dirty="0">
                <a:solidFill>
                  <a:srgbClr val="1D1B0F"/>
                </a:solidFill>
                <a:latin typeface="Arial MT"/>
                <a:cs typeface="Arial MT"/>
              </a:rPr>
              <a:t> </a:t>
            </a:r>
            <a:r>
              <a:rPr sz="1900" spc="-50" dirty="0">
                <a:solidFill>
                  <a:srgbClr val="1D1B0F"/>
                </a:solidFill>
                <a:latin typeface="Arial MT"/>
                <a:cs typeface="Arial MT"/>
              </a:rPr>
              <a:t>!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940809" y="1851151"/>
            <a:ext cx="1355725" cy="3181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spc="-25" dirty="0">
                <a:solidFill>
                  <a:srgbClr val="1D1B0F"/>
                </a:solidFill>
                <a:latin typeface="Arial MT"/>
                <a:cs typeface="Arial MT"/>
              </a:rPr>
              <a:t>Mécanismes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660516" y="1486915"/>
            <a:ext cx="5240020" cy="68389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10"/>
              </a:spcBef>
              <a:tabLst>
                <a:tab pos="548005" algn="l"/>
                <a:tab pos="1096645" algn="l"/>
              </a:tabLst>
            </a:pPr>
            <a:r>
              <a:rPr sz="2150" b="1" spc="-50" dirty="0">
                <a:solidFill>
                  <a:srgbClr val="FF0000"/>
                </a:solidFill>
                <a:latin typeface="Arial"/>
                <a:cs typeface="Arial"/>
              </a:rPr>
              <a:t>D</a:t>
            </a:r>
            <a:r>
              <a:rPr sz="2150" b="1" dirty="0">
                <a:solidFill>
                  <a:srgbClr val="FF0000"/>
                </a:solidFill>
                <a:latin typeface="Arial"/>
                <a:cs typeface="Arial"/>
              </a:rPr>
              <a:t>	</a:t>
            </a:r>
            <a:r>
              <a:rPr sz="2150" b="1" spc="-50" dirty="0">
                <a:solidFill>
                  <a:srgbClr val="FF0000"/>
                </a:solidFill>
                <a:latin typeface="Arial"/>
                <a:cs typeface="Arial"/>
              </a:rPr>
              <a:t>I</a:t>
            </a:r>
            <a:r>
              <a:rPr sz="2150" b="1" dirty="0">
                <a:solidFill>
                  <a:srgbClr val="FF0000"/>
                </a:solidFill>
                <a:latin typeface="Arial"/>
                <a:cs typeface="Arial"/>
              </a:rPr>
              <a:t>	</a:t>
            </a:r>
            <a:r>
              <a:rPr sz="2150" b="1" spc="-50" dirty="0">
                <a:solidFill>
                  <a:srgbClr val="FF0000"/>
                </a:solidFill>
                <a:latin typeface="Arial"/>
                <a:cs typeface="Arial"/>
              </a:rPr>
              <a:t>C</a:t>
            </a:r>
            <a:endParaRPr sz="2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  <a:tabLst>
                <a:tab pos="2137410" algn="l"/>
                <a:tab pos="3392804" algn="l"/>
                <a:tab pos="3912870" algn="l"/>
              </a:tabLst>
            </a:pPr>
            <a:r>
              <a:rPr sz="1900" spc="-10" dirty="0">
                <a:solidFill>
                  <a:srgbClr val="1D1B0F"/>
                </a:solidFill>
                <a:latin typeface="Arial MT"/>
                <a:cs typeface="Arial MT"/>
              </a:rPr>
              <a:t>organisationnels</a:t>
            </a:r>
            <a:r>
              <a:rPr sz="1900" dirty="0">
                <a:solidFill>
                  <a:srgbClr val="1D1B0F"/>
                </a:solidFill>
                <a:latin typeface="Arial MT"/>
                <a:cs typeface="Arial MT"/>
              </a:rPr>
              <a:t>	</a:t>
            </a:r>
            <a:r>
              <a:rPr sz="1900" spc="-10" dirty="0">
                <a:solidFill>
                  <a:srgbClr val="1D1B0F"/>
                </a:solidFill>
                <a:latin typeface="Arial MT"/>
                <a:cs typeface="Arial MT"/>
              </a:rPr>
              <a:t>destinés</a:t>
            </a:r>
            <a:r>
              <a:rPr sz="1900" dirty="0">
                <a:solidFill>
                  <a:srgbClr val="1D1B0F"/>
                </a:solidFill>
                <a:latin typeface="Arial MT"/>
                <a:cs typeface="Arial MT"/>
              </a:rPr>
              <a:t>	</a:t>
            </a:r>
            <a:r>
              <a:rPr sz="1900" spc="-50" dirty="0">
                <a:solidFill>
                  <a:srgbClr val="1D1B0F"/>
                </a:solidFill>
                <a:latin typeface="Arial MT"/>
                <a:cs typeface="Arial MT"/>
              </a:rPr>
              <a:t>à</a:t>
            </a:r>
            <a:r>
              <a:rPr sz="1900" dirty="0">
                <a:solidFill>
                  <a:srgbClr val="1D1B0F"/>
                </a:solidFill>
                <a:latin typeface="Arial MT"/>
                <a:cs typeface="Arial MT"/>
              </a:rPr>
              <a:t>	</a:t>
            </a:r>
            <a:r>
              <a:rPr sz="2150" b="1" spc="-50" dirty="0">
                <a:solidFill>
                  <a:srgbClr val="FF0000"/>
                </a:solidFill>
                <a:latin typeface="Arial"/>
                <a:cs typeface="Arial"/>
              </a:rPr>
              <a:t>P</a:t>
            </a:r>
            <a:endParaRPr sz="2150">
              <a:latin typeface="Arial"/>
              <a:cs typeface="Arial"/>
            </a:endParaRP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9604247" y="2520291"/>
          <a:ext cx="1548763" cy="15144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5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2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10260">
                <a:tc>
                  <a:txBody>
                    <a:bodyPr/>
                    <a:lstStyle/>
                    <a:p>
                      <a:pPr marL="31750">
                        <a:lnSpc>
                          <a:spcPts val="2325"/>
                        </a:lnSpc>
                      </a:pPr>
                      <a:r>
                        <a:rPr sz="2200" spc="-50" dirty="0">
                          <a:solidFill>
                            <a:srgbClr val="FF0000"/>
                          </a:solidFill>
                          <a:latin typeface="MS PGothic"/>
                          <a:cs typeface="MS PGothic"/>
                        </a:rPr>
                        <a:t>✔</a:t>
                      </a:r>
                      <a:endParaRPr sz="2200">
                        <a:latin typeface="MS PGothic"/>
                        <a:cs typeface="MS PGothic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</a:pPr>
                      <a:r>
                        <a:rPr sz="2200" spc="-50" dirty="0">
                          <a:solidFill>
                            <a:srgbClr val="FF0000"/>
                          </a:solidFill>
                          <a:latin typeface="MS PGothic"/>
                          <a:cs typeface="MS PGothic"/>
                        </a:rPr>
                        <a:t>✔</a:t>
                      </a:r>
                      <a:endParaRPr sz="2200">
                        <a:latin typeface="MS PGothic"/>
                        <a:cs typeface="MS PGoth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4620">
                        <a:lnSpc>
                          <a:spcPts val="2325"/>
                        </a:lnSpc>
                      </a:pPr>
                      <a:r>
                        <a:rPr sz="2200" spc="-50" dirty="0">
                          <a:solidFill>
                            <a:srgbClr val="FF0000"/>
                          </a:solidFill>
                          <a:latin typeface="MS PGothic"/>
                          <a:cs typeface="MS PGothic"/>
                        </a:rPr>
                        <a:t>✔</a:t>
                      </a:r>
                      <a:endParaRPr sz="2200">
                        <a:latin typeface="MS PGothic"/>
                        <a:cs typeface="MS PGoth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325"/>
                        </a:lnSpc>
                      </a:pPr>
                      <a:r>
                        <a:rPr sz="2200" spc="-50" dirty="0">
                          <a:solidFill>
                            <a:srgbClr val="FF0000"/>
                          </a:solidFill>
                          <a:latin typeface="MS PGothic"/>
                          <a:cs typeface="MS PGothic"/>
                        </a:rPr>
                        <a:t>✔</a:t>
                      </a:r>
                      <a:endParaRPr sz="2200">
                        <a:latin typeface="MS PGothic"/>
                        <a:cs typeface="MS PGothic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4215">
                <a:tc>
                  <a:txBody>
                    <a:bodyPr/>
                    <a:lstStyle/>
                    <a:p>
                      <a:pPr marL="31750">
                        <a:lnSpc>
                          <a:spcPts val="2220"/>
                        </a:lnSpc>
                        <a:spcBef>
                          <a:spcPts val="1230"/>
                        </a:spcBef>
                      </a:pPr>
                      <a:r>
                        <a:rPr sz="2200" spc="-50" dirty="0">
                          <a:solidFill>
                            <a:srgbClr val="FF0000"/>
                          </a:solidFill>
                          <a:latin typeface="MS PGothic"/>
                          <a:cs typeface="MS PGothic"/>
                        </a:rPr>
                        <a:t>✔</a:t>
                      </a:r>
                      <a:endParaRPr sz="2200">
                        <a:latin typeface="MS PGothic"/>
                        <a:cs typeface="MS PGothic"/>
                      </a:endParaRPr>
                    </a:p>
                    <a:p>
                      <a:pPr marL="31750">
                        <a:lnSpc>
                          <a:spcPts val="1989"/>
                        </a:lnSpc>
                      </a:pPr>
                      <a:r>
                        <a:rPr sz="2200" spc="-50" dirty="0">
                          <a:solidFill>
                            <a:srgbClr val="FF0000"/>
                          </a:solidFill>
                          <a:latin typeface="MS PGothic"/>
                          <a:cs typeface="MS PGothic"/>
                        </a:rPr>
                        <a:t>✔</a:t>
                      </a:r>
                      <a:endParaRPr sz="2200">
                        <a:latin typeface="MS PGothic"/>
                        <a:cs typeface="MS PGothic"/>
                      </a:endParaRPr>
                    </a:p>
                  </a:txBody>
                  <a:tcPr marL="0" marR="0" marT="156210" marB="0"/>
                </a:tc>
                <a:tc>
                  <a:txBody>
                    <a:bodyPr/>
                    <a:lstStyle/>
                    <a:p>
                      <a:pPr marL="134620">
                        <a:lnSpc>
                          <a:spcPct val="100000"/>
                        </a:lnSpc>
                        <a:spcBef>
                          <a:spcPts val="1945"/>
                        </a:spcBef>
                      </a:pPr>
                      <a:r>
                        <a:rPr sz="2200" spc="-50" dirty="0">
                          <a:solidFill>
                            <a:srgbClr val="FF0000"/>
                          </a:solidFill>
                          <a:latin typeface="MS PGothic"/>
                          <a:cs typeface="MS PGothic"/>
                        </a:rPr>
                        <a:t>✔</a:t>
                      </a:r>
                      <a:endParaRPr sz="2200">
                        <a:latin typeface="MS PGothic"/>
                        <a:cs typeface="MS PGothic"/>
                      </a:endParaRPr>
                    </a:p>
                  </a:txBody>
                  <a:tcPr marL="0" marR="0" marT="24701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1945"/>
                        </a:spcBef>
                      </a:pPr>
                      <a:r>
                        <a:rPr sz="2200" spc="-50" dirty="0">
                          <a:solidFill>
                            <a:srgbClr val="FF0000"/>
                          </a:solidFill>
                          <a:latin typeface="MS PGothic"/>
                          <a:cs typeface="MS PGothic"/>
                        </a:rPr>
                        <a:t>✔</a:t>
                      </a:r>
                      <a:endParaRPr sz="2200">
                        <a:latin typeface="MS PGothic"/>
                        <a:cs typeface="MS PGothic"/>
                      </a:endParaRPr>
                    </a:p>
                  </a:txBody>
                  <a:tcPr marL="0" marR="0" marT="24701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" name="object 14"/>
          <p:cNvSpPr txBox="1"/>
          <p:nvPr/>
        </p:nvSpPr>
        <p:spPr>
          <a:xfrm>
            <a:off x="9474200" y="4994605"/>
            <a:ext cx="1473835" cy="68453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636905" algn="l"/>
                <a:tab pos="1185545" algn="l"/>
              </a:tabLst>
            </a:pPr>
            <a:r>
              <a:rPr sz="2150" spc="-50" dirty="0">
                <a:solidFill>
                  <a:srgbClr val="FF0000"/>
                </a:solidFill>
                <a:latin typeface="MS PGothic"/>
                <a:cs typeface="MS PGothic"/>
              </a:rPr>
              <a:t>✔</a:t>
            </a:r>
            <a:r>
              <a:rPr sz="2150" dirty="0">
                <a:solidFill>
                  <a:srgbClr val="FF0000"/>
                </a:solidFill>
                <a:latin typeface="MS PGothic"/>
                <a:cs typeface="MS PGothic"/>
              </a:rPr>
              <a:t>	</a:t>
            </a:r>
            <a:r>
              <a:rPr sz="2150" spc="-50" dirty="0">
                <a:solidFill>
                  <a:srgbClr val="FF0000"/>
                </a:solidFill>
                <a:latin typeface="MS PGothic"/>
                <a:cs typeface="MS PGothic"/>
              </a:rPr>
              <a:t>✔</a:t>
            </a:r>
            <a:r>
              <a:rPr sz="2150" dirty="0">
                <a:solidFill>
                  <a:srgbClr val="FF0000"/>
                </a:solidFill>
                <a:latin typeface="MS PGothic"/>
                <a:cs typeface="MS PGothic"/>
              </a:rPr>
              <a:t>	</a:t>
            </a:r>
            <a:r>
              <a:rPr sz="2150" spc="-50" dirty="0">
                <a:solidFill>
                  <a:srgbClr val="FF0000"/>
                </a:solidFill>
                <a:latin typeface="MS PGothic"/>
                <a:cs typeface="MS PGothic"/>
              </a:rPr>
              <a:t>✔</a:t>
            </a:r>
            <a:endParaRPr sz="2150">
              <a:latin typeface="MS PGothic"/>
              <a:cs typeface="MS PGothic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2150" spc="-50" dirty="0">
                <a:solidFill>
                  <a:srgbClr val="FF0000"/>
                </a:solidFill>
                <a:latin typeface="MS PGothic"/>
                <a:cs typeface="MS PGothic"/>
              </a:rPr>
              <a:t>✔</a:t>
            </a:r>
            <a:endParaRPr sz="2150">
              <a:latin typeface="MS PGothic"/>
              <a:cs typeface="MS PGothic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6060" rIns="0" bIns="0" rtlCol="0">
            <a:spAutoFit/>
          </a:bodyPr>
          <a:lstStyle/>
          <a:p>
            <a:pPr marL="112141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Mécanismes</a:t>
            </a:r>
            <a:r>
              <a:rPr spc="-45" dirty="0"/>
              <a:t> </a:t>
            </a:r>
            <a:r>
              <a:rPr dirty="0"/>
              <a:t>de</a:t>
            </a:r>
            <a:r>
              <a:rPr spc="-50" dirty="0"/>
              <a:t> </a:t>
            </a:r>
            <a:r>
              <a:rPr spc="-10" dirty="0"/>
              <a:t>Sécurité</a:t>
            </a:r>
            <a:r>
              <a:rPr spc="-140" dirty="0"/>
              <a:t> </a:t>
            </a:r>
            <a:r>
              <a:rPr dirty="0"/>
              <a:t>pour</a:t>
            </a:r>
            <a:r>
              <a:rPr spc="-75" dirty="0"/>
              <a:t> </a:t>
            </a:r>
            <a:r>
              <a:rPr dirty="0"/>
              <a:t>atteindre</a:t>
            </a:r>
            <a:r>
              <a:rPr spc="-125" dirty="0"/>
              <a:t> </a:t>
            </a:r>
            <a:r>
              <a:rPr dirty="0"/>
              <a:t>les</a:t>
            </a:r>
            <a:r>
              <a:rPr spc="-95" dirty="0"/>
              <a:t> </a:t>
            </a:r>
            <a:r>
              <a:rPr dirty="0"/>
              <a:t>besoins</a:t>
            </a:r>
            <a:r>
              <a:rPr spc="-85" dirty="0"/>
              <a:t> </a:t>
            </a:r>
            <a:r>
              <a:rPr spc="-40" dirty="0"/>
              <a:t>DICP</a:t>
            </a:r>
            <a:r>
              <a:rPr spc="-135" dirty="0"/>
              <a:t> </a:t>
            </a:r>
            <a:r>
              <a:rPr spc="-10" dirty="0"/>
              <a:t>(2/2)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30153" y="6317081"/>
            <a:ext cx="202565" cy="245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50" spc="-25" dirty="0">
                <a:solidFill>
                  <a:srgbClr val="858585"/>
                </a:solidFill>
                <a:latin typeface="Calibri"/>
                <a:cs typeface="Calibri"/>
              </a:rPr>
              <a:t>21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38872" y="728482"/>
            <a:ext cx="7224128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fr-FR" sz="3200" b="1" spc="-45" dirty="0">
                <a:solidFill>
                  <a:schemeClr val="tx1"/>
                </a:solidFill>
                <a:latin typeface="Times New Roman"/>
                <a:cs typeface="Times New Roman"/>
              </a:rPr>
              <a:t>Terminologies de la sécurité</a:t>
            </a:r>
            <a:endParaRPr sz="3200" b="1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24761" y="1823466"/>
            <a:ext cx="3043555" cy="923925"/>
          </a:xfrm>
          <a:prstGeom prst="rect">
            <a:avLst/>
          </a:prstGeom>
          <a:solidFill>
            <a:srgbClr val="686039"/>
          </a:solidFill>
          <a:ln w="19811">
            <a:solidFill>
              <a:srgbClr val="8B3836"/>
            </a:solidFill>
          </a:ln>
        </p:spPr>
        <p:txBody>
          <a:bodyPr vert="horz" wrap="square" lIns="0" tIns="35560" rIns="0" bIns="0" rtlCol="0">
            <a:spAutoFit/>
          </a:bodyPr>
          <a:lstStyle/>
          <a:p>
            <a:pPr marL="153035">
              <a:lnSpc>
                <a:spcPct val="100000"/>
              </a:lnSpc>
              <a:spcBef>
                <a:spcPts val="280"/>
              </a:spcBef>
            </a:pPr>
            <a:r>
              <a:rPr sz="3600" b="1" spc="-10" dirty="0">
                <a:solidFill>
                  <a:srgbClr val="FFFFFF"/>
                </a:solidFill>
                <a:latin typeface="Trebuchet MS"/>
                <a:cs typeface="Trebuchet MS"/>
              </a:rPr>
              <a:t>Vulnérabilité</a:t>
            </a:r>
            <a:endParaRPr sz="3600" dirty="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284470" y="1823466"/>
            <a:ext cx="3043555" cy="923925"/>
          </a:xfrm>
          <a:prstGeom prst="rect">
            <a:avLst/>
          </a:prstGeom>
          <a:solidFill>
            <a:srgbClr val="FF0000"/>
          </a:solidFill>
          <a:ln w="19811">
            <a:solidFill>
              <a:srgbClr val="8B3836"/>
            </a:solidFill>
          </a:ln>
        </p:spPr>
        <p:txBody>
          <a:bodyPr vert="horz" wrap="square" lIns="0" tIns="35560" rIns="0" bIns="0" rtlCol="0">
            <a:spAutoFit/>
          </a:bodyPr>
          <a:lstStyle/>
          <a:p>
            <a:pPr marL="713740">
              <a:lnSpc>
                <a:spcPct val="100000"/>
              </a:lnSpc>
              <a:spcBef>
                <a:spcPts val="280"/>
              </a:spcBef>
            </a:pPr>
            <a:r>
              <a:rPr sz="3600" b="1" spc="-10" dirty="0">
                <a:solidFill>
                  <a:srgbClr val="FFFFFF"/>
                </a:solidFill>
                <a:latin typeface="Trebuchet MS"/>
                <a:cs typeface="Trebuchet MS"/>
              </a:rPr>
              <a:t>Menace</a:t>
            </a:r>
            <a:endParaRPr sz="36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24761" y="3928109"/>
            <a:ext cx="3043555" cy="923925"/>
          </a:xfrm>
          <a:prstGeom prst="rect">
            <a:avLst/>
          </a:prstGeom>
          <a:solidFill>
            <a:srgbClr val="943735"/>
          </a:solidFill>
          <a:ln w="19811">
            <a:solidFill>
              <a:srgbClr val="375F92"/>
            </a:solidFill>
          </a:ln>
        </p:spPr>
        <p:txBody>
          <a:bodyPr vert="horz" wrap="square" lIns="0" tIns="36195" rIns="0" bIns="0" rtlCol="0">
            <a:spAutoFit/>
          </a:bodyPr>
          <a:lstStyle/>
          <a:p>
            <a:pPr marL="797560">
              <a:lnSpc>
                <a:spcPct val="100000"/>
              </a:lnSpc>
              <a:spcBef>
                <a:spcPts val="285"/>
              </a:spcBef>
            </a:pPr>
            <a:r>
              <a:rPr sz="3600" b="1" spc="-10" dirty="0">
                <a:solidFill>
                  <a:srgbClr val="FFFFFF"/>
                </a:solidFill>
                <a:latin typeface="Trebuchet MS"/>
                <a:cs typeface="Trebuchet MS"/>
              </a:rPr>
              <a:t>Impact</a:t>
            </a:r>
            <a:endParaRPr sz="36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284470" y="3963161"/>
            <a:ext cx="3043555" cy="862965"/>
          </a:xfrm>
          <a:prstGeom prst="rect">
            <a:avLst/>
          </a:prstGeom>
          <a:solidFill>
            <a:srgbClr val="205868"/>
          </a:solidFill>
          <a:ln w="19811">
            <a:solidFill>
              <a:srgbClr val="8B3836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174625">
              <a:lnSpc>
                <a:spcPct val="100000"/>
              </a:lnSpc>
              <a:spcBef>
                <a:spcPts val="305"/>
              </a:spcBef>
            </a:pPr>
            <a:r>
              <a:rPr sz="3200" b="1" spc="-10" dirty="0">
                <a:solidFill>
                  <a:srgbClr val="FFFFFF"/>
                </a:solidFill>
                <a:latin typeface="Trebuchet MS"/>
                <a:cs typeface="Trebuchet MS"/>
              </a:rPr>
              <a:t>Contremesure</a:t>
            </a:r>
            <a:endParaRPr sz="3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4855" rIns="0" bIns="0" rtlCol="0">
            <a:spAutoFit/>
          </a:bodyPr>
          <a:lstStyle/>
          <a:p>
            <a:pPr marL="2987675">
              <a:lnSpc>
                <a:spcPct val="100000"/>
              </a:lnSpc>
              <a:spcBef>
                <a:spcPts val="100"/>
              </a:spcBef>
            </a:pPr>
            <a:r>
              <a:rPr sz="3600" spc="-20" dirty="0">
                <a:latin typeface="Trebuchet MS"/>
                <a:cs typeface="Trebuchet MS"/>
              </a:rPr>
              <a:t>Vulnérabilités</a:t>
            </a:r>
            <a:endParaRPr sz="36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56615" y="1689862"/>
            <a:ext cx="8400415" cy="4184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54965" algn="l"/>
              </a:tabLst>
            </a:pPr>
            <a:r>
              <a:rPr sz="1350" spc="55" dirty="0">
                <a:solidFill>
                  <a:srgbClr val="4F81BC"/>
                </a:solidFill>
                <a:latin typeface="Arial MT"/>
                <a:cs typeface="Lucida Sans Unicode"/>
              </a:rPr>
              <a:t>▶</a:t>
            </a:r>
            <a:r>
              <a:rPr sz="1350" dirty="0">
                <a:solidFill>
                  <a:srgbClr val="4F81BC"/>
                </a:solidFill>
                <a:latin typeface="Arial MT"/>
                <a:cs typeface="Lucida Sans Unicode"/>
              </a:rPr>
              <a:t>	</a:t>
            </a:r>
            <a:r>
              <a:rPr sz="1700" dirty="0">
                <a:solidFill>
                  <a:srgbClr val="2C2917"/>
                </a:solidFill>
                <a:latin typeface="Arial MT"/>
                <a:cs typeface="Trebuchet MS"/>
              </a:rPr>
              <a:t>Des</a:t>
            </a:r>
            <a:r>
              <a:rPr sz="1700" spc="-30" dirty="0">
                <a:solidFill>
                  <a:srgbClr val="2C2917"/>
                </a:solidFill>
                <a:latin typeface="Arial MT"/>
                <a:cs typeface="Trebuchet MS"/>
              </a:rPr>
              <a:t> </a:t>
            </a:r>
            <a:r>
              <a:rPr sz="1700" dirty="0">
                <a:solidFill>
                  <a:srgbClr val="2C2917"/>
                </a:solidFill>
                <a:latin typeface="Arial MT"/>
                <a:cs typeface="Trebuchet MS"/>
              </a:rPr>
              <a:t>failles</a:t>
            </a:r>
            <a:r>
              <a:rPr sz="1700" spc="-35" dirty="0">
                <a:solidFill>
                  <a:srgbClr val="2C2917"/>
                </a:solidFill>
                <a:latin typeface="Arial MT"/>
                <a:cs typeface="Trebuchet MS"/>
              </a:rPr>
              <a:t> </a:t>
            </a:r>
            <a:r>
              <a:rPr sz="1700" dirty="0">
                <a:solidFill>
                  <a:srgbClr val="2C2917"/>
                </a:solidFill>
                <a:latin typeface="Arial MT"/>
                <a:cs typeface="Trebuchet MS"/>
              </a:rPr>
              <a:t>ou</a:t>
            </a:r>
            <a:r>
              <a:rPr sz="1700" spc="-35" dirty="0">
                <a:solidFill>
                  <a:srgbClr val="2C2917"/>
                </a:solidFill>
                <a:latin typeface="Arial MT"/>
                <a:cs typeface="Trebuchet MS"/>
              </a:rPr>
              <a:t> </a:t>
            </a:r>
            <a:r>
              <a:rPr sz="1700" dirty="0">
                <a:solidFill>
                  <a:srgbClr val="2C2917"/>
                </a:solidFill>
                <a:latin typeface="Arial MT"/>
                <a:cs typeface="Trebuchet MS"/>
              </a:rPr>
              <a:t>faiblesses</a:t>
            </a:r>
            <a:r>
              <a:rPr sz="1700" spc="-20" dirty="0">
                <a:solidFill>
                  <a:srgbClr val="2C2917"/>
                </a:solidFill>
                <a:latin typeface="Arial MT"/>
                <a:cs typeface="Trebuchet MS"/>
              </a:rPr>
              <a:t> </a:t>
            </a:r>
            <a:r>
              <a:rPr sz="1700" dirty="0">
                <a:solidFill>
                  <a:srgbClr val="2C2917"/>
                </a:solidFill>
                <a:latin typeface="Arial MT"/>
                <a:cs typeface="Trebuchet MS"/>
              </a:rPr>
              <a:t>dans</a:t>
            </a:r>
            <a:r>
              <a:rPr sz="1700" spc="-45" dirty="0">
                <a:solidFill>
                  <a:srgbClr val="2C2917"/>
                </a:solidFill>
                <a:latin typeface="Arial MT"/>
                <a:cs typeface="Trebuchet MS"/>
              </a:rPr>
              <a:t> </a:t>
            </a:r>
            <a:r>
              <a:rPr sz="1700" dirty="0">
                <a:solidFill>
                  <a:srgbClr val="2C2917"/>
                </a:solidFill>
                <a:latin typeface="Arial MT"/>
                <a:cs typeface="Trebuchet MS"/>
              </a:rPr>
              <a:t>un</a:t>
            </a:r>
            <a:r>
              <a:rPr sz="1700" spc="-35" dirty="0">
                <a:solidFill>
                  <a:srgbClr val="2C2917"/>
                </a:solidFill>
                <a:latin typeface="Arial MT"/>
                <a:cs typeface="Trebuchet MS"/>
              </a:rPr>
              <a:t> </a:t>
            </a:r>
            <a:r>
              <a:rPr sz="1700" spc="-25" dirty="0">
                <a:solidFill>
                  <a:srgbClr val="2C2917"/>
                </a:solidFill>
                <a:latin typeface="Arial MT"/>
                <a:cs typeface="Trebuchet MS"/>
              </a:rPr>
              <a:t>SI.</a:t>
            </a:r>
            <a:endParaRPr sz="1700" dirty="0">
              <a:latin typeface="Arial MT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810"/>
              </a:spcBef>
              <a:tabLst>
                <a:tab pos="354965" algn="l"/>
              </a:tabLst>
            </a:pPr>
            <a:r>
              <a:rPr sz="1350" spc="55" dirty="0">
                <a:solidFill>
                  <a:srgbClr val="4F81BC"/>
                </a:solidFill>
                <a:latin typeface="Arial MT"/>
                <a:cs typeface="Lucida Sans Unicode"/>
              </a:rPr>
              <a:t>▶</a:t>
            </a:r>
            <a:r>
              <a:rPr sz="1350" dirty="0">
                <a:solidFill>
                  <a:srgbClr val="4F81BC"/>
                </a:solidFill>
                <a:latin typeface="Arial MT"/>
                <a:cs typeface="Lucida Sans Unicode"/>
              </a:rPr>
              <a:t>	</a:t>
            </a:r>
            <a:r>
              <a:rPr sz="1700" dirty="0">
                <a:solidFill>
                  <a:srgbClr val="2C2917"/>
                </a:solidFill>
                <a:latin typeface="Arial MT"/>
                <a:cs typeface="Trebuchet MS"/>
              </a:rPr>
              <a:t>Sont</a:t>
            </a:r>
            <a:r>
              <a:rPr sz="1700" spc="-40" dirty="0">
                <a:solidFill>
                  <a:srgbClr val="2C2917"/>
                </a:solidFill>
                <a:latin typeface="Arial MT"/>
                <a:cs typeface="Trebuchet MS"/>
              </a:rPr>
              <a:t> </a:t>
            </a:r>
            <a:r>
              <a:rPr sz="1700" dirty="0">
                <a:solidFill>
                  <a:srgbClr val="2C2917"/>
                </a:solidFill>
                <a:latin typeface="Arial MT"/>
                <a:cs typeface="Trebuchet MS"/>
              </a:rPr>
              <a:t>les</a:t>
            </a:r>
            <a:r>
              <a:rPr sz="1700" spc="-30" dirty="0">
                <a:solidFill>
                  <a:srgbClr val="2C2917"/>
                </a:solidFill>
                <a:latin typeface="Arial MT"/>
                <a:cs typeface="Trebuchet MS"/>
              </a:rPr>
              <a:t> </a:t>
            </a:r>
            <a:r>
              <a:rPr sz="1700" dirty="0">
                <a:solidFill>
                  <a:srgbClr val="2C2917"/>
                </a:solidFill>
                <a:latin typeface="Arial MT"/>
                <a:cs typeface="Trebuchet MS"/>
              </a:rPr>
              <a:t>conséquences</a:t>
            </a:r>
            <a:r>
              <a:rPr sz="1700" spc="-60" dirty="0">
                <a:solidFill>
                  <a:srgbClr val="2C2917"/>
                </a:solidFill>
                <a:latin typeface="Arial MT"/>
                <a:cs typeface="Trebuchet MS"/>
              </a:rPr>
              <a:t> </a:t>
            </a:r>
            <a:r>
              <a:rPr sz="1700" dirty="0">
                <a:solidFill>
                  <a:srgbClr val="2C2917"/>
                </a:solidFill>
                <a:latin typeface="Arial MT"/>
                <a:cs typeface="Trebuchet MS"/>
              </a:rPr>
              <a:t>de</a:t>
            </a:r>
            <a:r>
              <a:rPr sz="1700" spc="-35" dirty="0">
                <a:solidFill>
                  <a:srgbClr val="2C2917"/>
                </a:solidFill>
                <a:latin typeface="Arial MT"/>
                <a:cs typeface="Trebuchet MS"/>
              </a:rPr>
              <a:t> </a:t>
            </a:r>
            <a:r>
              <a:rPr sz="1700" dirty="0">
                <a:solidFill>
                  <a:srgbClr val="2C2917"/>
                </a:solidFill>
                <a:latin typeface="Arial MT"/>
                <a:cs typeface="Trebuchet MS"/>
              </a:rPr>
              <a:t>faiblesses</a:t>
            </a:r>
            <a:r>
              <a:rPr sz="1700" spc="-30" dirty="0">
                <a:solidFill>
                  <a:srgbClr val="2C2917"/>
                </a:solidFill>
                <a:latin typeface="Arial MT"/>
                <a:cs typeface="Trebuchet MS"/>
              </a:rPr>
              <a:t> </a:t>
            </a:r>
            <a:r>
              <a:rPr sz="1700" dirty="0">
                <a:solidFill>
                  <a:srgbClr val="2C2917"/>
                </a:solidFill>
                <a:latin typeface="Arial MT"/>
                <a:cs typeface="Trebuchet MS"/>
              </a:rPr>
              <a:t>de</a:t>
            </a:r>
            <a:r>
              <a:rPr sz="1700" spc="-25" dirty="0">
                <a:solidFill>
                  <a:srgbClr val="2C2917"/>
                </a:solidFill>
                <a:latin typeface="Arial MT"/>
                <a:cs typeface="Trebuchet MS"/>
              </a:rPr>
              <a:t> </a:t>
            </a:r>
            <a:r>
              <a:rPr sz="1700" dirty="0">
                <a:solidFill>
                  <a:srgbClr val="2C2917"/>
                </a:solidFill>
                <a:latin typeface="Arial MT"/>
                <a:cs typeface="Trebuchet MS"/>
              </a:rPr>
              <a:t>conception,</a:t>
            </a:r>
            <a:r>
              <a:rPr sz="1700" spc="-30" dirty="0">
                <a:solidFill>
                  <a:srgbClr val="2C2917"/>
                </a:solidFill>
                <a:latin typeface="Arial MT"/>
                <a:cs typeface="Trebuchet MS"/>
              </a:rPr>
              <a:t> </a:t>
            </a:r>
            <a:r>
              <a:rPr sz="1700" dirty="0">
                <a:solidFill>
                  <a:srgbClr val="2C2917"/>
                </a:solidFill>
                <a:latin typeface="Arial MT"/>
                <a:cs typeface="Trebuchet MS"/>
              </a:rPr>
              <a:t>de</a:t>
            </a:r>
            <a:r>
              <a:rPr sz="1700" spc="-30" dirty="0">
                <a:solidFill>
                  <a:srgbClr val="2C2917"/>
                </a:solidFill>
                <a:latin typeface="Arial MT"/>
                <a:cs typeface="Trebuchet MS"/>
              </a:rPr>
              <a:t> </a:t>
            </a:r>
            <a:r>
              <a:rPr sz="1700" dirty="0">
                <a:solidFill>
                  <a:srgbClr val="2C2917"/>
                </a:solidFill>
                <a:latin typeface="Arial MT"/>
                <a:cs typeface="Trebuchet MS"/>
              </a:rPr>
              <a:t>mise</a:t>
            </a:r>
            <a:r>
              <a:rPr sz="1700" spc="-25" dirty="0">
                <a:solidFill>
                  <a:srgbClr val="2C2917"/>
                </a:solidFill>
                <a:latin typeface="Arial MT"/>
                <a:cs typeface="Trebuchet MS"/>
              </a:rPr>
              <a:t> </a:t>
            </a:r>
            <a:r>
              <a:rPr sz="1700" dirty="0">
                <a:solidFill>
                  <a:srgbClr val="2C2917"/>
                </a:solidFill>
                <a:latin typeface="Arial MT"/>
                <a:cs typeface="Trebuchet MS"/>
              </a:rPr>
              <a:t>en</a:t>
            </a:r>
            <a:r>
              <a:rPr sz="1700" spc="-25" dirty="0">
                <a:solidFill>
                  <a:srgbClr val="2C2917"/>
                </a:solidFill>
                <a:latin typeface="Arial MT"/>
                <a:cs typeface="Trebuchet MS"/>
              </a:rPr>
              <a:t> </a:t>
            </a:r>
            <a:r>
              <a:rPr sz="1700" dirty="0">
                <a:solidFill>
                  <a:srgbClr val="2C2917"/>
                </a:solidFill>
                <a:latin typeface="Arial MT"/>
                <a:cs typeface="Trebuchet MS"/>
              </a:rPr>
              <a:t>œuvre</a:t>
            </a:r>
            <a:r>
              <a:rPr sz="1700" spc="-45" dirty="0">
                <a:solidFill>
                  <a:srgbClr val="2C2917"/>
                </a:solidFill>
                <a:latin typeface="Arial MT"/>
                <a:cs typeface="Trebuchet MS"/>
              </a:rPr>
              <a:t> </a:t>
            </a:r>
            <a:r>
              <a:rPr sz="1700" spc="-25" dirty="0">
                <a:solidFill>
                  <a:srgbClr val="2C2917"/>
                </a:solidFill>
                <a:latin typeface="Arial MT"/>
                <a:cs typeface="Trebuchet MS"/>
              </a:rPr>
              <a:t>ou</a:t>
            </a:r>
            <a:endParaRPr sz="1700" dirty="0">
              <a:latin typeface="Arial MT"/>
              <a:cs typeface="Trebuchet MS"/>
            </a:endParaRPr>
          </a:p>
          <a:p>
            <a:pPr marL="354965">
              <a:lnSpc>
                <a:spcPct val="100000"/>
              </a:lnSpc>
              <a:spcBef>
                <a:spcPts val="820"/>
              </a:spcBef>
            </a:pPr>
            <a:r>
              <a:rPr sz="1700" dirty="0">
                <a:solidFill>
                  <a:srgbClr val="2C2917"/>
                </a:solidFill>
                <a:latin typeface="Arial MT"/>
                <a:cs typeface="Trebuchet MS"/>
              </a:rPr>
              <a:t>d'utilisation</a:t>
            </a:r>
            <a:r>
              <a:rPr sz="1700" spc="-40" dirty="0">
                <a:solidFill>
                  <a:srgbClr val="2C2917"/>
                </a:solidFill>
                <a:latin typeface="Arial MT"/>
                <a:cs typeface="Trebuchet MS"/>
              </a:rPr>
              <a:t> </a:t>
            </a:r>
            <a:r>
              <a:rPr sz="1700" dirty="0">
                <a:solidFill>
                  <a:srgbClr val="2C2917"/>
                </a:solidFill>
                <a:latin typeface="Arial MT"/>
                <a:cs typeface="Trebuchet MS"/>
              </a:rPr>
              <a:t>d'un</a:t>
            </a:r>
            <a:r>
              <a:rPr sz="1700" spc="-45" dirty="0">
                <a:solidFill>
                  <a:srgbClr val="2C2917"/>
                </a:solidFill>
                <a:latin typeface="Arial MT"/>
                <a:cs typeface="Trebuchet MS"/>
              </a:rPr>
              <a:t> </a:t>
            </a:r>
            <a:r>
              <a:rPr sz="1700" dirty="0">
                <a:solidFill>
                  <a:srgbClr val="2C2917"/>
                </a:solidFill>
                <a:latin typeface="Arial MT"/>
                <a:cs typeface="Trebuchet MS"/>
              </a:rPr>
              <a:t>composant</a:t>
            </a:r>
            <a:r>
              <a:rPr sz="1700" spc="-50" dirty="0">
                <a:solidFill>
                  <a:srgbClr val="2C2917"/>
                </a:solidFill>
                <a:latin typeface="Arial MT"/>
                <a:cs typeface="Trebuchet MS"/>
              </a:rPr>
              <a:t> </a:t>
            </a:r>
            <a:r>
              <a:rPr sz="1700" dirty="0">
                <a:solidFill>
                  <a:srgbClr val="2C2917"/>
                </a:solidFill>
                <a:latin typeface="Arial MT"/>
                <a:cs typeface="Trebuchet MS"/>
              </a:rPr>
              <a:t>matériel</a:t>
            </a:r>
            <a:r>
              <a:rPr sz="1700" spc="-30" dirty="0">
                <a:solidFill>
                  <a:srgbClr val="2C2917"/>
                </a:solidFill>
                <a:latin typeface="Arial MT"/>
                <a:cs typeface="Trebuchet MS"/>
              </a:rPr>
              <a:t> </a:t>
            </a:r>
            <a:r>
              <a:rPr sz="1700" dirty="0">
                <a:solidFill>
                  <a:srgbClr val="2C2917"/>
                </a:solidFill>
                <a:latin typeface="Arial MT"/>
                <a:cs typeface="Trebuchet MS"/>
              </a:rPr>
              <a:t>ou</a:t>
            </a:r>
            <a:r>
              <a:rPr sz="1700" spc="-45" dirty="0">
                <a:solidFill>
                  <a:srgbClr val="2C2917"/>
                </a:solidFill>
                <a:latin typeface="Arial MT"/>
                <a:cs typeface="Trebuchet MS"/>
              </a:rPr>
              <a:t> </a:t>
            </a:r>
            <a:r>
              <a:rPr sz="1700" dirty="0">
                <a:solidFill>
                  <a:srgbClr val="2C2917"/>
                </a:solidFill>
                <a:latin typeface="Arial MT"/>
                <a:cs typeface="Trebuchet MS"/>
              </a:rPr>
              <a:t>logiciel</a:t>
            </a:r>
            <a:r>
              <a:rPr sz="1700" spc="-30" dirty="0">
                <a:solidFill>
                  <a:srgbClr val="2C2917"/>
                </a:solidFill>
                <a:latin typeface="Arial MT"/>
                <a:cs typeface="Trebuchet MS"/>
              </a:rPr>
              <a:t> </a:t>
            </a:r>
            <a:r>
              <a:rPr sz="1700" dirty="0">
                <a:solidFill>
                  <a:srgbClr val="2C2917"/>
                </a:solidFill>
                <a:latin typeface="Arial MT"/>
                <a:cs typeface="Trebuchet MS"/>
              </a:rPr>
              <a:t>du</a:t>
            </a:r>
            <a:r>
              <a:rPr sz="1700" spc="-25" dirty="0">
                <a:solidFill>
                  <a:srgbClr val="2C2917"/>
                </a:solidFill>
                <a:latin typeface="Arial MT"/>
                <a:cs typeface="Trebuchet MS"/>
              </a:rPr>
              <a:t> SI</a:t>
            </a:r>
            <a:endParaRPr sz="1700" dirty="0">
              <a:latin typeface="Arial MT"/>
              <a:cs typeface="Trebuchet MS"/>
            </a:endParaRPr>
          </a:p>
          <a:p>
            <a:pPr marL="354965" marR="163830" indent="-342900">
              <a:lnSpc>
                <a:spcPct val="14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sz="1350" spc="55" dirty="0">
                <a:solidFill>
                  <a:srgbClr val="4F81BC"/>
                </a:solidFill>
                <a:latin typeface="Arial MT"/>
                <a:cs typeface="Lucida Sans Unicode"/>
              </a:rPr>
              <a:t>▶</a:t>
            </a:r>
            <a:r>
              <a:rPr sz="1350" dirty="0">
                <a:solidFill>
                  <a:srgbClr val="4F81BC"/>
                </a:solidFill>
                <a:latin typeface="Arial MT"/>
                <a:cs typeface="Lucida Sans Unicode"/>
              </a:rPr>
              <a:t>	</a:t>
            </a:r>
            <a:r>
              <a:rPr sz="1700" dirty="0">
                <a:solidFill>
                  <a:srgbClr val="2C2917"/>
                </a:solidFill>
                <a:latin typeface="Arial MT"/>
                <a:cs typeface="Trebuchet MS"/>
              </a:rPr>
              <a:t>Il</a:t>
            </a:r>
            <a:r>
              <a:rPr sz="1700" spc="-35" dirty="0">
                <a:solidFill>
                  <a:srgbClr val="2C2917"/>
                </a:solidFill>
                <a:latin typeface="Arial MT"/>
                <a:cs typeface="Trebuchet MS"/>
              </a:rPr>
              <a:t> </a:t>
            </a:r>
            <a:r>
              <a:rPr sz="1700" dirty="0">
                <a:solidFill>
                  <a:srgbClr val="2C2917"/>
                </a:solidFill>
                <a:latin typeface="Arial MT"/>
                <a:cs typeface="Trebuchet MS"/>
              </a:rPr>
              <a:t>s'agit</a:t>
            </a:r>
            <a:r>
              <a:rPr sz="1700" spc="-25" dirty="0">
                <a:solidFill>
                  <a:srgbClr val="2C2917"/>
                </a:solidFill>
                <a:latin typeface="Arial MT"/>
                <a:cs typeface="Trebuchet MS"/>
              </a:rPr>
              <a:t> </a:t>
            </a:r>
            <a:r>
              <a:rPr sz="1700" dirty="0">
                <a:solidFill>
                  <a:srgbClr val="2C2917"/>
                </a:solidFill>
                <a:latin typeface="Arial MT"/>
                <a:cs typeface="Trebuchet MS"/>
              </a:rPr>
              <a:t>souvent</a:t>
            </a:r>
            <a:r>
              <a:rPr sz="1700" spc="-50" dirty="0">
                <a:solidFill>
                  <a:srgbClr val="2C2917"/>
                </a:solidFill>
                <a:latin typeface="Arial MT"/>
                <a:cs typeface="Trebuchet MS"/>
              </a:rPr>
              <a:t> </a:t>
            </a:r>
            <a:r>
              <a:rPr sz="1700" dirty="0">
                <a:solidFill>
                  <a:srgbClr val="2C2917"/>
                </a:solidFill>
                <a:latin typeface="Arial MT"/>
                <a:cs typeface="Trebuchet MS"/>
              </a:rPr>
              <a:t>d'anomalies</a:t>
            </a:r>
            <a:r>
              <a:rPr sz="1700" spc="-50" dirty="0">
                <a:solidFill>
                  <a:srgbClr val="2C2917"/>
                </a:solidFill>
                <a:latin typeface="Arial MT"/>
                <a:cs typeface="Trebuchet MS"/>
              </a:rPr>
              <a:t> </a:t>
            </a:r>
            <a:r>
              <a:rPr sz="1700" dirty="0">
                <a:solidFill>
                  <a:srgbClr val="2C2917"/>
                </a:solidFill>
                <a:latin typeface="Arial MT"/>
                <a:cs typeface="Trebuchet MS"/>
              </a:rPr>
              <a:t>logicielles</a:t>
            </a:r>
            <a:r>
              <a:rPr sz="1700" spc="-30" dirty="0">
                <a:solidFill>
                  <a:srgbClr val="2C2917"/>
                </a:solidFill>
                <a:latin typeface="Arial MT"/>
                <a:cs typeface="Trebuchet MS"/>
              </a:rPr>
              <a:t> </a:t>
            </a:r>
            <a:r>
              <a:rPr sz="1700" dirty="0">
                <a:solidFill>
                  <a:srgbClr val="2C2917"/>
                </a:solidFill>
                <a:latin typeface="Arial MT"/>
                <a:cs typeface="Trebuchet MS"/>
              </a:rPr>
              <a:t>liées</a:t>
            </a:r>
            <a:r>
              <a:rPr sz="1700" spc="-25" dirty="0">
                <a:solidFill>
                  <a:srgbClr val="2C2917"/>
                </a:solidFill>
                <a:latin typeface="Arial MT"/>
                <a:cs typeface="Trebuchet MS"/>
              </a:rPr>
              <a:t> </a:t>
            </a:r>
            <a:r>
              <a:rPr sz="1700" dirty="0">
                <a:solidFill>
                  <a:srgbClr val="2C2917"/>
                </a:solidFill>
                <a:latin typeface="Arial MT"/>
                <a:cs typeface="Trebuchet MS"/>
              </a:rPr>
              <a:t>à</a:t>
            </a:r>
            <a:r>
              <a:rPr sz="1700" spc="-40" dirty="0">
                <a:solidFill>
                  <a:srgbClr val="2C2917"/>
                </a:solidFill>
                <a:latin typeface="Arial MT"/>
                <a:cs typeface="Trebuchet MS"/>
              </a:rPr>
              <a:t> </a:t>
            </a:r>
            <a:r>
              <a:rPr sz="1700" dirty="0">
                <a:solidFill>
                  <a:srgbClr val="2C2917"/>
                </a:solidFill>
                <a:latin typeface="Arial MT"/>
                <a:cs typeface="Trebuchet MS"/>
              </a:rPr>
              <a:t>des</a:t>
            </a:r>
            <a:r>
              <a:rPr sz="1700" spc="-15" dirty="0">
                <a:solidFill>
                  <a:srgbClr val="2C2917"/>
                </a:solidFill>
                <a:latin typeface="Arial MT"/>
                <a:cs typeface="Trebuchet MS"/>
              </a:rPr>
              <a:t> </a:t>
            </a:r>
            <a:r>
              <a:rPr sz="1700" dirty="0">
                <a:solidFill>
                  <a:srgbClr val="2C2917"/>
                </a:solidFill>
                <a:latin typeface="Arial MT"/>
                <a:cs typeface="Trebuchet MS"/>
              </a:rPr>
              <a:t>erreurs</a:t>
            </a:r>
            <a:r>
              <a:rPr sz="1700" spc="-45" dirty="0">
                <a:solidFill>
                  <a:srgbClr val="2C2917"/>
                </a:solidFill>
                <a:latin typeface="Arial MT"/>
                <a:cs typeface="Trebuchet MS"/>
              </a:rPr>
              <a:t> </a:t>
            </a:r>
            <a:r>
              <a:rPr sz="1700" dirty="0">
                <a:solidFill>
                  <a:srgbClr val="2C2917"/>
                </a:solidFill>
                <a:latin typeface="Arial MT"/>
                <a:cs typeface="Trebuchet MS"/>
              </a:rPr>
              <a:t>de</a:t>
            </a:r>
            <a:r>
              <a:rPr sz="1700" spc="-30" dirty="0">
                <a:solidFill>
                  <a:srgbClr val="2C2917"/>
                </a:solidFill>
                <a:latin typeface="Arial MT"/>
                <a:cs typeface="Trebuchet MS"/>
              </a:rPr>
              <a:t> </a:t>
            </a:r>
            <a:r>
              <a:rPr sz="1700" dirty="0">
                <a:solidFill>
                  <a:srgbClr val="2C2917"/>
                </a:solidFill>
                <a:latin typeface="Arial MT"/>
                <a:cs typeface="Trebuchet MS"/>
              </a:rPr>
              <a:t>programmation</a:t>
            </a:r>
            <a:r>
              <a:rPr sz="1700" spc="-40" dirty="0">
                <a:solidFill>
                  <a:srgbClr val="2C2917"/>
                </a:solidFill>
                <a:latin typeface="Arial MT"/>
                <a:cs typeface="Trebuchet MS"/>
              </a:rPr>
              <a:t> </a:t>
            </a:r>
            <a:r>
              <a:rPr sz="1700" dirty="0">
                <a:solidFill>
                  <a:srgbClr val="2C2917"/>
                </a:solidFill>
                <a:latin typeface="Arial MT"/>
                <a:cs typeface="Trebuchet MS"/>
              </a:rPr>
              <a:t>ou</a:t>
            </a:r>
            <a:r>
              <a:rPr sz="1700" spc="-35" dirty="0">
                <a:solidFill>
                  <a:srgbClr val="2C2917"/>
                </a:solidFill>
                <a:latin typeface="Arial MT"/>
                <a:cs typeface="Trebuchet MS"/>
              </a:rPr>
              <a:t> </a:t>
            </a:r>
            <a:r>
              <a:rPr sz="1700" spc="-50" dirty="0">
                <a:solidFill>
                  <a:srgbClr val="2C2917"/>
                </a:solidFill>
                <a:latin typeface="Arial MT"/>
                <a:cs typeface="Trebuchet MS"/>
              </a:rPr>
              <a:t>à </a:t>
            </a:r>
            <a:r>
              <a:rPr sz="1700" dirty="0">
                <a:solidFill>
                  <a:srgbClr val="2C2917"/>
                </a:solidFill>
                <a:latin typeface="Arial MT"/>
                <a:cs typeface="Trebuchet MS"/>
              </a:rPr>
              <a:t>des</a:t>
            </a:r>
            <a:r>
              <a:rPr sz="1700" spc="-35" dirty="0">
                <a:solidFill>
                  <a:srgbClr val="2C2917"/>
                </a:solidFill>
                <a:latin typeface="Arial MT"/>
                <a:cs typeface="Trebuchet MS"/>
              </a:rPr>
              <a:t> </a:t>
            </a:r>
            <a:r>
              <a:rPr sz="1700" dirty="0">
                <a:solidFill>
                  <a:srgbClr val="2C2917"/>
                </a:solidFill>
                <a:latin typeface="Arial MT"/>
                <a:cs typeface="Trebuchet MS"/>
              </a:rPr>
              <a:t>mauvaises</a:t>
            </a:r>
            <a:r>
              <a:rPr sz="1700" spc="-45" dirty="0">
                <a:solidFill>
                  <a:srgbClr val="2C2917"/>
                </a:solidFill>
                <a:latin typeface="Arial MT"/>
                <a:cs typeface="Trebuchet MS"/>
              </a:rPr>
              <a:t> </a:t>
            </a:r>
            <a:r>
              <a:rPr sz="1700" spc="-10" dirty="0">
                <a:solidFill>
                  <a:srgbClr val="2C2917"/>
                </a:solidFill>
                <a:latin typeface="Arial MT"/>
                <a:cs typeface="Trebuchet MS"/>
              </a:rPr>
              <a:t>pratiques.</a:t>
            </a:r>
            <a:endParaRPr sz="1700" dirty="0">
              <a:latin typeface="Arial MT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825"/>
              </a:spcBef>
              <a:tabLst>
                <a:tab pos="354965" algn="l"/>
              </a:tabLst>
            </a:pPr>
            <a:r>
              <a:rPr sz="1350" spc="55" dirty="0">
                <a:solidFill>
                  <a:srgbClr val="4F81BC"/>
                </a:solidFill>
                <a:latin typeface="Arial MT"/>
                <a:cs typeface="Lucida Sans Unicode"/>
              </a:rPr>
              <a:t>▶</a:t>
            </a:r>
            <a:r>
              <a:rPr sz="1350" dirty="0">
                <a:solidFill>
                  <a:srgbClr val="4F81BC"/>
                </a:solidFill>
                <a:latin typeface="Arial MT"/>
                <a:cs typeface="Lucida Sans Unicode"/>
              </a:rPr>
              <a:t>	</a:t>
            </a:r>
            <a:r>
              <a:rPr sz="1700" dirty="0">
                <a:solidFill>
                  <a:srgbClr val="2C2917"/>
                </a:solidFill>
                <a:latin typeface="Arial MT"/>
                <a:cs typeface="Trebuchet MS"/>
              </a:rPr>
              <a:t>Un</a:t>
            </a:r>
            <a:r>
              <a:rPr sz="1700" spc="-50" dirty="0">
                <a:solidFill>
                  <a:srgbClr val="2C2917"/>
                </a:solidFill>
                <a:latin typeface="Arial MT"/>
                <a:cs typeface="Trebuchet MS"/>
              </a:rPr>
              <a:t> </a:t>
            </a:r>
            <a:r>
              <a:rPr sz="1700" dirty="0">
                <a:solidFill>
                  <a:srgbClr val="2C2917"/>
                </a:solidFill>
                <a:latin typeface="Arial MT"/>
                <a:cs typeface="Trebuchet MS"/>
              </a:rPr>
              <a:t>attaquant</a:t>
            </a:r>
            <a:r>
              <a:rPr sz="1700" spc="-70" dirty="0">
                <a:solidFill>
                  <a:srgbClr val="2C2917"/>
                </a:solidFill>
                <a:latin typeface="Arial MT"/>
                <a:cs typeface="Trebuchet MS"/>
              </a:rPr>
              <a:t> </a:t>
            </a:r>
            <a:r>
              <a:rPr sz="1700" dirty="0">
                <a:solidFill>
                  <a:srgbClr val="2C2917"/>
                </a:solidFill>
                <a:latin typeface="Arial MT"/>
                <a:cs typeface="Trebuchet MS"/>
              </a:rPr>
              <a:t>exploite</a:t>
            </a:r>
            <a:r>
              <a:rPr sz="1700" spc="-25" dirty="0">
                <a:solidFill>
                  <a:srgbClr val="2C2917"/>
                </a:solidFill>
                <a:latin typeface="Arial MT"/>
                <a:cs typeface="Trebuchet MS"/>
              </a:rPr>
              <a:t> </a:t>
            </a:r>
            <a:r>
              <a:rPr sz="1700" dirty="0">
                <a:solidFill>
                  <a:srgbClr val="2C2917"/>
                </a:solidFill>
                <a:latin typeface="Arial MT"/>
                <a:cs typeface="Trebuchet MS"/>
              </a:rPr>
              <a:t>une</a:t>
            </a:r>
            <a:r>
              <a:rPr sz="1700" spc="-60" dirty="0">
                <a:solidFill>
                  <a:srgbClr val="2C2917"/>
                </a:solidFill>
                <a:latin typeface="Arial MT"/>
                <a:cs typeface="Trebuchet MS"/>
              </a:rPr>
              <a:t> </a:t>
            </a:r>
            <a:r>
              <a:rPr sz="1700" dirty="0">
                <a:solidFill>
                  <a:srgbClr val="2C2917"/>
                </a:solidFill>
                <a:latin typeface="Arial MT"/>
                <a:cs typeface="Trebuchet MS"/>
              </a:rPr>
              <a:t>vulnérabilité</a:t>
            </a:r>
            <a:r>
              <a:rPr sz="1700" spc="-45" dirty="0">
                <a:solidFill>
                  <a:srgbClr val="2C2917"/>
                </a:solidFill>
                <a:latin typeface="Arial MT"/>
                <a:cs typeface="Trebuchet MS"/>
              </a:rPr>
              <a:t> </a:t>
            </a:r>
            <a:r>
              <a:rPr sz="1700" dirty="0">
                <a:solidFill>
                  <a:srgbClr val="2C2917"/>
                </a:solidFill>
                <a:latin typeface="Arial MT"/>
                <a:cs typeface="Trebuchet MS"/>
              </a:rPr>
              <a:t>pour</a:t>
            </a:r>
            <a:r>
              <a:rPr sz="1700" spc="-40" dirty="0">
                <a:solidFill>
                  <a:srgbClr val="2C2917"/>
                </a:solidFill>
                <a:latin typeface="Arial MT"/>
                <a:cs typeface="Trebuchet MS"/>
              </a:rPr>
              <a:t> </a:t>
            </a:r>
            <a:r>
              <a:rPr sz="1700" dirty="0">
                <a:solidFill>
                  <a:srgbClr val="2C2917"/>
                </a:solidFill>
                <a:latin typeface="Arial MT"/>
                <a:cs typeface="Trebuchet MS"/>
              </a:rPr>
              <a:t>porter</a:t>
            </a:r>
            <a:r>
              <a:rPr sz="1700" spc="-30" dirty="0">
                <a:solidFill>
                  <a:srgbClr val="2C2917"/>
                </a:solidFill>
                <a:latin typeface="Arial MT"/>
                <a:cs typeface="Trebuchet MS"/>
              </a:rPr>
              <a:t> </a:t>
            </a:r>
            <a:r>
              <a:rPr sz="1700" dirty="0">
                <a:solidFill>
                  <a:srgbClr val="2C2917"/>
                </a:solidFill>
                <a:latin typeface="Arial MT"/>
                <a:cs typeface="Trebuchet MS"/>
              </a:rPr>
              <a:t>atteinte</a:t>
            </a:r>
            <a:r>
              <a:rPr sz="1700" spc="-40" dirty="0">
                <a:solidFill>
                  <a:srgbClr val="2C2917"/>
                </a:solidFill>
                <a:latin typeface="Arial MT"/>
                <a:cs typeface="Trebuchet MS"/>
              </a:rPr>
              <a:t> </a:t>
            </a:r>
            <a:r>
              <a:rPr sz="1700" dirty="0">
                <a:solidFill>
                  <a:srgbClr val="2C2917"/>
                </a:solidFill>
                <a:latin typeface="Arial MT"/>
                <a:cs typeface="Trebuchet MS"/>
              </a:rPr>
              <a:t>à</a:t>
            </a:r>
            <a:r>
              <a:rPr sz="1700" spc="-45" dirty="0">
                <a:solidFill>
                  <a:srgbClr val="2C2917"/>
                </a:solidFill>
                <a:latin typeface="Arial MT"/>
                <a:cs typeface="Trebuchet MS"/>
              </a:rPr>
              <a:t> </a:t>
            </a:r>
            <a:r>
              <a:rPr sz="1700" dirty="0">
                <a:solidFill>
                  <a:srgbClr val="2C2917"/>
                </a:solidFill>
                <a:latin typeface="Arial MT"/>
                <a:cs typeface="Trebuchet MS"/>
              </a:rPr>
              <a:t>la</a:t>
            </a:r>
            <a:r>
              <a:rPr sz="1700" spc="-35" dirty="0">
                <a:solidFill>
                  <a:srgbClr val="2C2917"/>
                </a:solidFill>
                <a:latin typeface="Arial MT"/>
                <a:cs typeface="Trebuchet MS"/>
              </a:rPr>
              <a:t> </a:t>
            </a:r>
            <a:r>
              <a:rPr sz="1700" dirty="0">
                <a:solidFill>
                  <a:srgbClr val="2C2917"/>
                </a:solidFill>
                <a:latin typeface="Arial MT"/>
                <a:cs typeface="Trebuchet MS"/>
              </a:rPr>
              <a:t>confidentialité,</a:t>
            </a:r>
            <a:r>
              <a:rPr sz="1700" spc="-45" dirty="0">
                <a:solidFill>
                  <a:srgbClr val="2C2917"/>
                </a:solidFill>
                <a:latin typeface="Arial MT"/>
                <a:cs typeface="Trebuchet MS"/>
              </a:rPr>
              <a:t> </a:t>
            </a:r>
            <a:r>
              <a:rPr sz="1700" spc="-50" dirty="0">
                <a:solidFill>
                  <a:srgbClr val="2C2917"/>
                </a:solidFill>
                <a:latin typeface="Arial MT"/>
                <a:cs typeface="Trebuchet MS"/>
              </a:rPr>
              <a:t>à</a:t>
            </a:r>
            <a:endParaRPr sz="1700" dirty="0">
              <a:latin typeface="Arial MT"/>
              <a:cs typeface="Trebuchet MS"/>
            </a:endParaRPr>
          </a:p>
          <a:p>
            <a:pPr marL="354965">
              <a:lnSpc>
                <a:spcPct val="100000"/>
              </a:lnSpc>
              <a:spcBef>
                <a:spcPts val="815"/>
              </a:spcBef>
            </a:pPr>
            <a:r>
              <a:rPr sz="1700" dirty="0">
                <a:solidFill>
                  <a:srgbClr val="2C2917"/>
                </a:solidFill>
                <a:latin typeface="Arial MT"/>
                <a:cs typeface="Trebuchet MS"/>
              </a:rPr>
              <a:t>l’intégrité</a:t>
            </a:r>
            <a:r>
              <a:rPr sz="1700" spc="-45" dirty="0">
                <a:solidFill>
                  <a:srgbClr val="2C2917"/>
                </a:solidFill>
                <a:latin typeface="Arial MT"/>
                <a:cs typeface="Trebuchet MS"/>
              </a:rPr>
              <a:t> </a:t>
            </a:r>
            <a:r>
              <a:rPr sz="1700" dirty="0">
                <a:solidFill>
                  <a:srgbClr val="2C2917"/>
                </a:solidFill>
                <a:latin typeface="Arial MT"/>
                <a:cs typeface="Trebuchet MS"/>
              </a:rPr>
              <a:t>ou</a:t>
            </a:r>
            <a:r>
              <a:rPr sz="1700" spc="-35" dirty="0">
                <a:solidFill>
                  <a:srgbClr val="2C2917"/>
                </a:solidFill>
                <a:latin typeface="Arial MT"/>
                <a:cs typeface="Trebuchet MS"/>
              </a:rPr>
              <a:t> </a:t>
            </a:r>
            <a:r>
              <a:rPr sz="1700" dirty="0">
                <a:solidFill>
                  <a:srgbClr val="2C2917"/>
                </a:solidFill>
                <a:latin typeface="Arial MT"/>
                <a:cs typeface="Trebuchet MS"/>
              </a:rPr>
              <a:t>au</a:t>
            </a:r>
            <a:r>
              <a:rPr sz="1700" spc="-50" dirty="0">
                <a:solidFill>
                  <a:srgbClr val="2C2917"/>
                </a:solidFill>
                <a:latin typeface="Arial MT"/>
                <a:cs typeface="Trebuchet MS"/>
              </a:rPr>
              <a:t> </a:t>
            </a:r>
            <a:r>
              <a:rPr sz="1700" dirty="0">
                <a:solidFill>
                  <a:srgbClr val="2C2917"/>
                </a:solidFill>
                <a:latin typeface="Arial MT"/>
                <a:cs typeface="Trebuchet MS"/>
              </a:rPr>
              <a:t>fonctionnement</a:t>
            </a:r>
            <a:r>
              <a:rPr sz="1700" spc="-65" dirty="0">
                <a:solidFill>
                  <a:srgbClr val="2C2917"/>
                </a:solidFill>
                <a:latin typeface="Arial MT"/>
                <a:cs typeface="Trebuchet MS"/>
              </a:rPr>
              <a:t> </a:t>
            </a:r>
            <a:r>
              <a:rPr sz="1700" dirty="0">
                <a:solidFill>
                  <a:srgbClr val="2C2917"/>
                </a:solidFill>
                <a:latin typeface="Arial MT"/>
                <a:cs typeface="Trebuchet MS"/>
              </a:rPr>
              <a:t>du</a:t>
            </a:r>
            <a:r>
              <a:rPr sz="1700" spc="-30" dirty="0">
                <a:solidFill>
                  <a:srgbClr val="2C2917"/>
                </a:solidFill>
                <a:latin typeface="Arial MT"/>
                <a:cs typeface="Trebuchet MS"/>
              </a:rPr>
              <a:t> </a:t>
            </a:r>
            <a:r>
              <a:rPr sz="1700" dirty="0">
                <a:solidFill>
                  <a:srgbClr val="2C2917"/>
                </a:solidFill>
                <a:latin typeface="Arial MT"/>
                <a:cs typeface="Trebuchet MS"/>
              </a:rPr>
              <a:t>système</a:t>
            </a:r>
            <a:r>
              <a:rPr sz="1700" spc="-30" dirty="0">
                <a:solidFill>
                  <a:srgbClr val="2C2917"/>
                </a:solidFill>
                <a:latin typeface="Arial MT"/>
                <a:cs typeface="Trebuchet MS"/>
              </a:rPr>
              <a:t> </a:t>
            </a:r>
            <a:r>
              <a:rPr sz="1700" spc="-10" dirty="0">
                <a:solidFill>
                  <a:srgbClr val="2C2917"/>
                </a:solidFill>
                <a:latin typeface="Arial MT"/>
                <a:cs typeface="Trebuchet MS"/>
              </a:rPr>
              <a:t>ciblé.</a:t>
            </a:r>
            <a:endParaRPr sz="1700" dirty="0">
              <a:latin typeface="Arial MT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814"/>
              </a:spcBef>
              <a:tabLst>
                <a:tab pos="354965" algn="l"/>
              </a:tabLst>
            </a:pPr>
            <a:r>
              <a:rPr sz="1350" spc="55" dirty="0">
                <a:solidFill>
                  <a:srgbClr val="4F81BC"/>
                </a:solidFill>
                <a:latin typeface="Arial MT"/>
                <a:cs typeface="Lucida Sans Unicode"/>
              </a:rPr>
              <a:t>▶</a:t>
            </a:r>
            <a:r>
              <a:rPr sz="1350" dirty="0">
                <a:solidFill>
                  <a:srgbClr val="4F81BC"/>
                </a:solidFill>
                <a:latin typeface="Arial MT"/>
                <a:cs typeface="Lucida Sans Unicode"/>
              </a:rPr>
              <a:t>	</a:t>
            </a:r>
            <a:r>
              <a:rPr sz="1700" dirty="0">
                <a:solidFill>
                  <a:srgbClr val="2C2917"/>
                </a:solidFill>
                <a:latin typeface="Arial MT"/>
                <a:cs typeface="Trebuchet MS"/>
              </a:rPr>
              <a:t>La</a:t>
            </a:r>
            <a:r>
              <a:rPr sz="1700" spc="-50" dirty="0">
                <a:solidFill>
                  <a:srgbClr val="2C2917"/>
                </a:solidFill>
                <a:latin typeface="Arial MT"/>
                <a:cs typeface="Trebuchet MS"/>
              </a:rPr>
              <a:t> </a:t>
            </a:r>
            <a:r>
              <a:rPr sz="1700" dirty="0">
                <a:solidFill>
                  <a:srgbClr val="2C2917"/>
                </a:solidFill>
                <a:latin typeface="Arial MT"/>
                <a:cs typeface="Trebuchet MS"/>
              </a:rPr>
              <a:t>procédure</a:t>
            </a:r>
            <a:r>
              <a:rPr sz="1700" spc="-60" dirty="0">
                <a:solidFill>
                  <a:srgbClr val="2C2917"/>
                </a:solidFill>
                <a:latin typeface="Arial MT"/>
                <a:cs typeface="Trebuchet MS"/>
              </a:rPr>
              <a:t> </a:t>
            </a:r>
            <a:r>
              <a:rPr sz="1700" dirty="0">
                <a:solidFill>
                  <a:srgbClr val="2C2917"/>
                </a:solidFill>
                <a:latin typeface="Arial MT"/>
                <a:cs typeface="Trebuchet MS"/>
              </a:rPr>
              <a:t>d’exploitation</a:t>
            </a:r>
            <a:r>
              <a:rPr sz="1700" spc="-45" dirty="0">
                <a:solidFill>
                  <a:srgbClr val="2C2917"/>
                </a:solidFill>
                <a:latin typeface="Arial MT"/>
                <a:cs typeface="Trebuchet MS"/>
              </a:rPr>
              <a:t> </a:t>
            </a:r>
            <a:r>
              <a:rPr sz="1700" dirty="0">
                <a:solidFill>
                  <a:srgbClr val="2C2917"/>
                </a:solidFill>
                <a:latin typeface="Arial MT"/>
                <a:cs typeface="Trebuchet MS"/>
              </a:rPr>
              <a:t>d’une</a:t>
            </a:r>
            <a:r>
              <a:rPr sz="1700" spc="-70" dirty="0">
                <a:solidFill>
                  <a:srgbClr val="2C2917"/>
                </a:solidFill>
                <a:latin typeface="Arial MT"/>
                <a:cs typeface="Trebuchet MS"/>
              </a:rPr>
              <a:t> </a:t>
            </a:r>
            <a:r>
              <a:rPr sz="1700" dirty="0">
                <a:solidFill>
                  <a:srgbClr val="2C2917"/>
                </a:solidFill>
                <a:latin typeface="Arial MT"/>
                <a:cs typeface="Trebuchet MS"/>
              </a:rPr>
              <a:t>vulnérabilité</a:t>
            </a:r>
            <a:r>
              <a:rPr sz="1700" spc="-70" dirty="0">
                <a:solidFill>
                  <a:srgbClr val="2C2917"/>
                </a:solidFill>
                <a:latin typeface="Arial MT"/>
                <a:cs typeface="Trebuchet MS"/>
              </a:rPr>
              <a:t> </a:t>
            </a:r>
            <a:r>
              <a:rPr sz="1700" dirty="0">
                <a:solidFill>
                  <a:srgbClr val="2C2917"/>
                </a:solidFill>
                <a:latin typeface="Arial MT"/>
                <a:cs typeface="Trebuchet MS"/>
              </a:rPr>
              <a:t>logicielle</a:t>
            </a:r>
            <a:r>
              <a:rPr sz="1700" spc="-55" dirty="0">
                <a:solidFill>
                  <a:srgbClr val="2C2917"/>
                </a:solidFill>
                <a:latin typeface="Arial MT"/>
                <a:cs typeface="Trebuchet MS"/>
              </a:rPr>
              <a:t> </a:t>
            </a:r>
            <a:r>
              <a:rPr sz="1700" dirty="0">
                <a:solidFill>
                  <a:srgbClr val="2C2917"/>
                </a:solidFill>
                <a:latin typeface="Arial MT"/>
                <a:cs typeface="Trebuchet MS"/>
              </a:rPr>
              <a:t>s’appelle</a:t>
            </a:r>
            <a:r>
              <a:rPr sz="1700" spc="-55" dirty="0">
                <a:solidFill>
                  <a:srgbClr val="2C2917"/>
                </a:solidFill>
                <a:latin typeface="Arial MT"/>
                <a:cs typeface="Trebuchet MS"/>
              </a:rPr>
              <a:t> </a:t>
            </a:r>
            <a:r>
              <a:rPr sz="1700" spc="-10" dirty="0">
                <a:solidFill>
                  <a:srgbClr val="2C2917"/>
                </a:solidFill>
                <a:latin typeface="Arial MT"/>
                <a:cs typeface="Trebuchet MS"/>
              </a:rPr>
              <a:t>exploit.</a:t>
            </a:r>
            <a:endParaRPr sz="1700" dirty="0">
              <a:latin typeface="Arial MT"/>
              <a:cs typeface="Trebuchet MS"/>
            </a:endParaRPr>
          </a:p>
          <a:p>
            <a:pPr marL="354965" marR="742315" indent="-342900">
              <a:lnSpc>
                <a:spcPct val="140000"/>
              </a:lnSpc>
              <a:spcBef>
                <a:spcPts val="1000"/>
              </a:spcBef>
              <a:tabLst>
                <a:tab pos="354965" algn="l"/>
              </a:tabLst>
            </a:pPr>
            <a:r>
              <a:rPr sz="1350" spc="55" dirty="0">
                <a:solidFill>
                  <a:srgbClr val="4F81BC"/>
                </a:solidFill>
                <a:latin typeface="Arial MT"/>
                <a:cs typeface="Lucida Sans Unicode"/>
              </a:rPr>
              <a:t>▶</a:t>
            </a:r>
            <a:r>
              <a:rPr sz="1350" dirty="0">
                <a:solidFill>
                  <a:srgbClr val="4F81BC"/>
                </a:solidFill>
                <a:latin typeface="Arial MT"/>
                <a:cs typeface="Lucida Sans Unicode"/>
              </a:rPr>
              <a:t>	</a:t>
            </a:r>
            <a:r>
              <a:rPr sz="1700" dirty="0">
                <a:solidFill>
                  <a:srgbClr val="2C2917"/>
                </a:solidFill>
                <a:latin typeface="Arial MT"/>
                <a:cs typeface="Trebuchet MS"/>
              </a:rPr>
              <a:t>Une</a:t>
            </a:r>
            <a:r>
              <a:rPr sz="1700" spc="-45" dirty="0">
                <a:solidFill>
                  <a:srgbClr val="2C2917"/>
                </a:solidFill>
                <a:latin typeface="Arial MT"/>
                <a:cs typeface="Trebuchet MS"/>
              </a:rPr>
              <a:t> </a:t>
            </a:r>
            <a:r>
              <a:rPr sz="1700" dirty="0">
                <a:solidFill>
                  <a:srgbClr val="2C2917"/>
                </a:solidFill>
                <a:latin typeface="Arial MT"/>
                <a:cs typeface="Trebuchet MS"/>
              </a:rPr>
              <a:t>fois</a:t>
            </a:r>
            <a:r>
              <a:rPr sz="1700" spc="-40" dirty="0">
                <a:solidFill>
                  <a:srgbClr val="2C2917"/>
                </a:solidFill>
                <a:latin typeface="Arial MT"/>
                <a:cs typeface="Trebuchet MS"/>
              </a:rPr>
              <a:t> </a:t>
            </a:r>
            <a:r>
              <a:rPr sz="1700" dirty="0">
                <a:solidFill>
                  <a:srgbClr val="2C2917"/>
                </a:solidFill>
                <a:latin typeface="Arial MT"/>
                <a:cs typeface="Trebuchet MS"/>
              </a:rPr>
              <a:t>découvertes,</a:t>
            </a:r>
            <a:r>
              <a:rPr sz="1700" spc="-30" dirty="0">
                <a:solidFill>
                  <a:srgbClr val="2C2917"/>
                </a:solidFill>
                <a:latin typeface="Arial MT"/>
                <a:cs typeface="Trebuchet MS"/>
              </a:rPr>
              <a:t> </a:t>
            </a:r>
            <a:r>
              <a:rPr sz="1700" dirty="0">
                <a:solidFill>
                  <a:srgbClr val="2C2917"/>
                </a:solidFill>
                <a:latin typeface="Arial MT"/>
                <a:cs typeface="Trebuchet MS"/>
              </a:rPr>
              <a:t>ces</a:t>
            </a:r>
            <a:r>
              <a:rPr sz="1700" spc="-40" dirty="0">
                <a:solidFill>
                  <a:srgbClr val="2C2917"/>
                </a:solidFill>
                <a:latin typeface="Arial MT"/>
                <a:cs typeface="Trebuchet MS"/>
              </a:rPr>
              <a:t> </a:t>
            </a:r>
            <a:r>
              <a:rPr sz="1700" dirty="0">
                <a:solidFill>
                  <a:srgbClr val="2C2917"/>
                </a:solidFill>
                <a:latin typeface="Arial MT"/>
                <a:cs typeface="Trebuchet MS"/>
              </a:rPr>
              <a:t>vulnérabilité</a:t>
            </a:r>
            <a:r>
              <a:rPr sz="1700" spc="-60" dirty="0">
                <a:solidFill>
                  <a:srgbClr val="2C2917"/>
                </a:solidFill>
                <a:latin typeface="Arial MT"/>
                <a:cs typeface="Trebuchet MS"/>
              </a:rPr>
              <a:t> </a:t>
            </a:r>
            <a:r>
              <a:rPr sz="1700" dirty="0">
                <a:solidFill>
                  <a:srgbClr val="2C2917"/>
                </a:solidFill>
                <a:latin typeface="Arial MT"/>
                <a:cs typeface="Trebuchet MS"/>
              </a:rPr>
              <a:t>doivent</a:t>
            </a:r>
            <a:r>
              <a:rPr sz="1700" spc="-35" dirty="0">
                <a:solidFill>
                  <a:srgbClr val="2C2917"/>
                </a:solidFill>
                <a:latin typeface="Arial MT"/>
                <a:cs typeface="Trebuchet MS"/>
              </a:rPr>
              <a:t> </a:t>
            </a:r>
            <a:r>
              <a:rPr sz="1700" dirty="0">
                <a:solidFill>
                  <a:srgbClr val="2C2917"/>
                </a:solidFill>
                <a:latin typeface="Arial MT"/>
                <a:cs typeface="Trebuchet MS"/>
              </a:rPr>
              <a:t>être</a:t>
            </a:r>
            <a:r>
              <a:rPr sz="1700" spc="-40" dirty="0">
                <a:solidFill>
                  <a:srgbClr val="2C2917"/>
                </a:solidFill>
                <a:latin typeface="Arial MT"/>
                <a:cs typeface="Trebuchet MS"/>
              </a:rPr>
              <a:t> </a:t>
            </a:r>
            <a:r>
              <a:rPr sz="1700" dirty="0">
                <a:solidFill>
                  <a:srgbClr val="2C2917"/>
                </a:solidFill>
                <a:latin typeface="Arial MT"/>
                <a:cs typeface="Trebuchet MS"/>
              </a:rPr>
              <a:t>corrigées</a:t>
            </a:r>
            <a:r>
              <a:rPr sz="1700" spc="-30" dirty="0">
                <a:solidFill>
                  <a:srgbClr val="2C2917"/>
                </a:solidFill>
                <a:latin typeface="Arial MT"/>
                <a:cs typeface="Trebuchet MS"/>
              </a:rPr>
              <a:t> </a:t>
            </a:r>
            <a:r>
              <a:rPr sz="1700" dirty="0">
                <a:solidFill>
                  <a:srgbClr val="2C2917"/>
                </a:solidFill>
                <a:latin typeface="Arial MT"/>
                <a:cs typeface="Trebuchet MS"/>
              </a:rPr>
              <a:t>à</a:t>
            </a:r>
            <a:r>
              <a:rPr sz="1700" spc="-50" dirty="0">
                <a:solidFill>
                  <a:srgbClr val="2C2917"/>
                </a:solidFill>
                <a:latin typeface="Arial MT"/>
                <a:cs typeface="Trebuchet MS"/>
              </a:rPr>
              <a:t> </a:t>
            </a:r>
            <a:r>
              <a:rPr sz="1700" dirty="0">
                <a:solidFill>
                  <a:srgbClr val="2C2917"/>
                </a:solidFill>
                <a:latin typeface="Arial MT"/>
                <a:cs typeface="Trebuchet MS"/>
              </a:rPr>
              <a:t>travers</a:t>
            </a:r>
            <a:r>
              <a:rPr sz="1700" spc="-40" dirty="0">
                <a:solidFill>
                  <a:srgbClr val="2C2917"/>
                </a:solidFill>
                <a:latin typeface="Arial MT"/>
                <a:cs typeface="Trebuchet MS"/>
              </a:rPr>
              <a:t> </a:t>
            </a:r>
            <a:r>
              <a:rPr sz="1700" spc="-25" dirty="0">
                <a:solidFill>
                  <a:srgbClr val="2C2917"/>
                </a:solidFill>
                <a:latin typeface="Arial MT"/>
                <a:cs typeface="Trebuchet MS"/>
              </a:rPr>
              <a:t>des </a:t>
            </a:r>
            <a:r>
              <a:rPr sz="1700" dirty="0">
                <a:solidFill>
                  <a:srgbClr val="2C2917"/>
                </a:solidFill>
                <a:latin typeface="Arial MT"/>
                <a:cs typeface="Trebuchet MS"/>
              </a:rPr>
              <a:t>correctifs</a:t>
            </a:r>
            <a:r>
              <a:rPr sz="1700" spc="-25" dirty="0">
                <a:solidFill>
                  <a:srgbClr val="2C2917"/>
                </a:solidFill>
                <a:latin typeface="Arial MT"/>
                <a:cs typeface="Trebuchet MS"/>
              </a:rPr>
              <a:t> </a:t>
            </a:r>
            <a:r>
              <a:rPr sz="1700" dirty="0">
                <a:solidFill>
                  <a:srgbClr val="2C2917"/>
                </a:solidFill>
                <a:latin typeface="Arial MT"/>
                <a:cs typeface="Trebuchet MS"/>
              </a:rPr>
              <a:t>publié</a:t>
            </a:r>
            <a:r>
              <a:rPr sz="1700" spc="-40" dirty="0">
                <a:solidFill>
                  <a:srgbClr val="2C2917"/>
                </a:solidFill>
                <a:latin typeface="Arial MT"/>
                <a:cs typeface="Trebuchet MS"/>
              </a:rPr>
              <a:t> </a:t>
            </a:r>
            <a:r>
              <a:rPr sz="1700" dirty="0">
                <a:solidFill>
                  <a:srgbClr val="2C2917"/>
                </a:solidFill>
                <a:latin typeface="Arial MT"/>
                <a:cs typeface="Trebuchet MS"/>
              </a:rPr>
              <a:t>par</a:t>
            </a:r>
            <a:r>
              <a:rPr sz="1700" spc="-40" dirty="0">
                <a:solidFill>
                  <a:srgbClr val="2C2917"/>
                </a:solidFill>
                <a:latin typeface="Arial MT"/>
                <a:cs typeface="Trebuchet MS"/>
              </a:rPr>
              <a:t> </a:t>
            </a:r>
            <a:r>
              <a:rPr sz="1700" dirty="0">
                <a:solidFill>
                  <a:srgbClr val="2C2917"/>
                </a:solidFill>
                <a:latin typeface="Arial MT"/>
                <a:cs typeface="Trebuchet MS"/>
              </a:rPr>
              <a:t>les</a:t>
            </a:r>
            <a:r>
              <a:rPr sz="1700" spc="-45" dirty="0">
                <a:solidFill>
                  <a:srgbClr val="2C2917"/>
                </a:solidFill>
                <a:latin typeface="Arial MT"/>
                <a:cs typeface="Trebuchet MS"/>
              </a:rPr>
              <a:t> </a:t>
            </a:r>
            <a:r>
              <a:rPr sz="1700" dirty="0">
                <a:solidFill>
                  <a:srgbClr val="2C2917"/>
                </a:solidFill>
                <a:latin typeface="Arial MT"/>
                <a:cs typeface="Trebuchet MS"/>
              </a:rPr>
              <a:t>éditeurs</a:t>
            </a:r>
            <a:r>
              <a:rPr sz="1700" spc="-25" dirty="0">
                <a:solidFill>
                  <a:srgbClr val="2C2917"/>
                </a:solidFill>
                <a:latin typeface="Arial MT"/>
                <a:cs typeface="Trebuchet MS"/>
              </a:rPr>
              <a:t> </a:t>
            </a:r>
            <a:r>
              <a:rPr sz="1700" dirty="0">
                <a:solidFill>
                  <a:srgbClr val="2C2917"/>
                </a:solidFill>
                <a:latin typeface="Arial MT"/>
                <a:cs typeface="Trebuchet MS"/>
              </a:rPr>
              <a:t>du</a:t>
            </a:r>
            <a:r>
              <a:rPr sz="1700" spc="-30" dirty="0">
                <a:solidFill>
                  <a:srgbClr val="2C2917"/>
                </a:solidFill>
                <a:latin typeface="Arial MT"/>
                <a:cs typeface="Trebuchet MS"/>
              </a:rPr>
              <a:t> </a:t>
            </a:r>
            <a:r>
              <a:rPr sz="1700" spc="-10" dirty="0">
                <a:solidFill>
                  <a:srgbClr val="2C2917"/>
                </a:solidFill>
                <a:latin typeface="Arial MT"/>
                <a:cs typeface="Trebuchet MS"/>
              </a:rPr>
              <a:t>logiciel.</a:t>
            </a:r>
            <a:endParaRPr sz="1700" dirty="0">
              <a:latin typeface="Arial MT"/>
              <a:cs typeface="Trebuchet M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709396" y="1412366"/>
          <a:ext cx="8329930" cy="43427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0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28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2140">
                <a:tc>
                  <a:txBody>
                    <a:bodyPr/>
                    <a:lstStyle/>
                    <a:p>
                      <a:pPr marL="86995" marR="51308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7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Types</a:t>
                      </a:r>
                      <a:r>
                        <a:rPr sz="1700" b="1" spc="-5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700" b="1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 vulnérabilité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A2A2A2"/>
                    </a:solidFill>
                  </a:tcPr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ts val="2030"/>
                        </a:lnSpc>
                      </a:pPr>
                      <a:r>
                        <a:rPr sz="17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Exemple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A2A2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5155">
                <a:tc>
                  <a:txBody>
                    <a:bodyPr/>
                    <a:lstStyle/>
                    <a:p>
                      <a:pPr marL="86995">
                        <a:lnSpc>
                          <a:spcPts val="2030"/>
                        </a:lnSpc>
                      </a:pPr>
                      <a:r>
                        <a:rPr sz="1700" b="1" spc="-1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Matériel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400" spc="-25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Maintenance</a:t>
                      </a:r>
                      <a:r>
                        <a:rPr sz="1400" spc="2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insuffisante,</a:t>
                      </a:r>
                      <a:r>
                        <a:rPr sz="1400" spc="6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absence de</a:t>
                      </a:r>
                      <a:r>
                        <a:rPr sz="1400" spc="-45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35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programme</a:t>
                      </a:r>
                      <a:r>
                        <a:rPr sz="1400" spc="-3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sz="1400" spc="-25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3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remplacement</a:t>
                      </a:r>
                      <a:r>
                        <a:rPr sz="1400" spc="4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périodique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4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FDF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6415">
                <a:tc>
                  <a:txBody>
                    <a:bodyPr/>
                    <a:lstStyle/>
                    <a:p>
                      <a:pPr marL="86995">
                        <a:lnSpc>
                          <a:spcPts val="2035"/>
                        </a:lnSpc>
                      </a:pPr>
                      <a:r>
                        <a:rPr sz="1700" b="1" spc="-1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Logiciel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400" spc="-3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Tests</a:t>
                      </a:r>
                      <a:r>
                        <a:rPr sz="1400" spc="-5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sz="1400" spc="-55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logiciel</a:t>
                      </a:r>
                      <a:r>
                        <a:rPr sz="1400" spc="-55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absents</a:t>
                      </a:r>
                      <a:r>
                        <a:rPr sz="1400" spc="-15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ou</a:t>
                      </a:r>
                      <a:r>
                        <a:rPr sz="1400" spc="-55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insuffisants,</a:t>
                      </a:r>
                      <a:r>
                        <a:rPr sz="1400" spc="35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interface</a:t>
                      </a:r>
                      <a:r>
                        <a:rPr sz="140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utilisateur</a:t>
                      </a:r>
                      <a:r>
                        <a:rPr sz="1400" spc="25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compliquée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4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7050">
                <a:tc>
                  <a:txBody>
                    <a:bodyPr/>
                    <a:lstStyle/>
                    <a:p>
                      <a:pPr marL="86995">
                        <a:lnSpc>
                          <a:spcPts val="2030"/>
                        </a:lnSpc>
                      </a:pPr>
                      <a:r>
                        <a:rPr sz="1700" b="1" spc="-1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Réseau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400" spc="-25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Connexions</a:t>
                      </a:r>
                      <a:r>
                        <a:rPr sz="1400" spc="-15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au</a:t>
                      </a:r>
                      <a:r>
                        <a:rPr sz="1400" spc="-35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réseau</a:t>
                      </a:r>
                      <a:r>
                        <a:rPr sz="1400" spc="-45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public</a:t>
                      </a:r>
                      <a:r>
                        <a:rPr sz="1400" spc="-6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non</a:t>
                      </a:r>
                      <a:r>
                        <a:rPr sz="1400" spc="-5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3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protégées,</a:t>
                      </a:r>
                      <a:r>
                        <a:rPr sz="1400" spc="5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point</a:t>
                      </a:r>
                      <a:r>
                        <a:rPr sz="1400" spc="-55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sz="1400" spc="-3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défaillance</a:t>
                      </a:r>
                      <a:r>
                        <a:rPr sz="1400" spc="3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unique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4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FDF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marL="8699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700" b="1" spc="-1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Personnel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12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ts val="1390"/>
                        </a:lnSpc>
                      </a:pPr>
                      <a:r>
                        <a:rPr sz="1400" spc="-1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Formation</a:t>
                      </a:r>
                      <a:r>
                        <a:rPr sz="1400" spc="-8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insuffisante</a:t>
                      </a:r>
                      <a:r>
                        <a:rPr sz="1400" spc="5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à</a:t>
                      </a:r>
                      <a:r>
                        <a:rPr sz="1400" spc="-5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la</a:t>
                      </a:r>
                      <a:r>
                        <a:rPr sz="1400" spc="-1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sécurité,</a:t>
                      </a:r>
                      <a:r>
                        <a:rPr sz="1400" spc="4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travail</a:t>
                      </a:r>
                      <a:r>
                        <a:rPr sz="1400" spc="-55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non</a:t>
                      </a:r>
                      <a:r>
                        <a:rPr sz="1400" spc="-6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surveillé</a:t>
                      </a:r>
                      <a:r>
                        <a:rPr sz="1400" spc="-95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d’une</a:t>
                      </a:r>
                      <a:r>
                        <a:rPr sz="1400" spc="-5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équipe</a:t>
                      </a:r>
                      <a:r>
                        <a:rPr sz="1400" spc="-45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3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extérieure</a:t>
                      </a:r>
                      <a:r>
                        <a:rPr sz="1400" spc="4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ou</a:t>
                      </a:r>
                      <a:r>
                        <a:rPr sz="1400" spc="5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de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86995">
                        <a:lnSpc>
                          <a:spcPts val="1535"/>
                        </a:lnSpc>
                      </a:pPr>
                      <a:r>
                        <a:rPr sz="1400" spc="-25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l’équipe</a:t>
                      </a:r>
                      <a:r>
                        <a:rPr sz="1400" spc="-35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d’entretien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4520">
                <a:tc>
                  <a:txBody>
                    <a:bodyPr/>
                    <a:lstStyle/>
                    <a:p>
                      <a:pPr marL="86995">
                        <a:lnSpc>
                          <a:spcPct val="100000"/>
                        </a:lnSpc>
                      </a:pPr>
                      <a:r>
                        <a:rPr sz="1700" b="1" spc="-2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Site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400" spc="-1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Réseau</a:t>
                      </a:r>
                      <a:r>
                        <a:rPr sz="1400" spc="-65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électrique</a:t>
                      </a:r>
                      <a:r>
                        <a:rPr sz="140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instable,</a:t>
                      </a:r>
                      <a:r>
                        <a:rPr sz="1400" spc="-5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emplacement</a:t>
                      </a:r>
                      <a:r>
                        <a:rPr sz="1400" spc="4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situé</a:t>
                      </a:r>
                      <a:r>
                        <a:rPr sz="1400" spc="-55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dans</a:t>
                      </a:r>
                      <a:r>
                        <a:rPr sz="1400" spc="-55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une</a:t>
                      </a:r>
                      <a:r>
                        <a:rPr sz="1400" spc="-65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zone</a:t>
                      </a:r>
                      <a:r>
                        <a:rPr sz="1400" spc="-35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sujette</a:t>
                      </a:r>
                      <a:r>
                        <a:rPr sz="1400" spc="-5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aux</a:t>
                      </a:r>
                      <a:r>
                        <a:rPr sz="1400" spc="-1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 inondations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FDF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61694">
                <a:tc>
                  <a:txBody>
                    <a:bodyPr/>
                    <a:lstStyle/>
                    <a:p>
                      <a:pPr marL="8699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700" b="1" spc="-1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Organisme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19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86995" marR="915669">
                        <a:lnSpc>
                          <a:spcPct val="83300"/>
                        </a:lnSpc>
                        <a:spcBef>
                          <a:spcPts val="240"/>
                        </a:spcBef>
                      </a:pPr>
                      <a:r>
                        <a:rPr sz="1400" spc="-1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Absence</a:t>
                      </a:r>
                      <a:r>
                        <a:rPr sz="1400" spc="-5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sz="1400" spc="-2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bonne</a:t>
                      </a:r>
                      <a:r>
                        <a:rPr sz="1400" spc="-15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attribution</a:t>
                      </a:r>
                      <a:r>
                        <a:rPr sz="1400" spc="5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des</a:t>
                      </a:r>
                      <a:r>
                        <a:rPr sz="1400" spc="-5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3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responsabilités</a:t>
                      </a:r>
                      <a:r>
                        <a:rPr sz="1400" spc="-15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en</a:t>
                      </a:r>
                      <a:r>
                        <a:rPr sz="1400" spc="-25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 sécurité </a:t>
                      </a:r>
                      <a:r>
                        <a:rPr sz="140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sz="1400" spc="-15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l’information, absence</a:t>
                      </a:r>
                      <a:r>
                        <a:rPr sz="1400" spc="-3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sz="1400" spc="-1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3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responsabilités</a:t>
                      </a:r>
                      <a:r>
                        <a:rPr sz="140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 en</a:t>
                      </a:r>
                      <a:r>
                        <a:rPr sz="1400" spc="-1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sécurité</a:t>
                      </a:r>
                      <a:r>
                        <a:rPr sz="1400" spc="-1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sz="1400" spc="-2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3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l’information</a:t>
                      </a:r>
                      <a:r>
                        <a:rPr sz="1400" spc="-1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dans</a:t>
                      </a:r>
                      <a:r>
                        <a:rPr sz="1400" spc="-5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les </a:t>
                      </a:r>
                      <a:r>
                        <a:rPr sz="1400" spc="-3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descriptions</a:t>
                      </a:r>
                      <a:r>
                        <a:rPr sz="140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de </a:t>
                      </a:r>
                      <a:r>
                        <a:rPr sz="1400" spc="-1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postes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11130153" y="6304889"/>
            <a:ext cx="202565" cy="245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50" spc="-25" dirty="0">
                <a:solidFill>
                  <a:srgbClr val="858585"/>
                </a:solidFill>
                <a:latin typeface="Calibri"/>
                <a:cs typeface="Calibri"/>
              </a:rPr>
              <a:t>22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778253" y="682511"/>
            <a:ext cx="8442071" cy="640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Les</a:t>
            </a:r>
            <a:r>
              <a:rPr sz="4000" spc="-80" dirty="0"/>
              <a:t> </a:t>
            </a:r>
            <a:r>
              <a:rPr sz="4000" spc="-10" dirty="0"/>
              <a:t>principales</a:t>
            </a:r>
            <a:r>
              <a:rPr sz="4000" spc="-145" dirty="0"/>
              <a:t> </a:t>
            </a:r>
            <a:r>
              <a:rPr sz="4000" dirty="0"/>
              <a:t>causes</a:t>
            </a:r>
            <a:r>
              <a:rPr sz="4000" spc="-130" dirty="0"/>
              <a:t> </a:t>
            </a:r>
            <a:r>
              <a:rPr sz="4000" dirty="0"/>
              <a:t>des</a:t>
            </a:r>
            <a:r>
              <a:rPr sz="4000" spc="-55" dirty="0"/>
              <a:t> </a:t>
            </a:r>
            <a:r>
              <a:rPr sz="4000" spc="-10" dirty="0"/>
              <a:t>vulnérabilités</a:t>
            </a:r>
          </a:p>
        </p:txBody>
      </p:sp>
      <p:sp>
        <p:nvSpPr>
          <p:cNvPr id="5" name="object 5"/>
          <p:cNvSpPr/>
          <p:nvPr/>
        </p:nvSpPr>
        <p:spPr>
          <a:xfrm>
            <a:off x="7824216" y="4547615"/>
            <a:ext cx="1515110" cy="1886585"/>
          </a:xfrm>
          <a:custGeom>
            <a:avLst/>
            <a:gdLst/>
            <a:ahLst/>
            <a:cxnLst/>
            <a:rect l="l" t="t" r="r" b="b"/>
            <a:pathLst>
              <a:path w="1515109" h="1886585">
                <a:moveTo>
                  <a:pt x="228726" y="1886343"/>
                </a:moveTo>
                <a:lnTo>
                  <a:pt x="1509267" y="892301"/>
                </a:lnTo>
              </a:path>
              <a:path w="1515109" h="1886585">
                <a:moveTo>
                  <a:pt x="0" y="1779803"/>
                </a:moveTo>
                <a:lnTo>
                  <a:pt x="1514855" y="0"/>
                </a:lnTo>
              </a:path>
            </a:pathLst>
          </a:custGeom>
          <a:ln w="9144">
            <a:solidFill>
              <a:srgbClr val="477A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8048243" y="3892296"/>
            <a:ext cx="3528060" cy="2891155"/>
            <a:chOff x="8048243" y="3892296"/>
            <a:chExt cx="3528060" cy="289115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366503" y="3892296"/>
              <a:ext cx="2209800" cy="22098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9467088" y="3929380"/>
              <a:ext cx="2072639" cy="2075180"/>
            </a:xfrm>
            <a:custGeom>
              <a:avLst/>
              <a:gdLst/>
              <a:ahLst/>
              <a:cxnLst/>
              <a:rect l="l" t="t" r="r" b="b"/>
              <a:pathLst>
                <a:path w="2072640" h="2075179">
                  <a:moveTo>
                    <a:pt x="2072386" y="0"/>
                  </a:moveTo>
                  <a:lnTo>
                    <a:pt x="0" y="0"/>
                  </a:lnTo>
                  <a:lnTo>
                    <a:pt x="0" y="148590"/>
                  </a:lnTo>
                  <a:lnTo>
                    <a:pt x="0" y="1924050"/>
                  </a:lnTo>
                  <a:lnTo>
                    <a:pt x="0" y="1925320"/>
                  </a:lnTo>
                  <a:lnTo>
                    <a:pt x="0" y="2075180"/>
                  </a:lnTo>
                  <a:lnTo>
                    <a:pt x="2072386" y="2075180"/>
                  </a:lnTo>
                  <a:lnTo>
                    <a:pt x="2072386" y="1925320"/>
                  </a:lnTo>
                  <a:lnTo>
                    <a:pt x="149352" y="1925320"/>
                  </a:lnTo>
                  <a:lnTo>
                    <a:pt x="149352" y="1924050"/>
                  </a:lnTo>
                  <a:lnTo>
                    <a:pt x="149352" y="148590"/>
                  </a:lnTo>
                  <a:lnTo>
                    <a:pt x="1923034" y="148590"/>
                  </a:lnTo>
                  <a:lnTo>
                    <a:pt x="1923034" y="1924050"/>
                  </a:lnTo>
                  <a:lnTo>
                    <a:pt x="2072386" y="1924050"/>
                  </a:lnTo>
                  <a:lnTo>
                    <a:pt x="2072386" y="148590"/>
                  </a:lnTo>
                  <a:lnTo>
                    <a:pt x="207238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468611" y="3930396"/>
              <a:ext cx="2072639" cy="2072639"/>
            </a:xfrm>
            <a:custGeom>
              <a:avLst/>
              <a:gdLst/>
              <a:ahLst/>
              <a:cxnLst/>
              <a:rect l="l" t="t" r="r" b="b"/>
              <a:pathLst>
                <a:path w="2072640" h="2072639">
                  <a:moveTo>
                    <a:pt x="0" y="2072639"/>
                  </a:moveTo>
                  <a:lnTo>
                    <a:pt x="2072386" y="2072639"/>
                  </a:lnTo>
                  <a:lnTo>
                    <a:pt x="2072386" y="0"/>
                  </a:lnTo>
                  <a:lnTo>
                    <a:pt x="0" y="0"/>
                  </a:lnTo>
                  <a:lnTo>
                    <a:pt x="0" y="2072639"/>
                  </a:lnTo>
                  <a:close/>
                </a:path>
                <a:path w="2072640" h="2072639">
                  <a:moveTo>
                    <a:pt x="149352" y="1923364"/>
                  </a:moveTo>
                  <a:lnTo>
                    <a:pt x="1922780" y="1923364"/>
                  </a:lnTo>
                  <a:lnTo>
                    <a:pt x="1922780" y="149174"/>
                  </a:lnTo>
                  <a:lnTo>
                    <a:pt x="149352" y="149174"/>
                  </a:lnTo>
                  <a:lnTo>
                    <a:pt x="149352" y="1923364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314687" y="5425440"/>
              <a:ext cx="33655" cy="30480"/>
            </a:xfrm>
            <a:custGeom>
              <a:avLst/>
              <a:gdLst/>
              <a:ahLst/>
              <a:cxnLst/>
              <a:rect l="l" t="t" r="r" b="b"/>
              <a:pathLst>
                <a:path w="33654" h="30479">
                  <a:moveTo>
                    <a:pt x="33273" y="0"/>
                  </a:moveTo>
                  <a:lnTo>
                    <a:pt x="0" y="10922"/>
                  </a:lnTo>
                  <a:lnTo>
                    <a:pt x="16763" y="13081"/>
                  </a:lnTo>
                  <a:lnTo>
                    <a:pt x="14604" y="30099"/>
                  </a:lnTo>
                  <a:lnTo>
                    <a:pt x="33273" y="0"/>
                  </a:lnTo>
                  <a:close/>
                </a:path>
              </a:pathLst>
            </a:custGeom>
            <a:solidFill>
              <a:srgbClr val="477A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314687" y="5425440"/>
              <a:ext cx="33655" cy="30480"/>
            </a:xfrm>
            <a:custGeom>
              <a:avLst/>
              <a:gdLst/>
              <a:ahLst/>
              <a:cxnLst/>
              <a:rect l="l" t="t" r="r" b="b"/>
              <a:pathLst>
                <a:path w="33654" h="30479">
                  <a:moveTo>
                    <a:pt x="16763" y="13081"/>
                  </a:moveTo>
                  <a:lnTo>
                    <a:pt x="14604" y="30099"/>
                  </a:lnTo>
                  <a:lnTo>
                    <a:pt x="33273" y="0"/>
                  </a:lnTo>
                  <a:lnTo>
                    <a:pt x="0" y="10922"/>
                  </a:lnTo>
                  <a:lnTo>
                    <a:pt x="16763" y="13081"/>
                  </a:lnTo>
                  <a:close/>
                </a:path>
              </a:pathLst>
            </a:custGeom>
            <a:ln w="9144">
              <a:solidFill>
                <a:srgbClr val="477A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320783" y="4529328"/>
              <a:ext cx="33655" cy="33655"/>
            </a:xfrm>
            <a:custGeom>
              <a:avLst/>
              <a:gdLst/>
              <a:ahLst/>
              <a:cxnLst/>
              <a:rect l="l" t="t" r="r" b="b"/>
              <a:pathLst>
                <a:path w="33654" h="33654">
                  <a:moveTo>
                    <a:pt x="33527" y="0"/>
                  </a:moveTo>
                  <a:lnTo>
                    <a:pt x="0" y="17526"/>
                  </a:lnTo>
                  <a:lnTo>
                    <a:pt x="18542" y="16256"/>
                  </a:lnTo>
                  <a:lnTo>
                    <a:pt x="20066" y="33401"/>
                  </a:lnTo>
                  <a:lnTo>
                    <a:pt x="33527" y="0"/>
                  </a:lnTo>
                  <a:close/>
                </a:path>
              </a:pathLst>
            </a:custGeom>
            <a:solidFill>
              <a:srgbClr val="477A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052815" y="4529328"/>
              <a:ext cx="1993264" cy="2249805"/>
            </a:xfrm>
            <a:custGeom>
              <a:avLst/>
              <a:gdLst/>
              <a:ahLst/>
              <a:cxnLst/>
              <a:rect l="l" t="t" r="r" b="b"/>
              <a:pathLst>
                <a:path w="1993265" h="2249804">
                  <a:moveTo>
                    <a:pt x="1285493" y="16637"/>
                  </a:moveTo>
                  <a:lnTo>
                    <a:pt x="1287017" y="34163"/>
                  </a:lnTo>
                  <a:lnTo>
                    <a:pt x="1300099" y="0"/>
                  </a:lnTo>
                  <a:lnTo>
                    <a:pt x="1267332" y="18034"/>
                  </a:lnTo>
                  <a:lnTo>
                    <a:pt x="1285493" y="16637"/>
                  </a:lnTo>
                  <a:close/>
                </a:path>
                <a:path w="1993265" h="2249804">
                  <a:moveTo>
                    <a:pt x="0" y="2249368"/>
                  </a:moveTo>
                  <a:lnTo>
                    <a:pt x="1992883" y="1570939"/>
                  </a:lnTo>
                </a:path>
              </a:pathLst>
            </a:custGeom>
            <a:ln w="9144">
              <a:solidFill>
                <a:srgbClr val="477A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030967" y="6092952"/>
              <a:ext cx="36830" cy="24130"/>
            </a:xfrm>
            <a:custGeom>
              <a:avLst/>
              <a:gdLst/>
              <a:ahLst/>
              <a:cxnLst/>
              <a:rect l="l" t="t" r="r" b="b"/>
              <a:pathLst>
                <a:path w="36829" h="24129">
                  <a:moveTo>
                    <a:pt x="0" y="0"/>
                  </a:moveTo>
                  <a:lnTo>
                    <a:pt x="15875" y="7823"/>
                  </a:lnTo>
                  <a:lnTo>
                    <a:pt x="8127" y="23723"/>
                  </a:lnTo>
                  <a:lnTo>
                    <a:pt x="36449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77A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0030967" y="6092952"/>
              <a:ext cx="36830" cy="24130"/>
            </a:xfrm>
            <a:custGeom>
              <a:avLst/>
              <a:gdLst/>
              <a:ahLst/>
              <a:cxnLst/>
              <a:rect l="l" t="t" r="r" b="b"/>
              <a:pathLst>
                <a:path w="36829" h="24129">
                  <a:moveTo>
                    <a:pt x="15875" y="7823"/>
                  </a:moveTo>
                  <a:lnTo>
                    <a:pt x="8127" y="23723"/>
                  </a:lnTo>
                  <a:lnTo>
                    <a:pt x="36449" y="762"/>
                  </a:lnTo>
                  <a:lnTo>
                    <a:pt x="0" y="0"/>
                  </a:lnTo>
                  <a:lnTo>
                    <a:pt x="15875" y="7823"/>
                  </a:lnTo>
                  <a:close/>
                </a:path>
              </a:pathLst>
            </a:custGeom>
            <a:ln w="9144">
              <a:solidFill>
                <a:srgbClr val="477A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098023" y="4410456"/>
              <a:ext cx="813816" cy="1109472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9479280" y="4431779"/>
              <a:ext cx="741045" cy="1593850"/>
            </a:xfrm>
            <a:custGeom>
              <a:avLst/>
              <a:gdLst/>
              <a:ahLst/>
              <a:cxnLst/>
              <a:rect l="l" t="t" r="r" b="b"/>
              <a:pathLst>
                <a:path w="741045" h="1593850">
                  <a:moveTo>
                    <a:pt x="177914" y="899782"/>
                  </a:moveTo>
                  <a:lnTo>
                    <a:pt x="0" y="899782"/>
                  </a:lnTo>
                  <a:lnTo>
                    <a:pt x="0" y="1109484"/>
                  </a:lnTo>
                  <a:lnTo>
                    <a:pt x="177914" y="1109484"/>
                  </a:lnTo>
                  <a:lnTo>
                    <a:pt x="177914" y="899782"/>
                  </a:lnTo>
                  <a:close/>
                </a:path>
                <a:path w="741045" h="1593850">
                  <a:moveTo>
                    <a:pt x="177914" y="0"/>
                  </a:moveTo>
                  <a:lnTo>
                    <a:pt x="0" y="0"/>
                  </a:lnTo>
                  <a:lnTo>
                    <a:pt x="0" y="207784"/>
                  </a:lnTo>
                  <a:lnTo>
                    <a:pt x="177914" y="207784"/>
                  </a:lnTo>
                  <a:lnTo>
                    <a:pt x="177914" y="0"/>
                  </a:lnTo>
                  <a:close/>
                </a:path>
                <a:path w="741045" h="1593850">
                  <a:moveTo>
                    <a:pt x="740537" y="1416507"/>
                  </a:moveTo>
                  <a:lnTo>
                    <a:pt x="530987" y="1416507"/>
                  </a:lnTo>
                  <a:lnTo>
                    <a:pt x="530987" y="1593583"/>
                  </a:lnTo>
                  <a:lnTo>
                    <a:pt x="740537" y="1593583"/>
                  </a:lnTo>
                  <a:lnTo>
                    <a:pt x="740537" y="141650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020180" y="6329578"/>
            <a:ext cx="18008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35" dirty="0">
                <a:solidFill>
                  <a:srgbClr val="1D1B0F"/>
                </a:solidFill>
                <a:latin typeface="Arial MT"/>
                <a:cs typeface="Arial MT"/>
              </a:rPr>
              <a:t>Vulnérabilités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85139" rIns="0" bIns="0" rtlCol="0">
            <a:spAutoFit/>
          </a:bodyPr>
          <a:lstStyle/>
          <a:p>
            <a:pPr marL="1249045">
              <a:lnSpc>
                <a:spcPct val="100000"/>
              </a:lnSpc>
              <a:spcBef>
                <a:spcPts val="95"/>
              </a:spcBef>
            </a:pPr>
            <a:r>
              <a:rPr dirty="0"/>
              <a:t>La</a:t>
            </a:r>
            <a:r>
              <a:rPr spc="-145" dirty="0"/>
              <a:t> </a:t>
            </a:r>
            <a:r>
              <a:rPr spc="-10" dirty="0"/>
              <a:t>menace</a:t>
            </a:r>
            <a:r>
              <a:rPr spc="-120" dirty="0"/>
              <a:t> </a:t>
            </a:r>
            <a:r>
              <a:rPr spc="-25" dirty="0"/>
              <a:t>(1)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4019" y="1733550"/>
            <a:ext cx="880681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b="1" spc="-10" dirty="0">
                <a:solidFill>
                  <a:srgbClr val="1D1B0F"/>
                </a:solidFill>
                <a:latin typeface="Calibri"/>
                <a:cs typeface="Calibri"/>
              </a:rPr>
              <a:t>Cause</a:t>
            </a:r>
            <a:r>
              <a:rPr sz="2400" b="1" spc="-10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b="1" spc="-30" dirty="0">
                <a:solidFill>
                  <a:srgbClr val="1D1B0F"/>
                </a:solidFill>
                <a:latin typeface="Calibri"/>
                <a:cs typeface="Calibri"/>
              </a:rPr>
              <a:t>potentielle</a:t>
            </a:r>
            <a:r>
              <a:rPr sz="2400" b="1" spc="-6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1D1B0F"/>
                </a:solidFill>
                <a:latin typeface="Calibri"/>
                <a:cs typeface="Calibri"/>
              </a:rPr>
              <a:t>d’un</a:t>
            </a:r>
            <a:r>
              <a:rPr sz="2400" b="1" spc="-10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1D1B0F"/>
                </a:solidFill>
                <a:latin typeface="Calibri"/>
                <a:cs typeface="Calibri"/>
              </a:rPr>
              <a:t>incident</a:t>
            </a:r>
            <a:r>
              <a:rPr sz="2400" spc="-10" dirty="0">
                <a:solidFill>
                  <a:srgbClr val="1D1B0F"/>
                </a:solidFill>
                <a:latin typeface="Calibri"/>
                <a:cs typeface="Calibri"/>
              </a:rPr>
              <a:t>,</a:t>
            </a:r>
            <a:r>
              <a:rPr sz="2400" spc="-12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qui</a:t>
            </a:r>
            <a:r>
              <a:rPr sz="2400" spc="-9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1D1B0F"/>
                </a:solidFill>
                <a:latin typeface="Calibri"/>
                <a:cs typeface="Calibri"/>
              </a:rPr>
              <a:t>pourrait</a:t>
            </a:r>
            <a:r>
              <a:rPr sz="2400" spc="-14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1D1B0F"/>
                </a:solidFill>
                <a:latin typeface="Calibri"/>
                <a:cs typeface="Calibri"/>
              </a:rPr>
              <a:t>entrainer</a:t>
            </a:r>
            <a:r>
              <a:rPr sz="2400" spc="-1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des</a:t>
            </a:r>
            <a:r>
              <a:rPr sz="2400" spc="-6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D1B0F"/>
                </a:solidFill>
                <a:latin typeface="Calibri"/>
                <a:cs typeface="Calibri"/>
              </a:rPr>
              <a:t>dommages 	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sur</a:t>
            </a:r>
            <a:r>
              <a:rPr sz="2400" spc="-114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un</a:t>
            </a:r>
            <a:r>
              <a:rPr sz="2400" spc="-9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bien</a:t>
            </a:r>
            <a:r>
              <a:rPr sz="2400" spc="-10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si</a:t>
            </a:r>
            <a:r>
              <a:rPr sz="2400" spc="-6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D1B0F"/>
                </a:solidFill>
                <a:latin typeface="Calibri"/>
                <a:cs typeface="Calibri"/>
              </a:rPr>
              <a:t>cette</a:t>
            </a:r>
            <a:r>
              <a:rPr sz="2400" spc="-10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menace</a:t>
            </a:r>
            <a:r>
              <a:rPr sz="2400" spc="-9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se</a:t>
            </a:r>
            <a:r>
              <a:rPr sz="2400" spc="-7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D1B0F"/>
                </a:solidFill>
                <a:latin typeface="Calibri"/>
                <a:cs typeface="Calibri"/>
              </a:rPr>
              <a:t>concrétisait.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2619" y="-98043"/>
            <a:ext cx="1454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1D1B0F"/>
                </a:solidFill>
                <a:latin typeface="Trebuchet MS"/>
                <a:cs typeface="Trebuchet MS"/>
              </a:rPr>
              <a:t>2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2619" y="92456"/>
            <a:ext cx="1454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1D1B0F"/>
                </a:solidFill>
                <a:latin typeface="Trebuchet MS"/>
                <a:cs typeface="Trebuchet MS"/>
              </a:rPr>
              <a:t>4</a:t>
            </a:r>
            <a:endParaRPr sz="1800">
              <a:latin typeface="Trebuchet MS"/>
              <a:cs typeface="Trebuchet MS"/>
            </a:endParaRP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FC8D1D8F-CE0F-F4BE-5141-C54678E221B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5342" b="8459"/>
          <a:stretch/>
        </p:blipFill>
        <p:spPr>
          <a:xfrm>
            <a:off x="1981200" y="2612166"/>
            <a:ext cx="7670166" cy="427687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47293" rIns="0" bIns="0" rtlCol="0">
            <a:spAutoFit/>
          </a:bodyPr>
          <a:lstStyle/>
          <a:p>
            <a:pPr marL="1160780">
              <a:lnSpc>
                <a:spcPct val="100000"/>
              </a:lnSpc>
              <a:spcBef>
                <a:spcPts val="95"/>
              </a:spcBef>
            </a:pPr>
            <a:r>
              <a:rPr dirty="0"/>
              <a:t>La</a:t>
            </a:r>
            <a:r>
              <a:rPr spc="-160" dirty="0"/>
              <a:t> </a:t>
            </a:r>
            <a:r>
              <a:rPr dirty="0"/>
              <a:t>menace</a:t>
            </a:r>
            <a:r>
              <a:rPr spc="-160" dirty="0"/>
              <a:t> </a:t>
            </a:r>
            <a:r>
              <a:rPr spc="-25" dirty="0"/>
              <a:t>(2)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2140" y="1869496"/>
            <a:ext cx="8804910" cy="3227705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305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dirty="0">
                <a:solidFill>
                  <a:srgbClr val="1D1B0F"/>
                </a:solidFill>
                <a:latin typeface="Calibri"/>
                <a:cs typeface="Calibri"/>
              </a:rPr>
              <a:t>Cause</a:t>
            </a:r>
            <a:r>
              <a:rPr sz="2000" spc="-5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000" spc="-35" dirty="0">
                <a:solidFill>
                  <a:srgbClr val="1D1B0F"/>
                </a:solidFill>
                <a:latin typeface="Calibri"/>
                <a:cs typeface="Calibri"/>
              </a:rPr>
              <a:t>potentielle</a:t>
            </a:r>
            <a:r>
              <a:rPr sz="2000" spc="-4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1D1B0F"/>
                </a:solidFill>
                <a:latin typeface="Calibri"/>
                <a:cs typeface="Calibri"/>
              </a:rPr>
              <a:t>d’un</a:t>
            </a:r>
            <a:r>
              <a:rPr sz="2000" spc="-8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1D1B0F"/>
                </a:solidFill>
                <a:latin typeface="Calibri"/>
                <a:cs typeface="Calibri"/>
              </a:rPr>
              <a:t>incident</a:t>
            </a:r>
            <a:r>
              <a:rPr sz="2000" spc="-11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000" spc="-30" dirty="0">
                <a:solidFill>
                  <a:srgbClr val="1D1B0F"/>
                </a:solidFill>
                <a:latin typeface="Calibri"/>
                <a:cs typeface="Calibri"/>
              </a:rPr>
              <a:t>indésirable,</a:t>
            </a:r>
            <a:r>
              <a:rPr sz="2000" spc="-2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D1B0F"/>
                </a:solidFill>
                <a:latin typeface="Calibri"/>
                <a:cs typeface="Calibri"/>
              </a:rPr>
              <a:t>qui</a:t>
            </a:r>
            <a:r>
              <a:rPr sz="2000" spc="-10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D1B0F"/>
                </a:solidFill>
                <a:latin typeface="Calibri"/>
                <a:cs typeface="Calibri"/>
              </a:rPr>
              <a:t>peut</a:t>
            </a:r>
            <a:r>
              <a:rPr sz="2000" spc="-8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D1B0F"/>
                </a:solidFill>
                <a:latin typeface="Calibri"/>
                <a:cs typeface="Calibri"/>
              </a:rPr>
              <a:t>nuire</a:t>
            </a:r>
            <a:r>
              <a:rPr sz="2000" spc="-8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D1B0F"/>
                </a:solidFill>
                <a:latin typeface="Calibri"/>
                <a:cs typeface="Calibri"/>
              </a:rPr>
              <a:t>à</a:t>
            </a:r>
            <a:r>
              <a:rPr sz="2000" spc="-4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D1B0F"/>
                </a:solidFill>
                <a:latin typeface="Calibri"/>
                <a:cs typeface="Calibri"/>
              </a:rPr>
              <a:t>un</a:t>
            </a:r>
            <a:r>
              <a:rPr sz="2000" spc="-55" dirty="0">
                <a:solidFill>
                  <a:srgbClr val="1D1B0F"/>
                </a:solidFill>
                <a:latin typeface="Calibri"/>
                <a:cs typeface="Calibri"/>
              </a:rPr>
              <a:t> système</a:t>
            </a:r>
            <a:r>
              <a:rPr sz="2000" spc="-2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D1B0F"/>
                </a:solidFill>
                <a:latin typeface="Calibri"/>
                <a:cs typeface="Calibri"/>
              </a:rPr>
              <a:t>ou</a:t>
            </a:r>
            <a:r>
              <a:rPr sz="2000" spc="-7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D1B0F"/>
                </a:solidFill>
                <a:latin typeface="Calibri"/>
                <a:cs typeface="Calibri"/>
              </a:rPr>
              <a:t>à</a:t>
            </a:r>
            <a:r>
              <a:rPr sz="2000" spc="-7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1D1B0F"/>
                </a:solidFill>
                <a:latin typeface="Calibri"/>
                <a:cs typeface="Calibri"/>
              </a:rPr>
              <a:t>un</a:t>
            </a:r>
            <a:endParaRPr sz="20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1200"/>
              </a:spcBef>
            </a:pPr>
            <a:r>
              <a:rPr sz="2000" spc="-10" dirty="0">
                <a:solidFill>
                  <a:srgbClr val="1D1B0F"/>
                </a:solidFill>
                <a:latin typeface="Calibri"/>
                <a:cs typeface="Calibri"/>
              </a:rPr>
              <a:t>organisme.</a:t>
            </a:r>
            <a:endParaRPr sz="20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dirty="0">
                <a:solidFill>
                  <a:srgbClr val="1D1B0F"/>
                </a:solidFill>
                <a:latin typeface="Calibri"/>
                <a:cs typeface="Calibri"/>
              </a:rPr>
              <a:t>Une</a:t>
            </a:r>
            <a:r>
              <a:rPr sz="2000" spc="-4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1D1B0F"/>
                </a:solidFill>
                <a:latin typeface="Calibri"/>
                <a:cs typeface="Calibri"/>
              </a:rPr>
              <a:t>menace</a:t>
            </a:r>
            <a:r>
              <a:rPr sz="2000" spc="-6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D1B0F"/>
                </a:solidFill>
                <a:latin typeface="Calibri"/>
                <a:cs typeface="Calibri"/>
              </a:rPr>
              <a:t>est</a:t>
            </a:r>
            <a:r>
              <a:rPr sz="2000" spc="-2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1D1B0F"/>
                </a:solidFill>
                <a:latin typeface="Calibri"/>
                <a:cs typeface="Calibri"/>
              </a:rPr>
              <a:t>susceptible</a:t>
            </a:r>
            <a:r>
              <a:rPr sz="2000" spc="-3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000" spc="-50" dirty="0">
                <a:solidFill>
                  <a:srgbClr val="1D1B0F"/>
                </a:solidFill>
                <a:latin typeface="Calibri"/>
                <a:cs typeface="Calibri"/>
              </a:rPr>
              <a:t>d’endommager</a:t>
            </a:r>
            <a:r>
              <a:rPr sz="2000" spc="-5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D1B0F"/>
                </a:solidFill>
                <a:latin typeface="Calibri"/>
                <a:cs typeface="Calibri"/>
              </a:rPr>
              <a:t>les</a:t>
            </a:r>
            <a:r>
              <a:rPr sz="2000" spc="-3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D1B0F"/>
                </a:solidFill>
                <a:latin typeface="Calibri"/>
                <a:cs typeface="Calibri"/>
              </a:rPr>
              <a:t>actifs</a:t>
            </a:r>
            <a:r>
              <a:rPr sz="2000" spc="-3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D1B0F"/>
                </a:solidFill>
                <a:latin typeface="Calibri"/>
                <a:cs typeface="Calibri"/>
              </a:rPr>
              <a:t>tels</a:t>
            </a:r>
            <a:r>
              <a:rPr sz="2000" spc="-2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D1B0F"/>
                </a:solidFill>
                <a:latin typeface="Calibri"/>
                <a:cs typeface="Calibri"/>
              </a:rPr>
              <a:t>que</a:t>
            </a:r>
            <a:r>
              <a:rPr sz="2000" spc="-5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D1B0F"/>
                </a:solidFill>
                <a:latin typeface="Calibri"/>
                <a:cs typeface="Calibri"/>
              </a:rPr>
              <a:t>des</a:t>
            </a:r>
            <a:r>
              <a:rPr sz="2000" spc="33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000" spc="-35" dirty="0">
                <a:solidFill>
                  <a:srgbClr val="1D1B0F"/>
                </a:solidFill>
                <a:latin typeface="Calibri"/>
                <a:cs typeface="Calibri"/>
              </a:rPr>
              <a:t>informations,</a:t>
            </a:r>
            <a:r>
              <a:rPr sz="2000" spc="-7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1D1B0F"/>
                </a:solidFill>
                <a:latin typeface="Calibri"/>
                <a:cs typeface="Calibri"/>
              </a:rPr>
              <a:t>des</a:t>
            </a:r>
            <a:endParaRPr sz="20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solidFill>
                  <a:srgbClr val="1D1B0F"/>
                </a:solidFill>
                <a:latin typeface="Calibri"/>
                <a:cs typeface="Calibri"/>
              </a:rPr>
              <a:t>processus</a:t>
            </a:r>
            <a:r>
              <a:rPr sz="2000" spc="-6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D1B0F"/>
                </a:solidFill>
                <a:latin typeface="Calibri"/>
                <a:cs typeface="Calibri"/>
              </a:rPr>
              <a:t>et</a:t>
            </a:r>
            <a:r>
              <a:rPr sz="2000" spc="-4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D1B0F"/>
                </a:solidFill>
                <a:latin typeface="Calibri"/>
                <a:cs typeface="Calibri"/>
              </a:rPr>
              <a:t>des</a:t>
            </a:r>
            <a:r>
              <a:rPr sz="2000" spc="-4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000" spc="-50" dirty="0">
                <a:solidFill>
                  <a:srgbClr val="1D1B0F"/>
                </a:solidFill>
                <a:latin typeface="Calibri"/>
                <a:cs typeface="Calibri"/>
              </a:rPr>
              <a:t>systèmes</a:t>
            </a:r>
            <a:r>
              <a:rPr sz="2000" spc="-5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D1B0F"/>
                </a:solidFill>
                <a:latin typeface="Calibri"/>
                <a:cs typeface="Calibri"/>
              </a:rPr>
              <a:t>et,</a:t>
            </a:r>
            <a:r>
              <a:rPr sz="2000" spc="-3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D1B0F"/>
                </a:solidFill>
                <a:latin typeface="Calibri"/>
                <a:cs typeface="Calibri"/>
              </a:rPr>
              <a:t>par</a:t>
            </a:r>
            <a:r>
              <a:rPr sz="2000" spc="-35" dirty="0">
                <a:solidFill>
                  <a:srgbClr val="1D1B0F"/>
                </a:solidFill>
                <a:latin typeface="Calibri"/>
                <a:cs typeface="Calibri"/>
              </a:rPr>
              <a:t> conséquent,</a:t>
            </a:r>
            <a:r>
              <a:rPr sz="2000" spc="-8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D1B0F"/>
                </a:solidFill>
                <a:latin typeface="Calibri"/>
                <a:cs typeface="Calibri"/>
              </a:rPr>
              <a:t>des</a:t>
            </a:r>
            <a:r>
              <a:rPr sz="2000" spc="31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1D1B0F"/>
                </a:solidFill>
                <a:latin typeface="Calibri"/>
                <a:cs typeface="Calibri"/>
              </a:rPr>
              <a:t>organismes.</a:t>
            </a:r>
            <a:endParaRPr sz="2000">
              <a:latin typeface="Calibri"/>
              <a:cs typeface="Calibri"/>
            </a:endParaRPr>
          </a:p>
          <a:p>
            <a:pPr marL="241300" marR="167005" indent="-228600">
              <a:lnSpc>
                <a:spcPct val="150000"/>
              </a:lnSpc>
              <a:spcBef>
                <a:spcPts val="5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solidFill>
                  <a:srgbClr val="1D1B0F"/>
                </a:solidFill>
                <a:latin typeface="Calibri"/>
                <a:cs typeface="Calibri"/>
              </a:rPr>
              <a:t>Les</a:t>
            </a:r>
            <a:r>
              <a:rPr sz="2000" spc="-114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D1B0F"/>
                </a:solidFill>
                <a:latin typeface="Calibri"/>
                <a:cs typeface="Calibri"/>
              </a:rPr>
              <a:t>menaces</a:t>
            </a:r>
            <a:r>
              <a:rPr sz="2000" spc="-3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1D1B0F"/>
                </a:solidFill>
                <a:latin typeface="Calibri"/>
                <a:cs typeface="Calibri"/>
              </a:rPr>
              <a:t>peuvent</a:t>
            </a:r>
            <a:r>
              <a:rPr sz="2000" spc="-5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D1B0F"/>
                </a:solidFill>
                <a:latin typeface="Calibri"/>
                <a:cs typeface="Calibri"/>
              </a:rPr>
              <a:t>être</a:t>
            </a:r>
            <a:r>
              <a:rPr sz="2000" spc="-5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000" spc="-45" dirty="0">
                <a:solidFill>
                  <a:srgbClr val="1D1B0F"/>
                </a:solidFill>
                <a:latin typeface="Calibri"/>
                <a:cs typeface="Calibri"/>
              </a:rPr>
              <a:t>d’origine</a:t>
            </a:r>
            <a:r>
              <a:rPr sz="2000" spc="-6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000" spc="-30" dirty="0">
                <a:solidFill>
                  <a:srgbClr val="1D1B0F"/>
                </a:solidFill>
                <a:latin typeface="Calibri"/>
                <a:cs typeface="Calibri"/>
              </a:rPr>
              <a:t>naturelle</a:t>
            </a:r>
            <a:r>
              <a:rPr sz="2000" spc="-4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D1B0F"/>
                </a:solidFill>
                <a:latin typeface="Calibri"/>
                <a:cs typeface="Calibri"/>
              </a:rPr>
              <a:t>ou</a:t>
            </a:r>
            <a:r>
              <a:rPr sz="2000" spc="-6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1D1B0F"/>
                </a:solidFill>
                <a:latin typeface="Calibri"/>
                <a:cs typeface="Calibri"/>
              </a:rPr>
              <a:t>humaine</a:t>
            </a:r>
            <a:r>
              <a:rPr sz="2000" spc="-8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D1B0F"/>
                </a:solidFill>
                <a:latin typeface="Calibri"/>
                <a:cs typeface="Calibri"/>
              </a:rPr>
              <a:t>et</a:t>
            </a:r>
            <a:r>
              <a:rPr sz="2000" spc="1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D1B0F"/>
                </a:solidFill>
                <a:latin typeface="Calibri"/>
                <a:cs typeface="Calibri"/>
              </a:rPr>
              <a:t>peuvent</a:t>
            </a:r>
            <a:r>
              <a:rPr sz="2000" spc="2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1D1B0F"/>
                </a:solidFill>
                <a:latin typeface="Calibri"/>
                <a:cs typeface="Calibri"/>
              </a:rPr>
              <a:t>être </a:t>
            </a:r>
            <a:r>
              <a:rPr sz="2000" spc="-25" dirty="0">
                <a:solidFill>
                  <a:srgbClr val="1D1B0F"/>
                </a:solidFill>
                <a:latin typeface="Calibri"/>
                <a:cs typeface="Calibri"/>
              </a:rPr>
              <a:t>accidentelles</a:t>
            </a:r>
            <a:r>
              <a:rPr sz="2000" spc="-1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D1B0F"/>
                </a:solidFill>
                <a:latin typeface="Calibri"/>
                <a:cs typeface="Calibri"/>
              </a:rPr>
              <a:t>ou</a:t>
            </a:r>
            <a:r>
              <a:rPr sz="2000" spc="-1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D1B0F"/>
                </a:solidFill>
                <a:latin typeface="Calibri"/>
                <a:cs typeface="Calibri"/>
              </a:rPr>
              <a:t>délibérées.</a:t>
            </a:r>
            <a:r>
              <a:rPr sz="2000" spc="2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D1B0F"/>
                </a:solidFill>
                <a:latin typeface="Calibri"/>
                <a:cs typeface="Calibri"/>
              </a:rPr>
              <a:t>Il</a:t>
            </a:r>
            <a:r>
              <a:rPr sz="2000" spc="1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1D1B0F"/>
                </a:solidFill>
                <a:latin typeface="Calibri"/>
                <a:cs typeface="Calibri"/>
              </a:rPr>
              <a:t>convient</a:t>
            </a:r>
            <a:r>
              <a:rPr sz="2000" spc="-2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1D1B0F"/>
                </a:solidFill>
                <a:latin typeface="Calibri"/>
                <a:cs typeface="Calibri"/>
              </a:rPr>
              <a:t>d’identifier </a:t>
            </a:r>
            <a:r>
              <a:rPr sz="2000" dirty="0">
                <a:solidFill>
                  <a:srgbClr val="1D1B0F"/>
                </a:solidFill>
                <a:latin typeface="Calibri"/>
                <a:cs typeface="Calibri"/>
              </a:rPr>
              <a:t>les</a:t>
            </a:r>
            <a:r>
              <a:rPr sz="2000" spc="-5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1D1B0F"/>
                </a:solidFill>
                <a:latin typeface="Calibri"/>
                <a:cs typeface="Calibri"/>
              </a:rPr>
              <a:t>sources</a:t>
            </a:r>
            <a:r>
              <a:rPr sz="2000" spc="-9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D1B0F"/>
                </a:solidFill>
                <a:latin typeface="Calibri"/>
                <a:cs typeface="Calibri"/>
              </a:rPr>
              <a:t>de</a:t>
            </a:r>
            <a:r>
              <a:rPr sz="2000" spc="-6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1D1B0F"/>
                </a:solidFill>
                <a:latin typeface="Calibri"/>
                <a:cs typeface="Calibri"/>
              </a:rPr>
              <a:t>menaces</a:t>
            </a:r>
            <a:r>
              <a:rPr sz="2000" spc="-9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D1B0F"/>
                </a:solidFill>
                <a:latin typeface="Calibri"/>
                <a:cs typeface="Calibri"/>
              </a:rPr>
              <a:t>à</a:t>
            </a:r>
            <a:r>
              <a:rPr sz="2000" spc="-7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D1B0F"/>
                </a:solidFill>
                <a:latin typeface="Calibri"/>
                <a:cs typeface="Calibri"/>
              </a:rPr>
              <a:t>la</a:t>
            </a:r>
            <a:r>
              <a:rPr sz="2000" spc="-10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1D1B0F"/>
                </a:solidFill>
                <a:latin typeface="Calibri"/>
                <a:cs typeface="Calibri"/>
              </a:rPr>
              <a:t>fois </a:t>
            </a:r>
            <a:r>
              <a:rPr sz="2000" spc="-30" dirty="0">
                <a:solidFill>
                  <a:srgbClr val="1D1B0F"/>
                </a:solidFill>
                <a:latin typeface="Calibri"/>
                <a:cs typeface="Calibri"/>
              </a:rPr>
              <a:t>accidentelles</a:t>
            </a:r>
            <a:r>
              <a:rPr sz="2000" spc="-3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D1B0F"/>
                </a:solidFill>
                <a:latin typeface="Calibri"/>
                <a:cs typeface="Calibri"/>
              </a:rPr>
              <a:t>et</a:t>
            </a:r>
            <a:r>
              <a:rPr sz="2000" spc="-8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1D1B0F"/>
                </a:solidFill>
                <a:latin typeface="Calibri"/>
                <a:cs typeface="Calibri"/>
              </a:rPr>
              <a:t>délibérées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3439" y="6131052"/>
            <a:ext cx="8442960" cy="44500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96400" y="4175759"/>
            <a:ext cx="1682496" cy="167335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642619" y="-98043"/>
            <a:ext cx="1454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1D1B0F"/>
                </a:solidFill>
                <a:latin typeface="Trebuchet MS"/>
                <a:cs typeface="Trebuchet MS"/>
              </a:rPr>
              <a:t>2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2619" y="92456"/>
            <a:ext cx="1454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1D1B0F"/>
                </a:solidFill>
                <a:latin typeface="Trebuchet MS"/>
                <a:cs typeface="Trebuchet MS"/>
              </a:rPr>
              <a:t>5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65878" y="287528"/>
            <a:ext cx="155384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35" dirty="0">
                <a:latin typeface="Times New Roman"/>
                <a:cs typeface="Times New Roman"/>
              </a:rPr>
              <a:t>Impact</a:t>
            </a:r>
            <a:endParaRPr sz="40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56233" y="2136394"/>
            <a:ext cx="3819525" cy="4551045"/>
            <a:chOff x="856233" y="2136394"/>
            <a:chExt cx="3819525" cy="4551045"/>
          </a:xfrm>
        </p:grpSpPr>
        <p:sp>
          <p:nvSpPr>
            <p:cNvPr id="4" name="object 4"/>
            <p:cNvSpPr/>
            <p:nvPr/>
          </p:nvSpPr>
          <p:spPr>
            <a:xfrm>
              <a:off x="3761232" y="5029200"/>
              <a:ext cx="905510" cy="1651635"/>
            </a:xfrm>
            <a:custGeom>
              <a:avLst/>
              <a:gdLst/>
              <a:ahLst/>
              <a:cxnLst/>
              <a:rect l="l" t="t" r="r" b="b"/>
              <a:pathLst>
                <a:path w="905510" h="1651634">
                  <a:moveTo>
                    <a:pt x="0" y="825728"/>
                  </a:moveTo>
                  <a:lnTo>
                    <a:pt x="452500" y="825728"/>
                  </a:lnTo>
                  <a:lnTo>
                    <a:pt x="452500" y="1651457"/>
                  </a:lnTo>
                  <a:lnTo>
                    <a:pt x="905001" y="1651457"/>
                  </a:lnTo>
                </a:path>
                <a:path w="905510" h="1651634">
                  <a:moveTo>
                    <a:pt x="0" y="825728"/>
                  </a:moveTo>
                  <a:lnTo>
                    <a:pt x="452500" y="825728"/>
                  </a:lnTo>
                  <a:lnTo>
                    <a:pt x="452500" y="1238580"/>
                  </a:lnTo>
                  <a:lnTo>
                    <a:pt x="905001" y="1238580"/>
                  </a:lnTo>
                </a:path>
                <a:path w="905510" h="1651634">
                  <a:moveTo>
                    <a:pt x="0" y="825728"/>
                  </a:moveTo>
                  <a:lnTo>
                    <a:pt x="905001" y="825728"/>
                  </a:lnTo>
                </a:path>
                <a:path w="905510" h="1651634">
                  <a:moveTo>
                    <a:pt x="0" y="825728"/>
                  </a:moveTo>
                  <a:lnTo>
                    <a:pt x="452500" y="825728"/>
                  </a:lnTo>
                  <a:lnTo>
                    <a:pt x="452500" y="412877"/>
                  </a:lnTo>
                  <a:lnTo>
                    <a:pt x="905001" y="412877"/>
                  </a:lnTo>
                </a:path>
                <a:path w="905510" h="1651634">
                  <a:moveTo>
                    <a:pt x="0" y="825728"/>
                  </a:moveTo>
                  <a:lnTo>
                    <a:pt x="452500" y="825728"/>
                  </a:lnTo>
                  <a:lnTo>
                    <a:pt x="452500" y="0"/>
                  </a:lnTo>
                  <a:lnTo>
                    <a:pt x="905001" y="0"/>
                  </a:lnTo>
                </a:path>
              </a:pathLst>
            </a:custGeom>
            <a:ln w="12192">
              <a:solidFill>
                <a:srgbClr val="6D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447800" y="2761488"/>
              <a:ext cx="569595" cy="3093720"/>
            </a:xfrm>
            <a:custGeom>
              <a:avLst/>
              <a:gdLst/>
              <a:ahLst/>
              <a:cxnLst/>
              <a:rect l="l" t="t" r="r" b="b"/>
              <a:pathLst>
                <a:path w="569594" h="3093720">
                  <a:moveTo>
                    <a:pt x="0" y="1546606"/>
                  </a:moveTo>
                  <a:lnTo>
                    <a:pt x="284861" y="1546606"/>
                  </a:lnTo>
                  <a:lnTo>
                    <a:pt x="284861" y="3093186"/>
                  </a:lnTo>
                  <a:lnTo>
                    <a:pt x="569341" y="3093186"/>
                  </a:lnTo>
                </a:path>
                <a:path w="569594" h="3093720">
                  <a:moveTo>
                    <a:pt x="0" y="1546606"/>
                  </a:moveTo>
                  <a:lnTo>
                    <a:pt x="284861" y="1546606"/>
                  </a:lnTo>
                  <a:lnTo>
                    <a:pt x="284861" y="1443482"/>
                  </a:lnTo>
                  <a:lnTo>
                    <a:pt x="569341" y="1443482"/>
                  </a:lnTo>
                </a:path>
                <a:path w="569594" h="3093720">
                  <a:moveTo>
                    <a:pt x="0" y="1546606"/>
                  </a:moveTo>
                  <a:lnTo>
                    <a:pt x="284861" y="1546606"/>
                  </a:lnTo>
                  <a:lnTo>
                    <a:pt x="284861" y="0"/>
                  </a:lnTo>
                  <a:lnTo>
                    <a:pt x="569341" y="0"/>
                  </a:lnTo>
                </a:path>
              </a:pathLst>
            </a:custGeom>
            <a:ln w="12192">
              <a:solidFill>
                <a:srgbClr val="436FC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61059" y="3256788"/>
              <a:ext cx="584835" cy="2099945"/>
            </a:xfrm>
            <a:custGeom>
              <a:avLst/>
              <a:gdLst/>
              <a:ahLst/>
              <a:cxnLst/>
              <a:rect l="l" t="t" r="r" b="b"/>
              <a:pathLst>
                <a:path w="584835" h="2099945">
                  <a:moveTo>
                    <a:pt x="584530" y="0"/>
                  </a:moveTo>
                  <a:lnTo>
                    <a:pt x="0" y="0"/>
                  </a:lnTo>
                  <a:lnTo>
                    <a:pt x="0" y="2099437"/>
                  </a:lnTo>
                  <a:lnTo>
                    <a:pt x="584530" y="2099437"/>
                  </a:lnTo>
                  <a:lnTo>
                    <a:pt x="584530" y="0"/>
                  </a:lnTo>
                  <a:close/>
                </a:path>
              </a:pathLst>
            </a:custGeom>
            <a:solidFill>
              <a:srgbClr val="A2A2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62583" y="3258311"/>
              <a:ext cx="584835" cy="2099945"/>
            </a:xfrm>
            <a:custGeom>
              <a:avLst/>
              <a:gdLst/>
              <a:ahLst/>
              <a:cxnLst/>
              <a:rect l="l" t="t" r="r" b="b"/>
              <a:pathLst>
                <a:path w="584835" h="2099945">
                  <a:moveTo>
                    <a:pt x="0" y="2099437"/>
                  </a:moveTo>
                  <a:lnTo>
                    <a:pt x="584530" y="2099437"/>
                  </a:lnTo>
                  <a:lnTo>
                    <a:pt x="584530" y="0"/>
                  </a:lnTo>
                  <a:lnTo>
                    <a:pt x="0" y="0"/>
                  </a:lnTo>
                  <a:lnTo>
                    <a:pt x="0" y="2099437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761232" y="2142744"/>
              <a:ext cx="905510" cy="1236980"/>
            </a:xfrm>
            <a:custGeom>
              <a:avLst/>
              <a:gdLst/>
              <a:ahLst/>
              <a:cxnLst/>
              <a:rect l="l" t="t" r="r" b="b"/>
              <a:pathLst>
                <a:path w="905510" h="1236979">
                  <a:moveTo>
                    <a:pt x="0" y="618489"/>
                  </a:moveTo>
                  <a:lnTo>
                    <a:pt x="452500" y="618489"/>
                  </a:lnTo>
                  <a:lnTo>
                    <a:pt x="452500" y="1236852"/>
                  </a:lnTo>
                  <a:lnTo>
                    <a:pt x="905001" y="1236852"/>
                  </a:lnTo>
                </a:path>
                <a:path w="905510" h="1236979">
                  <a:moveTo>
                    <a:pt x="0" y="618489"/>
                  </a:moveTo>
                  <a:lnTo>
                    <a:pt x="452500" y="618489"/>
                  </a:lnTo>
                  <a:lnTo>
                    <a:pt x="452500" y="824483"/>
                  </a:lnTo>
                  <a:lnTo>
                    <a:pt x="905001" y="824483"/>
                  </a:lnTo>
                </a:path>
                <a:path w="905510" h="1236979">
                  <a:moveTo>
                    <a:pt x="0" y="618489"/>
                  </a:moveTo>
                  <a:lnTo>
                    <a:pt x="452500" y="618489"/>
                  </a:lnTo>
                  <a:lnTo>
                    <a:pt x="452500" y="412368"/>
                  </a:lnTo>
                  <a:lnTo>
                    <a:pt x="905001" y="412368"/>
                  </a:lnTo>
                </a:path>
                <a:path w="905510" h="1236979">
                  <a:moveTo>
                    <a:pt x="0" y="618489"/>
                  </a:moveTo>
                  <a:lnTo>
                    <a:pt x="452500" y="618489"/>
                  </a:lnTo>
                  <a:lnTo>
                    <a:pt x="452500" y="0"/>
                  </a:lnTo>
                  <a:lnTo>
                    <a:pt x="905001" y="0"/>
                  </a:lnTo>
                </a:path>
              </a:pathLst>
            </a:custGeom>
            <a:ln w="12192">
              <a:solidFill>
                <a:srgbClr val="6D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761232" y="3794760"/>
              <a:ext cx="905510" cy="822960"/>
            </a:xfrm>
            <a:custGeom>
              <a:avLst/>
              <a:gdLst/>
              <a:ahLst/>
              <a:cxnLst/>
              <a:rect l="l" t="t" r="r" b="b"/>
              <a:pathLst>
                <a:path w="905510" h="822960">
                  <a:moveTo>
                    <a:pt x="0" y="411479"/>
                  </a:moveTo>
                  <a:lnTo>
                    <a:pt x="452500" y="411479"/>
                  </a:lnTo>
                  <a:lnTo>
                    <a:pt x="452500" y="822959"/>
                  </a:lnTo>
                  <a:lnTo>
                    <a:pt x="905001" y="822959"/>
                  </a:lnTo>
                </a:path>
                <a:path w="905510" h="822960">
                  <a:moveTo>
                    <a:pt x="0" y="411479"/>
                  </a:moveTo>
                  <a:lnTo>
                    <a:pt x="905001" y="411479"/>
                  </a:lnTo>
                </a:path>
                <a:path w="905510" h="822960">
                  <a:moveTo>
                    <a:pt x="0" y="411479"/>
                  </a:moveTo>
                  <a:lnTo>
                    <a:pt x="452500" y="411479"/>
                  </a:lnTo>
                  <a:lnTo>
                    <a:pt x="452500" y="0"/>
                  </a:lnTo>
                  <a:lnTo>
                    <a:pt x="905001" y="0"/>
                  </a:lnTo>
                </a:path>
              </a:pathLst>
            </a:custGeom>
            <a:ln w="18288">
              <a:solidFill>
                <a:srgbClr val="446F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939571" y="3546233"/>
            <a:ext cx="391795" cy="156781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830"/>
              </a:lnSpc>
            </a:pPr>
            <a:r>
              <a:rPr sz="2850" dirty="0">
                <a:solidFill>
                  <a:srgbClr val="FFFFFF"/>
                </a:solidFill>
                <a:latin typeface="Calibri"/>
                <a:cs typeface="Calibri"/>
              </a:rPr>
              <a:t>Impact</a:t>
            </a:r>
            <a:r>
              <a:rPr sz="2850" spc="-1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50" spc="-25" dirty="0">
                <a:solidFill>
                  <a:srgbClr val="FFFFFF"/>
                </a:solidFill>
                <a:latin typeface="Calibri"/>
                <a:cs typeface="Calibri"/>
              </a:rPr>
              <a:t>sur</a:t>
            </a:r>
            <a:endParaRPr sz="285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07107" y="2561844"/>
            <a:ext cx="1743456" cy="399288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2007107" y="2558491"/>
            <a:ext cx="1743710" cy="405765"/>
          </a:xfrm>
          <a:prstGeom prst="rect">
            <a:avLst/>
          </a:prstGeom>
          <a:ln w="9144">
            <a:solidFill>
              <a:srgbClr val="6DAC46"/>
            </a:solidFill>
          </a:ln>
        </p:spPr>
        <p:txBody>
          <a:bodyPr vert="horz" wrap="square" lIns="0" tIns="25400" rIns="0" bIns="0" rtlCol="0">
            <a:spAutoFit/>
          </a:bodyPr>
          <a:lstStyle/>
          <a:p>
            <a:pPr marL="206375">
              <a:lnSpc>
                <a:spcPct val="100000"/>
              </a:lnSpc>
              <a:spcBef>
                <a:spcPts val="200"/>
              </a:spcBef>
            </a:pPr>
            <a:r>
              <a:rPr sz="1650" dirty="0">
                <a:solidFill>
                  <a:srgbClr val="FFFFFF"/>
                </a:solidFill>
                <a:latin typeface="Calibri"/>
                <a:cs typeface="Calibri"/>
              </a:rPr>
              <a:t>La</a:t>
            </a:r>
            <a:r>
              <a:rPr sz="165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FFFFFF"/>
                </a:solidFill>
                <a:latin typeface="Calibri"/>
                <a:cs typeface="Calibri"/>
              </a:rPr>
              <a:t>disponibilité</a:t>
            </a:r>
            <a:endParaRPr sz="165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660138" y="1971865"/>
            <a:ext cx="4984115" cy="756285"/>
            <a:chOff x="4660138" y="1971865"/>
            <a:chExt cx="4984115" cy="756285"/>
          </a:xfrm>
        </p:grpSpPr>
        <p:sp>
          <p:nvSpPr>
            <p:cNvPr id="14" name="object 14"/>
            <p:cNvSpPr/>
            <p:nvPr/>
          </p:nvSpPr>
          <p:spPr>
            <a:xfrm>
              <a:off x="4664964" y="1976691"/>
              <a:ext cx="4971415" cy="328930"/>
            </a:xfrm>
            <a:custGeom>
              <a:avLst/>
              <a:gdLst/>
              <a:ahLst/>
              <a:cxnLst/>
              <a:rect l="l" t="t" r="r" b="b"/>
              <a:pathLst>
                <a:path w="4971415" h="328930">
                  <a:moveTo>
                    <a:pt x="4971161" y="0"/>
                  </a:moveTo>
                  <a:lnTo>
                    <a:pt x="0" y="0"/>
                  </a:lnTo>
                  <a:lnTo>
                    <a:pt x="0" y="328739"/>
                  </a:lnTo>
                  <a:lnTo>
                    <a:pt x="4971161" y="328739"/>
                  </a:lnTo>
                  <a:lnTo>
                    <a:pt x="4971161" y="0"/>
                  </a:lnTo>
                  <a:close/>
                </a:path>
              </a:pathLst>
            </a:custGeom>
            <a:solidFill>
              <a:srgbClr val="6D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666488" y="1978215"/>
              <a:ext cx="4971415" cy="328930"/>
            </a:xfrm>
            <a:custGeom>
              <a:avLst/>
              <a:gdLst/>
              <a:ahLst/>
              <a:cxnLst/>
              <a:rect l="l" t="t" r="r" b="b"/>
              <a:pathLst>
                <a:path w="4971415" h="328930">
                  <a:moveTo>
                    <a:pt x="0" y="328739"/>
                  </a:moveTo>
                  <a:lnTo>
                    <a:pt x="4971161" y="328739"/>
                  </a:lnTo>
                  <a:lnTo>
                    <a:pt x="4971161" y="0"/>
                  </a:lnTo>
                  <a:lnTo>
                    <a:pt x="0" y="0"/>
                  </a:lnTo>
                  <a:lnTo>
                    <a:pt x="0" y="328739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664964" y="2388171"/>
              <a:ext cx="4971415" cy="332105"/>
            </a:xfrm>
            <a:custGeom>
              <a:avLst/>
              <a:gdLst/>
              <a:ahLst/>
              <a:cxnLst/>
              <a:rect l="l" t="t" r="r" b="b"/>
              <a:pathLst>
                <a:path w="4971415" h="332105">
                  <a:moveTo>
                    <a:pt x="4971161" y="0"/>
                  </a:moveTo>
                  <a:lnTo>
                    <a:pt x="0" y="0"/>
                  </a:lnTo>
                  <a:lnTo>
                    <a:pt x="0" y="331787"/>
                  </a:lnTo>
                  <a:lnTo>
                    <a:pt x="4971161" y="331787"/>
                  </a:lnTo>
                  <a:lnTo>
                    <a:pt x="4971161" y="0"/>
                  </a:lnTo>
                  <a:close/>
                </a:path>
              </a:pathLst>
            </a:custGeom>
            <a:solidFill>
              <a:srgbClr val="6D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666488" y="2389695"/>
              <a:ext cx="4971415" cy="332105"/>
            </a:xfrm>
            <a:custGeom>
              <a:avLst/>
              <a:gdLst/>
              <a:ahLst/>
              <a:cxnLst/>
              <a:rect l="l" t="t" r="r" b="b"/>
              <a:pathLst>
                <a:path w="4971415" h="332105">
                  <a:moveTo>
                    <a:pt x="0" y="331787"/>
                  </a:moveTo>
                  <a:lnTo>
                    <a:pt x="4971161" y="331787"/>
                  </a:lnTo>
                  <a:lnTo>
                    <a:pt x="4971161" y="0"/>
                  </a:lnTo>
                  <a:lnTo>
                    <a:pt x="0" y="0"/>
                  </a:lnTo>
                  <a:lnTo>
                    <a:pt x="0" y="331787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664964" y="1976691"/>
            <a:ext cx="4971415" cy="3289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1460" algn="ctr">
              <a:lnSpc>
                <a:spcPts val="1920"/>
              </a:lnSpc>
            </a:pPr>
            <a:r>
              <a:rPr sz="1650" spc="-20" dirty="0">
                <a:solidFill>
                  <a:srgbClr val="FFFFFF"/>
                </a:solidFill>
                <a:latin typeface="Calibri"/>
                <a:cs typeface="Calibri"/>
              </a:rPr>
              <a:t>Déficience</a:t>
            </a:r>
            <a:r>
              <a:rPr sz="165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FFFFFF"/>
                </a:solidFill>
                <a:latin typeface="Calibri"/>
                <a:cs typeface="Calibri"/>
              </a:rPr>
              <a:t>des</a:t>
            </a:r>
            <a:r>
              <a:rPr sz="1650" spc="-10" dirty="0">
                <a:solidFill>
                  <a:srgbClr val="FFFFFF"/>
                </a:solidFill>
                <a:latin typeface="Calibri"/>
                <a:cs typeface="Calibri"/>
              </a:rPr>
              <a:t> performance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664964" y="2388171"/>
            <a:ext cx="4971415" cy="3321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9079" algn="ctr">
              <a:lnSpc>
                <a:spcPts val="1895"/>
              </a:lnSpc>
            </a:pPr>
            <a:r>
              <a:rPr sz="1650" spc="-10" dirty="0">
                <a:solidFill>
                  <a:srgbClr val="FFFFFF"/>
                </a:solidFill>
                <a:latin typeface="Calibri"/>
                <a:cs typeface="Calibri"/>
              </a:rPr>
              <a:t>Interruption</a:t>
            </a:r>
            <a:r>
              <a:rPr sz="165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FFFFFF"/>
                </a:solidFill>
                <a:latin typeface="Calibri"/>
                <a:cs typeface="Calibri"/>
              </a:rPr>
              <a:t>d’un</a:t>
            </a:r>
            <a:r>
              <a:rPr sz="165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FFFFFF"/>
                </a:solidFill>
                <a:latin typeface="Calibri"/>
                <a:cs typeface="Calibri"/>
              </a:rPr>
              <a:t>service</a:t>
            </a:r>
            <a:endParaRPr sz="165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2002282" y="2797797"/>
            <a:ext cx="7642225" cy="1612900"/>
            <a:chOff x="2002282" y="2797797"/>
            <a:chExt cx="7642225" cy="1612900"/>
          </a:xfrm>
        </p:grpSpPr>
        <p:sp>
          <p:nvSpPr>
            <p:cNvPr id="21" name="object 21"/>
            <p:cNvSpPr/>
            <p:nvPr/>
          </p:nvSpPr>
          <p:spPr>
            <a:xfrm>
              <a:off x="4664964" y="2802623"/>
              <a:ext cx="4971415" cy="328930"/>
            </a:xfrm>
            <a:custGeom>
              <a:avLst/>
              <a:gdLst/>
              <a:ahLst/>
              <a:cxnLst/>
              <a:rect l="l" t="t" r="r" b="b"/>
              <a:pathLst>
                <a:path w="4971415" h="328930">
                  <a:moveTo>
                    <a:pt x="4971161" y="0"/>
                  </a:moveTo>
                  <a:lnTo>
                    <a:pt x="0" y="0"/>
                  </a:lnTo>
                  <a:lnTo>
                    <a:pt x="0" y="328434"/>
                  </a:lnTo>
                  <a:lnTo>
                    <a:pt x="4971161" y="328434"/>
                  </a:lnTo>
                  <a:lnTo>
                    <a:pt x="4971161" y="0"/>
                  </a:lnTo>
                  <a:close/>
                </a:path>
              </a:pathLst>
            </a:custGeom>
            <a:solidFill>
              <a:srgbClr val="6D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666488" y="2804147"/>
              <a:ext cx="4971415" cy="328930"/>
            </a:xfrm>
            <a:custGeom>
              <a:avLst/>
              <a:gdLst/>
              <a:ahLst/>
              <a:cxnLst/>
              <a:rect l="l" t="t" r="r" b="b"/>
              <a:pathLst>
                <a:path w="4971415" h="328930">
                  <a:moveTo>
                    <a:pt x="0" y="328434"/>
                  </a:moveTo>
                  <a:lnTo>
                    <a:pt x="4971161" y="328434"/>
                  </a:lnTo>
                  <a:lnTo>
                    <a:pt x="4971161" y="0"/>
                  </a:lnTo>
                  <a:lnTo>
                    <a:pt x="0" y="0"/>
                  </a:lnTo>
                  <a:lnTo>
                    <a:pt x="0" y="328434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664964" y="3214179"/>
              <a:ext cx="4971415" cy="328930"/>
            </a:xfrm>
            <a:custGeom>
              <a:avLst/>
              <a:gdLst/>
              <a:ahLst/>
              <a:cxnLst/>
              <a:rect l="l" t="t" r="r" b="b"/>
              <a:pathLst>
                <a:path w="4971415" h="328929">
                  <a:moveTo>
                    <a:pt x="4971161" y="0"/>
                  </a:moveTo>
                  <a:lnTo>
                    <a:pt x="0" y="0"/>
                  </a:lnTo>
                  <a:lnTo>
                    <a:pt x="0" y="328739"/>
                  </a:lnTo>
                  <a:lnTo>
                    <a:pt x="4971161" y="328739"/>
                  </a:lnTo>
                  <a:lnTo>
                    <a:pt x="4971161" y="0"/>
                  </a:lnTo>
                  <a:close/>
                </a:path>
              </a:pathLst>
            </a:custGeom>
            <a:solidFill>
              <a:srgbClr val="6D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666488" y="3215703"/>
              <a:ext cx="4971415" cy="328930"/>
            </a:xfrm>
            <a:custGeom>
              <a:avLst/>
              <a:gdLst/>
              <a:ahLst/>
              <a:cxnLst/>
              <a:rect l="l" t="t" r="r" b="b"/>
              <a:pathLst>
                <a:path w="4971415" h="328929">
                  <a:moveTo>
                    <a:pt x="0" y="328739"/>
                  </a:moveTo>
                  <a:lnTo>
                    <a:pt x="4971161" y="328739"/>
                  </a:lnTo>
                  <a:lnTo>
                    <a:pt x="4971161" y="0"/>
                  </a:lnTo>
                  <a:lnTo>
                    <a:pt x="0" y="0"/>
                  </a:lnTo>
                  <a:lnTo>
                    <a:pt x="0" y="328739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007108" y="4003573"/>
              <a:ext cx="1743710" cy="398780"/>
            </a:xfrm>
            <a:custGeom>
              <a:avLst/>
              <a:gdLst/>
              <a:ahLst/>
              <a:cxnLst/>
              <a:rect l="l" t="t" r="r" b="b"/>
              <a:pathLst>
                <a:path w="1743710" h="398779">
                  <a:moveTo>
                    <a:pt x="1743201" y="0"/>
                  </a:moveTo>
                  <a:lnTo>
                    <a:pt x="0" y="0"/>
                  </a:lnTo>
                  <a:lnTo>
                    <a:pt x="0" y="398627"/>
                  </a:lnTo>
                  <a:lnTo>
                    <a:pt x="1743201" y="398627"/>
                  </a:lnTo>
                  <a:lnTo>
                    <a:pt x="1743201" y="0"/>
                  </a:lnTo>
                  <a:close/>
                </a:path>
              </a:pathLst>
            </a:custGeom>
            <a:solidFill>
              <a:srgbClr val="436F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008632" y="4005097"/>
              <a:ext cx="1743710" cy="398780"/>
            </a:xfrm>
            <a:custGeom>
              <a:avLst/>
              <a:gdLst/>
              <a:ahLst/>
              <a:cxnLst/>
              <a:rect l="l" t="t" r="r" b="b"/>
              <a:pathLst>
                <a:path w="1743710" h="398779">
                  <a:moveTo>
                    <a:pt x="0" y="398627"/>
                  </a:moveTo>
                  <a:lnTo>
                    <a:pt x="1743201" y="398627"/>
                  </a:lnTo>
                  <a:lnTo>
                    <a:pt x="1743201" y="0"/>
                  </a:lnTo>
                  <a:lnTo>
                    <a:pt x="0" y="0"/>
                  </a:lnTo>
                  <a:lnTo>
                    <a:pt x="0" y="398627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2007107" y="4003573"/>
            <a:ext cx="1743710" cy="39878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09855">
              <a:lnSpc>
                <a:spcPct val="100000"/>
              </a:lnSpc>
              <a:spcBef>
                <a:spcPts val="195"/>
              </a:spcBef>
            </a:pPr>
            <a:r>
              <a:rPr sz="1650" dirty="0">
                <a:solidFill>
                  <a:srgbClr val="FFFFFF"/>
                </a:solidFill>
                <a:latin typeface="Calibri"/>
                <a:cs typeface="Calibri"/>
              </a:rPr>
              <a:t>La</a:t>
            </a:r>
            <a:r>
              <a:rPr sz="165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FFFFFF"/>
                </a:solidFill>
                <a:latin typeface="Calibri"/>
                <a:cs typeface="Calibri"/>
              </a:rPr>
              <a:t>confidentialité</a:t>
            </a:r>
            <a:endParaRPr sz="1650">
              <a:latin typeface="Calibri"/>
              <a:cs typeface="Calibri"/>
            </a:endParaRPr>
          </a:p>
        </p:txBody>
      </p:sp>
      <p:pic>
        <p:nvPicPr>
          <p:cNvPr id="28" name="object 2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64964" y="3628644"/>
            <a:ext cx="4971288" cy="329184"/>
          </a:xfrm>
          <a:prstGeom prst="rect">
            <a:avLst/>
          </a:prstGeom>
        </p:spPr>
      </p:pic>
      <p:sp>
        <p:nvSpPr>
          <p:cNvPr id="29" name="object 29"/>
          <p:cNvSpPr txBox="1"/>
          <p:nvPr/>
        </p:nvSpPr>
        <p:spPr>
          <a:xfrm>
            <a:off x="4664964" y="2802623"/>
            <a:ext cx="4971415" cy="328930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31470" algn="ctr">
              <a:lnSpc>
                <a:spcPct val="100000"/>
              </a:lnSpc>
              <a:spcBef>
                <a:spcPts val="170"/>
              </a:spcBef>
            </a:pPr>
            <a:r>
              <a:rPr sz="1650" spc="-10" dirty="0">
                <a:solidFill>
                  <a:srgbClr val="FFFFFF"/>
                </a:solidFill>
                <a:latin typeface="Calibri"/>
                <a:cs typeface="Calibri"/>
              </a:rPr>
              <a:t>Inaccessibilité</a:t>
            </a:r>
            <a:r>
              <a:rPr sz="165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FFFFFF"/>
                </a:solidFill>
                <a:latin typeface="Calibri"/>
                <a:cs typeface="Calibri"/>
              </a:rPr>
              <a:t>à</a:t>
            </a:r>
            <a:r>
              <a:rPr sz="165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FFFFFF"/>
                </a:solidFill>
                <a:latin typeface="Calibri"/>
                <a:cs typeface="Calibri"/>
              </a:rPr>
              <a:t>un</a:t>
            </a:r>
            <a:r>
              <a:rPr sz="165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FFFFFF"/>
                </a:solidFill>
                <a:latin typeface="Calibri"/>
                <a:cs typeface="Calibri"/>
              </a:rPr>
              <a:t>service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664964" y="3214179"/>
            <a:ext cx="4971415" cy="3289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00355" algn="ctr">
              <a:lnSpc>
                <a:spcPts val="1885"/>
              </a:lnSpc>
            </a:pPr>
            <a:r>
              <a:rPr sz="1650" spc="-10" dirty="0">
                <a:solidFill>
                  <a:srgbClr val="FFFFFF"/>
                </a:solidFill>
                <a:latin typeface="Calibri"/>
                <a:cs typeface="Calibri"/>
              </a:rPr>
              <a:t>Interruption</a:t>
            </a:r>
            <a:r>
              <a:rPr sz="165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165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FFFFFF"/>
                </a:solidFill>
                <a:latin typeface="Calibri"/>
                <a:cs typeface="Calibri"/>
              </a:rPr>
              <a:t>fonctionnement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664964" y="3628644"/>
            <a:ext cx="4971415" cy="329565"/>
          </a:xfrm>
          <a:prstGeom prst="rect">
            <a:avLst/>
          </a:prstGeom>
          <a:ln w="9144">
            <a:solidFill>
              <a:srgbClr val="446FC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26390">
              <a:lnSpc>
                <a:spcPts val="1590"/>
              </a:lnSpc>
            </a:pPr>
            <a:r>
              <a:rPr sz="1650" spc="-20" dirty="0">
                <a:solidFill>
                  <a:srgbClr val="FFFFFF"/>
                </a:solidFill>
                <a:latin typeface="Calibri"/>
                <a:cs typeface="Calibri"/>
              </a:rPr>
              <a:t>Atteinte</a:t>
            </a:r>
            <a:r>
              <a:rPr sz="165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FFFFFF"/>
                </a:solidFill>
                <a:latin typeface="Calibri"/>
                <a:cs typeface="Calibri"/>
              </a:rPr>
              <a:t>à</a:t>
            </a:r>
            <a:r>
              <a:rPr sz="165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FFFFFF"/>
                </a:solidFill>
                <a:latin typeface="Calibri"/>
                <a:cs typeface="Calibri"/>
              </a:rPr>
              <a:t>la</a:t>
            </a:r>
            <a:r>
              <a:rPr sz="165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FFFFFF"/>
                </a:solidFill>
                <a:latin typeface="Calibri"/>
                <a:cs typeface="Calibri"/>
              </a:rPr>
              <a:t>vie</a:t>
            </a:r>
            <a:r>
              <a:rPr sz="165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FFFFFF"/>
                </a:solidFill>
                <a:latin typeface="Calibri"/>
                <a:cs typeface="Calibri"/>
              </a:rPr>
              <a:t>privée</a:t>
            </a:r>
            <a:r>
              <a:rPr sz="165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FFFFFF"/>
                </a:solidFill>
                <a:latin typeface="Calibri"/>
                <a:cs typeface="Calibri"/>
              </a:rPr>
              <a:t>des</a:t>
            </a:r>
            <a:r>
              <a:rPr sz="165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FFFFFF"/>
                </a:solidFill>
                <a:latin typeface="Calibri"/>
                <a:cs typeface="Calibri"/>
              </a:rPr>
              <a:t>usagers</a:t>
            </a:r>
            <a:r>
              <a:rPr sz="165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FFFFFF"/>
                </a:solidFill>
                <a:latin typeface="Calibri"/>
                <a:cs typeface="Calibri"/>
              </a:rPr>
              <a:t>ou</a:t>
            </a:r>
            <a:r>
              <a:rPr sz="165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FFFFFF"/>
                </a:solidFill>
                <a:latin typeface="Calibri"/>
                <a:cs typeface="Calibri"/>
              </a:rPr>
              <a:t>des</a:t>
            </a:r>
            <a:r>
              <a:rPr sz="165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FFFFFF"/>
                </a:solidFill>
                <a:latin typeface="Calibri"/>
                <a:cs typeface="Calibri"/>
              </a:rPr>
              <a:t>clients</a:t>
            </a:r>
            <a:endParaRPr sz="1650">
              <a:latin typeface="Calibri"/>
              <a:cs typeface="Calibri"/>
            </a:endParaRPr>
          </a:p>
        </p:txBody>
      </p:sp>
      <p:pic>
        <p:nvPicPr>
          <p:cNvPr id="32" name="object 3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64964" y="4040123"/>
            <a:ext cx="4971288" cy="329183"/>
          </a:xfrm>
          <a:prstGeom prst="rect">
            <a:avLst/>
          </a:prstGeom>
        </p:spPr>
      </p:pic>
      <p:sp>
        <p:nvSpPr>
          <p:cNvPr id="33" name="object 33"/>
          <p:cNvSpPr txBox="1"/>
          <p:nvPr/>
        </p:nvSpPr>
        <p:spPr>
          <a:xfrm>
            <a:off x="4664964" y="4040073"/>
            <a:ext cx="4971415" cy="328930"/>
          </a:xfrm>
          <a:prstGeom prst="rect">
            <a:avLst/>
          </a:prstGeom>
          <a:ln w="9144">
            <a:solidFill>
              <a:srgbClr val="446FC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13360">
              <a:lnSpc>
                <a:spcPts val="1885"/>
              </a:lnSpc>
            </a:pPr>
            <a:r>
              <a:rPr sz="1650" spc="-35" dirty="0">
                <a:solidFill>
                  <a:srgbClr val="FFFFFF"/>
                </a:solidFill>
                <a:latin typeface="Calibri"/>
                <a:cs typeface="Calibri"/>
              </a:rPr>
              <a:t>Atteinte</a:t>
            </a:r>
            <a:r>
              <a:rPr sz="165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FFFFFF"/>
                </a:solidFill>
                <a:latin typeface="Calibri"/>
                <a:cs typeface="Calibri"/>
              </a:rPr>
              <a:t>à</a:t>
            </a:r>
            <a:r>
              <a:rPr sz="165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FFFFFF"/>
                </a:solidFill>
                <a:latin typeface="Calibri"/>
                <a:cs typeface="Calibri"/>
              </a:rPr>
              <a:t>la</a:t>
            </a:r>
            <a:r>
              <a:rPr sz="165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FFFFFF"/>
                </a:solidFill>
                <a:latin typeface="Calibri"/>
                <a:cs typeface="Calibri"/>
              </a:rPr>
              <a:t>vie</a:t>
            </a:r>
            <a:r>
              <a:rPr sz="165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FFFFFF"/>
                </a:solidFill>
                <a:latin typeface="Calibri"/>
                <a:cs typeface="Calibri"/>
              </a:rPr>
              <a:t>privée</a:t>
            </a:r>
            <a:r>
              <a:rPr sz="1650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FFFFFF"/>
                </a:solidFill>
                <a:latin typeface="Calibri"/>
                <a:cs typeface="Calibri"/>
              </a:rPr>
              <a:t>du</a:t>
            </a:r>
            <a:r>
              <a:rPr sz="165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FFFFFF"/>
                </a:solidFill>
                <a:latin typeface="Calibri"/>
                <a:cs typeface="Calibri"/>
              </a:rPr>
              <a:t>personnel</a:t>
            </a:r>
            <a:r>
              <a:rPr sz="165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1650" spc="-10" dirty="0">
                <a:solidFill>
                  <a:srgbClr val="FFFFFF"/>
                </a:solidFill>
                <a:latin typeface="Calibri"/>
                <a:cs typeface="Calibri"/>
              </a:rPr>
              <a:t> l’organisme</a:t>
            </a:r>
            <a:endParaRPr sz="1650">
              <a:latin typeface="Calibri"/>
              <a:cs typeface="Calibri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2007107" y="4451603"/>
            <a:ext cx="7629525" cy="1603375"/>
            <a:chOff x="2007107" y="4451603"/>
            <a:chExt cx="7629525" cy="1603375"/>
          </a:xfrm>
        </p:grpSpPr>
        <p:pic>
          <p:nvPicPr>
            <p:cNvPr id="35" name="object 3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64963" y="4451603"/>
              <a:ext cx="4971288" cy="329184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07107" y="5652515"/>
              <a:ext cx="1743456" cy="402336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2007107" y="5629433"/>
            <a:ext cx="1743710" cy="407034"/>
          </a:xfrm>
          <a:prstGeom prst="rect">
            <a:avLst/>
          </a:prstGeom>
          <a:ln w="9143">
            <a:solidFill>
              <a:srgbClr val="EB7A2E"/>
            </a:solidFill>
          </a:ln>
        </p:spPr>
        <p:txBody>
          <a:bodyPr vert="horz" wrap="square" lIns="0" tIns="50165" rIns="0" bIns="0" rtlCol="0">
            <a:spAutoFit/>
          </a:bodyPr>
          <a:lstStyle/>
          <a:p>
            <a:pPr marL="422275">
              <a:lnSpc>
                <a:spcPct val="100000"/>
              </a:lnSpc>
              <a:spcBef>
                <a:spcPts val="395"/>
              </a:spcBef>
            </a:pPr>
            <a:r>
              <a:rPr sz="1650" spc="-10" dirty="0">
                <a:solidFill>
                  <a:srgbClr val="FFFFFF"/>
                </a:solidFill>
                <a:latin typeface="Calibri"/>
                <a:cs typeface="Calibri"/>
              </a:rPr>
              <a:t>L’intégrité</a:t>
            </a:r>
            <a:endParaRPr sz="1650">
              <a:latin typeface="Calibri"/>
              <a:cs typeface="Calibri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4664964" y="4863084"/>
            <a:ext cx="4971415" cy="744220"/>
            <a:chOff x="4664964" y="4863084"/>
            <a:chExt cx="4971415" cy="744220"/>
          </a:xfrm>
        </p:grpSpPr>
        <p:pic>
          <p:nvPicPr>
            <p:cNvPr id="39" name="object 3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664964" y="4863084"/>
              <a:ext cx="4971288" cy="332231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664964" y="5277612"/>
              <a:ext cx="4971288" cy="329184"/>
            </a:xfrm>
            <a:prstGeom prst="rect">
              <a:avLst/>
            </a:prstGeom>
          </p:spPr>
        </p:pic>
      </p:grpSp>
      <p:sp>
        <p:nvSpPr>
          <p:cNvPr id="41" name="object 41"/>
          <p:cNvSpPr txBox="1"/>
          <p:nvPr/>
        </p:nvSpPr>
        <p:spPr>
          <a:xfrm>
            <a:off x="4664964" y="4451603"/>
            <a:ext cx="4971415" cy="329565"/>
          </a:xfrm>
          <a:prstGeom prst="rect">
            <a:avLst/>
          </a:prstGeom>
          <a:ln w="9144">
            <a:solidFill>
              <a:srgbClr val="446FC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R="69215" algn="ctr">
              <a:lnSpc>
                <a:spcPts val="1889"/>
              </a:lnSpc>
            </a:pPr>
            <a:r>
              <a:rPr sz="1650" spc="-10" dirty="0">
                <a:solidFill>
                  <a:srgbClr val="FFFFFF"/>
                </a:solidFill>
                <a:latin typeface="Calibri"/>
                <a:cs typeface="Calibri"/>
              </a:rPr>
              <a:t>Fuite</a:t>
            </a:r>
            <a:r>
              <a:rPr sz="165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FFFFFF"/>
                </a:solidFill>
                <a:latin typeface="Calibri"/>
                <a:cs typeface="Calibri"/>
              </a:rPr>
              <a:t>d’information</a:t>
            </a:r>
            <a:r>
              <a:rPr sz="165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FFFFFF"/>
                </a:solidFill>
                <a:latin typeface="Calibri"/>
                <a:cs typeface="Calibri"/>
              </a:rPr>
              <a:t>confidentielle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664964" y="4863147"/>
            <a:ext cx="4971415" cy="332105"/>
          </a:xfrm>
          <a:prstGeom prst="rect">
            <a:avLst/>
          </a:prstGeom>
          <a:ln w="9144">
            <a:solidFill>
              <a:srgbClr val="EB7A2E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R="12065" algn="ctr">
              <a:lnSpc>
                <a:spcPts val="1470"/>
              </a:lnSpc>
            </a:pPr>
            <a:r>
              <a:rPr sz="1650" spc="-10" dirty="0">
                <a:solidFill>
                  <a:srgbClr val="FFFFFF"/>
                </a:solidFill>
                <a:latin typeface="Calibri"/>
                <a:cs typeface="Calibri"/>
              </a:rPr>
              <a:t>Modification</a:t>
            </a:r>
            <a:r>
              <a:rPr sz="165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FFFFFF"/>
                </a:solidFill>
                <a:latin typeface="Calibri"/>
                <a:cs typeface="Calibri"/>
              </a:rPr>
              <a:t>accidentelle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664964" y="5277611"/>
            <a:ext cx="4971415" cy="352425"/>
          </a:xfrm>
          <a:prstGeom prst="rect">
            <a:avLst/>
          </a:prstGeom>
          <a:ln w="9144">
            <a:solidFill>
              <a:srgbClr val="EB7A2E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R="15240" algn="ctr">
              <a:lnSpc>
                <a:spcPts val="1425"/>
              </a:lnSpc>
            </a:pPr>
            <a:r>
              <a:rPr sz="1650" spc="-10" dirty="0">
                <a:solidFill>
                  <a:srgbClr val="FFFFFF"/>
                </a:solidFill>
                <a:latin typeface="Calibri"/>
                <a:cs typeface="Calibri"/>
              </a:rPr>
              <a:t>Modification</a:t>
            </a:r>
            <a:r>
              <a:rPr sz="165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FFFFFF"/>
                </a:solidFill>
                <a:latin typeface="Calibri"/>
                <a:cs typeface="Calibri"/>
              </a:rPr>
              <a:t>délibérée</a:t>
            </a:r>
            <a:endParaRPr sz="1650">
              <a:latin typeface="Calibri"/>
              <a:cs typeface="Calibri"/>
            </a:endParaRPr>
          </a:p>
        </p:txBody>
      </p:sp>
      <p:pic>
        <p:nvPicPr>
          <p:cNvPr id="44" name="object 4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664964" y="5689091"/>
            <a:ext cx="4971288" cy="329184"/>
          </a:xfrm>
          <a:prstGeom prst="rect">
            <a:avLst/>
          </a:prstGeom>
        </p:spPr>
      </p:pic>
      <p:sp>
        <p:nvSpPr>
          <p:cNvPr id="45" name="object 45"/>
          <p:cNvSpPr txBox="1"/>
          <p:nvPr/>
        </p:nvSpPr>
        <p:spPr>
          <a:xfrm>
            <a:off x="4664964" y="5689091"/>
            <a:ext cx="4971415" cy="347345"/>
          </a:xfrm>
          <a:prstGeom prst="rect">
            <a:avLst/>
          </a:prstGeom>
          <a:ln w="9144">
            <a:solidFill>
              <a:srgbClr val="EB7A2E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R="99060" algn="ctr">
              <a:lnSpc>
                <a:spcPts val="1905"/>
              </a:lnSpc>
            </a:pPr>
            <a:r>
              <a:rPr sz="1650" spc="-20" dirty="0">
                <a:solidFill>
                  <a:srgbClr val="FFFFFF"/>
                </a:solidFill>
                <a:latin typeface="Calibri"/>
                <a:cs typeface="Calibri"/>
              </a:rPr>
              <a:t>Résultats</a:t>
            </a:r>
            <a:r>
              <a:rPr sz="165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FFFFFF"/>
                </a:solidFill>
                <a:latin typeface="Calibri"/>
                <a:cs typeface="Calibri"/>
              </a:rPr>
              <a:t>incorrects</a:t>
            </a:r>
            <a:endParaRPr sz="1650">
              <a:latin typeface="Calibri"/>
              <a:cs typeface="Calibri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4664964" y="6100571"/>
            <a:ext cx="4971415" cy="744220"/>
            <a:chOff x="4664964" y="6100571"/>
            <a:chExt cx="4971415" cy="744220"/>
          </a:xfrm>
        </p:grpSpPr>
        <p:pic>
          <p:nvPicPr>
            <p:cNvPr id="47" name="object 4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664964" y="6100571"/>
              <a:ext cx="4971288" cy="329184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664964" y="6512050"/>
              <a:ext cx="4971288" cy="332230"/>
            </a:xfrm>
            <a:prstGeom prst="rect">
              <a:avLst/>
            </a:prstGeom>
          </p:spPr>
        </p:pic>
      </p:grpSp>
      <p:sp>
        <p:nvSpPr>
          <p:cNvPr id="49" name="object 49"/>
          <p:cNvSpPr txBox="1"/>
          <p:nvPr/>
        </p:nvSpPr>
        <p:spPr>
          <a:xfrm>
            <a:off x="4664964" y="6100571"/>
            <a:ext cx="4971415" cy="332105"/>
          </a:xfrm>
          <a:prstGeom prst="rect">
            <a:avLst/>
          </a:prstGeom>
          <a:ln w="9144">
            <a:solidFill>
              <a:srgbClr val="EB7A2E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R="13335" algn="ctr">
              <a:lnSpc>
                <a:spcPts val="1914"/>
              </a:lnSpc>
            </a:pPr>
            <a:r>
              <a:rPr sz="1650" spc="-20" dirty="0">
                <a:solidFill>
                  <a:srgbClr val="FFFFFF"/>
                </a:solidFill>
                <a:latin typeface="Calibri"/>
                <a:cs typeface="Calibri"/>
              </a:rPr>
              <a:t>Résultats</a:t>
            </a:r>
            <a:r>
              <a:rPr sz="165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FFFFFF"/>
                </a:solidFill>
                <a:latin typeface="Calibri"/>
                <a:cs typeface="Calibri"/>
              </a:rPr>
              <a:t>incomplets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4664964" y="6512052"/>
            <a:ext cx="4971415" cy="332105"/>
          </a:xfrm>
          <a:prstGeom prst="rect">
            <a:avLst/>
          </a:prstGeom>
          <a:ln w="9144">
            <a:solidFill>
              <a:srgbClr val="EB7A2E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R="3810" algn="ctr">
              <a:lnSpc>
                <a:spcPts val="1889"/>
              </a:lnSpc>
            </a:pPr>
            <a:r>
              <a:rPr sz="1650" spc="-30" dirty="0">
                <a:solidFill>
                  <a:srgbClr val="FFFFFF"/>
                </a:solidFill>
                <a:latin typeface="Calibri"/>
                <a:cs typeface="Calibri"/>
              </a:rPr>
              <a:t>Perte</a:t>
            </a:r>
            <a:r>
              <a:rPr sz="165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165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FFFFFF"/>
                </a:solidFill>
                <a:latin typeface="Calibri"/>
                <a:cs typeface="Calibri"/>
              </a:rPr>
              <a:t>données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329184" y="1321308"/>
            <a:ext cx="10241280" cy="424180"/>
          </a:xfrm>
          <a:custGeom>
            <a:avLst/>
            <a:gdLst/>
            <a:ahLst/>
            <a:cxnLst/>
            <a:rect l="l" t="t" r="r" b="b"/>
            <a:pathLst>
              <a:path w="10241280" h="424180">
                <a:moveTo>
                  <a:pt x="10241280" y="0"/>
                </a:moveTo>
                <a:lnTo>
                  <a:pt x="0" y="0"/>
                </a:lnTo>
                <a:lnTo>
                  <a:pt x="0" y="423672"/>
                </a:lnTo>
                <a:lnTo>
                  <a:pt x="10241280" y="423672"/>
                </a:lnTo>
                <a:lnTo>
                  <a:pt x="1024128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 txBox="1"/>
          <p:nvPr/>
        </p:nvSpPr>
        <p:spPr>
          <a:xfrm>
            <a:off x="329184" y="1321308"/>
            <a:ext cx="10241280" cy="424180"/>
          </a:xfrm>
          <a:prstGeom prst="rect">
            <a:avLst/>
          </a:prstGeom>
          <a:ln w="12192">
            <a:solidFill>
              <a:srgbClr val="A2A2A2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9060">
              <a:lnSpc>
                <a:spcPts val="3120"/>
              </a:lnSpc>
            </a:pPr>
            <a:r>
              <a:rPr sz="2850" spc="-20" dirty="0">
                <a:solidFill>
                  <a:srgbClr val="1D1B0F"/>
                </a:solidFill>
                <a:latin typeface="Calibri"/>
                <a:cs typeface="Calibri"/>
              </a:rPr>
              <a:t>Changement</a:t>
            </a:r>
            <a:r>
              <a:rPr sz="2850" spc="-114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850" dirty="0">
                <a:solidFill>
                  <a:srgbClr val="1D1B0F"/>
                </a:solidFill>
                <a:latin typeface="Calibri"/>
                <a:cs typeface="Calibri"/>
              </a:rPr>
              <a:t>négatif</a:t>
            </a:r>
            <a:r>
              <a:rPr sz="2850" spc="-6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850" dirty="0">
                <a:solidFill>
                  <a:srgbClr val="1D1B0F"/>
                </a:solidFill>
                <a:latin typeface="Calibri"/>
                <a:cs typeface="Calibri"/>
              </a:rPr>
              <a:t>pénalisant</a:t>
            </a:r>
            <a:r>
              <a:rPr sz="2850" spc="-8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850" dirty="0">
                <a:solidFill>
                  <a:srgbClr val="1D1B0F"/>
                </a:solidFill>
                <a:latin typeface="Calibri"/>
                <a:cs typeface="Calibri"/>
              </a:rPr>
              <a:t>le</a:t>
            </a:r>
            <a:r>
              <a:rPr sz="2850" spc="-8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850" dirty="0">
                <a:solidFill>
                  <a:srgbClr val="1D1B0F"/>
                </a:solidFill>
                <a:latin typeface="Calibri"/>
                <a:cs typeface="Calibri"/>
              </a:rPr>
              <a:t>niveau</a:t>
            </a:r>
            <a:r>
              <a:rPr sz="2850" spc="-4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850" dirty="0">
                <a:solidFill>
                  <a:srgbClr val="1D1B0F"/>
                </a:solidFill>
                <a:latin typeface="Calibri"/>
                <a:cs typeface="Calibri"/>
              </a:rPr>
              <a:t>des</a:t>
            </a:r>
            <a:r>
              <a:rPr sz="2850" spc="-7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850" dirty="0">
                <a:solidFill>
                  <a:srgbClr val="1D1B0F"/>
                </a:solidFill>
                <a:latin typeface="Calibri"/>
                <a:cs typeface="Calibri"/>
              </a:rPr>
              <a:t>objets</a:t>
            </a:r>
            <a:r>
              <a:rPr sz="2850" spc="-6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850" dirty="0">
                <a:solidFill>
                  <a:srgbClr val="1D1B0F"/>
                </a:solidFill>
                <a:latin typeface="Calibri"/>
                <a:cs typeface="Calibri"/>
              </a:rPr>
              <a:t>métier</a:t>
            </a:r>
            <a:r>
              <a:rPr sz="2850" spc="-12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850" spc="-10" dirty="0">
                <a:solidFill>
                  <a:srgbClr val="1D1B0F"/>
                </a:solidFill>
                <a:latin typeface="Calibri"/>
                <a:cs typeface="Calibri"/>
              </a:rPr>
              <a:t>atteints</a:t>
            </a:r>
            <a:endParaRPr sz="28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47293" rIns="0" bIns="0" rtlCol="0">
            <a:spAutoFit/>
          </a:bodyPr>
          <a:lstStyle/>
          <a:p>
            <a:pPr marL="116078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Relation</a:t>
            </a:r>
            <a:r>
              <a:rPr dirty="0"/>
              <a:t> </a:t>
            </a:r>
            <a:r>
              <a:rPr spc="-25" dirty="0"/>
              <a:t>vulnérabilité-</a:t>
            </a:r>
            <a:r>
              <a:rPr spc="-30" dirty="0"/>
              <a:t>menace-</a:t>
            </a:r>
            <a:r>
              <a:rPr spc="-10" dirty="0"/>
              <a:t>impact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160513" y="1844420"/>
          <a:ext cx="9658350" cy="4775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1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19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1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1005">
                <a:tc>
                  <a:txBody>
                    <a:bodyPr/>
                    <a:lstStyle/>
                    <a:p>
                      <a:pPr marL="4445" algn="ctr">
                        <a:lnSpc>
                          <a:spcPts val="2100"/>
                        </a:lnSpc>
                      </a:pPr>
                      <a:r>
                        <a:rPr sz="22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Vulnérabilité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2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ts val="2100"/>
                        </a:lnSpc>
                      </a:pPr>
                      <a:r>
                        <a:rPr sz="22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Menace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2"/>
                    </a:solidFill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2100"/>
                        </a:lnSpc>
                      </a:pPr>
                      <a:r>
                        <a:rPr sz="22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Impact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5305">
                <a:tc>
                  <a:txBody>
                    <a:bodyPr/>
                    <a:lstStyle/>
                    <a:p>
                      <a:pPr marL="4445" algn="ctr">
                        <a:lnSpc>
                          <a:spcPts val="2100"/>
                        </a:lnSpc>
                      </a:pPr>
                      <a:r>
                        <a:rPr sz="2200" spc="-2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Entrepôt</a:t>
                      </a:r>
                      <a:r>
                        <a:rPr sz="2200" spc="-7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200" spc="-1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sans</a:t>
                      </a:r>
                      <a:r>
                        <a:rPr sz="2200" spc="-55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200" spc="-1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surveillance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B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2100"/>
                        </a:lnSpc>
                      </a:pPr>
                      <a:r>
                        <a:rPr sz="2200" spc="-5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Vol</a:t>
                      </a:r>
                      <a:r>
                        <a:rPr sz="2200" spc="-10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200" spc="-1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d’équipement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B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2100"/>
                        </a:lnSpc>
                      </a:pPr>
                      <a:r>
                        <a:rPr sz="2200" spc="-2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Pertes</a:t>
                      </a:r>
                      <a:r>
                        <a:rPr sz="2200" spc="-9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200" spc="-1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financière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2475">
                <a:tc>
                  <a:txBody>
                    <a:bodyPr/>
                    <a:lstStyle/>
                    <a:p>
                      <a:pPr marL="3810" algn="ctr">
                        <a:lnSpc>
                          <a:spcPts val="1995"/>
                        </a:lnSpc>
                      </a:pPr>
                      <a:r>
                        <a:rPr sz="2200" spc="-25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Interface</a:t>
                      </a:r>
                      <a:r>
                        <a:rPr sz="2200" spc="-75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200" spc="-1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utilisateur</a:t>
                      </a:r>
                      <a:endParaRPr sz="2200">
                        <a:latin typeface="Calibri"/>
                        <a:cs typeface="Calibri"/>
                      </a:endParaRPr>
                    </a:p>
                    <a:p>
                      <a:pPr marL="3175" algn="ctr">
                        <a:lnSpc>
                          <a:spcPts val="2615"/>
                        </a:lnSpc>
                      </a:pPr>
                      <a:r>
                        <a:rPr sz="2200" spc="-1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compliquée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6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ts val="2100"/>
                        </a:lnSpc>
                      </a:pPr>
                      <a:r>
                        <a:rPr sz="2200" spc="-1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Erreur</a:t>
                      </a:r>
                      <a:r>
                        <a:rPr sz="2200" spc="-11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sz="2200" spc="-35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saisi</a:t>
                      </a:r>
                      <a:r>
                        <a:rPr sz="2200" spc="-114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sz="2200" spc="-55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200" spc="-1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données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95"/>
                        </a:lnSpc>
                      </a:pPr>
                      <a:r>
                        <a:rPr sz="2200" spc="-1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Base</a:t>
                      </a:r>
                      <a:r>
                        <a:rPr sz="2200" spc="-105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sz="2200" spc="-3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200" spc="-1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données</a:t>
                      </a:r>
                      <a:endParaRPr sz="2200">
                        <a:latin typeface="Calibri"/>
                        <a:cs typeface="Calibri"/>
                      </a:endParaRPr>
                    </a:p>
                    <a:p>
                      <a:pPr marL="8890" algn="ctr">
                        <a:lnSpc>
                          <a:spcPts val="2615"/>
                        </a:lnSpc>
                      </a:pPr>
                      <a:r>
                        <a:rPr sz="2200" spc="-1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corrompue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0890">
                <a:tc>
                  <a:txBody>
                    <a:bodyPr/>
                    <a:lstStyle/>
                    <a:p>
                      <a:pPr marL="2540" algn="ctr">
                        <a:lnSpc>
                          <a:spcPts val="1995"/>
                        </a:lnSpc>
                      </a:pPr>
                      <a:r>
                        <a:rPr sz="2200" spc="-1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Ligne</a:t>
                      </a:r>
                      <a:r>
                        <a:rPr sz="2200" spc="-11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sz="2200" spc="-55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200" spc="-1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communication</a:t>
                      </a:r>
                      <a:endParaRPr sz="2200">
                        <a:latin typeface="Calibri"/>
                        <a:cs typeface="Calibri"/>
                      </a:endParaRPr>
                    </a:p>
                    <a:p>
                      <a:pPr marL="5080" algn="ctr">
                        <a:lnSpc>
                          <a:spcPts val="2615"/>
                        </a:lnSpc>
                      </a:pPr>
                      <a:r>
                        <a:rPr sz="220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non</a:t>
                      </a:r>
                      <a:r>
                        <a:rPr sz="2200" spc="-85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200" spc="-1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protégée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B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2510"/>
                        </a:lnSpc>
                      </a:pPr>
                      <a:r>
                        <a:rPr sz="2200" spc="-3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Ecoute</a:t>
                      </a:r>
                      <a:r>
                        <a:rPr sz="2200" spc="-8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200" spc="-1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électronique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B"/>
                    </a:solidFill>
                  </a:tcPr>
                </a:tc>
                <a:tc>
                  <a:txBody>
                    <a:bodyPr/>
                    <a:lstStyle/>
                    <a:p>
                      <a:pPr marL="581025">
                        <a:lnSpc>
                          <a:spcPts val="1995"/>
                        </a:lnSpc>
                      </a:pPr>
                      <a:r>
                        <a:rPr sz="2200" spc="-25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Interception</a:t>
                      </a:r>
                      <a:r>
                        <a:rPr sz="2200" spc="-35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200" spc="-25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des</a:t>
                      </a:r>
                      <a:endParaRPr sz="2200">
                        <a:latin typeface="Calibri"/>
                        <a:cs typeface="Calibri"/>
                      </a:endParaRPr>
                    </a:p>
                    <a:p>
                      <a:pPr marL="573405">
                        <a:lnSpc>
                          <a:spcPts val="2615"/>
                        </a:lnSpc>
                      </a:pPr>
                      <a:r>
                        <a:rPr sz="2200" spc="-1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communications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3110">
                <a:tc>
                  <a:txBody>
                    <a:bodyPr/>
                    <a:lstStyle/>
                    <a:p>
                      <a:pPr marL="335280">
                        <a:lnSpc>
                          <a:spcPts val="1900"/>
                        </a:lnSpc>
                      </a:pPr>
                      <a:r>
                        <a:rPr sz="2200" spc="-5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Transfert</a:t>
                      </a:r>
                      <a:r>
                        <a:rPr sz="2200" spc="-55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des</a:t>
                      </a:r>
                      <a:r>
                        <a:rPr sz="2200" spc="-85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200" spc="-1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mots</a:t>
                      </a:r>
                      <a:r>
                        <a:rPr sz="2200" spc="-105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200" spc="-25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de</a:t>
                      </a:r>
                      <a:endParaRPr sz="2200">
                        <a:latin typeface="Calibri"/>
                        <a:cs typeface="Calibri"/>
                      </a:endParaRPr>
                    </a:p>
                    <a:p>
                      <a:pPr marL="723900">
                        <a:lnSpc>
                          <a:spcPts val="2420"/>
                        </a:lnSpc>
                      </a:pPr>
                      <a:r>
                        <a:rPr sz="220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passe</a:t>
                      </a:r>
                      <a:r>
                        <a:rPr sz="2200" spc="-95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en</a:t>
                      </a:r>
                      <a:r>
                        <a:rPr sz="2200" spc="-65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200" spc="-2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clair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6"/>
                    </a:solidFill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ts val="2515"/>
                        </a:lnSpc>
                      </a:pPr>
                      <a:r>
                        <a:rPr sz="2200" spc="-1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Hacker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6"/>
                    </a:solidFill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ts val="2515"/>
                        </a:lnSpc>
                      </a:pPr>
                      <a:r>
                        <a:rPr sz="2200" spc="-4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Vol</a:t>
                      </a:r>
                      <a:r>
                        <a:rPr sz="2200" spc="-10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200" spc="-1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d’information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07110">
                <a:tc>
                  <a:txBody>
                    <a:bodyPr/>
                    <a:lstStyle/>
                    <a:p>
                      <a:pPr marL="178435">
                        <a:lnSpc>
                          <a:spcPts val="1900"/>
                        </a:lnSpc>
                      </a:pPr>
                      <a:r>
                        <a:rPr sz="2200" spc="-2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Absence</a:t>
                      </a:r>
                      <a:r>
                        <a:rPr sz="2200" spc="-95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sz="2200" spc="-45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200" spc="-2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processus</a:t>
                      </a:r>
                      <a:r>
                        <a:rPr sz="2200" spc="-45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200" spc="-25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de</a:t>
                      </a:r>
                      <a:endParaRPr sz="2200">
                        <a:latin typeface="Calibri"/>
                        <a:cs typeface="Calibri"/>
                      </a:endParaRPr>
                    </a:p>
                    <a:p>
                      <a:pPr marL="269875">
                        <a:lnSpc>
                          <a:spcPts val="2420"/>
                        </a:lnSpc>
                      </a:pPr>
                      <a:r>
                        <a:rPr sz="2200" spc="-1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gestion</a:t>
                      </a:r>
                      <a:r>
                        <a:rPr sz="2200" spc="-105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des</a:t>
                      </a:r>
                      <a:r>
                        <a:rPr sz="2200" spc="-10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200" spc="-1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documents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B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ts val="2525"/>
                        </a:lnSpc>
                      </a:pPr>
                      <a:r>
                        <a:rPr sz="2200" spc="-2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Corruption</a:t>
                      </a:r>
                      <a:r>
                        <a:rPr sz="2200" spc="-55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des</a:t>
                      </a:r>
                      <a:r>
                        <a:rPr sz="2200" spc="-85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200" spc="-1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données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B"/>
                    </a:solidFill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ts val="2525"/>
                        </a:lnSpc>
                      </a:pPr>
                      <a:r>
                        <a:rPr sz="2200" spc="-25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Documentation </a:t>
                      </a:r>
                      <a:r>
                        <a:rPr sz="2200" spc="-1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obsolète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5305">
                <a:tc>
                  <a:txBody>
                    <a:bodyPr/>
                    <a:lstStyle/>
                    <a:p>
                      <a:pPr marL="3175" algn="ctr">
                        <a:lnSpc>
                          <a:spcPts val="2525"/>
                        </a:lnSpc>
                      </a:pPr>
                      <a:r>
                        <a:rPr sz="2200" spc="-1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Sensibilité</a:t>
                      </a:r>
                      <a:r>
                        <a:rPr sz="2200" spc="-95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à</a:t>
                      </a:r>
                      <a:r>
                        <a:rPr sz="2200" spc="-7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200" spc="-1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l’humidité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6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ts val="2525"/>
                        </a:lnSpc>
                      </a:pPr>
                      <a:r>
                        <a:rPr sz="2200" spc="-1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Corrosion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6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2525"/>
                        </a:lnSpc>
                      </a:pPr>
                      <a:r>
                        <a:rPr sz="2200" spc="-1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Echec</a:t>
                      </a:r>
                      <a:r>
                        <a:rPr sz="2200" spc="-9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sz="2200" spc="-85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200" spc="-10" dirty="0">
                          <a:solidFill>
                            <a:srgbClr val="1D1B0F"/>
                          </a:solidFill>
                          <a:latin typeface="Calibri"/>
                          <a:cs typeface="Calibri"/>
                        </a:rPr>
                        <a:t>l’équipement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15695" y="1428369"/>
            <a:ext cx="9973310" cy="3642995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316230" indent="-311150">
              <a:lnSpc>
                <a:spcPct val="100000"/>
              </a:lnSpc>
              <a:spcBef>
                <a:spcPts val="600"/>
              </a:spcBef>
              <a:buSzPct val="97916"/>
              <a:buFont typeface="Arial MT"/>
              <a:buChar char="□"/>
              <a:tabLst>
                <a:tab pos="316230" algn="l"/>
              </a:tabLst>
            </a:pPr>
            <a:r>
              <a:rPr sz="2400" spc="-25" dirty="0">
                <a:solidFill>
                  <a:srgbClr val="1D1B0F"/>
                </a:solidFill>
                <a:latin typeface="Calibri"/>
                <a:cs typeface="Calibri"/>
              </a:rPr>
              <a:t>Combinaison</a:t>
            </a:r>
            <a:r>
              <a:rPr sz="2400" spc="-7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D1B0F"/>
                </a:solidFill>
                <a:latin typeface="Calibri"/>
                <a:cs typeface="Calibri"/>
              </a:rPr>
              <a:t>d'une</a:t>
            </a:r>
            <a:r>
              <a:rPr sz="2400" spc="-12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menace</a:t>
            </a:r>
            <a:r>
              <a:rPr sz="2400" spc="-7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et</a:t>
            </a:r>
            <a:r>
              <a:rPr sz="2400" spc="-7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des</a:t>
            </a:r>
            <a:r>
              <a:rPr sz="2400" spc="-8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D1B0F"/>
                </a:solidFill>
                <a:latin typeface="Calibri"/>
                <a:cs typeface="Calibri"/>
              </a:rPr>
              <a:t>pertes</a:t>
            </a:r>
            <a:r>
              <a:rPr sz="2400" spc="-9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D1B0F"/>
                </a:solidFill>
                <a:latin typeface="Calibri"/>
                <a:cs typeface="Calibri"/>
              </a:rPr>
              <a:t>qu'elle</a:t>
            </a:r>
            <a:r>
              <a:rPr sz="2400" spc="-11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peut</a:t>
            </a:r>
            <a:r>
              <a:rPr sz="2400" spc="-9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D1B0F"/>
                </a:solidFill>
                <a:latin typeface="Calibri"/>
                <a:cs typeface="Calibri"/>
              </a:rPr>
              <a:t>engendrer</a:t>
            </a:r>
            <a:endParaRPr sz="2400">
              <a:latin typeface="Calibri"/>
              <a:cs typeface="Calibri"/>
            </a:endParaRPr>
          </a:p>
          <a:p>
            <a:pPr marL="315595" marR="358775" indent="-311150">
              <a:lnSpc>
                <a:spcPct val="100000"/>
              </a:lnSpc>
              <a:spcBef>
                <a:spcPts val="505"/>
              </a:spcBef>
              <a:buSzPct val="97916"/>
              <a:buFont typeface="Arial MT"/>
              <a:buChar char="□"/>
              <a:tabLst>
                <a:tab pos="317500" algn="l"/>
              </a:tabLst>
            </a:pP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La</a:t>
            </a:r>
            <a:r>
              <a:rPr sz="2400" spc="-10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1D1B0F"/>
                </a:solidFill>
                <a:latin typeface="Calibri"/>
                <a:cs typeface="Calibri"/>
              </a:rPr>
              <a:t>potentialité</a:t>
            </a:r>
            <a:r>
              <a:rPr sz="2400" spc="4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de</a:t>
            </a:r>
            <a:r>
              <a:rPr sz="2400" spc="-6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spc="-35" dirty="0">
                <a:solidFill>
                  <a:srgbClr val="1D1B0F"/>
                </a:solidFill>
                <a:latin typeface="Calibri"/>
                <a:cs typeface="Calibri"/>
              </a:rPr>
              <a:t>l'exploitation</a:t>
            </a:r>
            <a:r>
              <a:rPr sz="2400" spc="-8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de</a:t>
            </a:r>
            <a:r>
              <a:rPr sz="2400" spc="-7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spc="-30" dirty="0">
                <a:solidFill>
                  <a:srgbClr val="1D1B0F"/>
                </a:solidFill>
                <a:latin typeface="Calibri"/>
                <a:cs typeface="Calibri"/>
              </a:rPr>
              <a:t>vulnérabilité</a:t>
            </a:r>
            <a:r>
              <a:rPr sz="2400" spc="-1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par</a:t>
            </a:r>
            <a:r>
              <a:rPr sz="2400" spc="-6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un</a:t>
            </a:r>
            <a:r>
              <a:rPr sz="2400" spc="-7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élément</a:t>
            </a:r>
            <a:r>
              <a:rPr sz="2400" spc="-6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1D1B0F"/>
                </a:solidFill>
                <a:latin typeface="Calibri"/>
                <a:cs typeface="Calibri"/>
              </a:rPr>
              <a:t>menaçant</a:t>
            </a:r>
            <a:r>
              <a:rPr sz="2400" spc="-114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1D1B0F"/>
                </a:solidFill>
                <a:latin typeface="Calibri"/>
                <a:cs typeface="Calibri"/>
              </a:rPr>
              <a:t>et 	</a:t>
            </a:r>
            <a:r>
              <a:rPr sz="2400" spc="-10" dirty="0">
                <a:solidFill>
                  <a:srgbClr val="1D1B0F"/>
                </a:solidFill>
                <a:latin typeface="Calibri"/>
                <a:cs typeface="Calibri"/>
              </a:rPr>
              <a:t>son</a:t>
            </a:r>
            <a:r>
              <a:rPr sz="2400" spc="-10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impact</a:t>
            </a:r>
            <a:r>
              <a:rPr sz="2400" spc="-10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sur</a:t>
            </a:r>
            <a:r>
              <a:rPr sz="2400" spc="-7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D1B0F"/>
                </a:solidFill>
                <a:latin typeface="Calibri"/>
                <a:cs typeface="Calibri"/>
              </a:rPr>
              <a:t>l'organisme.</a:t>
            </a:r>
            <a:endParaRPr sz="2400">
              <a:latin typeface="Calibri"/>
              <a:cs typeface="Calibri"/>
            </a:endParaRPr>
          </a:p>
          <a:p>
            <a:pPr marL="316230" indent="-311150">
              <a:lnSpc>
                <a:spcPct val="100000"/>
              </a:lnSpc>
              <a:spcBef>
                <a:spcPts val="204"/>
              </a:spcBef>
              <a:buSzPct val="97916"/>
              <a:buFont typeface="Arial MT"/>
              <a:buChar char="□"/>
              <a:tabLst>
                <a:tab pos="316230" algn="l"/>
              </a:tabLst>
            </a:pP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Utile</a:t>
            </a:r>
            <a:r>
              <a:rPr sz="2400" spc="-8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D1B0F"/>
                </a:solidFill>
                <a:latin typeface="Calibri"/>
                <a:cs typeface="Calibri"/>
              </a:rPr>
              <a:t>pour</a:t>
            </a:r>
            <a:r>
              <a:rPr sz="2400" spc="-14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1D1B0F"/>
                </a:solidFill>
                <a:latin typeface="Calibri"/>
                <a:cs typeface="Calibri"/>
              </a:rPr>
              <a:t>évaluer</a:t>
            </a:r>
            <a:r>
              <a:rPr sz="2400" spc="-7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la</a:t>
            </a:r>
            <a:r>
              <a:rPr sz="2400" spc="-5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spc="-30" dirty="0">
                <a:solidFill>
                  <a:srgbClr val="1D1B0F"/>
                </a:solidFill>
                <a:latin typeface="Calibri"/>
                <a:cs typeface="Calibri"/>
              </a:rPr>
              <a:t>probabilité</a:t>
            </a:r>
            <a:r>
              <a:rPr sz="2400" spc="2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spc="-30" dirty="0">
                <a:solidFill>
                  <a:srgbClr val="1D1B0F"/>
                </a:solidFill>
                <a:latin typeface="Calibri"/>
                <a:cs typeface="Calibri"/>
              </a:rPr>
              <a:t>d’un</a:t>
            </a:r>
            <a:r>
              <a:rPr sz="2400" spc="-12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type</a:t>
            </a:r>
            <a:r>
              <a:rPr sz="2400" spc="-8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D1B0F"/>
                </a:solidFill>
                <a:latin typeface="Calibri"/>
                <a:cs typeface="Calibri"/>
              </a:rPr>
              <a:t>d’incident</a:t>
            </a:r>
            <a:r>
              <a:rPr sz="2400" spc="-12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D1B0F"/>
                </a:solidFill>
                <a:latin typeface="Calibri"/>
                <a:cs typeface="Calibri"/>
              </a:rPr>
              <a:t>donné</a:t>
            </a:r>
            <a:endParaRPr sz="2400">
              <a:latin typeface="Calibri"/>
              <a:cs typeface="Calibri"/>
            </a:endParaRPr>
          </a:p>
          <a:p>
            <a:pPr marL="315595" marR="5080" indent="-311150">
              <a:lnSpc>
                <a:spcPct val="100000"/>
              </a:lnSpc>
              <a:spcBef>
                <a:spcPts val="1900"/>
              </a:spcBef>
              <a:buSzPct val="97916"/>
              <a:buFont typeface="Arial MT"/>
              <a:buChar char="□"/>
              <a:tabLst>
                <a:tab pos="317500" algn="l"/>
              </a:tabLst>
            </a:pPr>
            <a:r>
              <a:rPr sz="2400" spc="-10" dirty="0">
                <a:solidFill>
                  <a:srgbClr val="1D1B0F"/>
                </a:solidFill>
                <a:latin typeface="Calibri"/>
                <a:cs typeface="Calibri"/>
              </a:rPr>
              <a:t>Afin</a:t>
            </a:r>
            <a:r>
              <a:rPr sz="2400" spc="-12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de</a:t>
            </a:r>
            <a:r>
              <a:rPr sz="2400" spc="-7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1D1B0F"/>
                </a:solidFill>
                <a:latin typeface="Calibri"/>
                <a:cs typeface="Calibri"/>
              </a:rPr>
              <a:t>réduire</a:t>
            </a:r>
            <a:r>
              <a:rPr sz="2400" spc="-9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le</a:t>
            </a:r>
            <a:r>
              <a:rPr sz="2400" spc="-7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D1B0F"/>
                </a:solidFill>
                <a:latin typeface="Calibri"/>
                <a:cs typeface="Calibri"/>
              </a:rPr>
              <a:t>danger</a:t>
            </a:r>
            <a:r>
              <a:rPr sz="2400" spc="-12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à</a:t>
            </a:r>
            <a:r>
              <a:rPr sz="2400" spc="-5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des</a:t>
            </a:r>
            <a:r>
              <a:rPr sz="2400" spc="-8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D1B0F"/>
                </a:solidFill>
                <a:latin typeface="Calibri"/>
                <a:cs typeface="Calibri"/>
              </a:rPr>
              <a:t>niveaux</a:t>
            </a:r>
            <a:r>
              <a:rPr sz="2400" spc="-12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acceptables,</a:t>
            </a:r>
            <a:r>
              <a:rPr sz="2400" spc="-3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spc="-80" dirty="0">
                <a:solidFill>
                  <a:srgbClr val="1D1B0F"/>
                </a:solidFill>
                <a:latin typeface="Calibri"/>
                <a:cs typeface="Calibri"/>
              </a:rPr>
              <a:t>c’est-</a:t>
            </a:r>
            <a:r>
              <a:rPr sz="2400" spc="-55" dirty="0">
                <a:solidFill>
                  <a:srgbClr val="1D1B0F"/>
                </a:solidFill>
                <a:latin typeface="Calibri"/>
                <a:cs typeface="Calibri"/>
              </a:rPr>
              <a:t>à-</a:t>
            </a:r>
            <a:r>
              <a:rPr sz="2400" spc="-20" dirty="0">
                <a:solidFill>
                  <a:srgbClr val="1D1B0F"/>
                </a:solidFill>
                <a:latin typeface="Calibri"/>
                <a:cs typeface="Calibri"/>
              </a:rPr>
              <a:t>dire</a:t>
            </a:r>
            <a:r>
              <a:rPr sz="2400" spc="-3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pour</a:t>
            </a:r>
            <a:r>
              <a:rPr sz="2400" spc="-11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assurer</a:t>
            </a:r>
            <a:r>
              <a:rPr sz="2400" spc="-4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1D1B0F"/>
                </a:solidFill>
                <a:latin typeface="Calibri"/>
                <a:cs typeface="Calibri"/>
              </a:rPr>
              <a:t>la 	</a:t>
            </a:r>
            <a:r>
              <a:rPr sz="2400" spc="-30" dirty="0">
                <a:solidFill>
                  <a:srgbClr val="1D1B0F"/>
                </a:solidFill>
                <a:latin typeface="Calibri"/>
                <a:cs typeface="Calibri"/>
              </a:rPr>
              <a:t>protection,</a:t>
            </a:r>
            <a:r>
              <a:rPr sz="2400" spc="-6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il</a:t>
            </a:r>
            <a:r>
              <a:rPr sz="2400" spc="-5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1D1B0F"/>
                </a:solidFill>
                <a:latin typeface="Calibri"/>
                <a:cs typeface="Calibri"/>
              </a:rPr>
              <a:t>faut:</a:t>
            </a:r>
            <a:endParaRPr sz="2400">
              <a:latin typeface="Calibri"/>
              <a:cs typeface="Calibri"/>
            </a:endParaRPr>
          </a:p>
          <a:p>
            <a:pPr marL="865505" lvl="1" indent="-304165">
              <a:lnSpc>
                <a:spcPct val="100000"/>
              </a:lnSpc>
              <a:spcBef>
                <a:spcPts val="130"/>
              </a:spcBef>
              <a:buFont typeface="Arial MT"/>
              <a:buChar char="□"/>
              <a:tabLst>
                <a:tab pos="865505" algn="l"/>
              </a:tabLst>
            </a:pPr>
            <a:r>
              <a:rPr sz="2150" spc="-35" dirty="0">
                <a:solidFill>
                  <a:srgbClr val="1D1B0F"/>
                </a:solidFill>
                <a:latin typeface="Calibri"/>
                <a:cs typeface="Calibri"/>
              </a:rPr>
              <a:t>Réduire</a:t>
            </a:r>
            <a:r>
              <a:rPr sz="2150" spc="-4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1D1B0F"/>
                </a:solidFill>
                <a:latin typeface="Calibri"/>
                <a:cs typeface="Calibri"/>
              </a:rPr>
              <a:t>les</a:t>
            </a:r>
            <a:r>
              <a:rPr sz="2150" spc="-8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spc="-10" dirty="0">
                <a:solidFill>
                  <a:srgbClr val="1D1B0F"/>
                </a:solidFill>
                <a:latin typeface="Calibri"/>
                <a:cs typeface="Calibri"/>
              </a:rPr>
              <a:t>menaces</a:t>
            </a:r>
            <a:endParaRPr sz="2150">
              <a:latin typeface="Calibri"/>
              <a:cs typeface="Calibri"/>
            </a:endParaRPr>
          </a:p>
          <a:p>
            <a:pPr marL="865505" lvl="1" indent="-304165">
              <a:lnSpc>
                <a:spcPct val="100000"/>
              </a:lnSpc>
              <a:spcBef>
                <a:spcPts val="110"/>
              </a:spcBef>
              <a:buFont typeface="Arial MT"/>
              <a:buChar char="□"/>
              <a:tabLst>
                <a:tab pos="865505" algn="l"/>
              </a:tabLst>
            </a:pPr>
            <a:r>
              <a:rPr sz="2150" spc="-25" dirty="0">
                <a:solidFill>
                  <a:srgbClr val="1D1B0F"/>
                </a:solidFill>
                <a:latin typeface="Calibri"/>
                <a:cs typeface="Calibri"/>
              </a:rPr>
              <a:t>Réduire</a:t>
            </a:r>
            <a:r>
              <a:rPr sz="2150" spc="-4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1D1B0F"/>
                </a:solidFill>
                <a:latin typeface="Calibri"/>
                <a:cs typeface="Calibri"/>
              </a:rPr>
              <a:t>les</a:t>
            </a:r>
            <a:r>
              <a:rPr sz="2150" spc="-9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spc="-30" dirty="0">
                <a:solidFill>
                  <a:srgbClr val="1D1B0F"/>
                </a:solidFill>
                <a:latin typeface="Calibri"/>
                <a:cs typeface="Calibri"/>
              </a:rPr>
              <a:t>facteurs</a:t>
            </a:r>
            <a:r>
              <a:rPr sz="2150" spc="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1D1B0F"/>
                </a:solidFill>
                <a:latin typeface="Calibri"/>
                <a:cs typeface="Calibri"/>
              </a:rPr>
              <a:t>de</a:t>
            </a:r>
            <a:r>
              <a:rPr sz="2150" spc="-10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spc="-10" dirty="0">
                <a:solidFill>
                  <a:srgbClr val="1D1B0F"/>
                </a:solidFill>
                <a:latin typeface="Calibri"/>
                <a:cs typeface="Calibri"/>
              </a:rPr>
              <a:t>vulnérabilité,</a:t>
            </a:r>
            <a:endParaRPr sz="2150">
              <a:latin typeface="Calibri"/>
              <a:cs typeface="Calibri"/>
            </a:endParaRPr>
          </a:p>
          <a:p>
            <a:pPr marL="865505" lvl="1" indent="-304165">
              <a:lnSpc>
                <a:spcPct val="100000"/>
              </a:lnSpc>
              <a:spcBef>
                <a:spcPts val="105"/>
              </a:spcBef>
              <a:buFont typeface="Arial MT"/>
              <a:buChar char="□"/>
              <a:tabLst>
                <a:tab pos="865505" algn="l"/>
              </a:tabLst>
            </a:pPr>
            <a:r>
              <a:rPr sz="2150" spc="-10" dirty="0">
                <a:solidFill>
                  <a:srgbClr val="1D1B0F"/>
                </a:solidFill>
                <a:latin typeface="Calibri"/>
                <a:cs typeface="Calibri"/>
              </a:rPr>
              <a:t>Augmenter</a:t>
            </a:r>
            <a:r>
              <a:rPr sz="2150" spc="-7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1D1B0F"/>
                </a:solidFill>
                <a:latin typeface="Calibri"/>
                <a:cs typeface="Calibri"/>
              </a:rPr>
              <a:t>les</a:t>
            </a:r>
            <a:r>
              <a:rPr sz="2150" spc="-5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spc="-25" dirty="0">
                <a:solidFill>
                  <a:srgbClr val="1D1B0F"/>
                </a:solidFill>
                <a:latin typeface="Calibri"/>
                <a:cs typeface="Calibri"/>
              </a:rPr>
              <a:t>capacités </a:t>
            </a:r>
            <a:r>
              <a:rPr sz="2150" dirty="0">
                <a:solidFill>
                  <a:srgbClr val="1D1B0F"/>
                </a:solidFill>
                <a:latin typeface="Calibri"/>
                <a:cs typeface="Calibri"/>
              </a:rPr>
              <a:t>de</a:t>
            </a:r>
            <a:r>
              <a:rPr sz="2150" spc="-3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spc="-10" dirty="0">
                <a:solidFill>
                  <a:srgbClr val="1D1B0F"/>
                </a:solidFill>
                <a:latin typeface="Calibri"/>
                <a:cs typeface="Calibri"/>
              </a:rPr>
              <a:t>protection.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097894" y="6280810"/>
            <a:ext cx="202565" cy="245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50" spc="-25" dirty="0">
                <a:solidFill>
                  <a:srgbClr val="858585"/>
                </a:solidFill>
                <a:latin typeface="Calibri"/>
                <a:cs typeface="Calibri"/>
              </a:rPr>
              <a:t>27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38200" y="457109"/>
            <a:ext cx="10515600" cy="1141594"/>
          </a:xfrm>
          <a:prstGeom prst="rect">
            <a:avLst/>
          </a:prstGeom>
        </p:spPr>
        <p:txBody>
          <a:bodyPr vert="horz" wrap="square" lIns="0" tIns="447293" rIns="0" bIns="0" rtlCol="0">
            <a:spAutoFit/>
          </a:bodyPr>
          <a:lstStyle/>
          <a:p>
            <a:pPr marL="1160780">
              <a:lnSpc>
                <a:spcPct val="100000"/>
              </a:lnSpc>
              <a:spcBef>
                <a:spcPts val="95"/>
              </a:spcBef>
            </a:pPr>
            <a:r>
              <a:rPr dirty="0"/>
              <a:t>Les</a:t>
            </a:r>
            <a:r>
              <a:rPr spc="-120" dirty="0"/>
              <a:t> </a:t>
            </a:r>
            <a:r>
              <a:rPr spc="-10" dirty="0"/>
              <a:t>Risques</a:t>
            </a:r>
            <a:r>
              <a:rPr spc="-220" dirty="0"/>
              <a:t> </a:t>
            </a:r>
            <a:r>
              <a:rPr spc="-20" dirty="0"/>
              <a:t>(1/</a:t>
            </a:r>
            <a:r>
              <a:rPr lang="fr-FR" spc="-20" dirty="0"/>
              <a:t>2</a:t>
            </a:r>
            <a:r>
              <a:rPr spc="-20" dirty="0"/>
              <a:t>)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57727" y="5257800"/>
            <a:ext cx="5961887" cy="1453896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41202" y="6304889"/>
            <a:ext cx="202565" cy="245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50" spc="-25" dirty="0">
                <a:solidFill>
                  <a:srgbClr val="858585"/>
                </a:solidFill>
                <a:latin typeface="Calibri"/>
                <a:cs typeface="Calibri"/>
              </a:rPr>
              <a:t>28</a:t>
            </a:r>
            <a:endParaRPr sz="145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304544" y="3427476"/>
            <a:ext cx="9583420" cy="1839595"/>
            <a:chOff x="1304544" y="3427476"/>
            <a:chExt cx="9583420" cy="1839595"/>
          </a:xfrm>
        </p:grpSpPr>
        <p:sp>
          <p:nvSpPr>
            <p:cNvPr id="4" name="object 4"/>
            <p:cNvSpPr/>
            <p:nvPr/>
          </p:nvSpPr>
          <p:spPr>
            <a:xfrm>
              <a:off x="1304544" y="3572256"/>
              <a:ext cx="9583420" cy="1694814"/>
            </a:xfrm>
            <a:custGeom>
              <a:avLst/>
              <a:gdLst/>
              <a:ahLst/>
              <a:cxnLst/>
              <a:rect l="l" t="t" r="r" b="b"/>
              <a:pathLst>
                <a:path w="9583420" h="1694814">
                  <a:moveTo>
                    <a:pt x="9582912" y="0"/>
                  </a:moveTo>
                  <a:lnTo>
                    <a:pt x="0" y="0"/>
                  </a:lnTo>
                  <a:lnTo>
                    <a:pt x="0" y="1694561"/>
                  </a:lnTo>
                  <a:lnTo>
                    <a:pt x="9582912" y="1694561"/>
                  </a:lnTo>
                  <a:lnTo>
                    <a:pt x="9582912" y="0"/>
                  </a:lnTo>
                  <a:close/>
                </a:path>
              </a:pathLst>
            </a:custGeom>
            <a:solidFill>
              <a:srgbClr val="FFFFFF">
                <a:alpha val="89802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783080" y="3432048"/>
              <a:ext cx="6708775" cy="283845"/>
            </a:xfrm>
            <a:custGeom>
              <a:avLst/>
              <a:gdLst/>
              <a:ahLst/>
              <a:cxnLst/>
              <a:rect l="l" t="t" r="r" b="b"/>
              <a:pathLst>
                <a:path w="6708775" h="283845">
                  <a:moveTo>
                    <a:pt x="6661404" y="0"/>
                  </a:moveTo>
                  <a:lnTo>
                    <a:pt x="47243" y="0"/>
                  </a:lnTo>
                  <a:lnTo>
                    <a:pt x="28828" y="3682"/>
                  </a:lnTo>
                  <a:lnTo>
                    <a:pt x="13843" y="13842"/>
                  </a:lnTo>
                  <a:lnTo>
                    <a:pt x="3682" y="28828"/>
                  </a:lnTo>
                  <a:lnTo>
                    <a:pt x="0" y="47243"/>
                  </a:lnTo>
                  <a:lnTo>
                    <a:pt x="0" y="236219"/>
                  </a:lnTo>
                  <a:lnTo>
                    <a:pt x="3682" y="254507"/>
                  </a:lnTo>
                  <a:lnTo>
                    <a:pt x="13843" y="269620"/>
                  </a:lnTo>
                  <a:lnTo>
                    <a:pt x="28828" y="279653"/>
                  </a:lnTo>
                  <a:lnTo>
                    <a:pt x="47243" y="283463"/>
                  </a:lnTo>
                  <a:lnTo>
                    <a:pt x="6661404" y="283463"/>
                  </a:lnTo>
                  <a:lnTo>
                    <a:pt x="6679819" y="279653"/>
                  </a:lnTo>
                  <a:lnTo>
                    <a:pt x="6694805" y="269620"/>
                  </a:lnTo>
                  <a:lnTo>
                    <a:pt x="6704965" y="254507"/>
                  </a:lnTo>
                  <a:lnTo>
                    <a:pt x="6708648" y="236219"/>
                  </a:lnTo>
                  <a:lnTo>
                    <a:pt x="6708648" y="47243"/>
                  </a:lnTo>
                  <a:lnTo>
                    <a:pt x="6705092" y="29082"/>
                  </a:lnTo>
                  <a:lnTo>
                    <a:pt x="6661404" y="0"/>
                  </a:lnTo>
                  <a:close/>
                </a:path>
              </a:pathLst>
            </a:custGeom>
            <a:solidFill>
              <a:srgbClr val="EB7A2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84604" y="3433572"/>
              <a:ext cx="6708775" cy="283845"/>
            </a:xfrm>
            <a:custGeom>
              <a:avLst/>
              <a:gdLst/>
              <a:ahLst/>
              <a:cxnLst/>
              <a:rect l="l" t="t" r="r" b="b"/>
              <a:pathLst>
                <a:path w="6708775" h="283845">
                  <a:moveTo>
                    <a:pt x="0" y="47243"/>
                  </a:moveTo>
                  <a:lnTo>
                    <a:pt x="3682" y="28828"/>
                  </a:lnTo>
                  <a:lnTo>
                    <a:pt x="13843" y="13842"/>
                  </a:lnTo>
                  <a:lnTo>
                    <a:pt x="28828" y="3682"/>
                  </a:lnTo>
                  <a:lnTo>
                    <a:pt x="47243" y="0"/>
                  </a:lnTo>
                  <a:lnTo>
                    <a:pt x="6661404" y="0"/>
                  </a:lnTo>
                  <a:lnTo>
                    <a:pt x="6705092" y="29082"/>
                  </a:lnTo>
                  <a:lnTo>
                    <a:pt x="6708648" y="47243"/>
                  </a:lnTo>
                  <a:lnTo>
                    <a:pt x="6708648" y="236219"/>
                  </a:lnTo>
                  <a:lnTo>
                    <a:pt x="6704965" y="254507"/>
                  </a:lnTo>
                  <a:lnTo>
                    <a:pt x="6694805" y="269620"/>
                  </a:lnTo>
                  <a:lnTo>
                    <a:pt x="6679819" y="279653"/>
                  </a:lnTo>
                  <a:lnTo>
                    <a:pt x="6661404" y="283463"/>
                  </a:lnTo>
                  <a:lnTo>
                    <a:pt x="47243" y="283463"/>
                  </a:lnTo>
                  <a:lnTo>
                    <a:pt x="28828" y="279653"/>
                  </a:lnTo>
                  <a:lnTo>
                    <a:pt x="13843" y="269620"/>
                  </a:lnTo>
                  <a:lnTo>
                    <a:pt x="3682" y="254507"/>
                  </a:lnTo>
                  <a:lnTo>
                    <a:pt x="0" y="236219"/>
                  </a:lnTo>
                  <a:lnTo>
                    <a:pt x="0" y="47243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1299972" y="5314188"/>
            <a:ext cx="9595485" cy="1511935"/>
            <a:chOff x="1299972" y="5314188"/>
            <a:chExt cx="9595485" cy="1511935"/>
          </a:xfrm>
        </p:grpSpPr>
        <p:sp>
          <p:nvSpPr>
            <p:cNvPr id="8" name="object 8"/>
            <p:cNvSpPr/>
            <p:nvPr/>
          </p:nvSpPr>
          <p:spPr>
            <a:xfrm>
              <a:off x="1304544" y="5398058"/>
              <a:ext cx="9583420" cy="1419860"/>
            </a:xfrm>
            <a:custGeom>
              <a:avLst/>
              <a:gdLst/>
              <a:ahLst/>
              <a:cxnLst/>
              <a:rect l="l" t="t" r="r" b="b"/>
              <a:pathLst>
                <a:path w="9583420" h="1419859">
                  <a:moveTo>
                    <a:pt x="9582912" y="0"/>
                  </a:moveTo>
                  <a:lnTo>
                    <a:pt x="0" y="0"/>
                  </a:lnTo>
                  <a:lnTo>
                    <a:pt x="0" y="1419860"/>
                  </a:lnTo>
                  <a:lnTo>
                    <a:pt x="9582912" y="1419860"/>
                  </a:lnTo>
                  <a:lnTo>
                    <a:pt x="9582912" y="0"/>
                  </a:lnTo>
                  <a:close/>
                </a:path>
              </a:pathLst>
            </a:custGeom>
            <a:solidFill>
              <a:srgbClr val="FFFFFF">
                <a:alpha val="89802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306068" y="5399584"/>
              <a:ext cx="9583420" cy="1419860"/>
            </a:xfrm>
            <a:custGeom>
              <a:avLst/>
              <a:gdLst/>
              <a:ahLst/>
              <a:cxnLst/>
              <a:rect l="l" t="t" r="r" b="b"/>
              <a:pathLst>
                <a:path w="9583420" h="1419859">
                  <a:moveTo>
                    <a:pt x="0" y="1419859"/>
                  </a:moveTo>
                  <a:lnTo>
                    <a:pt x="9582912" y="1419859"/>
                  </a:lnTo>
                  <a:lnTo>
                    <a:pt x="9582912" y="0"/>
                  </a:lnTo>
                  <a:lnTo>
                    <a:pt x="0" y="0"/>
                  </a:lnTo>
                  <a:lnTo>
                    <a:pt x="0" y="1419859"/>
                  </a:lnTo>
                  <a:close/>
                </a:path>
              </a:pathLst>
            </a:custGeom>
            <a:ln w="12192">
              <a:solidFill>
                <a:srgbClr val="A1A1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783080" y="5318760"/>
              <a:ext cx="6708775" cy="283845"/>
            </a:xfrm>
            <a:custGeom>
              <a:avLst/>
              <a:gdLst/>
              <a:ahLst/>
              <a:cxnLst/>
              <a:rect l="l" t="t" r="r" b="b"/>
              <a:pathLst>
                <a:path w="6708775" h="283845">
                  <a:moveTo>
                    <a:pt x="6661404" y="0"/>
                  </a:moveTo>
                  <a:lnTo>
                    <a:pt x="47243" y="0"/>
                  </a:lnTo>
                  <a:lnTo>
                    <a:pt x="28828" y="3682"/>
                  </a:lnTo>
                  <a:lnTo>
                    <a:pt x="13843" y="13842"/>
                  </a:lnTo>
                  <a:lnTo>
                    <a:pt x="3682" y="28828"/>
                  </a:lnTo>
                  <a:lnTo>
                    <a:pt x="0" y="47243"/>
                  </a:lnTo>
                  <a:lnTo>
                    <a:pt x="0" y="236219"/>
                  </a:lnTo>
                  <a:lnTo>
                    <a:pt x="3682" y="254507"/>
                  </a:lnTo>
                  <a:lnTo>
                    <a:pt x="13843" y="269544"/>
                  </a:lnTo>
                  <a:lnTo>
                    <a:pt x="28828" y="279679"/>
                  </a:lnTo>
                  <a:lnTo>
                    <a:pt x="47243" y="283387"/>
                  </a:lnTo>
                  <a:lnTo>
                    <a:pt x="6661404" y="283387"/>
                  </a:lnTo>
                  <a:lnTo>
                    <a:pt x="6679819" y="279679"/>
                  </a:lnTo>
                  <a:lnTo>
                    <a:pt x="6694805" y="269544"/>
                  </a:lnTo>
                  <a:lnTo>
                    <a:pt x="6704965" y="254507"/>
                  </a:lnTo>
                  <a:lnTo>
                    <a:pt x="6708648" y="236219"/>
                  </a:lnTo>
                  <a:lnTo>
                    <a:pt x="6708648" y="47243"/>
                  </a:lnTo>
                  <a:lnTo>
                    <a:pt x="6705092" y="29209"/>
                  </a:lnTo>
                  <a:lnTo>
                    <a:pt x="6661404" y="0"/>
                  </a:lnTo>
                  <a:close/>
                </a:path>
              </a:pathLst>
            </a:custGeom>
            <a:solidFill>
              <a:srgbClr val="A1A1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784604" y="5320284"/>
              <a:ext cx="6708775" cy="283845"/>
            </a:xfrm>
            <a:custGeom>
              <a:avLst/>
              <a:gdLst/>
              <a:ahLst/>
              <a:cxnLst/>
              <a:rect l="l" t="t" r="r" b="b"/>
              <a:pathLst>
                <a:path w="6708775" h="283845">
                  <a:moveTo>
                    <a:pt x="0" y="47243"/>
                  </a:moveTo>
                  <a:lnTo>
                    <a:pt x="3682" y="28828"/>
                  </a:lnTo>
                  <a:lnTo>
                    <a:pt x="13843" y="13842"/>
                  </a:lnTo>
                  <a:lnTo>
                    <a:pt x="28828" y="3682"/>
                  </a:lnTo>
                  <a:lnTo>
                    <a:pt x="47243" y="0"/>
                  </a:lnTo>
                  <a:lnTo>
                    <a:pt x="6661404" y="0"/>
                  </a:lnTo>
                  <a:lnTo>
                    <a:pt x="6705092" y="29209"/>
                  </a:lnTo>
                  <a:lnTo>
                    <a:pt x="6708648" y="47243"/>
                  </a:lnTo>
                  <a:lnTo>
                    <a:pt x="6708648" y="236219"/>
                  </a:lnTo>
                  <a:lnTo>
                    <a:pt x="6704965" y="254507"/>
                  </a:lnTo>
                  <a:lnTo>
                    <a:pt x="6694805" y="269544"/>
                  </a:lnTo>
                  <a:lnTo>
                    <a:pt x="6679819" y="279679"/>
                  </a:lnTo>
                  <a:lnTo>
                    <a:pt x="6661404" y="283387"/>
                  </a:lnTo>
                  <a:lnTo>
                    <a:pt x="47243" y="283387"/>
                  </a:lnTo>
                  <a:lnTo>
                    <a:pt x="28828" y="279679"/>
                  </a:lnTo>
                  <a:lnTo>
                    <a:pt x="13843" y="269544"/>
                  </a:lnTo>
                  <a:lnTo>
                    <a:pt x="3682" y="254507"/>
                  </a:lnTo>
                  <a:lnTo>
                    <a:pt x="0" y="236219"/>
                  </a:lnTo>
                  <a:lnTo>
                    <a:pt x="0" y="47243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078483" y="1367155"/>
            <a:ext cx="9973945" cy="187896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2540"/>
              </a:lnSpc>
              <a:spcBef>
                <a:spcPts val="110"/>
              </a:spcBef>
            </a:pPr>
            <a:r>
              <a:rPr sz="2150" b="1" spc="-10" dirty="0">
                <a:solidFill>
                  <a:srgbClr val="1D1B0F"/>
                </a:solidFill>
                <a:latin typeface="Calibri"/>
                <a:cs typeface="Calibri"/>
              </a:rPr>
              <a:t>Vital</a:t>
            </a:r>
            <a:r>
              <a:rPr sz="2150" b="1" spc="-10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1D1B0F"/>
                </a:solidFill>
                <a:latin typeface="Calibri"/>
                <a:cs typeface="Calibri"/>
              </a:rPr>
              <a:t>:</a:t>
            </a:r>
            <a:r>
              <a:rPr sz="2150" spc="-7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1D1B0F"/>
                </a:solidFill>
                <a:latin typeface="Calibri"/>
                <a:cs typeface="Calibri"/>
              </a:rPr>
              <a:t>La</a:t>
            </a:r>
            <a:r>
              <a:rPr sz="2150" spc="-4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spc="-10" dirty="0">
                <a:solidFill>
                  <a:srgbClr val="1D1B0F"/>
                </a:solidFill>
                <a:latin typeface="Calibri"/>
                <a:cs typeface="Calibri"/>
              </a:rPr>
              <a:t>nature</a:t>
            </a:r>
            <a:r>
              <a:rPr sz="2150" spc="-5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1D1B0F"/>
                </a:solidFill>
                <a:latin typeface="Calibri"/>
                <a:cs typeface="Calibri"/>
              </a:rPr>
              <a:t>du</a:t>
            </a:r>
            <a:r>
              <a:rPr sz="2150" spc="-2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1D1B0F"/>
                </a:solidFill>
                <a:latin typeface="Calibri"/>
                <a:cs typeface="Calibri"/>
              </a:rPr>
              <a:t>risque</a:t>
            </a:r>
            <a:r>
              <a:rPr sz="2150" spc="-3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1D1B0F"/>
                </a:solidFill>
                <a:latin typeface="Calibri"/>
                <a:cs typeface="Calibri"/>
              </a:rPr>
              <a:t>peut</a:t>
            </a:r>
            <a:r>
              <a:rPr sz="2150" spc="-5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spc="-20" dirty="0">
                <a:solidFill>
                  <a:srgbClr val="1D1B0F"/>
                </a:solidFill>
                <a:latin typeface="Calibri"/>
                <a:cs typeface="Calibri"/>
              </a:rPr>
              <a:t>mettre</a:t>
            </a:r>
            <a:r>
              <a:rPr sz="2150" spc="-3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1D1B0F"/>
                </a:solidFill>
                <a:latin typeface="Calibri"/>
                <a:cs typeface="Calibri"/>
              </a:rPr>
              <a:t>en</a:t>
            </a:r>
            <a:r>
              <a:rPr sz="2150" spc="-4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1D1B0F"/>
                </a:solidFill>
                <a:latin typeface="Calibri"/>
                <a:cs typeface="Calibri"/>
              </a:rPr>
              <a:t>cause</a:t>
            </a:r>
            <a:r>
              <a:rPr sz="2150" spc="-3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1D1B0F"/>
                </a:solidFill>
                <a:latin typeface="Calibri"/>
                <a:cs typeface="Calibri"/>
              </a:rPr>
              <a:t>la</a:t>
            </a:r>
            <a:r>
              <a:rPr sz="2150" spc="-6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1D1B0F"/>
                </a:solidFill>
                <a:latin typeface="Calibri"/>
                <a:cs typeface="Calibri"/>
              </a:rPr>
              <a:t>survie</a:t>
            </a:r>
            <a:r>
              <a:rPr sz="2150" spc="-3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1D1B0F"/>
                </a:solidFill>
                <a:latin typeface="Calibri"/>
                <a:cs typeface="Calibri"/>
              </a:rPr>
              <a:t>de</a:t>
            </a:r>
            <a:r>
              <a:rPr sz="2150" spc="-4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spc="-10" dirty="0">
                <a:solidFill>
                  <a:srgbClr val="1D1B0F"/>
                </a:solidFill>
                <a:latin typeface="Calibri"/>
                <a:cs typeface="Calibri"/>
              </a:rPr>
              <a:t>l’entreprise</a:t>
            </a:r>
            <a:endParaRPr sz="2150">
              <a:latin typeface="Calibri"/>
              <a:cs typeface="Calibri"/>
            </a:endParaRPr>
          </a:p>
          <a:p>
            <a:pPr marL="12700">
              <a:lnSpc>
                <a:spcPts val="2400"/>
              </a:lnSpc>
            </a:pPr>
            <a:r>
              <a:rPr sz="2150" b="1" dirty="0">
                <a:solidFill>
                  <a:srgbClr val="1D1B0F"/>
                </a:solidFill>
                <a:latin typeface="Calibri"/>
                <a:cs typeface="Calibri"/>
              </a:rPr>
              <a:t>Critique</a:t>
            </a:r>
            <a:r>
              <a:rPr sz="2150" b="1" spc="5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1D1B0F"/>
                </a:solidFill>
                <a:latin typeface="Calibri"/>
                <a:cs typeface="Calibri"/>
              </a:rPr>
              <a:t>:</a:t>
            </a:r>
            <a:r>
              <a:rPr sz="2150" spc="5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1D1B0F"/>
                </a:solidFill>
                <a:latin typeface="Calibri"/>
                <a:cs typeface="Calibri"/>
              </a:rPr>
              <a:t>La</a:t>
            </a:r>
            <a:r>
              <a:rPr sz="2150" spc="8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1D1B0F"/>
                </a:solidFill>
                <a:latin typeface="Calibri"/>
                <a:cs typeface="Calibri"/>
              </a:rPr>
              <a:t>nature</a:t>
            </a:r>
            <a:r>
              <a:rPr sz="2150" spc="10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1D1B0F"/>
                </a:solidFill>
                <a:latin typeface="Calibri"/>
                <a:cs typeface="Calibri"/>
              </a:rPr>
              <a:t>du</a:t>
            </a:r>
            <a:r>
              <a:rPr sz="2150" spc="7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1D1B0F"/>
                </a:solidFill>
                <a:latin typeface="Calibri"/>
                <a:cs typeface="Calibri"/>
              </a:rPr>
              <a:t>risque</a:t>
            </a:r>
            <a:r>
              <a:rPr sz="2150" spc="9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1D1B0F"/>
                </a:solidFill>
                <a:latin typeface="Calibri"/>
                <a:cs typeface="Calibri"/>
              </a:rPr>
              <a:t>peut</a:t>
            </a:r>
            <a:r>
              <a:rPr sz="2150" spc="6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1D1B0F"/>
                </a:solidFill>
                <a:latin typeface="Calibri"/>
                <a:cs typeface="Calibri"/>
              </a:rPr>
              <a:t>affecter</a:t>
            </a:r>
            <a:r>
              <a:rPr sz="2150" spc="114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1D1B0F"/>
                </a:solidFill>
                <a:latin typeface="Calibri"/>
                <a:cs typeface="Calibri"/>
              </a:rPr>
              <a:t>durablement</a:t>
            </a:r>
            <a:r>
              <a:rPr sz="2150" spc="15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1D1B0F"/>
                </a:solidFill>
                <a:latin typeface="Calibri"/>
                <a:cs typeface="Calibri"/>
              </a:rPr>
              <a:t>les</a:t>
            </a:r>
            <a:r>
              <a:rPr sz="2150" spc="2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1D1B0F"/>
                </a:solidFill>
                <a:latin typeface="Calibri"/>
                <a:cs typeface="Calibri"/>
              </a:rPr>
              <a:t>performances</a:t>
            </a:r>
            <a:r>
              <a:rPr sz="2150" spc="13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spc="-10" dirty="0">
                <a:solidFill>
                  <a:srgbClr val="1D1B0F"/>
                </a:solidFill>
                <a:latin typeface="Calibri"/>
                <a:cs typeface="Calibri"/>
              </a:rPr>
              <a:t>économiques</a:t>
            </a:r>
            <a:endParaRPr sz="2150">
              <a:latin typeface="Calibri"/>
              <a:cs typeface="Calibri"/>
            </a:endParaRPr>
          </a:p>
          <a:p>
            <a:pPr marL="12700">
              <a:lnSpc>
                <a:spcPts val="2300"/>
              </a:lnSpc>
            </a:pPr>
            <a:r>
              <a:rPr sz="2150" dirty="0">
                <a:solidFill>
                  <a:srgbClr val="1D1B0F"/>
                </a:solidFill>
                <a:latin typeface="Calibri"/>
                <a:cs typeface="Calibri"/>
              </a:rPr>
              <a:t>de</a:t>
            </a:r>
            <a:r>
              <a:rPr sz="2150" spc="-5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spc="-10" dirty="0">
                <a:solidFill>
                  <a:srgbClr val="1D1B0F"/>
                </a:solidFill>
                <a:latin typeface="Calibri"/>
                <a:cs typeface="Calibri"/>
              </a:rPr>
              <a:t>l’entreprise</a:t>
            </a:r>
            <a:endParaRPr sz="2150">
              <a:latin typeface="Calibri"/>
              <a:cs typeface="Calibri"/>
            </a:endParaRPr>
          </a:p>
          <a:p>
            <a:pPr marL="12700" marR="22225">
              <a:lnSpc>
                <a:spcPts val="2400"/>
              </a:lnSpc>
              <a:spcBef>
                <a:spcPts val="85"/>
              </a:spcBef>
            </a:pPr>
            <a:r>
              <a:rPr sz="2150" b="1" spc="-10" dirty="0">
                <a:solidFill>
                  <a:srgbClr val="1D1B0F"/>
                </a:solidFill>
                <a:latin typeface="Calibri"/>
                <a:cs typeface="Calibri"/>
              </a:rPr>
              <a:t>Sensible</a:t>
            </a:r>
            <a:r>
              <a:rPr sz="2150" b="1" spc="-9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1D1B0F"/>
                </a:solidFill>
                <a:latin typeface="Calibri"/>
                <a:cs typeface="Calibri"/>
              </a:rPr>
              <a:t>:</a:t>
            </a:r>
            <a:r>
              <a:rPr sz="2150" spc="-7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1D1B0F"/>
                </a:solidFill>
                <a:latin typeface="Calibri"/>
                <a:cs typeface="Calibri"/>
              </a:rPr>
              <a:t>La</a:t>
            </a:r>
            <a:r>
              <a:rPr sz="2150" spc="-4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spc="-10" dirty="0">
                <a:solidFill>
                  <a:srgbClr val="1D1B0F"/>
                </a:solidFill>
                <a:latin typeface="Calibri"/>
                <a:cs typeface="Calibri"/>
              </a:rPr>
              <a:t>nature</a:t>
            </a:r>
            <a:r>
              <a:rPr sz="2150" spc="-7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1D1B0F"/>
                </a:solidFill>
                <a:latin typeface="Calibri"/>
                <a:cs typeface="Calibri"/>
              </a:rPr>
              <a:t>du</a:t>
            </a:r>
            <a:r>
              <a:rPr sz="2150" spc="-1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1D1B0F"/>
                </a:solidFill>
                <a:latin typeface="Calibri"/>
                <a:cs typeface="Calibri"/>
              </a:rPr>
              <a:t>risque</a:t>
            </a:r>
            <a:r>
              <a:rPr sz="2150" spc="-3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1D1B0F"/>
                </a:solidFill>
                <a:latin typeface="Calibri"/>
                <a:cs typeface="Calibri"/>
              </a:rPr>
              <a:t>peut</a:t>
            </a:r>
            <a:r>
              <a:rPr sz="2150" spc="-30" dirty="0">
                <a:solidFill>
                  <a:srgbClr val="1D1B0F"/>
                </a:solidFill>
                <a:latin typeface="Calibri"/>
                <a:cs typeface="Calibri"/>
              </a:rPr>
              <a:t> affecter</a:t>
            </a:r>
            <a:r>
              <a:rPr sz="2150" spc="4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spc="-50" dirty="0">
                <a:solidFill>
                  <a:srgbClr val="1D1B0F"/>
                </a:solidFill>
                <a:latin typeface="Calibri"/>
                <a:cs typeface="Calibri"/>
              </a:rPr>
              <a:t>l’entreprise</a:t>
            </a:r>
            <a:r>
              <a:rPr sz="2150" spc="-3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1D1B0F"/>
                </a:solidFill>
                <a:latin typeface="Calibri"/>
                <a:cs typeface="Calibri"/>
              </a:rPr>
              <a:t>de</a:t>
            </a:r>
            <a:r>
              <a:rPr sz="2150" spc="-2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spc="-10" dirty="0">
                <a:solidFill>
                  <a:srgbClr val="1D1B0F"/>
                </a:solidFill>
                <a:latin typeface="Calibri"/>
                <a:cs typeface="Calibri"/>
              </a:rPr>
              <a:t>manière</a:t>
            </a:r>
            <a:r>
              <a:rPr sz="2150" spc="-7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1D1B0F"/>
                </a:solidFill>
                <a:latin typeface="Calibri"/>
                <a:cs typeface="Calibri"/>
              </a:rPr>
              <a:t>non</a:t>
            </a:r>
            <a:r>
              <a:rPr sz="2150" spc="-1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1D1B0F"/>
                </a:solidFill>
                <a:latin typeface="Calibri"/>
                <a:cs typeface="Calibri"/>
              </a:rPr>
              <a:t>négligeable</a:t>
            </a:r>
            <a:r>
              <a:rPr sz="2150" spc="1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spc="-20" dirty="0">
                <a:solidFill>
                  <a:srgbClr val="1D1B0F"/>
                </a:solidFill>
                <a:latin typeface="Calibri"/>
                <a:cs typeface="Calibri"/>
              </a:rPr>
              <a:t>même </a:t>
            </a:r>
            <a:r>
              <a:rPr sz="2150" dirty="0">
                <a:solidFill>
                  <a:srgbClr val="1D1B0F"/>
                </a:solidFill>
                <a:latin typeface="Calibri"/>
                <a:cs typeface="Calibri"/>
              </a:rPr>
              <a:t>si</a:t>
            </a:r>
            <a:r>
              <a:rPr sz="2150" spc="-8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1D1B0F"/>
                </a:solidFill>
                <a:latin typeface="Calibri"/>
                <a:cs typeface="Calibri"/>
              </a:rPr>
              <a:t>limitée</a:t>
            </a:r>
            <a:r>
              <a:rPr sz="2150" spc="-6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1D1B0F"/>
                </a:solidFill>
                <a:latin typeface="Calibri"/>
                <a:cs typeface="Calibri"/>
              </a:rPr>
              <a:t>dans</a:t>
            </a:r>
            <a:r>
              <a:rPr sz="2150" spc="-4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1D1B0F"/>
                </a:solidFill>
                <a:latin typeface="Calibri"/>
                <a:cs typeface="Calibri"/>
              </a:rPr>
              <a:t>le</a:t>
            </a:r>
            <a:r>
              <a:rPr sz="2150" spc="-6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spc="-10" dirty="0">
                <a:solidFill>
                  <a:srgbClr val="1D1B0F"/>
                </a:solidFill>
                <a:latin typeface="Calibri"/>
                <a:cs typeface="Calibri"/>
              </a:rPr>
              <a:t>temps.</a:t>
            </a:r>
            <a:endParaRPr sz="2150">
              <a:latin typeface="Calibri"/>
              <a:cs typeface="Calibri"/>
            </a:endParaRPr>
          </a:p>
          <a:p>
            <a:pPr marL="12700">
              <a:lnSpc>
                <a:spcPts val="2460"/>
              </a:lnSpc>
            </a:pPr>
            <a:r>
              <a:rPr sz="2150" b="1" dirty="0">
                <a:solidFill>
                  <a:srgbClr val="1D1B0F"/>
                </a:solidFill>
                <a:latin typeface="Calibri"/>
                <a:cs typeface="Calibri"/>
              </a:rPr>
              <a:t>Non</a:t>
            </a:r>
            <a:r>
              <a:rPr sz="2150" b="1" spc="-10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b="1" spc="-10" dirty="0">
                <a:solidFill>
                  <a:srgbClr val="1D1B0F"/>
                </a:solidFill>
                <a:latin typeface="Calibri"/>
                <a:cs typeface="Calibri"/>
              </a:rPr>
              <a:t>critique</a:t>
            </a:r>
            <a:r>
              <a:rPr sz="2150" b="1" spc="-6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1D1B0F"/>
                </a:solidFill>
                <a:latin typeface="Calibri"/>
                <a:cs typeface="Calibri"/>
              </a:rPr>
              <a:t>:</a:t>
            </a:r>
            <a:r>
              <a:rPr sz="2150" spc="-6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1D1B0F"/>
                </a:solidFill>
                <a:latin typeface="Calibri"/>
                <a:cs typeface="Calibri"/>
              </a:rPr>
              <a:t>coût</a:t>
            </a:r>
            <a:r>
              <a:rPr sz="2150" spc="-6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1D1B0F"/>
                </a:solidFill>
                <a:latin typeface="Calibri"/>
                <a:cs typeface="Calibri"/>
              </a:rPr>
              <a:t>lié</a:t>
            </a:r>
            <a:r>
              <a:rPr sz="2150" spc="-8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1D1B0F"/>
                </a:solidFill>
                <a:latin typeface="Calibri"/>
                <a:cs typeface="Calibri"/>
              </a:rPr>
              <a:t>au</a:t>
            </a:r>
            <a:r>
              <a:rPr sz="2150" spc="-5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1D1B0F"/>
                </a:solidFill>
                <a:latin typeface="Calibri"/>
                <a:cs typeface="Calibri"/>
              </a:rPr>
              <a:t>risque</a:t>
            </a:r>
            <a:r>
              <a:rPr sz="2150" spc="-2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spc="-30" dirty="0">
                <a:solidFill>
                  <a:srgbClr val="1D1B0F"/>
                </a:solidFill>
                <a:latin typeface="Calibri"/>
                <a:cs typeface="Calibri"/>
              </a:rPr>
              <a:t>existant</a:t>
            </a:r>
            <a:r>
              <a:rPr sz="2150" spc="-3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1D1B0F"/>
                </a:solidFill>
                <a:latin typeface="Calibri"/>
                <a:cs typeface="Calibri"/>
              </a:rPr>
              <a:t>mais</a:t>
            </a:r>
            <a:r>
              <a:rPr sz="2150" spc="-10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spc="-10" dirty="0">
                <a:solidFill>
                  <a:srgbClr val="1D1B0F"/>
                </a:solidFill>
                <a:latin typeface="Calibri"/>
                <a:cs typeface="Calibri"/>
              </a:rPr>
              <a:t>limité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035810" y="3360496"/>
            <a:ext cx="163195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Risques</a:t>
            </a:r>
            <a:r>
              <a:rPr sz="19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humains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06067" y="3573779"/>
            <a:ext cx="9583420" cy="1694814"/>
          </a:xfrm>
          <a:prstGeom prst="rect">
            <a:avLst/>
          </a:prstGeom>
          <a:ln w="12192">
            <a:solidFill>
              <a:srgbClr val="EB7A2E"/>
            </a:solidFill>
          </a:ln>
        </p:spPr>
        <p:txBody>
          <a:bodyPr vert="horz" wrap="square" lIns="0" tIns="133985" rIns="0" bIns="0" rtlCol="0">
            <a:spAutoFit/>
          </a:bodyPr>
          <a:lstStyle/>
          <a:p>
            <a:pPr marL="878205" indent="-140970">
              <a:lnSpc>
                <a:spcPts val="1735"/>
              </a:lnSpc>
              <a:spcBef>
                <a:spcPts val="1055"/>
              </a:spcBef>
              <a:buChar char="•"/>
              <a:tabLst>
                <a:tab pos="878205" algn="l"/>
              </a:tabLst>
            </a:pPr>
            <a:r>
              <a:rPr sz="1450" dirty="0">
                <a:solidFill>
                  <a:srgbClr val="1D1B0F"/>
                </a:solidFill>
                <a:latin typeface="Calibri"/>
                <a:cs typeface="Calibri"/>
              </a:rPr>
              <a:t>La</a:t>
            </a:r>
            <a:r>
              <a:rPr sz="1450" spc="-4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450" spc="-35" dirty="0">
                <a:solidFill>
                  <a:srgbClr val="1D1B0F"/>
                </a:solidFill>
                <a:latin typeface="Calibri"/>
                <a:cs typeface="Calibri"/>
              </a:rPr>
              <a:t>maladresse:</a:t>
            </a:r>
            <a:r>
              <a:rPr sz="1450" spc="-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450" spc="-30" dirty="0">
                <a:solidFill>
                  <a:srgbClr val="1D1B0F"/>
                </a:solidFill>
                <a:latin typeface="Calibri"/>
                <a:cs typeface="Calibri"/>
              </a:rPr>
              <a:t>erreurs, </a:t>
            </a:r>
            <a:r>
              <a:rPr sz="1450" dirty="0">
                <a:solidFill>
                  <a:srgbClr val="1D1B0F"/>
                </a:solidFill>
                <a:latin typeface="Calibri"/>
                <a:cs typeface="Calibri"/>
              </a:rPr>
              <a:t>action</a:t>
            </a:r>
            <a:r>
              <a:rPr sz="1450" spc="2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1D1B0F"/>
                </a:solidFill>
                <a:latin typeface="Calibri"/>
                <a:cs typeface="Calibri"/>
              </a:rPr>
              <a:t>non</a:t>
            </a:r>
            <a:r>
              <a:rPr sz="1450" spc="-5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450" spc="-30" dirty="0">
                <a:solidFill>
                  <a:srgbClr val="1D1B0F"/>
                </a:solidFill>
                <a:latin typeface="Calibri"/>
                <a:cs typeface="Calibri"/>
              </a:rPr>
              <a:t>souhaitée,</a:t>
            </a:r>
            <a:r>
              <a:rPr sz="1450" spc="-2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450" spc="-35" dirty="0">
                <a:solidFill>
                  <a:srgbClr val="1D1B0F"/>
                </a:solidFill>
                <a:latin typeface="Calibri"/>
                <a:cs typeface="Calibri"/>
              </a:rPr>
              <a:t>effacement</a:t>
            </a:r>
            <a:r>
              <a:rPr sz="1450" spc="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450" spc="-45" dirty="0">
                <a:solidFill>
                  <a:srgbClr val="1D1B0F"/>
                </a:solidFill>
                <a:latin typeface="Calibri"/>
                <a:cs typeface="Calibri"/>
              </a:rPr>
              <a:t>involontaire</a:t>
            </a:r>
            <a:r>
              <a:rPr sz="1450" spc="-13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1D1B0F"/>
                </a:solidFill>
                <a:latin typeface="Calibri"/>
                <a:cs typeface="Calibri"/>
              </a:rPr>
              <a:t>des</a:t>
            </a:r>
            <a:r>
              <a:rPr sz="1450" spc="-4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450" spc="-25" dirty="0">
                <a:solidFill>
                  <a:srgbClr val="1D1B0F"/>
                </a:solidFill>
                <a:latin typeface="Calibri"/>
                <a:cs typeface="Calibri"/>
              </a:rPr>
              <a:t>données,</a:t>
            </a:r>
            <a:r>
              <a:rPr sz="1450" spc="-1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450" spc="-50" dirty="0">
                <a:solidFill>
                  <a:srgbClr val="1D1B0F"/>
                </a:solidFill>
                <a:latin typeface="Calibri"/>
                <a:cs typeface="Calibri"/>
              </a:rPr>
              <a:t>…</a:t>
            </a:r>
            <a:endParaRPr sz="1450">
              <a:latin typeface="Calibri"/>
              <a:cs typeface="Calibri"/>
            </a:endParaRPr>
          </a:p>
          <a:p>
            <a:pPr marL="878205" indent="-140970">
              <a:lnSpc>
                <a:spcPts val="1735"/>
              </a:lnSpc>
              <a:buChar char="•"/>
              <a:tabLst>
                <a:tab pos="878205" algn="l"/>
              </a:tabLst>
            </a:pPr>
            <a:r>
              <a:rPr sz="1450" spc="-50" dirty="0">
                <a:solidFill>
                  <a:srgbClr val="1D1B0F"/>
                </a:solidFill>
                <a:latin typeface="Calibri"/>
                <a:cs typeface="Calibri"/>
              </a:rPr>
              <a:t>L’ignorance:</a:t>
            </a:r>
            <a:r>
              <a:rPr sz="1450" spc="-10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450" spc="-45" dirty="0">
                <a:solidFill>
                  <a:srgbClr val="1D1B0F"/>
                </a:solidFill>
                <a:latin typeface="Calibri"/>
                <a:cs typeface="Calibri"/>
              </a:rPr>
              <a:t>introduire</a:t>
            </a:r>
            <a:r>
              <a:rPr sz="1450" spc="-12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1D1B0F"/>
                </a:solidFill>
                <a:latin typeface="Calibri"/>
                <a:cs typeface="Calibri"/>
              </a:rPr>
              <a:t>des</a:t>
            </a:r>
            <a:r>
              <a:rPr sz="1450" spc="1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450" spc="-35" dirty="0">
                <a:solidFill>
                  <a:srgbClr val="1D1B0F"/>
                </a:solidFill>
                <a:latin typeface="Calibri"/>
                <a:cs typeface="Calibri"/>
              </a:rPr>
              <a:t>programmes</a:t>
            </a:r>
            <a:r>
              <a:rPr sz="1450" spc="2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450" spc="-35" dirty="0">
                <a:solidFill>
                  <a:srgbClr val="1D1B0F"/>
                </a:solidFill>
                <a:latin typeface="Calibri"/>
                <a:cs typeface="Calibri"/>
              </a:rPr>
              <a:t>malveillants</a:t>
            </a:r>
            <a:r>
              <a:rPr sz="1450" spc="2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1D1B0F"/>
                </a:solidFill>
                <a:latin typeface="Calibri"/>
                <a:cs typeface="Calibri"/>
              </a:rPr>
              <a:t>sans</a:t>
            </a:r>
            <a:r>
              <a:rPr sz="1450" spc="6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450" spc="-35" dirty="0">
                <a:solidFill>
                  <a:srgbClr val="1D1B0F"/>
                </a:solidFill>
                <a:latin typeface="Calibri"/>
                <a:cs typeface="Calibri"/>
              </a:rPr>
              <a:t>faire</a:t>
            </a:r>
            <a:r>
              <a:rPr sz="1450" spc="-3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1D1B0F"/>
                </a:solidFill>
                <a:latin typeface="Calibri"/>
                <a:cs typeface="Calibri"/>
              </a:rPr>
              <a:t>attention</a:t>
            </a:r>
            <a:endParaRPr sz="1450">
              <a:latin typeface="Calibri"/>
              <a:cs typeface="Calibri"/>
            </a:endParaRPr>
          </a:p>
          <a:p>
            <a:pPr marL="878205" indent="-140970">
              <a:lnSpc>
                <a:spcPct val="100000"/>
              </a:lnSpc>
              <a:spcBef>
                <a:spcPts val="85"/>
              </a:spcBef>
              <a:buChar char="•"/>
              <a:tabLst>
                <a:tab pos="878205" algn="l"/>
              </a:tabLst>
            </a:pPr>
            <a:r>
              <a:rPr sz="1450" spc="-20" dirty="0">
                <a:solidFill>
                  <a:srgbClr val="1D1B0F"/>
                </a:solidFill>
                <a:latin typeface="Calibri"/>
                <a:cs typeface="Calibri"/>
              </a:rPr>
              <a:t>La</a:t>
            </a:r>
            <a:r>
              <a:rPr sz="1450" spc="-5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450" spc="-40" dirty="0">
                <a:solidFill>
                  <a:srgbClr val="1D1B0F"/>
                </a:solidFill>
                <a:latin typeface="Calibri"/>
                <a:cs typeface="Calibri"/>
              </a:rPr>
              <a:t>malveillance:</a:t>
            </a:r>
            <a:r>
              <a:rPr sz="1450" spc="-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450" spc="-35" dirty="0">
                <a:solidFill>
                  <a:srgbClr val="1D1B0F"/>
                </a:solidFill>
                <a:latin typeface="Calibri"/>
                <a:cs typeface="Calibri"/>
              </a:rPr>
              <a:t>introduire</a:t>
            </a:r>
            <a:r>
              <a:rPr sz="1450" spc="-11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1D1B0F"/>
                </a:solidFill>
                <a:latin typeface="Calibri"/>
                <a:cs typeface="Calibri"/>
              </a:rPr>
              <a:t>des</a:t>
            </a:r>
            <a:r>
              <a:rPr sz="1450" spc="-3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1D1B0F"/>
                </a:solidFill>
                <a:latin typeface="Calibri"/>
                <a:cs typeface="Calibri"/>
              </a:rPr>
              <a:t>virus,</a:t>
            </a:r>
            <a:r>
              <a:rPr sz="1450" spc="-6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1D1B0F"/>
                </a:solidFill>
                <a:latin typeface="Calibri"/>
                <a:cs typeface="Calibri"/>
              </a:rPr>
              <a:t>ajouter</a:t>
            </a:r>
            <a:r>
              <a:rPr sz="1450" spc="-5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1D1B0F"/>
                </a:solidFill>
                <a:latin typeface="Calibri"/>
                <a:cs typeface="Calibri"/>
              </a:rPr>
              <a:t>des</a:t>
            </a:r>
            <a:r>
              <a:rPr sz="1450" spc="-30" dirty="0">
                <a:solidFill>
                  <a:srgbClr val="1D1B0F"/>
                </a:solidFill>
                <a:latin typeface="Calibri"/>
                <a:cs typeface="Calibri"/>
              </a:rPr>
              <a:t> fonctions</a:t>
            </a:r>
            <a:r>
              <a:rPr sz="1450" spc="1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1D1B0F"/>
                </a:solidFill>
                <a:latin typeface="Calibri"/>
                <a:cs typeface="Calibri"/>
              </a:rPr>
              <a:t>cachées,</a:t>
            </a:r>
            <a:r>
              <a:rPr sz="1450" spc="4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450" spc="-50" dirty="0">
                <a:solidFill>
                  <a:srgbClr val="1D1B0F"/>
                </a:solidFill>
                <a:latin typeface="Calibri"/>
                <a:cs typeface="Calibri"/>
              </a:rPr>
              <a:t>…</a:t>
            </a:r>
            <a:endParaRPr sz="1450">
              <a:latin typeface="Calibri"/>
              <a:cs typeface="Calibri"/>
            </a:endParaRPr>
          </a:p>
          <a:p>
            <a:pPr marL="878205" indent="-140970">
              <a:lnSpc>
                <a:spcPct val="100000"/>
              </a:lnSpc>
              <a:spcBef>
                <a:spcPts val="95"/>
              </a:spcBef>
              <a:buChar char="•"/>
              <a:tabLst>
                <a:tab pos="878205" algn="l"/>
              </a:tabLst>
            </a:pPr>
            <a:r>
              <a:rPr sz="1450" spc="-20" dirty="0">
                <a:solidFill>
                  <a:srgbClr val="1D1B0F"/>
                </a:solidFill>
                <a:latin typeface="Calibri"/>
                <a:cs typeface="Calibri"/>
              </a:rPr>
              <a:t>1</a:t>
            </a:r>
            <a:r>
              <a:rPr sz="1450" spc="-9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1D1B0F"/>
                </a:solidFill>
                <a:latin typeface="Calibri"/>
                <a:cs typeface="Calibri"/>
              </a:rPr>
              <a:t>cybercriminalité</a:t>
            </a:r>
            <a:endParaRPr sz="1450">
              <a:latin typeface="Calibri"/>
              <a:cs typeface="Calibri"/>
            </a:endParaRPr>
          </a:p>
          <a:p>
            <a:pPr marL="878205" indent="-140970">
              <a:lnSpc>
                <a:spcPct val="100000"/>
              </a:lnSpc>
              <a:spcBef>
                <a:spcPts val="85"/>
              </a:spcBef>
              <a:buChar char="•"/>
              <a:tabLst>
                <a:tab pos="878205" algn="l"/>
              </a:tabLst>
            </a:pPr>
            <a:r>
              <a:rPr sz="1450" spc="-50" dirty="0">
                <a:solidFill>
                  <a:srgbClr val="1D1B0F"/>
                </a:solidFill>
                <a:latin typeface="Calibri"/>
                <a:cs typeface="Calibri"/>
              </a:rPr>
              <a:t>L’ingénierie</a:t>
            </a:r>
            <a:r>
              <a:rPr sz="1450" spc="-18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1D1B0F"/>
                </a:solidFill>
                <a:latin typeface="Calibri"/>
                <a:cs typeface="Calibri"/>
              </a:rPr>
              <a:t>social:</a:t>
            </a:r>
            <a:r>
              <a:rPr sz="1450" spc="6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450" spc="-35" dirty="0">
                <a:solidFill>
                  <a:srgbClr val="1D1B0F"/>
                </a:solidFill>
                <a:latin typeface="Calibri"/>
                <a:cs typeface="Calibri"/>
              </a:rPr>
              <a:t>informations</a:t>
            </a:r>
            <a:r>
              <a:rPr sz="1450" spc="3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450" spc="-35" dirty="0">
                <a:solidFill>
                  <a:srgbClr val="1D1B0F"/>
                </a:solidFill>
                <a:latin typeface="Calibri"/>
                <a:cs typeface="Calibri"/>
              </a:rPr>
              <a:t>personnelles</a:t>
            </a:r>
            <a:r>
              <a:rPr sz="1450" spc="-1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450" spc="-35" dirty="0">
                <a:solidFill>
                  <a:srgbClr val="1D1B0F"/>
                </a:solidFill>
                <a:latin typeface="Calibri"/>
                <a:cs typeface="Calibri"/>
              </a:rPr>
              <a:t>confidentielles</a:t>
            </a:r>
            <a:r>
              <a:rPr sz="1450" spc="2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1D1B0F"/>
                </a:solidFill>
                <a:latin typeface="Calibri"/>
                <a:cs typeface="Calibri"/>
              </a:rPr>
              <a:t>pour</a:t>
            </a:r>
            <a:r>
              <a:rPr sz="1450" spc="-6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1D1B0F"/>
                </a:solidFill>
                <a:latin typeface="Calibri"/>
                <a:cs typeface="Calibri"/>
              </a:rPr>
              <a:t>des</a:t>
            </a:r>
            <a:r>
              <a:rPr sz="1450" spc="1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1D1B0F"/>
                </a:solidFill>
                <a:latin typeface="Calibri"/>
                <a:cs typeface="Calibri"/>
              </a:rPr>
              <a:t>fins</a:t>
            </a:r>
            <a:r>
              <a:rPr sz="1450" spc="-3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1D1B0F"/>
                </a:solidFill>
                <a:latin typeface="Calibri"/>
                <a:cs typeface="Calibri"/>
              </a:rPr>
              <a:t>suspectes</a:t>
            </a:r>
            <a:endParaRPr sz="1450">
              <a:latin typeface="Calibri"/>
              <a:cs typeface="Calibri"/>
            </a:endParaRPr>
          </a:p>
          <a:p>
            <a:pPr marL="878205" indent="-140970">
              <a:lnSpc>
                <a:spcPct val="100000"/>
              </a:lnSpc>
              <a:spcBef>
                <a:spcPts val="85"/>
              </a:spcBef>
              <a:buChar char="•"/>
              <a:tabLst>
                <a:tab pos="878205" algn="l"/>
              </a:tabLst>
            </a:pPr>
            <a:r>
              <a:rPr sz="1450" spc="-10" dirty="0">
                <a:solidFill>
                  <a:srgbClr val="1D1B0F"/>
                </a:solidFill>
                <a:latin typeface="Calibri"/>
                <a:cs typeface="Calibri"/>
              </a:rPr>
              <a:t>L’espionnage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037333" y="5213096"/>
            <a:ext cx="1835785" cy="3181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spc="-25" dirty="0">
                <a:solidFill>
                  <a:srgbClr val="FFFFFF"/>
                </a:solidFill>
                <a:latin typeface="Calibri"/>
                <a:cs typeface="Calibri"/>
              </a:rPr>
              <a:t>Risques</a:t>
            </a:r>
            <a:r>
              <a:rPr sz="19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logistiques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034920" y="5518200"/>
            <a:ext cx="7829550" cy="11417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49225" indent="-136525">
              <a:lnSpc>
                <a:spcPts val="1735"/>
              </a:lnSpc>
              <a:spcBef>
                <a:spcPts val="90"/>
              </a:spcBef>
              <a:buChar char="•"/>
              <a:tabLst>
                <a:tab pos="149225" algn="l"/>
              </a:tabLst>
            </a:pPr>
            <a:r>
              <a:rPr sz="1450" spc="-35" dirty="0">
                <a:solidFill>
                  <a:srgbClr val="1D1B0F"/>
                </a:solidFill>
                <a:latin typeface="Calibri"/>
                <a:cs typeface="Calibri"/>
              </a:rPr>
              <a:t>Défauts</a:t>
            </a:r>
            <a:r>
              <a:rPr sz="1450" spc="-4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1D1B0F"/>
                </a:solidFill>
                <a:latin typeface="Calibri"/>
                <a:cs typeface="Calibri"/>
              </a:rPr>
              <a:t>et</a:t>
            </a:r>
            <a:r>
              <a:rPr sz="1450" spc="-3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1D1B0F"/>
                </a:solidFill>
                <a:latin typeface="Calibri"/>
                <a:cs typeface="Calibri"/>
              </a:rPr>
              <a:t>pannes</a:t>
            </a:r>
            <a:r>
              <a:rPr sz="1450" spc="-11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1D1B0F"/>
                </a:solidFill>
                <a:latin typeface="Calibri"/>
                <a:cs typeface="Calibri"/>
              </a:rPr>
              <a:t>de</a:t>
            </a:r>
            <a:r>
              <a:rPr sz="1450" spc="-7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1D1B0F"/>
                </a:solidFill>
                <a:latin typeface="Calibri"/>
                <a:cs typeface="Calibri"/>
              </a:rPr>
              <a:t>fabrication</a:t>
            </a:r>
            <a:endParaRPr sz="1450">
              <a:latin typeface="Calibri"/>
              <a:cs typeface="Calibri"/>
            </a:endParaRPr>
          </a:p>
          <a:p>
            <a:pPr marL="149225" indent="-136525">
              <a:lnSpc>
                <a:spcPts val="1735"/>
              </a:lnSpc>
              <a:buChar char="•"/>
              <a:tabLst>
                <a:tab pos="149225" algn="l"/>
              </a:tabLst>
            </a:pPr>
            <a:r>
              <a:rPr sz="1450" spc="-35" dirty="0">
                <a:solidFill>
                  <a:srgbClr val="1D1B0F"/>
                </a:solidFill>
                <a:latin typeface="Calibri"/>
                <a:cs typeface="Calibri"/>
              </a:rPr>
              <a:t>Panne</a:t>
            </a:r>
            <a:r>
              <a:rPr sz="1450" spc="-5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1D1B0F"/>
                </a:solidFill>
                <a:latin typeface="Calibri"/>
                <a:cs typeface="Calibri"/>
              </a:rPr>
              <a:t>matérielle</a:t>
            </a:r>
            <a:endParaRPr sz="1450">
              <a:latin typeface="Calibri"/>
              <a:cs typeface="Calibri"/>
            </a:endParaRPr>
          </a:p>
          <a:p>
            <a:pPr marL="148590" indent="-135890">
              <a:lnSpc>
                <a:spcPct val="100000"/>
              </a:lnSpc>
              <a:spcBef>
                <a:spcPts val="95"/>
              </a:spcBef>
              <a:buChar char="•"/>
              <a:tabLst>
                <a:tab pos="148590" algn="l"/>
              </a:tabLst>
            </a:pPr>
            <a:r>
              <a:rPr sz="1450" spc="-40" dirty="0">
                <a:solidFill>
                  <a:srgbClr val="1D1B0F"/>
                </a:solidFill>
                <a:latin typeface="Calibri"/>
                <a:cs typeface="Calibri"/>
              </a:rPr>
              <a:t>Défaut</a:t>
            </a:r>
            <a:r>
              <a:rPr sz="1450" spc="-5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1D1B0F"/>
                </a:solidFill>
                <a:latin typeface="Calibri"/>
                <a:cs typeface="Calibri"/>
              </a:rPr>
              <a:t>du</a:t>
            </a:r>
            <a:r>
              <a:rPr sz="1450" spc="-2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450" spc="-20" dirty="0">
                <a:solidFill>
                  <a:srgbClr val="1D1B0F"/>
                </a:solidFill>
                <a:latin typeface="Calibri"/>
                <a:cs typeface="Calibri"/>
              </a:rPr>
              <a:t>logiciel: </a:t>
            </a:r>
            <a:r>
              <a:rPr sz="1450" spc="-40" dirty="0">
                <a:solidFill>
                  <a:srgbClr val="1D1B0F"/>
                </a:solidFill>
                <a:latin typeface="Calibri"/>
                <a:cs typeface="Calibri"/>
              </a:rPr>
              <a:t>système</a:t>
            </a:r>
            <a:r>
              <a:rPr sz="1450" spc="5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450" spc="-50" dirty="0">
                <a:solidFill>
                  <a:srgbClr val="1D1B0F"/>
                </a:solidFill>
                <a:latin typeface="Calibri"/>
                <a:cs typeface="Calibri"/>
              </a:rPr>
              <a:t>d’exploitation,</a:t>
            </a:r>
            <a:r>
              <a:rPr sz="1450" spc="-15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450" spc="-35" dirty="0">
                <a:solidFill>
                  <a:srgbClr val="1D1B0F"/>
                </a:solidFill>
                <a:latin typeface="Calibri"/>
                <a:cs typeface="Calibri"/>
              </a:rPr>
              <a:t>programmes,</a:t>
            </a:r>
            <a:r>
              <a:rPr sz="1450" spc="2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450" spc="-20" dirty="0">
                <a:solidFill>
                  <a:srgbClr val="1D1B0F"/>
                </a:solidFill>
                <a:latin typeface="Calibri"/>
                <a:cs typeface="Calibri"/>
              </a:rPr>
              <a:t>etc.</a:t>
            </a:r>
            <a:endParaRPr sz="1450">
              <a:latin typeface="Calibri"/>
              <a:cs typeface="Calibri"/>
            </a:endParaRPr>
          </a:p>
          <a:p>
            <a:pPr marL="149860" marR="5080" indent="-137160">
              <a:lnSpc>
                <a:spcPts val="1600"/>
              </a:lnSpc>
              <a:spcBef>
                <a:spcPts val="330"/>
              </a:spcBef>
              <a:buChar char="•"/>
              <a:tabLst>
                <a:tab pos="149860" algn="l"/>
              </a:tabLst>
            </a:pPr>
            <a:r>
              <a:rPr sz="1450" spc="-40" dirty="0">
                <a:solidFill>
                  <a:srgbClr val="1D1B0F"/>
                </a:solidFill>
                <a:latin typeface="Calibri"/>
                <a:cs typeface="Calibri"/>
              </a:rPr>
              <a:t>Environnement</a:t>
            </a:r>
            <a:r>
              <a:rPr sz="1450" spc="-2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1D1B0F"/>
                </a:solidFill>
                <a:latin typeface="Calibri"/>
                <a:cs typeface="Calibri"/>
              </a:rPr>
              <a:t>de</a:t>
            </a:r>
            <a:r>
              <a:rPr sz="1450" spc="-2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450" spc="-50" dirty="0">
                <a:solidFill>
                  <a:srgbClr val="1D1B0F"/>
                </a:solidFill>
                <a:latin typeface="Calibri"/>
                <a:cs typeface="Calibri"/>
              </a:rPr>
              <a:t>travail:</a:t>
            </a:r>
            <a:r>
              <a:rPr sz="1450" spc="-13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450" spc="-35" dirty="0">
                <a:solidFill>
                  <a:srgbClr val="1D1B0F"/>
                </a:solidFill>
                <a:latin typeface="Calibri"/>
                <a:cs typeface="Calibri"/>
              </a:rPr>
              <a:t>variation</a:t>
            </a:r>
            <a:r>
              <a:rPr sz="1450" spc="-1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1D1B0F"/>
                </a:solidFill>
                <a:latin typeface="Calibri"/>
                <a:cs typeface="Calibri"/>
              </a:rPr>
              <a:t>de</a:t>
            </a:r>
            <a:r>
              <a:rPr sz="1450" spc="-1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1D1B0F"/>
                </a:solidFill>
                <a:latin typeface="Calibri"/>
                <a:cs typeface="Calibri"/>
              </a:rPr>
              <a:t>la </a:t>
            </a:r>
            <a:r>
              <a:rPr sz="1450" spc="-40" dirty="0">
                <a:solidFill>
                  <a:srgbClr val="1D1B0F"/>
                </a:solidFill>
                <a:latin typeface="Calibri"/>
                <a:cs typeface="Calibri"/>
              </a:rPr>
              <a:t>température</a:t>
            </a:r>
            <a:r>
              <a:rPr sz="1450" spc="-1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1D1B0F"/>
                </a:solidFill>
                <a:latin typeface="Calibri"/>
                <a:cs typeface="Calibri"/>
              </a:rPr>
              <a:t>ou</a:t>
            </a:r>
            <a:r>
              <a:rPr sz="1450" spc="1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450" spc="-35" dirty="0">
                <a:solidFill>
                  <a:srgbClr val="1D1B0F"/>
                </a:solidFill>
                <a:latin typeface="Calibri"/>
                <a:cs typeface="Calibri"/>
              </a:rPr>
              <a:t>l’humidité,</a:t>
            </a:r>
            <a:r>
              <a:rPr sz="1450" spc="-2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450" spc="-30" dirty="0">
                <a:solidFill>
                  <a:srgbClr val="1D1B0F"/>
                </a:solidFill>
                <a:latin typeface="Calibri"/>
                <a:cs typeface="Calibri"/>
              </a:rPr>
              <a:t>exposition</a:t>
            </a:r>
            <a:r>
              <a:rPr sz="1450" spc="1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1D1B0F"/>
                </a:solidFill>
                <a:latin typeface="Calibri"/>
                <a:cs typeface="Calibri"/>
              </a:rPr>
              <a:t>aux</a:t>
            </a:r>
            <a:r>
              <a:rPr sz="1450" spc="2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1D1B0F"/>
                </a:solidFill>
                <a:latin typeface="Calibri"/>
                <a:cs typeface="Calibri"/>
              </a:rPr>
              <a:t>champs</a:t>
            </a:r>
            <a:r>
              <a:rPr sz="1450" spc="-1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450" spc="-25" dirty="0">
                <a:solidFill>
                  <a:srgbClr val="1D1B0F"/>
                </a:solidFill>
                <a:latin typeface="Calibri"/>
                <a:cs typeface="Calibri"/>
              </a:rPr>
              <a:t>électriques</a:t>
            </a:r>
            <a:r>
              <a:rPr sz="1450" spc="3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450" spc="-25" dirty="0">
                <a:solidFill>
                  <a:srgbClr val="1D1B0F"/>
                </a:solidFill>
                <a:latin typeface="Calibri"/>
                <a:cs typeface="Calibri"/>
              </a:rPr>
              <a:t>et </a:t>
            </a:r>
            <a:r>
              <a:rPr sz="1450" spc="-10" dirty="0">
                <a:solidFill>
                  <a:srgbClr val="1D1B0F"/>
                </a:solidFill>
                <a:latin typeface="Calibri"/>
                <a:cs typeface="Calibri"/>
              </a:rPr>
              <a:t>magnétiques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1139572" y="216090"/>
            <a:ext cx="10515600" cy="1141594"/>
          </a:xfrm>
          <a:prstGeom prst="rect">
            <a:avLst/>
          </a:prstGeom>
        </p:spPr>
        <p:txBody>
          <a:bodyPr vert="horz" wrap="square" lIns="0" tIns="447293" rIns="0" bIns="0" rtlCol="0">
            <a:spAutoFit/>
          </a:bodyPr>
          <a:lstStyle/>
          <a:p>
            <a:pPr marL="1160780">
              <a:lnSpc>
                <a:spcPct val="100000"/>
              </a:lnSpc>
              <a:spcBef>
                <a:spcPts val="95"/>
              </a:spcBef>
            </a:pPr>
            <a:r>
              <a:rPr dirty="0"/>
              <a:t>Les</a:t>
            </a:r>
            <a:r>
              <a:rPr spc="-110" dirty="0"/>
              <a:t> </a:t>
            </a:r>
            <a:r>
              <a:rPr dirty="0"/>
              <a:t>Risques</a:t>
            </a:r>
            <a:r>
              <a:rPr spc="-175" dirty="0"/>
              <a:t> </a:t>
            </a:r>
            <a:r>
              <a:rPr dirty="0"/>
              <a:t>-</a:t>
            </a:r>
            <a:r>
              <a:rPr spc="-85" dirty="0"/>
              <a:t> </a:t>
            </a:r>
            <a:r>
              <a:rPr spc="-30" dirty="0"/>
              <a:t>Classification</a:t>
            </a:r>
            <a:r>
              <a:rPr spc="-145" dirty="0"/>
              <a:t> </a:t>
            </a:r>
            <a:r>
              <a:rPr spc="-10" dirty="0"/>
              <a:t>(</a:t>
            </a:r>
            <a:r>
              <a:rPr lang="fr-FR" spc="-10" dirty="0"/>
              <a:t>1/</a:t>
            </a:r>
            <a:r>
              <a:rPr spc="-10" dirty="0"/>
              <a:t>2)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98019" y="1089163"/>
            <a:ext cx="9677400" cy="26103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36220">
              <a:lnSpc>
                <a:spcPct val="100000"/>
              </a:lnSpc>
              <a:spcBef>
                <a:spcPts val="95"/>
              </a:spcBef>
            </a:pPr>
            <a:r>
              <a:rPr sz="2800" b="1" spc="-130" dirty="0">
                <a:solidFill>
                  <a:schemeClr val="tx1">
                    <a:lumMod val="95000"/>
                    <a:lumOff val="5000"/>
                  </a:schemeClr>
                </a:solidFill>
                <a:latin typeface="Arial MT"/>
                <a:cs typeface="Times New Roman"/>
              </a:rPr>
              <a:t> </a:t>
            </a:r>
            <a:endParaRPr sz="2800" dirty="0">
              <a:latin typeface="Arial MT"/>
              <a:cs typeface="Times New Roman"/>
            </a:endParaRPr>
          </a:p>
          <a:p>
            <a:pPr marL="230504" marR="5080" indent="-218440">
              <a:lnSpc>
                <a:spcPct val="150000"/>
              </a:lnSpc>
              <a:buFont typeface="Arial MT"/>
              <a:buChar char="•"/>
              <a:tabLst>
                <a:tab pos="231775" algn="l"/>
              </a:tabLst>
            </a:pPr>
            <a:r>
              <a:rPr sz="1800" b="1" dirty="0">
                <a:solidFill>
                  <a:srgbClr val="1D1B0F"/>
                </a:solidFill>
                <a:latin typeface="Arial MT"/>
                <a:cs typeface="Calibri"/>
              </a:rPr>
              <a:t>Action</a:t>
            </a:r>
            <a:r>
              <a:rPr sz="1800" b="1" spc="-105" dirty="0">
                <a:solidFill>
                  <a:srgbClr val="1D1B0F"/>
                </a:solidFill>
                <a:latin typeface="Arial MT"/>
                <a:cs typeface="Calibri"/>
              </a:rPr>
              <a:t> </a:t>
            </a:r>
            <a:r>
              <a:rPr sz="1800" b="1" spc="-20" dirty="0">
                <a:solidFill>
                  <a:srgbClr val="1D1B0F"/>
                </a:solidFill>
                <a:latin typeface="Arial MT"/>
                <a:cs typeface="Calibri"/>
              </a:rPr>
              <a:t>malveillante</a:t>
            </a:r>
            <a:r>
              <a:rPr sz="1800" b="1" spc="25" dirty="0">
                <a:solidFill>
                  <a:srgbClr val="1D1B0F"/>
                </a:solidFill>
                <a:latin typeface="Arial MT"/>
                <a:cs typeface="Calibri"/>
              </a:rPr>
              <a:t> </a:t>
            </a:r>
            <a:r>
              <a:rPr sz="1800" dirty="0">
                <a:solidFill>
                  <a:srgbClr val="1D1B0F"/>
                </a:solidFill>
                <a:latin typeface="Arial MT"/>
                <a:cs typeface="Calibri"/>
              </a:rPr>
              <a:t>destinée</a:t>
            </a:r>
            <a:r>
              <a:rPr sz="1800" spc="-55" dirty="0">
                <a:solidFill>
                  <a:srgbClr val="1D1B0F"/>
                </a:solidFill>
                <a:latin typeface="Arial MT"/>
                <a:cs typeface="Calibri"/>
              </a:rPr>
              <a:t> </a:t>
            </a:r>
            <a:r>
              <a:rPr sz="1800" dirty="0">
                <a:solidFill>
                  <a:srgbClr val="1D1B0F"/>
                </a:solidFill>
                <a:latin typeface="Arial MT"/>
                <a:cs typeface="Calibri"/>
              </a:rPr>
              <a:t>à</a:t>
            </a:r>
            <a:r>
              <a:rPr sz="1800" spc="-40" dirty="0">
                <a:solidFill>
                  <a:srgbClr val="1D1B0F"/>
                </a:solidFill>
                <a:latin typeface="Arial MT"/>
                <a:cs typeface="Calibri"/>
              </a:rPr>
              <a:t> </a:t>
            </a:r>
            <a:r>
              <a:rPr sz="1800" spc="-10" dirty="0">
                <a:solidFill>
                  <a:srgbClr val="1D1B0F"/>
                </a:solidFill>
                <a:latin typeface="Arial MT"/>
                <a:cs typeface="Calibri"/>
              </a:rPr>
              <a:t>porter </a:t>
            </a:r>
            <a:r>
              <a:rPr sz="1800" spc="-30" dirty="0" err="1">
                <a:solidFill>
                  <a:srgbClr val="1D1B0F"/>
                </a:solidFill>
                <a:latin typeface="Arial MT"/>
                <a:cs typeface="Calibri"/>
              </a:rPr>
              <a:t>atteinte</a:t>
            </a:r>
            <a:r>
              <a:rPr sz="1800" spc="-65" dirty="0">
                <a:solidFill>
                  <a:srgbClr val="1D1B0F"/>
                </a:solidFill>
                <a:latin typeface="Arial MT"/>
                <a:cs typeface="Calibri"/>
              </a:rPr>
              <a:t> </a:t>
            </a:r>
            <a:r>
              <a:rPr sz="1800" dirty="0">
                <a:solidFill>
                  <a:srgbClr val="1D1B0F"/>
                </a:solidFill>
                <a:latin typeface="Arial MT"/>
                <a:cs typeface="Calibri"/>
              </a:rPr>
              <a:t>à</a:t>
            </a:r>
            <a:r>
              <a:rPr sz="1800" spc="-30" dirty="0">
                <a:solidFill>
                  <a:srgbClr val="1D1B0F"/>
                </a:solidFill>
                <a:latin typeface="Arial MT"/>
                <a:cs typeface="Calibri"/>
              </a:rPr>
              <a:t> </a:t>
            </a:r>
            <a:r>
              <a:rPr sz="1800" dirty="0">
                <a:solidFill>
                  <a:srgbClr val="1D1B0F"/>
                </a:solidFill>
                <a:latin typeface="Arial MT"/>
                <a:cs typeface="Calibri"/>
              </a:rPr>
              <a:t>la</a:t>
            </a:r>
            <a:r>
              <a:rPr sz="1800" spc="-40" dirty="0">
                <a:solidFill>
                  <a:srgbClr val="1D1B0F"/>
                </a:solidFill>
                <a:latin typeface="Arial MT"/>
                <a:cs typeface="Calibri"/>
              </a:rPr>
              <a:t> </a:t>
            </a:r>
            <a:r>
              <a:rPr sz="1800" dirty="0">
                <a:solidFill>
                  <a:srgbClr val="1D1B0F"/>
                </a:solidFill>
                <a:latin typeface="Arial MT"/>
                <a:cs typeface="Calibri"/>
              </a:rPr>
              <a:t>sécurité</a:t>
            </a:r>
            <a:r>
              <a:rPr sz="1800" spc="-10" dirty="0">
                <a:solidFill>
                  <a:srgbClr val="1D1B0F"/>
                </a:solidFill>
                <a:latin typeface="Arial MT"/>
                <a:cs typeface="Calibri"/>
              </a:rPr>
              <a:t> </a:t>
            </a:r>
            <a:r>
              <a:rPr sz="1800" dirty="0">
                <a:solidFill>
                  <a:srgbClr val="1D1B0F"/>
                </a:solidFill>
                <a:latin typeface="Arial MT"/>
                <a:cs typeface="Calibri"/>
              </a:rPr>
              <a:t>d’un</a:t>
            </a:r>
            <a:r>
              <a:rPr sz="1800" spc="-40" dirty="0">
                <a:solidFill>
                  <a:srgbClr val="1D1B0F"/>
                </a:solidFill>
                <a:latin typeface="Arial MT"/>
                <a:cs typeface="Calibri"/>
              </a:rPr>
              <a:t> </a:t>
            </a:r>
            <a:r>
              <a:rPr sz="1800" dirty="0">
                <a:solidFill>
                  <a:srgbClr val="1D1B0F"/>
                </a:solidFill>
                <a:latin typeface="Arial MT"/>
                <a:cs typeface="Calibri"/>
              </a:rPr>
              <a:t>bien.</a:t>
            </a:r>
            <a:r>
              <a:rPr sz="1800" spc="-10" dirty="0">
                <a:solidFill>
                  <a:srgbClr val="1D1B0F"/>
                </a:solidFill>
                <a:latin typeface="Arial MT"/>
                <a:cs typeface="Calibri"/>
              </a:rPr>
              <a:t> </a:t>
            </a:r>
            <a:endParaRPr lang="fr-FR" sz="1800" spc="-10" dirty="0">
              <a:solidFill>
                <a:srgbClr val="1D1B0F"/>
              </a:solidFill>
              <a:latin typeface="Arial MT"/>
              <a:cs typeface="Calibri"/>
            </a:endParaRPr>
          </a:p>
          <a:p>
            <a:pPr marL="230504" marR="5080" indent="-218440">
              <a:lnSpc>
                <a:spcPct val="150000"/>
              </a:lnSpc>
              <a:buFont typeface="Arial MT"/>
              <a:buChar char="•"/>
              <a:tabLst>
                <a:tab pos="231775" algn="l"/>
              </a:tabLst>
            </a:pPr>
            <a:r>
              <a:rPr sz="1800" spc="-25" dirty="0">
                <a:solidFill>
                  <a:srgbClr val="1D1B0F"/>
                </a:solidFill>
                <a:latin typeface="Arial MT"/>
                <a:cs typeface="Calibri"/>
              </a:rPr>
              <a:t>Une </a:t>
            </a:r>
            <a:r>
              <a:rPr sz="1800" dirty="0" err="1">
                <a:solidFill>
                  <a:srgbClr val="1D1B0F"/>
                </a:solidFill>
                <a:latin typeface="Arial MT"/>
                <a:cs typeface="Calibri"/>
              </a:rPr>
              <a:t>attaque</a:t>
            </a:r>
            <a:r>
              <a:rPr sz="1800" spc="-45" dirty="0">
                <a:solidFill>
                  <a:srgbClr val="1D1B0F"/>
                </a:solidFill>
                <a:latin typeface="Arial MT"/>
                <a:cs typeface="Calibri"/>
              </a:rPr>
              <a:t> </a:t>
            </a:r>
            <a:r>
              <a:rPr sz="1800" spc="-25" dirty="0">
                <a:solidFill>
                  <a:srgbClr val="1D1B0F"/>
                </a:solidFill>
                <a:latin typeface="Arial MT"/>
                <a:cs typeface="Calibri"/>
              </a:rPr>
              <a:t>représente</a:t>
            </a:r>
            <a:r>
              <a:rPr sz="1800" spc="-70" dirty="0">
                <a:solidFill>
                  <a:srgbClr val="1D1B0F"/>
                </a:solidFill>
                <a:latin typeface="Arial MT"/>
                <a:cs typeface="Calibri"/>
              </a:rPr>
              <a:t> </a:t>
            </a:r>
            <a:r>
              <a:rPr sz="1800" dirty="0">
                <a:solidFill>
                  <a:srgbClr val="1D1B0F"/>
                </a:solidFill>
                <a:latin typeface="Arial MT"/>
                <a:cs typeface="Calibri"/>
              </a:rPr>
              <a:t>la</a:t>
            </a:r>
            <a:r>
              <a:rPr sz="1800" spc="-55" dirty="0">
                <a:solidFill>
                  <a:srgbClr val="1D1B0F"/>
                </a:solidFill>
                <a:latin typeface="Arial MT"/>
                <a:cs typeface="Calibri"/>
              </a:rPr>
              <a:t> </a:t>
            </a:r>
            <a:r>
              <a:rPr sz="1800" b="1" spc="-10" dirty="0" err="1">
                <a:solidFill>
                  <a:srgbClr val="1D1B0F"/>
                </a:solidFill>
                <a:latin typeface="Arial MT"/>
                <a:cs typeface="Calibri"/>
              </a:rPr>
              <a:t>concrétisation</a:t>
            </a:r>
            <a:r>
              <a:rPr sz="1800" b="1" spc="-10" dirty="0">
                <a:solidFill>
                  <a:srgbClr val="1D1B0F"/>
                </a:solidFill>
                <a:latin typeface="Arial MT"/>
                <a:cs typeface="Calibri"/>
              </a:rPr>
              <a:t> </a:t>
            </a:r>
            <a:r>
              <a:rPr sz="1800" b="1" dirty="0" err="1">
                <a:solidFill>
                  <a:srgbClr val="1D1B0F"/>
                </a:solidFill>
                <a:latin typeface="Arial MT"/>
                <a:cs typeface="Calibri"/>
              </a:rPr>
              <a:t>d’une</a:t>
            </a:r>
            <a:r>
              <a:rPr sz="1800" b="1" spc="-55" dirty="0">
                <a:solidFill>
                  <a:srgbClr val="1D1B0F"/>
                </a:solidFill>
                <a:latin typeface="Arial MT"/>
                <a:cs typeface="Calibri"/>
              </a:rPr>
              <a:t> </a:t>
            </a:r>
            <a:r>
              <a:rPr sz="1800" b="1" dirty="0">
                <a:solidFill>
                  <a:srgbClr val="1D1B0F"/>
                </a:solidFill>
                <a:latin typeface="Arial MT"/>
                <a:cs typeface="Calibri"/>
              </a:rPr>
              <a:t>menace</a:t>
            </a:r>
            <a:r>
              <a:rPr sz="1800" dirty="0">
                <a:solidFill>
                  <a:srgbClr val="1D1B0F"/>
                </a:solidFill>
                <a:latin typeface="Arial MT"/>
                <a:cs typeface="Calibri"/>
              </a:rPr>
              <a:t>,</a:t>
            </a:r>
            <a:r>
              <a:rPr sz="1800" spc="-5" dirty="0">
                <a:solidFill>
                  <a:srgbClr val="1D1B0F"/>
                </a:solidFill>
                <a:latin typeface="Arial MT"/>
                <a:cs typeface="Calibri"/>
              </a:rPr>
              <a:t> </a:t>
            </a:r>
            <a:r>
              <a:rPr sz="1800" dirty="0">
                <a:solidFill>
                  <a:srgbClr val="1D1B0F"/>
                </a:solidFill>
                <a:latin typeface="Arial MT"/>
                <a:cs typeface="Calibri"/>
              </a:rPr>
              <a:t>et</a:t>
            </a:r>
            <a:r>
              <a:rPr sz="1800" spc="-25" dirty="0">
                <a:solidFill>
                  <a:srgbClr val="1D1B0F"/>
                </a:solidFill>
                <a:latin typeface="Arial MT"/>
                <a:cs typeface="Calibri"/>
              </a:rPr>
              <a:t> </a:t>
            </a:r>
            <a:r>
              <a:rPr sz="1800" spc="-10" dirty="0" err="1">
                <a:solidFill>
                  <a:srgbClr val="1D1B0F"/>
                </a:solidFill>
                <a:latin typeface="Arial MT"/>
                <a:cs typeface="Calibri"/>
              </a:rPr>
              <a:t>nécessite</a:t>
            </a:r>
            <a:r>
              <a:rPr sz="1800" spc="-10" dirty="0">
                <a:solidFill>
                  <a:srgbClr val="1D1B0F"/>
                </a:solidFill>
                <a:latin typeface="Arial MT"/>
                <a:cs typeface="Calibri"/>
              </a:rPr>
              <a:t> </a:t>
            </a:r>
            <a:r>
              <a:rPr sz="1800" b="1" spc="-55" dirty="0" err="1">
                <a:solidFill>
                  <a:srgbClr val="1D1B0F"/>
                </a:solidFill>
                <a:latin typeface="Arial MT"/>
                <a:cs typeface="Calibri"/>
              </a:rPr>
              <a:t>l’exploitation</a:t>
            </a:r>
            <a:r>
              <a:rPr sz="1800" b="1" spc="-110" dirty="0">
                <a:solidFill>
                  <a:srgbClr val="1D1B0F"/>
                </a:solidFill>
                <a:latin typeface="Arial MT"/>
                <a:cs typeface="Calibri"/>
              </a:rPr>
              <a:t> </a:t>
            </a:r>
            <a:r>
              <a:rPr sz="1800" b="1" dirty="0">
                <a:solidFill>
                  <a:srgbClr val="1D1B0F"/>
                </a:solidFill>
                <a:latin typeface="Arial MT"/>
                <a:cs typeface="Calibri"/>
              </a:rPr>
              <a:t>d’une</a:t>
            </a:r>
            <a:r>
              <a:rPr sz="1800" b="1" spc="55" dirty="0">
                <a:solidFill>
                  <a:srgbClr val="1D1B0F"/>
                </a:solidFill>
                <a:latin typeface="Arial MT"/>
                <a:cs typeface="Calibri"/>
              </a:rPr>
              <a:t> </a:t>
            </a:r>
            <a:r>
              <a:rPr sz="1800" b="1" spc="-10" dirty="0">
                <a:solidFill>
                  <a:srgbClr val="1D1B0F"/>
                </a:solidFill>
                <a:latin typeface="Arial MT"/>
                <a:cs typeface="Calibri"/>
              </a:rPr>
              <a:t>vulnérabilité</a:t>
            </a:r>
            <a:r>
              <a:rPr sz="1800" spc="-10" dirty="0">
                <a:solidFill>
                  <a:srgbClr val="1D1B0F"/>
                </a:solidFill>
                <a:latin typeface="Arial MT"/>
                <a:cs typeface="Calibri"/>
              </a:rPr>
              <a:t>.</a:t>
            </a:r>
            <a:endParaRPr sz="1800" dirty="0">
              <a:latin typeface="Arial MT"/>
              <a:cs typeface="Calibri"/>
            </a:endParaRPr>
          </a:p>
          <a:p>
            <a:pPr marL="230504" marR="116839" indent="-218440">
              <a:lnSpc>
                <a:spcPct val="150000"/>
              </a:lnSpc>
              <a:spcBef>
                <a:spcPts val="1090"/>
              </a:spcBef>
              <a:buFont typeface="Arial MT"/>
              <a:buChar char="•"/>
              <a:tabLst>
                <a:tab pos="231775" algn="l"/>
              </a:tabLst>
            </a:pPr>
            <a:r>
              <a:rPr sz="1800" dirty="0">
                <a:solidFill>
                  <a:srgbClr val="1D1B0F"/>
                </a:solidFill>
                <a:latin typeface="Arial MT"/>
                <a:cs typeface="Calibri"/>
              </a:rPr>
              <a:t>Une</a:t>
            </a:r>
            <a:r>
              <a:rPr sz="1800" spc="120" dirty="0">
                <a:solidFill>
                  <a:srgbClr val="1D1B0F"/>
                </a:solidFill>
                <a:latin typeface="Arial MT"/>
                <a:cs typeface="Calibri"/>
              </a:rPr>
              <a:t> </a:t>
            </a:r>
            <a:r>
              <a:rPr sz="1800" dirty="0">
                <a:solidFill>
                  <a:srgbClr val="1D1B0F"/>
                </a:solidFill>
                <a:latin typeface="Arial MT"/>
                <a:cs typeface="Calibri"/>
              </a:rPr>
              <a:t>attaque</a:t>
            </a:r>
            <a:r>
              <a:rPr sz="1800" spc="105" dirty="0">
                <a:solidFill>
                  <a:srgbClr val="1D1B0F"/>
                </a:solidFill>
                <a:latin typeface="Arial MT"/>
                <a:cs typeface="Calibri"/>
              </a:rPr>
              <a:t> </a:t>
            </a:r>
            <a:r>
              <a:rPr sz="1800" dirty="0">
                <a:solidFill>
                  <a:srgbClr val="1D1B0F"/>
                </a:solidFill>
                <a:latin typeface="Arial MT"/>
                <a:cs typeface="Calibri"/>
              </a:rPr>
              <a:t>ne</a:t>
            </a:r>
            <a:r>
              <a:rPr sz="1800" spc="114" dirty="0">
                <a:solidFill>
                  <a:srgbClr val="1D1B0F"/>
                </a:solidFill>
                <a:latin typeface="Arial MT"/>
                <a:cs typeface="Calibri"/>
              </a:rPr>
              <a:t> </a:t>
            </a:r>
            <a:r>
              <a:rPr sz="1800" dirty="0">
                <a:solidFill>
                  <a:srgbClr val="1D1B0F"/>
                </a:solidFill>
                <a:latin typeface="Arial MT"/>
                <a:cs typeface="Calibri"/>
              </a:rPr>
              <a:t>peut</a:t>
            </a:r>
            <a:r>
              <a:rPr sz="1800" spc="100" dirty="0">
                <a:solidFill>
                  <a:srgbClr val="1D1B0F"/>
                </a:solidFill>
                <a:latin typeface="Arial MT"/>
                <a:cs typeface="Calibri"/>
              </a:rPr>
              <a:t> </a:t>
            </a:r>
            <a:r>
              <a:rPr sz="1800" dirty="0">
                <a:solidFill>
                  <a:srgbClr val="1D1B0F"/>
                </a:solidFill>
                <a:latin typeface="Arial MT"/>
                <a:cs typeface="Calibri"/>
              </a:rPr>
              <a:t>donc</a:t>
            </a:r>
            <a:r>
              <a:rPr sz="1800" spc="100" dirty="0">
                <a:solidFill>
                  <a:srgbClr val="1D1B0F"/>
                </a:solidFill>
                <a:latin typeface="Arial MT"/>
                <a:cs typeface="Calibri"/>
              </a:rPr>
              <a:t> </a:t>
            </a:r>
            <a:r>
              <a:rPr sz="1800" dirty="0">
                <a:solidFill>
                  <a:srgbClr val="1D1B0F"/>
                </a:solidFill>
                <a:latin typeface="Arial MT"/>
                <a:cs typeface="Calibri"/>
              </a:rPr>
              <a:t>avoir</a:t>
            </a:r>
            <a:r>
              <a:rPr sz="1800" spc="114" dirty="0">
                <a:solidFill>
                  <a:srgbClr val="1D1B0F"/>
                </a:solidFill>
                <a:latin typeface="Arial MT"/>
                <a:cs typeface="Calibri"/>
              </a:rPr>
              <a:t> </a:t>
            </a:r>
            <a:r>
              <a:rPr sz="1800" spc="-20" dirty="0">
                <a:solidFill>
                  <a:srgbClr val="1D1B0F"/>
                </a:solidFill>
                <a:latin typeface="Arial MT"/>
                <a:cs typeface="Calibri"/>
              </a:rPr>
              <a:t>lieu </a:t>
            </a:r>
            <a:r>
              <a:rPr sz="1800" dirty="0">
                <a:solidFill>
                  <a:srgbClr val="1D1B0F"/>
                </a:solidFill>
                <a:latin typeface="Arial MT"/>
                <a:cs typeface="Calibri"/>
              </a:rPr>
              <a:t>(et</a:t>
            </a:r>
            <a:r>
              <a:rPr sz="1800" spc="160" dirty="0">
                <a:solidFill>
                  <a:srgbClr val="1D1B0F"/>
                </a:solidFill>
                <a:latin typeface="Arial MT"/>
                <a:cs typeface="Calibri"/>
              </a:rPr>
              <a:t> </a:t>
            </a:r>
            <a:r>
              <a:rPr sz="1800" dirty="0">
                <a:solidFill>
                  <a:srgbClr val="1D1B0F"/>
                </a:solidFill>
                <a:latin typeface="Arial MT"/>
                <a:cs typeface="Calibri"/>
              </a:rPr>
              <a:t>réussir)</a:t>
            </a:r>
            <a:r>
              <a:rPr sz="1800" spc="180" dirty="0">
                <a:solidFill>
                  <a:srgbClr val="1D1B0F"/>
                </a:solidFill>
                <a:latin typeface="Arial MT"/>
                <a:cs typeface="Calibri"/>
              </a:rPr>
              <a:t> </a:t>
            </a:r>
            <a:r>
              <a:rPr sz="1800" dirty="0">
                <a:solidFill>
                  <a:srgbClr val="1D1B0F"/>
                </a:solidFill>
                <a:latin typeface="Arial MT"/>
                <a:cs typeface="Calibri"/>
              </a:rPr>
              <a:t>que</a:t>
            </a:r>
            <a:r>
              <a:rPr sz="1800" spc="165" dirty="0">
                <a:solidFill>
                  <a:srgbClr val="1D1B0F"/>
                </a:solidFill>
                <a:latin typeface="Arial MT"/>
                <a:cs typeface="Calibri"/>
              </a:rPr>
              <a:t> </a:t>
            </a:r>
            <a:r>
              <a:rPr sz="1800" dirty="0">
                <a:solidFill>
                  <a:srgbClr val="1D1B0F"/>
                </a:solidFill>
                <a:latin typeface="Arial MT"/>
                <a:cs typeface="Calibri"/>
              </a:rPr>
              <a:t>si</a:t>
            </a:r>
            <a:r>
              <a:rPr sz="1800" spc="170" dirty="0">
                <a:solidFill>
                  <a:srgbClr val="1D1B0F"/>
                </a:solidFill>
                <a:latin typeface="Arial MT"/>
                <a:cs typeface="Calibri"/>
              </a:rPr>
              <a:t> </a:t>
            </a:r>
            <a:r>
              <a:rPr sz="1800" dirty="0">
                <a:solidFill>
                  <a:srgbClr val="1D1B0F"/>
                </a:solidFill>
                <a:latin typeface="Arial MT"/>
                <a:cs typeface="Calibri"/>
              </a:rPr>
              <a:t>le</a:t>
            </a:r>
            <a:r>
              <a:rPr sz="1800" spc="185" dirty="0">
                <a:solidFill>
                  <a:srgbClr val="1D1B0F"/>
                </a:solidFill>
                <a:latin typeface="Arial MT"/>
                <a:cs typeface="Calibri"/>
              </a:rPr>
              <a:t> </a:t>
            </a:r>
            <a:r>
              <a:rPr sz="1800" dirty="0">
                <a:solidFill>
                  <a:srgbClr val="1D1B0F"/>
                </a:solidFill>
                <a:latin typeface="Arial MT"/>
                <a:cs typeface="Calibri"/>
              </a:rPr>
              <a:t>bien</a:t>
            </a:r>
            <a:r>
              <a:rPr sz="1800" spc="175" dirty="0">
                <a:solidFill>
                  <a:srgbClr val="1D1B0F"/>
                </a:solidFill>
                <a:latin typeface="Arial MT"/>
                <a:cs typeface="Calibri"/>
              </a:rPr>
              <a:t> </a:t>
            </a:r>
            <a:r>
              <a:rPr sz="1800" dirty="0">
                <a:solidFill>
                  <a:srgbClr val="1D1B0F"/>
                </a:solidFill>
                <a:latin typeface="Arial MT"/>
                <a:cs typeface="Calibri"/>
              </a:rPr>
              <a:t>est</a:t>
            </a:r>
            <a:r>
              <a:rPr sz="1800" spc="175" dirty="0">
                <a:solidFill>
                  <a:srgbClr val="1D1B0F"/>
                </a:solidFill>
                <a:latin typeface="Arial MT"/>
                <a:cs typeface="Calibri"/>
              </a:rPr>
              <a:t> </a:t>
            </a:r>
            <a:r>
              <a:rPr sz="1800" spc="-25" dirty="0" err="1">
                <a:solidFill>
                  <a:srgbClr val="1D1B0F"/>
                </a:solidFill>
                <a:latin typeface="Arial MT"/>
                <a:cs typeface="Calibri"/>
              </a:rPr>
              <a:t>affecté</a:t>
            </a:r>
            <a:r>
              <a:rPr sz="1800" spc="-25" dirty="0">
                <a:solidFill>
                  <a:srgbClr val="1D1B0F"/>
                </a:solidFill>
                <a:latin typeface="Arial MT"/>
                <a:cs typeface="Calibri"/>
              </a:rPr>
              <a:t> </a:t>
            </a:r>
            <a:r>
              <a:rPr sz="1800" dirty="0">
                <a:solidFill>
                  <a:srgbClr val="1D1B0F"/>
                </a:solidFill>
                <a:latin typeface="Arial MT"/>
                <a:cs typeface="Calibri"/>
              </a:rPr>
              <a:t>par</a:t>
            </a:r>
            <a:r>
              <a:rPr sz="1800" spc="-35" dirty="0">
                <a:solidFill>
                  <a:srgbClr val="1D1B0F"/>
                </a:solidFill>
                <a:latin typeface="Arial MT"/>
                <a:cs typeface="Calibri"/>
              </a:rPr>
              <a:t> </a:t>
            </a:r>
            <a:r>
              <a:rPr sz="1800" dirty="0">
                <a:solidFill>
                  <a:srgbClr val="1D1B0F"/>
                </a:solidFill>
                <a:latin typeface="Arial MT"/>
                <a:cs typeface="Calibri"/>
              </a:rPr>
              <a:t>une</a:t>
            </a:r>
            <a:r>
              <a:rPr sz="1800" spc="-35" dirty="0">
                <a:solidFill>
                  <a:srgbClr val="1D1B0F"/>
                </a:solidFill>
                <a:latin typeface="Arial MT"/>
                <a:cs typeface="Calibri"/>
              </a:rPr>
              <a:t> </a:t>
            </a:r>
            <a:r>
              <a:rPr sz="1800" spc="-10" dirty="0">
                <a:solidFill>
                  <a:srgbClr val="1D1B0F"/>
                </a:solidFill>
                <a:latin typeface="Arial MT"/>
                <a:cs typeface="Calibri"/>
              </a:rPr>
              <a:t>vulnérabilité</a:t>
            </a:r>
            <a:endParaRPr sz="1800" dirty="0">
              <a:latin typeface="Arial MT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545444" y="6419697"/>
            <a:ext cx="92710" cy="3765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0"/>
              </a:lnSpc>
            </a:pPr>
            <a:r>
              <a:rPr sz="1450" spc="-65" dirty="0">
                <a:solidFill>
                  <a:srgbClr val="858585"/>
                </a:solidFill>
                <a:latin typeface="Calibri"/>
                <a:cs typeface="Calibri"/>
              </a:rPr>
              <a:t>2</a:t>
            </a:r>
            <a:endParaRPr sz="1450">
              <a:latin typeface="Calibri"/>
              <a:cs typeface="Calibri"/>
            </a:endParaRPr>
          </a:p>
          <a:p>
            <a:pPr>
              <a:lnSpc>
                <a:spcPts val="1630"/>
              </a:lnSpc>
            </a:pPr>
            <a:r>
              <a:rPr sz="1450" spc="-65" dirty="0">
                <a:solidFill>
                  <a:srgbClr val="858585"/>
                </a:solidFill>
                <a:latin typeface="Calibri"/>
                <a:cs typeface="Calibri"/>
              </a:rPr>
              <a:t>9</a:t>
            </a:r>
            <a:endParaRPr sz="145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94652" y="3313413"/>
            <a:ext cx="3402696" cy="218389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3000" y="5686783"/>
            <a:ext cx="10283952" cy="110946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142492" y="5764382"/>
            <a:ext cx="10284460" cy="981710"/>
          </a:xfrm>
          <a:prstGeom prst="rect">
            <a:avLst/>
          </a:prstGeom>
          <a:ln w="9144">
            <a:solidFill>
              <a:srgbClr val="6DAC46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03505">
              <a:lnSpc>
                <a:spcPts val="2350"/>
              </a:lnSpc>
            </a:pPr>
            <a:r>
              <a:rPr sz="2150" dirty="0">
                <a:solidFill>
                  <a:srgbClr val="1D1B0F"/>
                </a:solidFill>
                <a:latin typeface="Calibri"/>
                <a:cs typeface="Calibri"/>
              </a:rPr>
              <a:t>Ainsi,</a:t>
            </a:r>
            <a:r>
              <a:rPr sz="2150" spc="-6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1D1B0F"/>
                </a:solidFill>
                <a:latin typeface="Calibri"/>
                <a:cs typeface="Calibri"/>
              </a:rPr>
              <a:t>tout</a:t>
            </a:r>
            <a:r>
              <a:rPr sz="2150" spc="-8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1D1B0F"/>
                </a:solidFill>
                <a:latin typeface="Calibri"/>
                <a:cs typeface="Calibri"/>
              </a:rPr>
              <a:t>le</a:t>
            </a:r>
            <a:r>
              <a:rPr sz="2150" spc="-5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spc="-30" dirty="0">
                <a:solidFill>
                  <a:srgbClr val="1D1B0F"/>
                </a:solidFill>
                <a:latin typeface="Calibri"/>
                <a:cs typeface="Calibri"/>
              </a:rPr>
              <a:t>travail</a:t>
            </a:r>
            <a:r>
              <a:rPr sz="2150" spc="-3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1D1B0F"/>
                </a:solidFill>
                <a:latin typeface="Calibri"/>
                <a:cs typeface="Calibri"/>
              </a:rPr>
              <a:t>des</a:t>
            </a:r>
            <a:r>
              <a:rPr sz="2150" spc="-6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spc="-10" dirty="0">
                <a:solidFill>
                  <a:srgbClr val="1D1B0F"/>
                </a:solidFill>
                <a:latin typeface="Calibri"/>
                <a:cs typeface="Calibri"/>
              </a:rPr>
              <a:t>experts</a:t>
            </a:r>
            <a:r>
              <a:rPr sz="2150" spc="-7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spc="-10" dirty="0">
                <a:solidFill>
                  <a:srgbClr val="1D1B0F"/>
                </a:solidFill>
                <a:latin typeface="Calibri"/>
                <a:cs typeface="Calibri"/>
              </a:rPr>
              <a:t>sécurité</a:t>
            </a:r>
            <a:r>
              <a:rPr sz="2150" spc="-20" dirty="0">
                <a:solidFill>
                  <a:srgbClr val="1D1B0F"/>
                </a:solidFill>
                <a:latin typeface="Calibri"/>
                <a:cs typeface="Calibri"/>
              </a:rPr>
              <a:t> consiste</a:t>
            </a:r>
            <a:r>
              <a:rPr sz="2150" spc="-5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1D1B0F"/>
                </a:solidFill>
                <a:latin typeface="Calibri"/>
                <a:cs typeface="Calibri"/>
              </a:rPr>
              <a:t>à</a:t>
            </a:r>
            <a:r>
              <a:rPr sz="2150" spc="-50" dirty="0">
                <a:solidFill>
                  <a:srgbClr val="1D1B0F"/>
                </a:solidFill>
                <a:latin typeface="Calibri"/>
                <a:cs typeface="Calibri"/>
              </a:rPr>
              <a:t> s’assurer</a:t>
            </a:r>
            <a:r>
              <a:rPr sz="2150" spc="-7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1D1B0F"/>
                </a:solidFill>
                <a:latin typeface="Calibri"/>
                <a:cs typeface="Calibri"/>
              </a:rPr>
              <a:t>que</a:t>
            </a:r>
            <a:r>
              <a:rPr sz="2150" spc="-3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1D1B0F"/>
                </a:solidFill>
                <a:latin typeface="Calibri"/>
                <a:cs typeface="Calibri"/>
              </a:rPr>
              <a:t>le</a:t>
            </a:r>
            <a:r>
              <a:rPr sz="2150" spc="-7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1D1B0F"/>
                </a:solidFill>
                <a:latin typeface="Calibri"/>
                <a:cs typeface="Calibri"/>
              </a:rPr>
              <a:t>S.I.</a:t>
            </a:r>
            <a:r>
              <a:rPr sz="2150" spc="-8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1D1B0F"/>
                </a:solidFill>
                <a:latin typeface="Calibri"/>
                <a:cs typeface="Calibri"/>
              </a:rPr>
              <a:t>ne</a:t>
            </a:r>
            <a:r>
              <a:rPr sz="2150" spc="-3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1D1B0F"/>
                </a:solidFill>
                <a:latin typeface="Calibri"/>
                <a:cs typeface="Calibri"/>
              </a:rPr>
              <a:t>possède</a:t>
            </a:r>
            <a:r>
              <a:rPr sz="2150" spc="-10" dirty="0">
                <a:solidFill>
                  <a:srgbClr val="1D1B0F"/>
                </a:solidFill>
                <a:latin typeface="Calibri"/>
                <a:cs typeface="Calibri"/>
              </a:rPr>
              <a:t> aucune</a:t>
            </a:r>
            <a:endParaRPr sz="2150" dirty="0">
              <a:latin typeface="Calibri"/>
              <a:cs typeface="Calibri"/>
            </a:endParaRPr>
          </a:p>
          <a:p>
            <a:pPr marL="103505" marR="1169670">
              <a:lnSpc>
                <a:spcPts val="2620"/>
              </a:lnSpc>
              <a:spcBef>
                <a:spcPts val="30"/>
              </a:spcBef>
            </a:pPr>
            <a:r>
              <a:rPr sz="2150" spc="-30" dirty="0">
                <a:solidFill>
                  <a:srgbClr val="1D1B0F"/>
                </a:solidFill>
                <a:latin typeface="Calibri"/>
                <a:cs typeface="Calibri"/>
              </a:rPr>
              <a:t>vulnérabilité.</a:t>
            </a:r>
            <a:r>
              <a:rPr sz="2150" spc="-8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1D1B0F"/>
                </a:solidFill>
                <a:latin typeface="Calibri"/>
                <a:cs typeface="Calibri"/>
              </a:rPr>
              <a:t>Dans</a:t>
            </a:r>
            <a:r>
              <a:rPr sz="2150" spc="-4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1D1B0F"/>
                </a:solidFill>
                <a:latin typeface="Calibri"/>
                <a:cs typeface="Calibri"/>
              </a:rPr>
              <a:t>la</a:t>
            </a:r>
            <a:r>
              <a:rPr sz="2150" spc="-3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spc="-10" dirty="0">
                <a:solidFill>
                  <a:srgbClr val="1D1B0F"/>
                </a:solidFill>
                <a:latin typeface="Calibri"/>
                <a:cs typeface="Calibri"/>
              </a:rPr>
              <a:t>réalité,</a:t>
            </a:r>
            <a:r>
              <a:rPr sz="2150" spc="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spc="-45" dirty="0">
                <a:solidFill>
                  <a:srgbClr val="1D1B0F"/>
                </a:solidFill>
                <a:latin typeface="Calibri"/>
                <a:cs typeface="Calibri"/>
              </a:rPr>
              <a:t>l’objectif </a:t>
            </a:r>
            <a:r>
              <a:rPr sz="2150" dirty="0">
                <a:solidFill>
                  <a:srgbClr val="1D1B0F"/>
                </a:solidFill>
                <a:latin typeface="Calibri"/>
                <a:cs typeface="Calibri"/>
              </a:rPr>
              <a:t>est</a:t>
            </a:r>
            <a:r>
              <a:rPr sz="2150" spc="-3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1D1B0F"/>
                </a:solidFill>
                <a:latin typeface="Calibri"/>
                <a:cs typeface="Calibri"/>
              </a:rPr>
              <a:t>en</a:t>
            </a:r>
            <a:r>
              <a:rPr sz="2150" spc="-3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1D1B0F"/>
                </a:solidFill>
                <a:latin typeface="Calibri"/>
                <a:cs typeface="Calibri"/>
              </a:rPr>
              <a:t>fait</a:t>
            </a:r>
            <a:r>
              <a:rPr sz="2150" spc="-2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spc="-70" dirty="0">
                <a:solidFill>
                  <a:srgbClr val="1D1B0F"/>
                </a:solidFill>
                <a:latin typeface="Calibri"/>
                <a:cs typeface="Calibri"/>
              </a:rPr>
              <a:t>d’être</a:t>
            </a:r>
            <a:r>
              <a:rPr sz="2150" spc="-5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1D1B0F"/>
                </a:solidFill>
                <a:latin typeface="Calibri"/>
                <a:cs typeface="Calibri"/>
              </a:rPr>
              <a:t>en</a:t>
            </a:r>
            <a:r>
              <a:rPr sz="2150" spc="-3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1D1B0F"/>
                </a:solidFill>
                <a:latin typeface="Calibri"/>
                <a:cs typeface="Calibri"/>
              </a:rPr>
              <a:t>mesure</a:t>
            </a:r>
            <a:r>
              <a:rPr sz="2150" spc="-3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1D1B0F"/>
                </a:solidFill>
                <a:latin typeface="Calibri"/>
                <a:cs typeface="Calibri"/>
              </a:rPr>
              <a:t>de</a:t>
            </a:r>
            <a:r>
              <a:rPr sz="2150" spc="-6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1D1B0F"/>
                </a:solidFill>
                <a:latin typeface="Calibri"/>
                <a:cs typeface="Calibri"/>
              </a:rPr>
              <a:t>maitriser</a:t>
            </a:r>
            <a:r>
              <a:rPr sz="2150" spc="1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spc="-25" dirty="0">
                <a:solidFill>
                  <a:srgbClr val="1D1B0F"/>
                </a:solidFill>
                <a:latin typeface="Calibri"/>
                <a:cs typeface="Calibri"/>
              </a:rPr>
              <a:t>ces vulnérabilités</a:t>
            </a:r>
            <a:r>
              <a:rPr sz="2150" spc="-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1D1B0F"/>
                </a:solidFill>
                <a:latin typeface="Calibri"/>
                <a:cs typeface="Calibri"/>
              </a:rPr>
              <a:t>plutôt</a:t>
            </a:r>
            <a:r>
              <a:rPr sz="2150" spc="-5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1D1B0F"/>
                </a:solidFill>
                <a:latin typeface="Calibri"/>
                <a:cs typeface="Calibri"/>
              </a:rPr>
              <a:t>que</a:t>
            </a:r>
            <a:r>
              <a:rPr sz="2150" spc="-6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1D1B0F"/>
                </a:solidFill>
                <a:latin typeface="Calibri"/>
                <a:cs typeface="Calibri"/>
              </a:rPr>
              <a:t>de</a:t>
            </a:r>
            <a:r>
              <a:rPr sz="2150" spc="-5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1D1B0F"/>
                </a:solidFill>
                <a:latin typeface="Calibri"/>
                <a:cs typeface="Calibri"/>
              </a:rPr>
              <a:t>viser</a:t>
            </a:r>
            <a:r>
              <a:rPr sz="2150" spc="-5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1D1B0F"/>
                </a:solidFill>
                <a:latin typeface="Calibri"/>
                <a:cs typeface="Calibri"/>
              </a:rPr>
              <a:t>un</a:t>
            </a:r>
            <a:r>
              <a:rPr sz="2150" spc="-5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1D1B0F"/>
                </a:solidFill>
                <a:latin typeface="Calibri"/>
                <a:cs typeface="Calibri"/>
              </a:rPr>
              <a:t>objectif</a:t>
            </a:r>
            <a:r>
              <a:rPr sz="2150" spc="-1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1D1B0F"/>
                </a:solidFill>
                <a:latin typeface="Calibri"/>
                <a:cs typeface="Calibri"/>
              </a:rPr>
              <a:t>0</a:t>
            </a:r>
            <a:r>
              <a:rPr sz="2150" spc="-2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150" spc="-10" dirty="0">
                <a:solidFill>
                  <a:srgbClr val="1D1B0F"/>
                </a:solidFill>
                <a:latin typeface="Calibri"/>
                <a:cs typeface="Calibri"/>
              </a:rPr>
              <a:t>inatteignable.</a:t>
            </a:r>
            <a:endParaRPr sz="2150" dirty="0">
              <a:latin typeface="Calibri"/>
              <a:cs typeface="Calibri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88F3043-0A86-F3F7-C240-A51719443887}"/>
              </a:ext>
            </a:extLst>
          </p:cNvPr>
          <p:cNvSpPr txBox="1"/>
          <p:nvPr/>
        </p:nvSpPr>
        <p:spPr>
          <a:xfrm>
            <a:off x="1416581" y="719831"/>
            <a:ext cx="484812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MT"/>
                <a:cs typeface="Times New Roman"/>
              </a:rPr>
              <a:t>Les</a:t>
            </a:r>
            <a:r>
              <a:rPr lang="fr-FR" sz="2800" b="1" spc="-110" dirty="0">
                <a:solidFill>
                  <a:schemeClr val="tx1">
                    <a:lumMod val="95000"/>
                    <a:lumOff val="5000"/>
                  </a:schemeClr>
                </a:solidFill>
                <a:latin typeface="Arial MT"/>
                <a:cs typeface="Times New Roman"/>
              </a:rPr>
              <a:t> </a:t>
            </a:r>
            <a:r>
              <a:rPr lang="fr-FR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MT"/>
                <a:cs typeface="Times New Roman"/>
              </a:rPr>
              <a:t>attaques informatiques</a:t>
            </a:r>
          </a:p>
          <a:p>
            <a:endParaRPr lang="fr-FR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19480" rIns="0" bIns="0" rtlCol="0">
            <a:spAutoFit/>
          </a:bodyPr>
          <a:lstStyle/>
          <a:p>
            <a:pPr marL="112395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Attaque</a:t>
            </a:r>
            <a:r>
              <a:rPr spc="-135" dirty="0"/>
              <a:t> </a:t>
            </a:r>
            <a:r>
              <a:rPr dirty="0"/>
              <a:t>par</a:t>
            </a:r>
            <a:r>
              <a:rPr spc="-20" dirty="0"/>
              <a:t> </a:t>
            </a:r>
            <a:r>
              <a:rPr dirty="0"/>
              <a:t>logiciel</a:t>
            </a:r>
            <a:r>
              <a:rPr spc="-185" dirty="0"/>
              <a:t> </a:t>
            </a:r>
            <a:r>
              <a:rPr spc="-10" dirty="0"/>
              <a:t>malveillant</a:t>
            </a:r>
            <a:r>
              <a:rPr spc="-120" dirty="0"/>
              <a:t> </a:t>
            </a:r>
            <a:r>
              <a:rPr spc="-25" dirty="0"/>
              <a:t>(1)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2619" y="-98043"/>
            <a:ext cx="1454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1D1B0F"/>
                </a:solidFill>
                <a:latin typeface="Trebuchet MS"/>
                <a:cs typeface="Trebuchet MS"/>
              </a:rPr>
              <a:t>3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2619" y="92456"/>
            <a:ext cx="1454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1D1B0F"/>
                </a:solidFill>
                <a:latin typeface="Trebuchet MS"/>
                <a:cs typeface="Trebuchet MS"/>
              </a:rPr>
              <a:t>2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10766" y="1638046"/>
            <a:ext cx="9216390" cy="462915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238125" marR="75565" indent="-226060">
              <a:lnSpc>
                <a:spcPct val="90800"/>
              </a:lnSpc>
              <a:spcBef>
                <a:spcPts val="380"/>
              </a:spcBef>
              <a:buFont typeface="Arial MT"/>
              <a:buChar char="•"/>
              <a:tabLst>
                <a:tab pos="238125" algn="l"/>
              </a:tabLst>
            </a:pPr>
            <a:r>
              <a:rPr sz="2650" b="1" dirty="0">
                <a:solidFill>
                  <a:srgbClr val="1D1B0F"/>
                </a:solidFill>
                <a:latin typeface="Calibri"/>
                <a:cs typeface="Calibri"/>
              </a:rPr>
              <a:t>Le</a:t>
            </a:r>
            <a:r>
              <a:rPr sz="2650" b="1" spc="-15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650" b="1" spc="-10" dirty="0">
                <a:solidFill>
                  <a:srgbClr val="1D1B0F"/>
                </a:solidFill>
                <a:latin typeface="Calibri"/>
                <a:cs typeface="Calibri"/>
              </a:rPr>
              <a:t>virus</a:t>
            </a:r>
            <a:r>
              <a:rPr sz="2650" b="1" spc="-14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650" dirty="0">
                <a:solidFill>
                  <a:srgbClr val="1D1B0F"/>
                </a:solidFill>
                <a:latin typeface="Calibri"/>
                <a:cs typeface="Calibri"/>
              </a:rPr>
              <a:t>se</a:t>
            </a:r>
            <a:r>
              <a:rPr sz="2650" spc="-11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650" spc="-35" dirty="0">
                <a:solidFill>
                  <a:srgbClr val="1D1B0F"/>
                </a:solidFill>
                <a:latin typeface="Calibri"/>
                <a:cs typeface="Calibri"/>
              </a:rPr>
              <a:t>duplique</a:t>
            </a:r>
            <a:r>
              <a:rPr sz="2650" spc="-12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650" spc="-35" dirty="0">
                <a:solidFill>
                  <a:srgbClr val="1D1B0F"/>
                </a:solidFill>
                <a:latin typeface="Calibri"/>
                <a:cs typeface="Calibri"/>
              </a:rPr>
              <a:t>automatiquement</a:t>
            </a:r>
            <a:r>
              <a:rPr sz="2650" spc="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650" dirty="0">
                <a:solidFill>
                  <a:srgbClr val="1D1B0F"/>
                </a:solidFill>
                <a:latin typeface="Calibri"/>
                <a:cs typeface="Calibri"/>
              </a:rPr>
              <a:t>sur</a:t>
            </a:r>
            <a:r>
              <a:rPr sz="2650" spc="-12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650" dirty="0">
                <a:solidFill>
                  <a:srgbClr val="1D1B0F"/>
                </a:solidFill>
                <a:latin typeface="Calibri"/>
                <a:cs typeface="Calibri"/>
              </a:rPr>
              <a:t>le</a:t>
            </a:r>
            <a:r>
              <a:rPr sz="2650" spc="-11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650" dirty="0">
                <a:solidFill>
                  <a:srgbClr val="1D1B0F"/>
                </a:solidFill>
                <a:latin typeface="Calibri"/>
                <a:cs typeface="Calibri"/>
              </a:rPr>
              <a:t>même</a:t>
            </a:r>
            <a:r>
              <a:rPr sz="2650" spc="-6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650" spc="-40" dirty="0">
                <a:solidFill>
                  <a:srgbClr val="1D1B0F"/>
                </a:solidFill>
                <a:latin typeface="Calibri"/>
                <a:cs typeface="Calibri"/>
              </a:rPr>
              <a:t>dispositif</a:t>
            </a:r>
            <a:r>
              <a:rPr sz="2650" spc="-3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650" dirty="0">
                <a:solidFill>
                  <a:srgbClr val="1D1B0F"/>
                </a:solidFill>
                <a:latin typeface="Calibri"/>
                <a:cs typeface="Calibri"/>
              </a:rPr>
              <a:t>et</a:t>
            </a:r>
            <a:r>
              <a:rPr sz="2650" spc="-12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650" spc="-25" dirty="0">
                <a:solidFill>
                  <a:srgbClr val="1D1B0F"/>
                </a:solidFill>
                <a:latin typeface="Calibri"/>
                <a:cs typeface="Calibri"/>
              </a:rPr>
              <a:t>se </a:t>
            </a:r>
            <a:r>
              <a:rPr sz="2650" spc="-35" dirty="0">
                <a:solidFill>
                  <a:srgbClr val="1D1B0F"/>
                </a:solidFill>
                <a:latin typeface="Calibri"/>
                <a:cs typeface="Calibri"/>
              </a:rPr>
              <a:t>transmet</a:t>
            </a:r>
            <a:r>
              <a:rPr sz="2650" spc="-8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650" dirty="0">
                <a:solidFill>
                  <a:srgbClr val="1D1B0F"/>
                </a:solidFill>
                <a:latin typeface="Calibri"/>
                <a:cs typeface="Calibri"/>
              </a:rPr>
              <a:t>à</a:t>
            </a:r>
            <a:r>
              <a:rPr sz="2650" spc="-4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650" dirty="0">
                <a:solidFill>
                  <a:srgbClr val="1D1B0F"/>
                </a:solidFill>
                <a:latin typeface="Calibri"/>
                <a:cs typeface="Calibri"/>
              </a:rPr>
              <a:t>un</a:t>
            </a:r>
            <a:r>
              <a:rPr sz="2650" spc="-4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650" dirty="0">
                <a:solidFill>
                  <a:srgbClr val="1D1B0F"/>
                </a:solidFill>
                <a:latin typeface="Calibri"/>
                <a:cs typeface="Calibri"/>
              </a:rPr>
              <a:t>autre</a:t>
            </a:r>
            <a:r>
              <a:rPr sz="2650" spc="-3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650" spc="-40" dirty="0">
                <a:solidFill>
                  <a:srgbClr val="1D1B0F"/>
                </a:solidFill>
                <a:latin typeface="Calibri"/>
                <a:cs typeface="Calibri"/>
              </a:rPr>
              <a:t>dispositif</a:t>
            </a:r>
            <a:r>
              <a:rPr sz="2650" spc="-6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650" dirty="0">
                <a:solidFill>
                  <a:srgbClr val="1D1B0F"/>
                </a:solidFill>
                <a:latin typeface="Calibri"/>
                <a:cs typeface="Calibri"/>
              </a:rPr>
              <a:t>par</a:t>
            </a:r>
            <a:r>
              <a:rPr sz="2650" spc="-3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650" spc="-50" dirty="0">
                <a:solidFill>
                  <a:srgbClr val="1D1B0F"/>
                </a:solidFill>
                <a:latin typeface="Calibri"/>
                <a:cs typeface="Calibri"/>
              </a:rPr>
              <a:t>l'intermédiaire</a:t>
            </a:r>
            <a:r>
              <a:rPr sz="2650" spc="-6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650" dirty="0">
                <a:solidFill>
                  <a:srgbClr val="1D1B0F"/>
                </a:solidFill>
                <a:latin typeface="Calibri"/>
                <a:cs typeface="Calibri"/>
              </a:rPr>
              <a:t>du</a:t>
            </a:r>
            <a:r>
              <a:rPr sz="2650" spc="-4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650" spc="-10" dirty="0">
                <a:solidFill>
                  <a:srgbClr val="1D1B0F"/>
                </a:solidFill>
                <a:latin typeface="Calibri"/>
                <a:cs typeface="Calibri"/>
              </a:rPr>
              <a:t>courrier </a:t>
            </a:r>
            <a:r>
              <a:rPr sz="2650" spc="-45" dirty="0">
                <a:solidFill>
                  <a:srgbClr val="1D1B0F"/>
                </a:solidFill>
                <a:latin typeface="Calibri"/>
                <a:cs typeface="Calibri"/>
              </a:rPr>
              <a:t>électronique</a:t>
            </a:r>
            <a:r>
              <a:rPr sz="2650" spc="-114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650" dirty="0">
                <a:solidFill>
                  <a:srgbClr val="1D1B0F"/>
                </a:solidFill>
                <a:latin typeface="Calibri"/>
                <a:cs typeface="Calibri"/>
              </a:rPr>
              <a:t>ou</a:t>
            </a:r>
            <a:r>
              <a:rPr sz="2650" spc="-9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650" dirty="0">
                <a:solidFill>
                  <a:srgbClr val="1D1B0F"/>
                </a:solidFill>
                <a:latin typeface="Calibri"/>
                <a:cs typeface="Calibri"/>
              </a:rPr>
              <a:t>par</a:t>
            </a:r>
            <a:r>
              <a:rPr sz="2650" spc="-9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650" spc="-30" dirty="0">
                <a:solidFill>
                  <a:srgbClr val="1D1B0F"/>
                </a:solidFill>
                <a:latin typeface="Calibri"/>
                <a:cs typeface="Calibri"/>
              </a:rPr>
              <a:t>l'échange</a:t>
            </a:r>
            <a:r>
              <a:rPr sz="2650" spc="-3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650" dirty="0">
                <a:solidFill>
                  <a:srgbClr val="1D1B0F"/>
                </a:solidFill>
                <a:latin typeface="Calibri"/>
                <a:cs typeface="Calibri"/>
              </a:rPr>
              <a:t>de</a:t>
            </a:r>
            <a:r>
              <a:rPr sz="2650" spc="-9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650" spc="-10" dirty="0">
                <a:solidFill>
                  <a:srgbClr val="1D1B0F"/>
                </a:solidFill>
                <a:latin typeface="Calibri"/>
                <a:cs typeface="Calibri"/>
              </a:rPr>
              <a:t>données</a:t>
            </a:r>
            <a:endParaRPr sz="2650">
              <a:latin typeface="Calibri"/>
              <a:cs typeface="Calibri"/>
            </a:endParaRPr>
          </a:p>
          <a:p>
            <a:pPr marL="238125" marR="342900" indent="-226060">
              <a:lnSpc>
                <a:spcPts val="3000"/>
              </a:lnSpc>
              <a:spcBef>
                <a:spcPts val="2265"/>
              </a:spcBef>
              <a:buFont typeface="Arial MT"/>
              <a:buChar char="•"/>
              <a:tabLst>
                <a:tab pos="238125" algn="l"/>
              </a:tabLst>
            </a:pPr>
            <a:r>
              <a:rPr sz="2650" b="1" dirty="0">
                <a:solidFill>
                  <a:srgbClr val="1D1B0F"/>
                </a:solidFill>
                <a:latin typeface="Calibri"/>
                <a:cs typeface="Calibri"/>
              </a:rPr>
              <a:t>Le</a:t>
            </a:r>
            <a:r>
              <a:rPr sz="2650" b="1" spc="-13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650" b="1" dirty="0">
                <a:solidFill>
                  <a:srgbClr val="1D1B0F"/>
                </a:solidFill>
                <a:latin typeface="Calibri"/>
                <a:cs typeface="Calibri"/>
              </a:rPr>
              <a:t>ver</a:t>
            </a:r>
            <a:r>
              <a:rPr sz="2650" b="1" spc="-7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650" b="1" spc="-20" dirty="0">
                <a:solidFill>
                  <a:srgbClr val="1D1B0F"/>
                </a:solidFill>
                <a:latin typeface="Calibri"/>
                <a:cs typeface="Calibri"/>
              </a:rPr>
              <a:t>(</a:t>
            </a:r>
            <a:r>
              <a:rPr sz="2650" b="1" i="1" spc="-20" dirty="0">
                <a:solidFill>
                  <a:srgbClr val="1D1B0F"/>
                </a:solidFill>
                <a:latin typeface="Calibri"/>
                <a:cs typeface="Calibri"/>
              </a:rPr>
              <a:t>worm</a:t>
            </a:r>
            <a:r>
              <a:rPr sz="2650" b="1" spc="-20" dirty="0">
                <a:solidFill>
                  <a:srgbClr val="1D1B0F"/>
                </a:solidFill>
                <a:latin typeface="Calibri"/>
                <a:cs typeface="Calibri"/>
              </a:rPr>
              <a:t>)</a:t>
            </a:r>
            <a:r>
              <a:rPr sz="2650" b="1" spc="-8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650" spc="-35" dirty="0">
                <a:solidFill>
                  <a:srgbClr val="1D1B0F"/>
                </a:solidFill>
                <a:latin typeface="Calibri"/>
                <a:cs typeface="Calibri"/>
              </a:rPr>
              <a:t>exploite</a:t>
            </a:r>
            <a:r>
              <a:rPr sz="2650" spc="-8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650" dirty="0">
                <a:solidFill>
                  <a:srgbClr val="1D1B0F"/>
                </a:solidFill>
                <a:latin typeface="Calibri"/>
                <a:cs typeface="Calibri"/>
              </a:rPr>
              <a:t>des</a:t>
            </a:r>
            <a:r>
              <a:rPr sz="2650" spc="-12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650" spc="-50" dirty="0">
                <a:solidFill>
                  <a:srgbClr val="1D1B0F"/>
                </a:solidFill>
                <a:latin typeface="Calibri"/>
                <a:cs typeface="Calibri"/>
              </a:rPr>
              <a:t>communications</a:t>
            </a:r>
            <a:r>
              <a:rPr sz="2650" spc="-25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650" spc="-35" dirty="0">
                <a:solidFill>
                  <a:srgbClr val="1D1B0F"/>
                </a:solidFill>
                <a:latin typeface="Calibri"/>
                <a:cs typeface="Calibri"/>
              </a:rPr>
              <a:t>réseaux</a:t>
            </a:r>
            <a:r>
              <a:rPr sz="2650" spc="-9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650" spc="-10" dirty="0">
                <a:solidFill>
                  <a:srgbClr val="1D1B0F"/>
                </a:solidFill>
                <a:latin typeface="Calibri"/>
                <a:cs typeface="Calibri"/>
              </a:rPr>
              <a:t>d'une</a:t>
            </a:r>
            <a:r>
              <a:rPr sz="2650" spc="-12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650" spc="-10" dirty="0">
                <a:solidFill>
                  <a:srgbClr val="1D1B0F"/>
                </a:solidFill>
                <a:latin typeface="Calibri"/>
                <a:cs typeface="Calibri"/>
              </a:rPr>
              <a:t>entité afin</a:t>
            </a:r>
            <a:r>
              <a:rPr sz="2650" spc="-14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650" spc="-25" dirty="0">
                <a:solidFill>
                  <a:srgbClr val="1D1B0F"/>
                </a:solidFill>
                <a:latin typeface="Calibri"/>
                <a:cs typeface="Calibri"/>
              </a:rPr>
              <a:t>d'assurer</a:t>
            </a:r>
            <a:r>
              <a:rPr sz="2650" spc="-5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650" dirty="0">
                <a:solidFill>
                  <a:srgbClr val="1D1B0F"/>
                </a:solidFill>
                <a:latin typeface="Calibri"/>
                <a:cs typeface="Calibri"/>
              </a:rPr>
              <a:t>sa</a:t>
            </a:r>
            <a:r>
              <a:rPr sz="2650" spc="-12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650" spc="-50" dirty="0">
                <a:solidFill>
                  <a:srgbClr val="1D1B0F"/>
                </a:solidFill>
                <a:latin typeface="Calibri"/>
                <a:cs typeface="Calibri"/>
              </a:rPr>
              <a:t>reproduction</a:t>
            </a:r>
            <a:r>
              <a:rPr sz="2650" spc="-14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650" dirty="0">
                <a:solidFill>
                  <a:srgbClr val="1D1B0F"/>
                </a:solidFill>
                <a:latin typeface="Calibri"/>
                <a:cs typeface="Calibri"/>
              </a:rPr>
              <a:t>sur</a:t>
            </a:r>
            <a:r>
              <a:rPr sz="2650" spc="-9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650" spc="-30" dirty="0">
                <a:solidFill>
                  <a:srgbClr val="1D1B0F"/>
                </a:solidFill>
                <a:latin typeface="Calibri"/>
                <a:cs typeface="Calibri"/>
              </a:rPr>
              <a:t>d'autres</a:t>
            </a:r>
            <a:r>
              <a:rPr sz="2650" spc="-5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650" spc="-10" dirty="0">
                <a:solidFill>
                  <a:srgbClr val="1D1B0F"/>
                </a:solidFill>
                <a:latin typeface="Calibri"/>
                <a:cs typeface="Calibri"/>
              </a:rPr>
              <a:t>dispositifs</a:t>
            </a:r>
            <a:endParaRPr sz="2650">
              <a:latin typeface="Calibri"/>
              <a:cs typeface="Calibri"/>
            </a:endParaRPr>
          </a:p>
          <a:p>
            <a:pPr marL="238125" marR="5080" indent="-226060">
              <a:lnSpc>
                <a:spcPts val="2890"/>
              </a:lnSpc>
              <a:spcBef>
                <a:spcPts val="2445"/>
              </a:spcBef>
              <a:buFont typeface="Arial MT"/>
              <a:buChar char="•"/>
              <a:tabLst>
                <a:tab pos="238125" algn="l"/>
              </a:tabLst>
            </a:pPr>
            <a:r>
              <a:rPr sz="2650" b="1" dirty="0">
                <a:solidFill>
                  <a:srgbClr val="1D1B0F"/>
                </a:solidFill>
                <a:latin typeface="Calibri"/>
                <a:cs typeface="Calibri"/>
              </a:rPr>
              <a:t>Le</a:t>
            </a:r>
            <a:r>
              <a:rPr sz="2650" b="1" spc="-13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650" b="1" spc="-50" dirty="0">
                <a:solidFill>
                  <a:srgbClr val="1D1B0F"/>
                </a:solidFill>
                <a:latin typeface="Calibri"/>
                <a:cs typeface="Calibri"/>
              </a:rPr>
              <a:t>cheval</a:t>
            </a:r>
            <a:r>
              <a:rPr sz="2650" b="1" spc="-6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650" b="1" dirty="0">
                <a:solidFill>
                  <a:srgbClr val="1D1B0F"/>
                </a:solidFill>
                <a:latin typeface="Calibri"/>
                <a:cs typeface="Calibri"/>
              </a:rPr>
              <a:t>de</a:t>
            </a:r>
            <a:r>
              <a:rPr sz="2650" b="1" spc="-75" dirty="0">
                <a:solidFill>
                  <a:srgbClr val="1D1B0F"/>
                </a:solidFill>
                <a:latin typeface="Calibri"/>
                <a:cs typeface="Calibri"/>
              </a:rPr>
              <a:t> Troie</a:t>
            </a:r>
            <a:r>
              <a:rPr sz="2650" b="1" spc="-12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650" b="1" spc="-10" dirty="0">
                <a:solidFill>
                  <a:srgbClr val="1D1B0F"/>
                </a:solidFill>
                <a:latin typeface="Calibri"/>
                <a:cs typeface="Calibri"/>
              </a:rPr>
              <a:t>(</a:t>
            </a:r>
            <a:r>
              <a:rPr sz="2650" b="1" i="1" spc="-10" dirty="0">
                <a:solidFill>
                  <a:srgbClr val="1D1B0F"/>
                </a:solidFill>
                <a:latin typeface="Calibri"/>
                <a:cs typeface="Calibri"/>
              </a:rPr>
              <a:t>trojan</a:t>
            </a:r>
            <a:r>
              <a:rPr sz="2650" spc="-10" dirty="0">
                <a:solidFill>
                  <a:srgbClr val="1D1B0F"/>
                </a:solidFill>
                <a:latin typeface="Calibri"/>
                <a:cs typeface="Calibri"/>
              </a:rPr>
              <a:t>)</a:t>
            </a:r>
            <a:r>
              <a:rPr sz="2650" spc="-3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650" dirty="0">
                <a:solidFill>
                  <a:srgbClr val="1D1B0F"/>
                </a:solidFill>
                <a:latin typeface="Calibri"/>
                <a:cs typeface="Calibri"/>
              </a:rPr>
              <a:t>a</a:t>
            </a:r>
            <a:r>
              <a:rPr sz="2650" spc="-5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650" dirty="0">
                <a:solidFill>
                  <a:srgbClr val="1D1B0F"/>
                </a:solidFill>
                <a:latin typeface="Calibri"/>
                <a:cs typeface="Calibri"/>
              </a:rPr>
              <a:t>une</a:t>
            </a:r>
            <a:r>
              <a:rPr sz="2650" spc="-12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650" spc="-35" dirty="0">
                <a:solidFill>
                  <a:srgbClr val="1D1B0F"/>
                </a:solidFill>
                <a:latin typeface="Calibri"/>
                <a:cs typeface="Calibri"/>
              </a:rPr>
              <a:t>apparence</a:t>
            </a:r>
            <a:r>
              <a:rPr sz="2650" spc="-114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650" spc="-20" dirty="0">
                <a:solidFill>
                  <a:srgbClr val="1D1B0F"/>
                </a:solidFill>
                <a:latin typeface="Calibri"/>
                <a:cs typeface="Calibri"/>
              </a:rPr>
              <a:t>légitime</a:t>
            </a:r>
            <a:r>
              <a:rPr sz="2650" spc="-8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650" dirty="0">
                <a:solidFill>
                  <a:srgbClr val="1D1B0F"/>
                </a:solidFill>
                <a:latin typeface="Calibri"/>
                <a:cs typeface="Calibri"/>
              </a:rPr>
              <a:t>et</a:t>
            </a:r>
            <a:r>
              <a:rPr sz="2650" spc="-7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650" spc="-50" dirty="0">
                <a:solidFill>
                  <a:srgbClr val="1D1B0F"/>
                </a:solidFill>
                <a:latin typeface="Calibri"/>
                <a:cs typeface="Calibri"/>
              </a:rPr>
              <a:t>exécute</a:t>
            </a:r>
            <a:r>
              <a:rPr sz="2650" spc="-10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650" spc="-25" dirty="0">
                <a:solidFill>
                  <a:srgbClr val="1D1B0F"/>
                </a:solidFill>
                <a:latin typeface="Calibri"/>
                <a:cs typeface="Calibri"/>
              </a:rPr>
              <a:t>des </a:t>
            </a:r>
            <a:r>
              <a:rPr sz="2650" spc="-30" dirty="0">
                <a:solidFill>
                  <a:srgbClr val="1D1B0F"/>
                </a:solidFill>
                <a:latin typeface="Calibri"/>
                <a:cs typeface="Calibri"/>
              </a:rPr>
              <a:t>routines</a:t>
            </a:r>
            <a:r>
              <a:rPr sz="2650" spc="-7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650" spc="-35" dirty="0">
                <a:solidFill>
                  <a:srgbClr val="1D1B0F"/>
                </a:solidFill>
                <a:latin typeface="Calibri"/>
                <a:cs typeface="Calibri"/>
              </a:rPr>
              <a:t>nuisibles</a:t>
            </a:r>
            <a:r>
              <a:rPr sz="2650" spc="-2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650" spc="-10" dirty="0">
                <a:solidFill>
                  <a:srgbClr val="1D1B0F"/>
                </a:solidFill>
                <a:latin typeface="Calibri"/>
                <a:cs typeface="Calibri"/>
              </a:rPr>
              <a:t>sans</a:t>
            </a:r>
            <a:r>
              <a:rPr sz="2650" spc="-11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650" spc="-55" dirty="0">
                <a:solidFill>
                  <a:srgbClr val="1D1B0F"/>
                </a:solidFill>
                <a:latin typeface="Calibri"/>
                <a:cs typeface="Calibri"/>
              </a:rPr>
              <a:t>l'autorisation</a:t>
            </a:r>
            <a:r>
              <a:rPr sz="2650" spc="-11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650" dirty="0">
                <a:solidFill>
                  <a:srgbClr val="1D1B0F"/>
                </a:solidFill>
                <a:latin typeface="Calibri"/>
                <a:cs typeface="Calibri"/>
              </a:rPr>
              <a:t>de</a:t>
            </a:r>
            <a:r>
              <a:rPr sz="2650" spc="-10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650" spc="-10" dirty="0">
                <a:solidFill>
                  <a:srgbClr val="1D1B0F"/>
                </a:solidFill>
                <a:latin typeface="Calibri"/>
                <a:cs typeface="Calibri"/>
              </a:rPr>
              <a:t>l'utilisateur</a:t>
            </a:r>
            <a:endParaRPr sz="2650">
              <a:latin typeface="Calibri"/>
              <a:cs typeface="Calibri"/>
            </a:endParaRPr>
          </a:p>
          <a:p>
            <a:pPr marL="238125" marR="485775" indent="-226060">
              <a:lnSpc>
                <a:spcPct val="89600"/>
              </a:lnSpc>
              <a:spcBef>
                <a:spcPts val="2265"/>
              </a:spcBef>
              <a:buFont typeface="Arial MT"/>
              <a:buChar char="•"/>
              <a:tabLst>
                <a:tab pos="238125" algn="l"/>
              </a:tabLst>
            </a:pPr>
            <a:r>
              <a:rPr sz="2650" b="1" dirty="0">
                <a:solidFill>
                  <a:srgbClr val="1D1B0F"/>
                </a:solidFill>
                <a:latin typeface="Calibri"/>
                <a:cs typeface="Calibri"/>
              </a:rPr>
              <a:t>La</a:t>
            </a:r>
            <a:r>
              <a:rPr sz="2650" b="1" spc="-15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650" b="1" spc="-10" dirty="0">
                <a:solidFill>
                  <a:srgbClr val="1D1B0F"/>
                </a:solidFill>
                <a:latin typeface="Calibri"/>
                <a:cs typeface="Calibri"/>
              </a:rPr>
              <a:t>porte</a:t>
            </a:r>
            <a:r>
              <a:rPr sz="2650" b="1" spc="-10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650" b="1" spc="-40" dirty="0">
                <a:solidFill>
                  <a:srgbClr val="1D1B0F"/>
                </a:solidFill>
                <a:latin typeface="Calibri"/>
                <a:cs typeface="Calibri"/>
              </a:rPr>
              <a:t>dérobée (</a:t>
            </a:r>
            <a:r>
              <a:rPr sz="2650" b="1" i="1" spc="-40" dirty="0">
                <a:solidFill>
                  <a:srgbClr val="1D1B0F"/>
                </a:solidFill>
                <a:latin typeface="Calibri"/>
                <a:cs typeface="Calibri"/>
              </a:rPr>
              <a:t>backdoor</a:t>
            </a:r>
            <a:r>
              <a:rPr sz="2650" b="1" spc="-40" dirty="0">
                <a:solidFill>
                  <a:srgbClr val="1D1B0F"/>
                </a:solidFill>
                <a:latin typeface="Calibri"/>
                <a:cs typeface="Calibri"/>
              </a:rPr>
              <a:t>)</a:t>
            </a:r>
            <a:r>
              <a:rPr sz="2650" b="1" spc="-8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650" spc="-10" dirty="0">
                <a:solidFill>
                  <a:srgbClr val="1D1B0F"/>
                </a:solidFill>
                <a:latin typeface="Calibri"/>
                <a:cs typeface="Calibri"/>
              </a:rPr>
              <a:t>permet</a:t>
            </a:r>
            <a:r>
              <a:rPr sz="2650" spc="-7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650" spc="-40" dirty="0">
                <a:solidFill>
                  <a:srgbClr val="1D1B0F"/>
                </a:solidFill>
                <a:latin typeface="Calibri"/>
                <a:cs typeface="Calibri"/>
              </a:rPr>
              <a:t>d'ouvrir</a:t>
            </a:r>
            <a:r>
              <a:rPr sz="2650" spc="-13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650" spc="-20" dirty="0">
                <a:solidFill>
                  <a:srgbClr val="1D1B0F"/>
                </a:solidFill>
                <a:latin typeface="Calibri"/>
                <a:cs typeface="Calibri"/>
              </a:rPr>
              <a:t>d'un</a:t>
            </a:r>
            <a:r>
              <a:rPr sz="2650" spc="-13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650" spc="-10" dirty="0">
                <a:solidFill>
                  <a:srgbClr val="1D1B0F"/>
                </a:solidFill>
                <a:latin typeface="Calibri"/>
                <a:cs typeface="Calibri"/>
              </a:rPr>
              <a:t>accès</a:t>
            </a:r>
            <a:r>
              <a:rPr sz="2650" spc="-12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650" spc="-10" dirty="0">
                <a:solidFill>
                  <a:srgbClr val="1D1B0F"/>
                </a:solidFill>
                <a:latin typeface="Calibri"/>
                <a:cs typeface="Calibri"/>
              </a:rPr>
              <a:t>réseau </a:t>
            </a:r>
            <a:r>
              <a:rPr sz="2650" spc="-50" dirty="0">
                <a:solidFill>
                  <a:srgbClr val="1D1B0F"/>
                </a:solidFill>
                <a:latin typeface="Calibri"/>
                <a:cs typeface="Calibri"/>
              </a:rPr>
              <a:t>frauduleux</a:t>
            </a:r>
            <a:r>
              <a:rPr sz="2650" spc="-19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650" dirty="0">
                <a:solidFill>
                  <a:srgbClr val="1D1B0F"/>
                </a:solidFill>
                <a:latin typeface="Calibri"/>
                <a:cs typeface="Calibri"/>
              </a:rPr>
              <a:t>sur</a:t>
            </a:r>
            <a:r>
              <a:rPr sz="2650" spc="-114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650" dirty="0">
                <a:solidFill>
                  <a:srgbClr val="1D1B0F"/>
                </a:solidFill>
                <a:latin typeface="Calibri"/>
                <a:cs typeface="Calibri"/>
              </a:rPr>
              <a:t>un</a:t>
            </a:r>
            <a:r>
              <a:rPr sz="2650" spc="-11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650" spc="-40" dirty="0">
                <a:solidFill>
                  <a:srgbClr val="1D1B0F"/>
                </a:solidFill>
                <a:latin typeface="Calibri"/>
                <a:cs typeface="Calibri"/>
              </a:rPr>
              <a:t>système</a:t>
            </a:r>
            <a:r>
              <a:rPr sz="2650" spc="-7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650" spc="-50" dirty="0">
                <a:solidFill>
                  <a:srgbClr val="1D1B0F"/>
                </a:solidFill>
                <a:latin typeface="Calibri"/>
                <a:cs typeface="Calibri"/>
              </a:rPr>
              <a:t>informatique</a:t>
            </a:r>
            <a:r>
              <a:rPr sz="2650" spc="-12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650" dirty="0">
                <a:solidFill>
                  <a:srgbClr val="1D1B0F"/>
                </a:solidFill>
                <a:latin typeface="Calibri"/>
                <a:cs typeface="Calibri"/>
              </a:rPr>
              <a:t>et</a:t>
            </a:r>
            <a:r>
              <a:rPr sz="2650" spc="-5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650" dirty="0">
                <a:solidFill>
                  <a:srgbClr val="1D1B0F"/>
                </a:solidFill>
                <a:latin typeface="Calibri"/>
                <a:cs typeface="Calibri"/>
              </a:rPr>
              <a:t>peut</a:t>
            </a:r>
            <a:r>
              <a:rPr sz="2650" spc="-10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650" spc="-40" dirty="0">
                <a:solidFill>
                  <a:srgbClr val="1D1B0F"/>
                </a:solidFill>
                <a:latin typeface="Calibri"/>
                <a:cs typeface="Calibri"/>
              </a:rPr>
              <a:t>exploiter</a:t>
            </a:r>
            <a:r>
              <a:rPr sz="2650" spc="-1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650" spc="-50" dirty="0">
                <a:solidFill>
                  <a:srgbClr val="1D1B0F"/>
                </a:solidFill>
                <a:latin typeface="Calibri"/>
                <a:cs typeface="Calibri"/>
              </a:rPr>
              <a:t>à </a:t>
            </a:r>
            <a:r>
              <a:rPr sz="2650" spc="-45" dirty="0">
                <a:solidFill>
                  <a:srgbClr val="1D1B0F"/>
                </a:solidFill>
                <a:latin typeface="Calibri"/>
                <a:cs typeface="Calibri"/>
              </a:rPr>
              <a:t>distance</a:t>
            </a:r>
            <a:r>
              <a:rPr sz="2650" spc="-13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650" dirty="0">
                <a:solidFill>
                  <a:srgbClr val="1D1B0F"/>
                </a:solidFill>
                <a:latin typeface="Calibri"/>
                <a:cs typeface="Calibri"/>
              </a:rPr>
              <a:t>la</a:t>
            </a:r>
            <a:r>
              <a:rPr sz="2650" spc="-7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650" spc="-10" dirty="0">
                <a:solidFill>
                  <a:srgbClr val="1D1B0F"/>
                </a:solidFill>
                <a:latin typeface="Calibri"/>
                <a:cs typeface="Calibri"/>
              </a:rPr>
              <a:t>machine</a:t>
            </a:r>
            <a:endParaRPr sz="26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47293" rIns="0" bIns="0" rtlCol="0">
            <a:spAutoFit/>
          </a:bodyPr>
          <a:lstStyle/>
          <a:p>
            <a:pPr marL="131318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Attaque</a:t>
            </a:r>
            <a:r>
              <a:rPr spc="-190" dirty="0"/>
              <a:t> </a:t>
            </a:r>
            <a:r>
              <a:rPr dirty="0"/>
              <a:t>par</a:t>
            </a:r>
            <a:r>
              <a:rPr spc="-125" dirty="0"/>
              <a:t> </a:t>
            </a:r>
            <a:r>
              <a:rPr dirty="0"/>
              <a:t>logiciel</a:t>
            </a:r>
            <a:r>
              <a:rPr spc="-195" dirty="0"/>
              <a:t> </a:t>
            </a:r>
            <a:r>
              <a:rPr spc="-25" dirty="0"/>
              <a:t>malveillant</a:t>
            </a:r>
            <a:r>
              <a:rPr spc="-110" dirty="0"/>
              <a:t> </a:t>
            </a:r>
            <a:r>
              <a:rPr spc="-25" dirty="0"/>
              <a:t>(2)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2619" y="-98043"/>
            <a:ext cx="1454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1D1B0F"/>
                </a:solidFill>
                <a:latin typeface="Trebuchet MS"/>
                <a:cs typeface="Trebuchet MS"/>
              </a:rPr>
              <a:t>3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2619" y="92456"/>
            <a:ext cx="1454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1D1B0F"/>
                </a:solidFill>
                <a:latin typeface="Trebuchet MS"/>
                <a:cs typeface="Trebuchet MS"/>
              </a:rPr>
              <a:t>3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01521" y="1753615"/>
            <a:ext cx="9111615" cy="4109085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236220" marR="5080" indent="-224154" algn="just">
              <a:lnSpc>
                <a:spcPct val="83100"/>
              </a:lnSpc>
              <a:spcBef>
                <a:spcPts val="585"/>
              </a:spcBef>
              <a:buFont typeface="Arial MT"/>
              <a:buChar char="•"/>
              <a:tabLst>
                <a:tab pos="238125" algn="l"/>
              </a:tabLst>
            </a:pPr>
            <a:r>
              <a:rPr sz="2400" b="1" dirty="0">
                <a:solidFill>
                  <a:srgbClr val="1D1B0F"/>
                </a:solidFill>
                <a:latin typeface="Calibri"/>
                <a:cs typeface="Calibri"/>
              </a:rPr>
              <a:t>Le</a:t>
            </a:r>
            <a:r>
              <a:rPr sz="2400" b="1" spc="4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1D1B0F"/>
                </a:solidFill>
                <a:latin typeface="Calibri"/>
                <a:cs typeface="Calibri"/>
              </a:rPr>
              <a:t>logiciel</a:t>
            </a:r>
            <a:r>
              <a:rPr sz="2400" b="1" spc="6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1D1B0F"/>
                </a:solidFill>
                <a:latin typeface="Calibri"/>
                <a:cs typeface="Calibri"/>
              </a:rPr>
              <a:t>espion</a:t>
            </a:r>
            <a:r>
              <a:rPr sz="2400" b="1" spc="4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1D1B0F"/>
                </a:solidFill>
                <a:latin typeface="Calibri"/>
                <a:cs typeface="Calibri"/>
              </a:rPr>
              <a:t>(</a:t>
            </a:r>
            <a:r>
              <a:rPr sz="2400" b="1" i="1" dirty="0">
                <a:solidFill>
                  <a:srgbClr val="1D1B0F"/>
                </a:solidFill>
                <a:latin typeface="Calibri"/>
                <a:cs typeface="Calibri"/>
              </a:rPr>
              <a:t>spyware</a:t>
            </a:r>
            <a:r>
              <a:rPr sz="2400" b="1" dirty="0">
                <a:solidFill>
                  <a:srgbClr val="1D1B0F"/>
                </a:solidFill>
                <a:latin typeface="Calibri"/>
                <a:cs typeface="Calibri"/>
              </a:rPr>
              <a:t>)</a:t>
            </a:r>
            <a:r>
              <a:rPr sz="2400" b="1" spc="4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fait</a:t>
            </a:r>
            <a:r>
              <a:rPr sz="2400" spc="5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la</a:t>
            </a:r>
            <a:r>
              <a:rPr sz="2400" spc="5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collecte</a:t>
            </a:r>
            <a:r>
              <a:rPr sz="2400" spc="5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d'informations</a:t>
            </a:r>
            <a:r>
              <a:rPr sz="2400" spc="5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D1B0F"/>
                </a:solidFill>
                <a:latin typeface="Calibri"/>
                <a:cs typeface="Calibri"/>
              </a:rPr>
              <a:t>personnelles 	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sur</a:t>
            </a:r>
            <a:r>
              <a:rPr sz="2400" spc="7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l'ordinateur</a:t>
            </a:r>
            <a:r>
              <a:rPr sz="2400" spc="9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d'un</a:t>
            </a:r>
            <a:r>
              <a:rPr sz="2400" spc="8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utilisateur</a:t>
            </a:r>
            <a:r>
              <a:rPr sz="2400" spc="9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sans</a:t>
            </a:r>
            <a:r>
              <a:rPr sz="2400" spc="8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son</a:t>
            </a:r>
            <a:r>
              <a:rPr sz="2400" spc="7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autorisation</a:t>
            </a:r>
            <a:r>
              <a:rPr sz="2400" spc="8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et</a:t>
            </a:r>
            <a:r>
              <a:rPr sz="2400" spc="8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les</a:t>
            </a:r>
            <a:r>
              <a:rPr sz="2400" spc="9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transmet</a:t>
            </a:r>
            <a:r>
              <a:rPr sz="2400" spc="8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spc="-50" dirty="0">
                <a:solidFill>
                  <a:srgbClr val="1D1B0F"/>
                </a:solidFill>
                <a:latin typeface="Calibri"/>
                <a:cs typeface="Calibri"/>
              </a:rPr>
              <a:t>à 	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un</a:t>
            </a:r>
            <a:r>
              <a:rPr sz="2400" spc="-2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D1B0F"/>
                </a:solidFill>
                <a:latin typeface="Calibri"/>
                <a:cs typeface="Calibri"/>
              </a:rPr>
              <a:t>ordinateur</a:t>
            </a:r>
            <a:r>
              <a:rPr sz="2400" spc="-3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1D1B0F"/>
                </a:solidFill>
                <a:latin typeface="Calibri"/>
                <a:cs typeface="Calibri"/>
              </a:rPr>
              <a:t>tiers</a:t>
            </a:r>
            <a:endParaRPr sz="2400">
              <a:latin typeface="Calibri"/>
              <a:cs typeface="Calibri"/>
            </a:endParaRPr>
          </a:p>
          <a:p>
            <a:pPr marL="236220" marR="329565" indent="-224154">
              <a:lnSpc>
                <a:spcPct val="79000"/>
              </a:lnSpc>
              <a:spcBef>
                <a:spcPts val="1230"/>
              </a:spcBef>
              <a:buFont typeface="Arial MT"/>
              <a:buChar char="•"/>
              <a:tabLst>
                <a:tab pos="238125" algn="l"/>
              </a:tabLst>
            </a:pPr>
            <a:r>
              <a:rPr sz="2400" b="1" spc="-20" dirty="0">
                <a:solidFill>
                  <a:srgbClr val="1D1B0F"/>
                </a:solidFill>
                <a:latin typeface="Calibri"/>
                <a:cs typeface="Calibri"/>
              </a:rPr>
              <a:t>L'enregistreur</a:t>
            </a:r>
            <a:r>
              <a:rPr sz="2400" b="1" spc="-2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1D1B0F"/>
                </a:solidFill>
                <a:latin typeface="Calibri"/>
                <a:cs typeface="Calibri"/>
              </a:rPr>
              <a:t>de</a:t>
            </a:r>
            <a:r>
              <a:rPr sz="2400" b="1" spc="-7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1D1B0F"/>
                </a:solidFill>
                <a:latin typeface="Calibri"/>
                <a:cs typeface="Calibri"/>
              </a:rPr>
              <a:t>frappe</a:t>
            </a:r>
            <a:r>
              <a:rPr sz="2400" b="1" spc="-5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1D1B0F"/>
                </a:solidFill>
                <a:latin typeface="Calibri"/>
                <a:cs typeface="Calibri"/>
              </a:rPr>
              <a:t>(</a:t>
            </a:r>
            <a:r>
              <a:rPr sz="2400" b="1" i="1" spc="-10" dirty="0">
                <a:solidFill>
                  <a:srgbClr val="1D1B0F"/>
                </a:solidFill>
                <a:latin typeface="Calibri"/>
                <a:cs typeface="Calibri"/>
              </a:rPr>
              <a:t>keylogger</a:t>
            </a:r>
            <a:r>
              <a:rPr sz="2400" b="1" spc="-10" dirty="0">
                <a:solidFill>
                  <a:srgbClr val="1D1B0F"/>
                </a:solidFill>
                <a:latin typeface="Calibri"/>
                <a:cs typeface="Calibri"/>
              </a:rPr>
              <a:t>)</a:t>
            </a:r>
            <a:r>
              <a:rPr sz="2400" b="1" spc="-7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est</a:t>
            </a:r>
            <a:r>
              <a:rPr sz="2400" spc="-7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D1B0F"/>
                </a:solidFill>
                <a:latin typeface="Calibri"/>
                <a:cs typeface="Calibri"/>
              </a:rPr>
              <a:t>généralement</a:t>
            </a:r>
            <a:r>
              <a:rPr sz="2400" spc="-7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D1B0F"/>
                </a:solidFill>
                <a:latin typeface="Calibri"/>
                <a:cs typeface="Calibri"/>
              </a:rPr>
              <a:t>invisible, 	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installé</a:t>
            </a:r>
            <a:r>
              <a:rPr sz="2400" spc="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sur</a:t>
            </a:r>
            <a:r>
              <a:rPr sz="2400" spc="-4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le</a:t>
            </a:r>
            <a:r>
              <a:rPr sz="2400" spc="-4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poste</a:t>
            </a:r>
            <a:r>
              <a:rPr sz="2400" spc="-2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d'un</a:t>
            </a:r>
            <a:r>
              <a:rPr sz="2400" spc="-11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utilisateur</a:t>
            </a:r>
            <a:r>
              <a:rPr sz="2400" spc="2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et</a:t>
            </a:r>
            <a:r>
              <a:rPr sz="2400" spc="-4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chargé</a:t>
            </a:r>
            <a:r>
              <a:rPr sz="2400" spc="-3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d'enregistrer</a:t>
            </a:r>
            <a:r>
              <a:rPr sz="2400" spc="-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à</a:t>
            </a:r>
            <a:r>
              <a:rPr sz="2400" spc="-3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son</a:t>
            </a:r>
            <a:r>
              <a:rPr sz="2400" spc="-3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1D1B0F"/>
                </a:solidFill>
                <a:latin typeface="Calibri"/>
                <a:cs typeface="Calibri"/>
              </a:rPr>
              <a:t>insu 	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ses</a:t>
            </a:r>
            <a:r>
              <a:rPr sz="2400" spc="-1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frappes</a:t>
            </a:r>
            <a:r>
              <a:rPr sz="2400" spc="-6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D1B0F"/>
                </a:solidFill>
                <a:latin typeface="Calibri"/>
                <a:cs typeface="Calibri"/>
              </a:rPr>
              <a:t>clavier</a:t>
            </a:r>
            <a:endParaRPr sz="2400">
              <a:latin typeface="Calibri"/>
              <a:cs typeface="Calibri"/>
            </a:endParaRPr>
          </a:p>
          <a:p>
            <a:pPr marL="236854" indent="-224154">
              <a:lnSpc>
                <a:spcPct val="100000"/>
              </a:lnSpc>
              <a:spcBef>
                <a:spcPts val="540"/>
              </a:spcBef>
              <a:buFont typeface="Arial MT"/>
              <a:buChar char="•"/>
              <a:tabLst>
                <a:tab pos="236854" algn="l"/>
              </a:tabLst>
            </a:pPr>
            <a:r>
              <a:rPr sz="2400" b="1" dirty="0">
                <a:solidFill>
                  <a:srgbClr val="1D1B0F"/>
                </a:solidFill>
                <a:latin typeface="Calibri"/>
                <a:cs typeface="Calibri"/>
              </a:rPr>
              <a:t>L'exploit</a:t>
            </a:r>
            <a:r>
              <a:rPr sz="2400" b="1" spc="-1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permet</a:t>
            </a:r>
            <a:r>
              <a:rPr sz="2400" spc="-4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d'exploiter</a:t>
            </a:r>
            <a:r>
              <a:rPr sz="2400" spc="-5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une</a:t>
            </a:r>
            <a:r>
              <a:rPr sz="2400" spc="-6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faille</a:t>
            </a:r>
            <a:r>
              <a:rPr sz="2400" spc="1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de</a:t>
            </a:r>
            <a:r>
              <a:rPr sz="2400" spc="-6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sécurité</a:t>
            </a:r>
            <a:r>
              <a:rPr sz="2400" spc="5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d'un</a:t>
            </a:r>
            <a:r>
              <a:rPr sz="2400" spc="-10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D1B0F"/>
                </a:solidFill>
                <a:latin typeface="Calibri"/>
                <a:cs typeface="Calibri"/>
              </a:rPr>
              <a:t>logiciel</a:t>
            </a:r>
            <a:endParaRPr sz="2400">
              <a:latin typeface="Calibri"/>
              <a:cs typeface="Calibri"/>
            </a:endParaRPr>
          </a:p>
          <a:p>
            <a:pPr marL="236220" marR="163195" indent="-224154">
              <a:lnSpc>
                <a:spcPct val="81000"/>
              </a:lnSpc>
              <a:spcBef>
                <a:spcPts val="1350"/>
              </a:spcBef>
              <a:buFont typeface="Arial MT"/>
              <a:buChar char="•"/>
              <a:tabLst>
                <a:tab pos="238125" algn="l"/>
              </a:tabLst>
            </a:pPr>
            <a:r>
              <a:rPr sz="2400" b="1" dirty="0">
                <a:solidFill>
                  <a:srgbClr val="1D1B0F"/>
                </a:solidFill>
                <a:latin typeface="Calibri"/>
                <a:cs typeface="Calibri"/>
              </a:rPr>
              <a:t>Le</a:t>
            </a:r>
            <a:r>
              <a:rPr sz="2400" b="1" spc="-5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1D1B0F"/>
                </a:solidFill>
                <a:latin typeface="Calibri"/>
                <a:cs typeface="Calibri"/>
              </a:rPr>
              <a:t>rootkit</a:t>
            </a:r>
            <a:r>
              <a:rPr sz="2400" b="1" spc="-9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est</a:t>
            </a:r>
            <a:r>
              <a:rPr sz="2400" spc="-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un</a:t>
            </a:r>
            <a:r>
              <a:rPr sz="2400" spc="-2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ensemble</a:t>
            </a:r>
            <a:r>
              <a:rPr sz="2400" spc="-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de</a:t>
            </a:r>
            <a:r>
              <a:rPr sz="2400" spc="-2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logiciels</a:t>
            </a:r>
            <a:r>
              <a:rPr sz="2400" spc="6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permettant</a:t>
            </a:r>
            <a:r>
              <a:rPr sz="2400" spc="-4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D1B0F"/>
                </a:solidFill>
                <a:latin typeface="Calibri"/>
                <a:cs typeface="Calibri"/>
              </a:rPr>
              <a:t>généralement 	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d'obtenir</a:t>
            </a:r>
            <a:r>
              <a:rPr sz="2400" spc="-6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les</a:t>
            </a:r>
            <a:r>
              <a:rPr sz="2400" spc="-1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droits</a:t>
            </a:r>
            <a:r>
              <a:rPr sz="2400" spc="-3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D1B0F"/>
                </a:solidFill>
                <a:latin typeface="Calibri"/>
                <a:cs typeface="Calibri"/>
              </a:rPr>
              <a:t>d'administrateur</a:t>
            </a:r>
            <a:r>
              <a:rPr sz="2400" spc="-6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sur</a:t>
            </a:r>
            <a:r>
              <a:rPr sz="2400" spc="-2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une</a:t>
            </a:r>
            <a:r>
              <a:rPr sz="2400" spc="-6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machine,</a:t>
            </a:r>
            <a:r>
              <a:rPr sz="2400" spc="3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d'installer</a:t>
            </a:r>
            <a:r>
              <a:rPr sz="2400" spc="2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1D1B0F"/>
                </a:solidFill>
                <a:latin typeface="Calibri"/>
                <a:cs typeface="Calibri"/>
              </a:rPr>
              <a:t>une 	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porte</a:t>
            </a:r>
            <a:r>
              <a:rPr sz="2400" spc="-7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dérobée,</a:t>
            </a:r>
            <a:r>
              <a:rPr sz="2400" spc="-4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de</a:t>
            </a:r>
            <a:r>
              <a:rPr sz="2400" spc="-3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truquer</a:t>
            </a:r>
            <a:r>
              <a:rPr sz="2400" spc="-6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les</a:t>
            </a:r>
            <a:r>
              <a:rPr sz="2400" spc="-2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D1B0F"/>
                </a:solidFill>
                <a:latin typeface="Calibri"/>
                <a:cs typeface="Calibri"/>
              </a:rPr>
              <a:t>informations</a:t>
            </a:r>
            <a:r>
              <a:rPr sz="2400" spc="-6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susceptibles</a:t>
            </a:r>
            <a:r>
              <a:rPr sz="2400" spc="5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de</a:t>
            </a:r>
            <a:r>
              <a:rPr sz="2400" spc="-3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révéler</a:t>
            </a:r>
            <a:r>
              <a:rPr sz="2400" spc="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1D1B0F"/>
                </a:solidFill>
                <a:latin typeface="Calibri"/>
                <a:cs typeface="Calibri"/>
              </a:rPr>
              <a:t>la 	</a:t>
            </a:r>
            <a:r>
              <a:rPr sz="2400" spc="-10" dirty="0">
                <a:solidFill>
                  <a:srgbClr val="1D1B0F"/>
                </a:solidFill>
                <a:latin typeface="Calibri"/>
                <a:cs typeface="Calibri"/>
              </a:rPr>
              <a:t>compromission,</a:t>
            </a:r>
            <a:r>
              <a:rPr sz="2400" spc="-11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et</a:t>
            </a:r>
            <a:r>
              <a:rPr sz="2400" spc="1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d'effacer</a:t>
            </a:r>
            <a:r>
              <a:rPr sz="2400" spc="3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les</a:t>
            </a:r>
            <a:r>
              <a:rPr sz="2400" spc="-1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traces</a:t>
            </a:r>
            <a:r>
              <a:rPr sz="2400" spc="-3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laissées</a:t>
            </a:r>
            <a:r>
              <a:rPr sz="2400" spc="6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par</a:t>
            </a:r>
            <a:r>
              <a:rPr sz="2400" spc="-2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l'opération</a:t>
            </a:r>
            <a:r>
              <a:rPr sz="2400" spc="-3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dans</a:t>
            </a:r>
            <a:r>
              <a:rPr sz="2400" spc="-6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1D1B0F"/>
                </a:solidFill>
                <a:latin typeface="Calibri"/>
                <a:cs typeface="Calibri"/>
              </a:rPr>
              <a:t>les 	</a:t>
            </a:r>
            <a:r>
              <a:rPr sz="2400" spc="-10" dirty="0">
                <a:solidFill>
                  <a:srgbClr val="1D1B0F"/>
                </a:solidFill>
                <a:latin typeface="Calibri"/>
                <a:cs typeface="Calibri"/>
              </a:rPr>
              <a:t>journaux</a:t>
            </a:r>
            <a:r>
              <a:rPr sz="2400" spc="-6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D1B0F"/>
                </a:solidFill>
                <a:latin typeface="Calibri"/>
                <a:cs typeface="Calibri"/>
              </a:rPr>
              <a:t>système.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47293" rIns="0" bIns="0" rtlCol="0">
            <a:spAutoFit/>
          </a:bodyPr>
          <a:lstStyle/>
          <a:p>
            <a:pPr marL="131318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Attaque</a:t>
            </a:r>
            <a:r>
              <a:rPr spc="-190" dirty="0"/>
              <a:t> </a:t>
            </a:r>
            <a:r>
              <a:rPr dirty="0"/>
              <a:t>par</a:t>
            </a:r>
            <a:r>
              <a:rPr spc="-150" dirty="0"/>
              <a:t> </a:t>
            </a:r>
            <a:r>
              <a:rPr spc="-10" dirty="0"/>
              <a:t>messagerie</a:t>
            </a:r>
            <a:r>
              <a:rPr spc="-120" dirty="0"/>
              <a:t> </a:t>
            </a:r>
            <a:r>
              <a:rPr spc="-10" dirty="0"/>
              <a:t>électronique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2619" y="-98043"/>
            <a:ext cx="1454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1D1B0F"/>
                </a:solidFill>
                <a:latin typeface="Trebuchet MS"/>
                <a:cs typeface="Trebuchet MS"/>
              </a:rPr>
              <a:t>3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2619" y="92456"/>
            <a:ext cx="1454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1D1B0F"/>
                </a:solidFill>
                <a:latin typeface="Trebuchet MS"/>
                <a:cs typeface="Trebuchet MS"/>
              </a:rPr>
              <a:t>4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00886" y="1749044"/>
            <a:ext cx="8962390" cy="4023995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240029" marR="5080" indent="-227329">
              <a:lnSpc>
                <a:spcPts val="2800"/>
              </a:lnSpc>
              <a:spcBef>
                <a:spcPts val="26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b="1" dirty="0">
                <a:solidFill>
                  <a:srgbClr val="1D1B0F"/>
                </a:solidFill>
                <a:latin typeface="Calibri"/>
                <a:cs typeface="Calibri"/>
              </a:rPr>
              <a:t>Le</a:t>
            </a:r>
            <a:r>
              <a:rPr sz="2400" b="1" spc="-4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1D1B0F"/>
                </a:solidFill>
                <a:latin typeface="Calibri"/>
                <a:cs typeface="Calibri"/>
              </a:rPr>
              <a:t>pourriel</a:t>
            </a:r>
            <a:r>
              <a:rPr sz="2400" b="1" spc="-8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1D1B0F"/>
                </a:solidFill>
                <a:latin typeface="Calibri"/>
                <a:cs typeface="Calibri"/>
              </a:rPr>
              <a:t>(</a:t>
            </a:r>
            <a:r>
              <a:rPr sz="2400" b="1" i="1" dirty="0">
                <a:solidFill>
                  <a:srgbClr val="1D1B0F"/>
                </a:solidFill>
                <a:latin typeface="Calibri"/>
                <a:cs typeface="Calibri"/>
              </a:rPr>
              <a:t>spam</a:t>
            </a:r>
            <a:r>
              <a:rPr sz="2400" b="1" dirty="0">
                <a:solidFill>
                  <a:srgbClr val="1D1B0F"/>
                </a:solidFill>
                <a:latin typeface="Calibri"/>
                <a:cs typeface="Calibri"/>
              </a:rPr>
              <a:t>)</a:t>
            </a:r>
            <a:r>
              <a:rPr sz="2400" b="1" spc="1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est un</a:t>
            </a:r>
            <a:r>
              <a:rPr sz="2400" spc="-6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courrier</a:t>
            </a:r>
            <a:r>
              <a:rPr sz="2400" spc="1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D1B0F"/>
                </a:solidFill>
                <a:latin typeface="Calibri"/>
                <a:cs typeface="Calibri"/>
              </a:rPr>
              <a:t>électronique</a:t>
            </a:r>
            <a:r>
              <a:rPr sz="2400" spc="-7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non</a:t>
            </a:r>
            <a:r>
              <a:rPr sz="2400" spc="-3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sollicité</a:t>
            </a:r>
            <a:r>
              <a:rPr sz="2400" spc="6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D1B0F"/>
                </a:solidFill>
                <a:latin typeface="Calibri"/>
                <a:cs typeface="Calibri"/>
              </a:rPr>
              <a:t>(publicité) 	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qui</a:t>
            </a:r>
            <a:r>
              <a:rPr sz="2400" spc="-9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encombre</a:t>
            </a:r>
            <a:r>
              <a:rPr sz="2400" spc="-6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le</a:t>
            </a:r>
            <a:r>
              <a:rPr sz="2400" spc="-2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réseau,</a:t>
            </a:r>
            <a:r>
              <a:rPr sz="2400" spc="-4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et</a:t>
            </a:r>
            <a:r>
              <a:rPr sz="2400" spc="-3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fait</a:t>
            </a:r>
            <a:r>
              <a:rPr sz="2400" spc="-3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D1B0F"/>
                </a:solidFill>
                <a:latin typeface="Calibri"/>
                <a:cs typeface="Calibri"/>
              </a:rPr>
              <a:t>perdre</a:t>
            </a:r>
            <a:r>
              <a:rPr sz="2400" spc="-6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du</a:t>
            </a:r>
            <a:r>
              <a:rPr sz="2400" spc="-3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temps</a:t>
            </a:r>
            <a:r>
              <a:rPr sz="2400" spc="-6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aux</a:t>
            </a:r>
            <a:r>
              <a:rPr sz="2400" spc="-6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D1B0F"/>
                </a:solidFill>
                <a:latin typeface="Calibri"/>
                <a:cs typeface="Calibri"/>
              </a:rPr>
              <a:t>destinataires</a:t>
            </a:r>
            <a:endParaRPr sz="2400">
              <a:latin typeface="Calibri"/>
              <a:cs typeface="Calibri"/>
            </a:endParaRPr>
          </a:p>
          <a:p>
            <a:pPr marL="240029" marR="204470" indent="-227329">
              <a:lnSpc>
                <a:spcPct val="9030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b="1" spc="-10" dirty="0">
                <a:solidFill>
                  <a:srgbClr val="1D1B0F"/>
                </a:solidFill>
                <a:latin typeface="Calibri"/>
                <a:cs typeface="Calibri"/>
              </a:rPr>
              <a:t>L'hameçonnage</a:t>
            </a:r>
            <a:r>
              <a:rPr sz="2400" b="1" spc="-8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1D1B0F"/>
                </a:solidFill>
                <a:latin typeface="Calibri"/>
                <a:cs typeface="Calibri"/>
              </a:rPr>
              <a:t>(</a:t>
            </a:r>
            <a:r>
              <a:rPr sz="2400" b="1" i="1" spc="-10" dirty="0">
                <a:solidFill>
                  <a:srgbClr val="1D1B0F"/>
                </a:solidFill>
                <a:latin typeface="Calibri"/>
                <a:cs typeface="Calibri"/>
              </a:rPr>
              <a:t>phishing</a:t>
            </a:r>
            <a:r>
              <a:rPr sz="2400" b="1" spc="-10" dirty="0">
                <a:solidFill>
                  <a:srgbClr val="1D1B0F"/>
                </a:solidFill>
                <a:latin typeface="Calibri"/>
                <a:cs typeface="Calibri"/>
              </a:rPr>
              <a:t>)</a:t>
            </a:r>
            <a:r>
              <a:rPr sz="2400" b="1" spc="-12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est</a:t>
            </a:r>
            <a:r>
              <a:rPr sz="2400" spc="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un</a:t>
            </a:r>
            <a:r>
              <a:rPr sz="2400" spc="-2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courrier</a:t>
            </a:r>
            <a:r>
              <a:rPr sz="2400" spc="-2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électronique</a:t>
            </a:r>
            <a:r>
              <a:rPr sz="2400" spc="-5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1D1B0F"/>
                </a:solidFill>
                <a:latin typeface="Calibri"/>
                <a:cs typeface="Calibri"/>
              </a:rPr>
              <a:t>dont 	</a:t>
            </a:r>
            <a:r>
              <a:rPr sz="2400" spc="-10" dirty="0">
                <a:solidFill>
                  <a:srgbClr val="1D1B0F"/>
                </a:solidFill>
                <a:latin typeface="Calibri"/>
                <a:cs typeface="Calibri"/>
              </a:rPr>
              <a:t>l'expéditeur</a:t>
            </a:r>
            <a:r>
              <a:rPr sz="2400" spc="-5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se</a:t>
            </a:r>
            <a:r>
              <a:rPr sz="2400" spc="-3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fait</a:t>
            </a:r>
            <a:r>
              <a:rPr sz="2400" spc="-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D1B0F"/>
                </a:solidFill>
                <a:latin typeface="Calibri"/>
                <a:cs typeface="Calibri"/>
              </a:rPr>
              <a:t>généralement</a:t>
            </a:r>
            <a:r>
              <a:rPr sz="2400" spc="-7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passer</a:t>
            </a:r>
            <a:r>
              <a:rPr sz="2400" spc="-2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pour</a:t>
            </a:r>
            <a:r>
              <a:rPr sz="2400" spc="-8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un</a:t>
            </a:r>
            <a:r>
              <a:rPr sz="2400" spc="-6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D1B0F"/>
                </a:solidFill>
                <a:latin typeface="Calibri"/>
                <a:cs typeface="Calibri"/>
              </a:rPr>
              <a:t>organisme financier 	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et</a:t>
            </a:r>
            <a:r>
              <a:rPr sz="2400" spc="-8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D1B0F"/>
                </a:solidFill>
                <a:latin typeface="Calibri"/>
                <a:cs typeface="Calibri"/>
              </a:rPr>
              <a:t>demandant</a:t>
            </a:r>
            <a:r>
              <a:rPr sz="2400" spc="-9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au</a:t>
            </a:r>
            <a:r>
              <a:rPr sz="2400" spc="-2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destinataire</a:t>
            </a:r>
            <a:r>
              <a:rPr sz="2400" spc="-4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de</a:t>
            </a:r>
            <a:r>
              <a:rPr sz="2400" spc="-5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fournir</a:t>
            </a:r>
            <a:r>
              <a:rPr sz="2400" spc="-6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des</a:t>
            </a:r>
            <a:r>
              <a:rPr sz="2400" spc="-6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D1B0F"/>
                </a:solidFill>
                <a:latin typeface="Calibri"/>
                <a:cs typeface="Calibri"/>
              </a:rPr>
              <a:t>informations 	confidentielles</a:t>
            </a:r>
            <a:endParaRPr sz="2400">
              <a:latin typeface="Calibri"/>
              <a:cs typeface="Calibri"/>
            </a:endParaRPr>
          </a:p>
          <a:p>
            <a:pPr marL="240029" marR="224154" indent="-227329">
              <a:lnSpc>
                <a:spcPct val="91000"/>
              </a:lnSpc>
              <a:spcBef>
                <a:spcPts val="120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b="1" dirty="0">
                <a:solidFill>
                  <a:srgbClr val="1D1B0F"/>
                </a:solidFill>
                <a:latin typeface="Calibri"/>
                <a:cs typeface="Calibri"/>
              </a:rPr>
              <a:t>Le</a:t>
            </a:r>
            <a:r>
              <a:rPr sz="2400" b="1" spc="-4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1D1B0F"/>
                </a:solidFill>
                <a:latin typeface="Calibri"/>
                <a:cs typeface="Calibri"/>
              </a:rPr>
              <a:t>canular</a:t>
            </a:r>
            <a:r>
              <a:rPr sz="2400" b="1" spc="-10" dirty="0">
                <a:solidFill>
                  <a:srgbClr val="1D1B0F"/>
                </a:solidFill>
                <a:latin typeface="Calibri"/>
                <a:cs typeface="Calibri"/>
              </a:rPr>
              <a:t> informatique</a:t>
            </a:r>
            <a:r>
              <a:rPr sz="2400" b="1" spc="-10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1D1B0F"/>
                </a:solidFill>
                <a:latin typeface="Calibri"/>
                <a:cs typeface="Calibri"/>
              </a:rPr>
              <a:t>(hoax)</a:t>
            </a:r>
            <a:r>
              <a:rPr sz="2400" b="1" spc="9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est</a:t>
            </a:r>
            <a:r>
              <a:rPr sz="2400" spc="-3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un</a:t>
            </a:r>
            <a:r>
              <a:rPr sz="2400" spc="-2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courrier</a:t>
            </a:r>
            <a:r>
              <a:rPr sz="2400" spc="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D1B0F"/>
                </a:solidFill>
                <a:latin typeface="Calibri"/>
                <a:cs typeface="Calibri"/>
              </a:rPr>
              <a:t>électronique</a:t>
            </a:r>
            <a:r>
              <a:rPr sz="2400" spc="-8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D1B0F"/>
                </a:solidFill>
                <a:latin typeface="Calibri"/>
                <a:cs typeface="Calibri"/>
              </a:rPr>
              <a:t>incitant 	</a:t>
            </a:r>
            <a:r>
              <a:rPr sz="2400" spc="-20" dirty="0">
                <a:solidFill>
                  <a:srgbClr val="1D1B0F"/>
                </a:solidFill>
                <a:latin typeface="Calibri"/>
                <a:cs typeface="Calibri"/>
              </a:rPr>
              <a:t>généralement</a:t>
            </a:r>
            <a:r>
              <a:rPr sz="2400" spc="-6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le </a:t>
            </a:r>
            <a:r>
              <a:rPr sz="2400" spc="-10" dirty="0">
                <a:solidFill>
                  <a:srgbClr val="1D1B0F"/>
                </a:solidFill>
                <a:latin typeface="Calibri"/>
                <a:cs typeface="Calibri"/>
              </a:rPr>
              <a:t>destinataire</a:t>
            </a:r>
            <a:r>
              <a:rPr sz="2400" spc="1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à</a:t>
            </a:r>
            <a:r>
              <a:rPr sz="2400" spc="-10" dirty="0">
                <a:solidFill>
                  <a:srgbClr val="1D1B0F"/>
                </a:solidFill>
                <a:latin typeface="Calibri"/>
                <a:cs typeface="Calibri"/>
              </a:rPr>
              <a:t> retransmettre</a:t>
            </a:r>
            <a:r>
              <a:rPr sz="2400" spc="-4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le</a:t>
            </a:r>
            <a:r>
              <a:rPr sz="2400" spc="-1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message</a:t>
            </a:r>
            <a:r>
              <a:rPr sz="2400" spc="-1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à</a:t>
            </a:r>
            <a:r>
              <a:rPr sz="2400" spc="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1D1B0F"/>
                </a:solidFill>
                <a:latin typeface="Calibri"/>
                <a:cs typeface="Calibri"/>
              </a:rPr>
              <a:t>ses 	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contacts</a:t>
            </a:r>
            <a:r>
              <a:rPr sz="2400" spc="-9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sous</a:t>
            </a:r>
            <a:r>
              <a:rPr sz="2400" spc="-6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divers</a:t>
            </a:r>
            <a:r>
              <a:rPr sz="2400" spc="-4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D1B0F"/>
                </a:solidFill>
                <a:latin typeface="Calibri"/>
                <a:cs typeface="Calibri"/>
              </a:rPr>
              <a:t>prétextes.</a:t>
            </a:r>
            <a:r>
              <a:rPr sz="2400" spc="-6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Il</a:t>
            </a:r>
            <a:r>
              <a:rPr sz="2400" spc="-5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D1B0F"/>
                </a:solidFill>
                <a:latin typeface="Calibri"/>
                <a:cs typeface="Calibri"/>
              </a:rPr>
              <a:t>encombre</a:t>
            </a:r>
            <a:r>
              <a:rPr sz="2400" spc="-114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le</a:t>
            </a:r>
            <a:r>
              <a:rPr sz="2400" spc="-3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réseau</a:t>
            </a:r>
            <a:r>
              <a:rPr sz="2400" spc="-6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et</a:t>
            </a:r>
            <a:r>
              <a:rPr sz="2400" spc="-1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D1B0F"/>
                </a:solidFill>
                <a:latin typeface="Calibri"/>
                <a:cs typeface="Calibri"/>
              </a:rPr>
              <a:t>incite 	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l'utilisateur</a:t>
            </a:r>
            <a:r>
              <a:rPr sz="2400" spc="-1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à </a:t>
            </a:r>
            <a:r>
              <a:rPr sz="2400" spc="-10" dirty="0">
                <a:solidFill>
                  <a:srgbClr val="1D1B0F"/>
                </a:solidFill>
                <a:latin typeface="Calibri"/>
                <a:cs typeface="Calibri"/>
              </a:rPr>
              <a:t>effectuer</a:t>
            </a:r>
            <a:r>
              <a:rPr sz="2400" spc="-4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des</a:t>
            </a:r>
            <a:r>
              <a:rPr sz="2400" spc="-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manipulations</a:t>
            </a:r>
            <a:r>
              <a:rPr sz="2400" spc="-10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D1B0F"/>
                </a:solidFill>
                <a:latin typeface="Calibri"/>
                <a:cs typeface="Calibri"/>
              </a:rPr>
              <a:t>dangereuses</a:t>
            </a:r>
            <a:r>
              <a:rPr sz="2400" spc="-6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sur</a:t>
            </a:r>
            <a:r>
              <a:rPr sz="2400" spc="-1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son</a:t>
            </a:r>
            <a:r>
              <a:rPr sz="2400" spc="-3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D1B0F"/>
                </a:solidFill>
                <a:latin typeface="Calibri"/>
                <a:cs typeface="Calibri"/>
              </a:rPr>
              <a:t>poste 	(suppression</a:t>
            </a:r>
            <a:r>
              <a:rPr sz="2400" spc="1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d'un</a:t>
            </a:r>
            <a:r>
              <a:rPr sz="2400" spc="-4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fichier</a:t>
            </a:r>
            <a:r>
              <a:rPr sz="2400" spc="2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1D1B0F"/>
                </a:solidFill>
                <a:latin typeface="Calibri"/>
                <a:cs typeface="Calibri"/>
              </a:rPr>
              <a:t>prétendument</a:t>
            </a:r>
            <a:r>
              <a:rPr sz="2400" spc="-8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lié</a:t>
            </a:r>
            <a:r>
              <a:rPr sz="2400" spc="-1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à</a:t>
            </a:r>
            <a:r>
              <a:rPr sz="2400" spc="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un</a:t>
            </a:r>
            <a:r>
              <a:rPr sz="2400" spc="-4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D1B0F"/>
                </a:solidFill>
                <a:latin typeface="Calibri"/>
                <a:cs typeface="Calibri"/>
              </a:rPr>
              <a:t>virus,</a:t>
            </a:r>
            <a:r>
              <a:rPr sz="2400" spc="4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1D1B0F"/>
                </a:solidFill>
                <a:latin typeface="Calibri"/>
                <a:cs typeface="Calibri"/>
              </a:rPr>
              <a:t>…).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47293" rIns="0" bIns="0" rtlCol="0">
            <a:spAutoFit/>
          </a:bodyPr>
          <a:lstStyle/>
          <a:p>
            <a:pPr marL="131318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Attaque</a:t>
            </a:r>
            <a:r>
              <a:rPr spc="-200" dirty="0"/>
              <a:t> </a:t>
            </a:r>
            <a:r>
              <a:rPr dirty="0"/>
              <a:t>par</a:t>
            </a:r>
            <a:r>
              <a:rPr spc="-105" dirty="0"/>
              <a:t> </a:t>
            </a:r>
            <a:r>
              <a:rPr dirty="0"/>
              <a:t>mise</a:t>
            </a:r>
            <a:r>
              <a:rPr spc="-105" dirty="0"/>
              <a:t> </a:t>
            </a:r>
            <a:r>
              <a:rPr dirty="0"/>
              <a:t>en</a:t>
            </a:r>
            <a:r>
              <a:rPr spc="-125" dirty="0"/>
              <a:t> </a:t>
            </a:r>
            <a:r>
              <a:rPr spc="-10" dirty="0"/>
              <a:t>réseau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2619" y="-98043"/>
            <a:ext cx="1454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1D1B0F"/>
                </a:solidFill>
                <a:latin typeface="Trebuchet MS"/>
                <a:cs typeface="Trebuchet MS"/>
              </a:rPr>
              <a:t>3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2619" y="92456"/>
            <a:ext cx="1454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1D1B0F"/>
                </a:solidFill>
                <a:latin typeface="Trebuchet MS"/>
                <a:cs typeface="Trebuchet MS"/>
              </a:rPr>
              <a:t>5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03933" y="1671319"/>
            <a:ext cx="8774430" cy="4008754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238125" marR="679450" indent="-226060">
              <a:lnSpc>
                <a:spcPct val="77300"/>
              </a:lnSpc>
              <a:spcBef>
                <a:spcPts val="825"/>
              </a:spcBef>
              <a:buFont typeface="Arial MT"/>
              <a:buChar char="•"/>
              <a:tabLst>
                <a:tab pos="238125" algn="l"/>
              </a:tabLst>
            </a:pPr>
            <a:r>
              <a:rPr sz="2550" b="1" dirty="0">
                <a:solidFill>
                  <a:srgbClr val="1D1B0F"/>
                </a:solidFill>
                <a:latin typeface="Calibri"/>
                <a:cs typeface="Calibri"/>
              </a:rPr>
              <a:t>les</a:t>
            </a:r>
            <a:r>
              <a:rPr sz="2550" b="1" spc="-6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550" b="1" dirty="0">
                <a:solidFill>
                  <a:srgbClr val="1D1B0F"/>
                </a:solidFill>
                <a:latin typeface="Calibri"/>
                <a:cs typeface="Calibri"/>
              </a:rPr>
              <a:t>écoutes</a:t>
            </a:r>
            <a:r>
              <a:rPr sz="2550" b="1" spc="5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550" b="1" dirty="0">
                <a:solidFill>
                  <a:srgbClr val="1D1B0F"/>
                </a:solidFill>
                <a:latin typeface="Calibri"/>
                <a:cs typeface="Calibri"/>
              </a:rPr>
              <a:t>(</a:t>
            </a:r>
            <a:r>
              <a:rPr sz="2550" b="1" i="1" dirty="0">
                <a:solidFill>
                  <a:srgbClr val="1D1B0F"/>
                </a:solidFill>
                <a:latin typeface="Calibri"/>
                <a:cs typeface="Calibri"/>
              </a:rPr>
              <a:t>sniffing</a:t>
            </a:r>
            <a:r>
              <a:rPr sz="2550" b="1" dirty="0">
                <a:solidFill>
                  <a:srgbClr val="1D1B0F"/>
                </a:solidFill>
                <a:latin typeface="Calibri"/>
                <a:cs typeface="Calibri"/>
              </a:rPr>
              <a:t>)</a:t>
            </a:r>
            <a:r>
              <a:rPr sz="2550" b="1" spc="-7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550" spc="-20" dirty="0">
                <a:solidFill>
                  <a:srgbClr val="1D1B0F"/>
                </a:solidFill>
                <a:latin typeface="Calibri"/>
                <a:cs typeface="Calibri"/>
              </a:rPr>
              <a:t>permettent</a:t>
            </a:r>
            <a:r>
              <a:rPr sz="2550" spc="-6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1D1B0F"/>
                </a:solidFill>
                <a:latin typeface="Calibri"/>
                <a:cs typeface="Calibri"/>
              </a:rPr>
              <a:t>de</a:t>
            </a:r>
            <a:r>
              <a:rPr sz="2550" spc="-7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550" spc="-20" dirty="0">
                <a:solidFill>
                  <a:srgbClr val="1D1B0F"/>
                </a:solidFill>
                <a:latin typeface="Calibri"/>
                <a:cs typeface="Calibri"/>
              </a:rPr>
              <a:t>récupérer</a:t>
            </a:r>
            <a:r>
              <a:rPr sz="2550" spc="-13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1D1B0F"/>
                </a:solidFill>
                <a:latin typeface="Calibri"/>
                <a:cs typeface="Calibri"/>
              </a:rPr>
              <a:t>toutes</a:t>
            </a:r>
            <a:r>
              <a:rPr sz="2550" spc="-6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550" spc="-25" dirty="0">
                <a:solidFill>
                  <a:srgbClr val="1D1B0F"/>
                </a:solidFill>
                <a:latin typeface="Calibri"/>
                <a:cs typeface="Calibri"/>
              </a:rPr>
              <a:t>les informations</a:t>
            </a:r>
            <a:r>
              <a:rPr sz="2550" spc="-114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550" spc="-25" dirty="0">
                <a:solidFill>
                  <a:srgbClr val="1D1B0F"/>
                </a:solidFill>
                <a:latin typeface="Calibri"/>
                <a:cs typeface="Calibri"/>
              </a:rPr>
              <a:t>transitant</a:t>
            </a:r>
            <a:r>
              <a:rPr sz="2550" spc="-7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1D1B0F"/>
                </a:solidFill>
                <a:latin typeface="Calibri"/>
                <a:cs typeface="Calibri"/>
              </a:rPr>
              <a:t>sur</a:t>
            </a:r>
            <a:r>
              <a:rPr sz="2550" spc="-2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1D1B0F"/>
                </a:solidFill>
                <a:latin typeface="Calibri"/>
                <a:cs typeface="Calibri"/>
              </a:rPr>
              <a:t>un</a:t>
            </a:r>
            <a:r>
              <a:rPr sz="2550" spc="-7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1D1B0F"/>
                </a:solidFill>
                <a:latin typeface="Calibri"/>
                <a:cs typeface="Calibri"/>
              </a:rPr>
              <a:t>réseau</a:t>
            </a:r>
            <a:r>
              <a:rPr sz="2550" spc="-3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1D1B0F"/>
                </a:solidFill>
                <a:latin typeface="Calibri"/>
                <a:cs typeface="Calibri"/>
              </a:rPr>
              <a:t>(par</a:t>
            </a:r>
            <a:r>
              <a:rPr sz="2550" spc="-8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1D1B0F"/>
                </a:solidFill>
                <a:latin typeface="Calibri"/>
                <a:cs typeface="Calibri"/>
              </a:rPr>
              <a:t>un</a:t>
            </a:r>
            <a:r>
              <a:rPr sz="2550" spc="-7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1D1B0F"/>
                </a:solidFill>
                <a:latin typeface="Calibri"/>
                <a:cs typeface="Calibri"/>
              </a:rPr>
              <a:t>logiciel</a:t>
            </a:r>
            <a:r>
              <a:rPr sz="2550" spc="1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550" i="1" spc="-10" dirty="0">
                <a:solidFill>
                  <a:srgbClr val="1D1B0F"/>
                </a:solidFill>
                <a:latin typeface="Calibri"/>
                <a:cs typeface="Calibri"/>
              </a:rPr>
              <a:t>sniffer</a:t>
            </a:r>
            <a:r>
              <a:rPr sz="2550" spc="-10" dirty="0">
                <a:solidFill>
                  <a:srgbClr val="1D1B0F"/>
                </a:solidFill>
                <a:latin typeface="Calibri"/>
                <a:cs typeface="Calibri"/>
              </a:rPr>
              <a:t>)</a:t>
            </a:r>
            <a:endParaRPr sz="2550" dirty="0">
              <a:latin typeface="Calibri"/>
              <a:cs typeface="Calibri"/>
            </a:endParaRPr>
          </a:p>
          <a:p>
            <a:pPr marL="277495">
              <a:lnSpc>
                <a:spcPts val="1939"/>
              </a:lnSpc>
              <a:tabLst>
                <a:tab pos="716280" algn="l"/>
              </a:tabLst>
            </a:pPr>
            <a:r>
              <a:rPr sz="2200" spc="-910" dirty="0">
                <a:solidFill>
                  <a:srgbClr val="1D1B0F"/>
                </a:solidFill>
                <a:latin typeface="Arial MT"/>
                <a:cs typeface="Arial MT"/>
              </a:rPr>
              <a:t>□</a:t>
            </a:r>
            <a:r>
              <a:rPr lang="fr-FR" sz="2200" dirty="0">
                <a:solidFill>
                  <a:srgbClr val="1D1B0F"/>
                </a:solidFill>
                <a:latin typeface="Arial MT"/>
                <a:cs typeface="Arial MT"/>
              </a:rPr>
              <a:t>	</a:t>
            </a:r>
            <a:r>
              <a:rPr lang="fr-FR" sz="2200" dirty="0">
                <a:solidFill>
                  <a:srgbClr val="1D1B0F"/>
                </a:solidFill>
                <a:latin typeface="Calibri"/>
                <a:cs typeface="Calibri"/>
              </a:rPr>
              <a:t>r</a:t>
            </a:r>
            <a:r>
              <a:rPr sz="2200" dirty="0" err="1">
                <a:solidFill>
                  <a:srgbClr val="1D1B0F"/>
                </a:solidFill>
                <a:latin typeface="Calibri"/>
                <a:cs typeface="Calibri"/>
              </a:rPr>
              <a:t>écupérer</a:t>
            </a:r>
            <a:r>
              <a:rPr sz="2200" spc="-2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1D1B0F"/>
                </a:solidFill>
                <a:latin typeface="Calibri"/>
                <a:cs typeface="Calibri"/>
              </a:rPr>
              <a:t>les</a:t>
            </a:r>
            <a:r>
              <a:rPr sz="2200" spc="-7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1D1B0F"/>
                </a:solidFill>
                <a:latin typeface="Calibri"/>
                <a:cs typeface="Calibri"/>
              </a:rPr>
              <a:t>mots</a:t>
            </a:r>
            <a:r>
              <a:rPr sz="2200" spc="-9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1D1B0F"/>
                </a:solidFill>
                <a:latin typeface="Calibri"/>
                <a:cs typeface="Calibri"/>
              </a:rPr>
              <a:t>de</a:t>
            </a:r>
            <a:r>
              <a:rPr sz="2200" spc="-10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1D1B0F"/>
                </a:solidFill>
                <a:latin typeface="Calibri"/>
                <a:cs typeface="Calibri"/>
              </a:rPr>
              <a:t>passe</a:t>
            </a:r>
            <a:r>
              <a:rPr sz="2200" spc="-8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1D1B0F"/>
                </a:solidFill>
                <a:latin typeface="Calibri"/>
                <a:cs typeface="Calibri"/>
              </a:rPr>
              <a:t>des</a:t>
            </a:r>
            <a:r>
              <a:rPr sz="2200" spc="-9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1D1B0F"/>
                </a:solidFill>
                <a:latin typeface="Calibri"/>
                <a:cs typeface="Calibri"/>
              </a:rPr>
              <a:t>applications</a:t>
            </a:r>
            <a:r>
              <a:rPr sz="2200" spc="1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1D1B0F"/>
                </a:solidFill>
                <a:latin typeface="Calibri"/>
                <a:cs typeface="Calibri"/>
              </a:rPr>
              <a:t>et</a:t>
            </a:r>
            <a:r>
              <a:rPr sz="2200" spc="-9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1D1B0F"/>
                </a:solidFill>
                <a:latin typeface="Calibri"/>
                <a:cs typeface="Calibri"/>
              </a:rPr>
              <a:t>identifier</a:t>
            </a:r>
            <a:r>
              <a:rPr sz="2200" spc="-2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1D1B0F"/>
                </a:solidFill>
                <a:latin typeface="Calibri"/>
                <a:cs typeface="Calibri"/>
              </a:rPr>
              <a:t>les</a:t>
            </a:r>
            <a:r>
              <a:rPr sz="2200" spc="-7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1D1B0F"/>
                </a:solidFill>
                <a:latin typeface="Calibri"/>
                <a:cs typeface="Calibri"/>
              </a:rPr>
              <a:t>machines</a:t>
            </a:r>
            <a:endParaRPr sz="2200" dirty="0">
              <a:latin typeface="Calibri"/>
              <a:cs typeface="Calibri"/>
            </a:endParaRPr>
          </a:p>
          <a:p>
            <a:pPr marL="716280">
              <a:lnSpc>
                <a:spcPts val="2490"/>
              </a:lnSpc>
            </a:pPr>
            <a:r>
              <a:rPr sz="2200" dirty="0">
                <a:solidFill>
                  <a:srgbClr val="1D1B0F"/>
                </a:solidFill>
                <a:latin typeface="Calibri"/>
                <a:cs typeface="Calibri"/>
              </a:rPr>
              <a:t>communiquant</a:t>
            </a:r>
            <a:r>
              <a:rPr sz="2200" spc="-11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1D1B0F"/>
                </a:solidFill>
                <a:latin typeface="Calibri"/>
                <a:cs typeface="Calibri"/>
              </a:rPr>
              <a:t>sur</a:t>
            </a:r>
            <a:r>
              <a:rPr sz="2200" spc="-5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1D1B0F"/>
                </a:solidFill>
                <a:latin typeface="Calibri"/>
                <a:cs typeface="Calibri"/>
              </a:rPr>
              <a:t>le</a:t>
            </a:r>
            <a:r>
              <a:rPr sz="2200" spc="-3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1D1B0F"/>
                </a:solidFill>
                <a:latin typeface="Calibri"/>
                <a:cs typeface="Calibri"/>
              </a:rPr>
              <a:t>réseau.</a:t>
            </a:r>
            <a:endParaRPr sz="22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95"/>
              </a:spcBef>
            </a:pPr>
            <a:endParaRPr sz="2200" dirty="0">
              <a:latin typeface="Calibri"/>
              <a:cs typeface="Calibri"/>
            </a:endParaRPr>
          </a:p>
          <a:p>
            <a:pPr marL="238125" marR="201930" indent="-226060" algn="just">
              <a:lnSpc>
                <a:spcPct val="71800"/>
              </a:lnSpc>
              <a:buFont typeface="Arial MT"/>
              <a:buChar char="•"/>
              <a:tabLst>
                <a:tab pos="238125" algn="l"/>
              </a:tabLst>
            </a:pPr>
            <a:r>
              <a:rPr sz="2550" b="1" dirty="0">
                <a:solidFill>
                  <a:srgbClr val="1D1B0F"/>
                </a:solidFill>
                <a:latin typeface="Calibri"/>
                <a:cs typeface="Calibri"/>
              </a:rPr>
              <a:t>L'usurpation</a:t>
            </a:r>
            <a:r>
              <a:rPr sz="2550" b="1" spc="8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550" b="1" dirty="0">
                <a:solidFill>
                  <a:srgbClr val="1D1B0F"/>
                </a:solidFill>
                <a:latin typeface="Calibri"/>
                <a:cs typeface="Calibri"/>
              </a:rPr>
              <a:t>d'identité</a:t>
            </a:r>
            <a:r>
              <a:rPr sz="2550" b="1" spc="10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550" b="1" dirty="0">
                <a:solidFill>
                  <a:srgbClr val="1D1B0F"/>
                </a:solidFill>
                <a:latin typeface="Calibri"/>
                <a:cs typeface="Calibri"/>
              </a:rPr>
              <a:t>(</a:t>
            </a:r>
            <a:r>
              <a:rPr sz="2550" b="1" i="1" dirty="0">
                <a:solidFill>
                  <a:srgbClr val="1D1B0F"/>
                </a:solidFill>
                <a:latin typeface="Calibri"/>
                <a:cs typeface="Calibri"/>
              </a:rPr>
              <a:t>spoofing</a:t>
            </a:r>
            <a:r>
              <a:rPr sz="2550" b="1" dirty="0">
                <a:solidFill>
                  <a:srgbClr val="1D1B0F"/>
                </a:solidFill>
                <a:latin typeface="Calibri"/>
                <a:cs typeface="Calibri"/>
              </a:rPr>
              <a:t>)</a:t>
            </a:r>
            <a:r>
              <a:rPr sz="2550" b="1" spc="10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1D1B0F"/>
                </a:solidFill>
                <a:latin typeface="Calibri"/>
                <a:cs typeface="Calibri"/>
              </a:rPr>
              <a:t>prend</a:t>
            </a:r>
            <a:r>
              <a:rPr sz="2550" spc="9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1D1B0F"/>
                </a:solidFill>
                <a:latin typeface="Calibri"/>
                <a:cs typeface="Calibri"/>
              </a:rPr>
              <a:t>l'identité</a:t>
            </a:r>
            <a:r>
              <a:rPr sz="2550" spc="7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1D1B0F"/>
                </a:solidFill>
                <a:latin typeface="Calibri"/>
                <a:cs typeface="Calibri"/>
              </a:rPr>
              <a:t>d'une</a:t>
            </a:r>
            <a:r>
              <a:rPr sz="2550" spc="114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550" spc="-10" dirty="0">
                <a:solidFill>
                  <a:srgbClr val="1D1B0F"/>
                </a:solidFill>
                <a:latin typeface="Calibri"/>
                <a:cs typeface="Calibri"/>
              </a:rPr>
              <a:t>autre </a:t>
            </a:r>
            <a:r>
              <a:rPr sz="2550" dirty="0">
                <a:solidFill>
                  <a:srgbClr val="1D1B0F"/>
                </a:solidFill>
                <a:latin typeface="Calibri"/>
                <a:cs typeface="Calibri"/>
              </a:rPr>
              <a:t>personne</a:t>
            </a:r>
            <a:r>
              <a:rPr sz="2550" spc="18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1D1B0F"/>
                </a:solidFill>
                <a:latin typeface="Calibri"/>
                <a:cs typeface="Calibri"/>
              </a:rPr>
              <a:t>ou</a:t>
            </a:r>
            <a:r>
              <a:rPr sz="2550" spc="17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1D1B0F"/>
                </a:solidFill>
                <a:latin typeface="Calibri"/>
                <a:cs typeface="Calibri"/>
              </a:rPr>
              <a:t>d'une</a:t>
            </a:r>
            <a:r>
              <a:rPr sz="2550" spc="18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1D1B0F"/>
                </a:solidFill>
                <a:latin typeface="Calibri"/>
                <a:cs typeface="Calibri"/>
              </a:rPr>
              <a:t>autre</a:t>
            </a:r>
            <a:r>
              <a:rPr sz="2550" spc="18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1D1B0F"/>
                </a:solidFill>
                <a:latin typeface="Calibri"/>
                <a:cs typeface="Calibri"/>
              </a:rPr>
              <a:t>machine</a:t>
            </a:r>
            <a:r>
              <a:rPr sz="2550" spc="18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1D1B0F"/>
                </a:solidFill>
                <a:latin typeface="Calibri"/>
                <a:cs typeface="Calibri"/>
              </a:rPr>
              <a:t>pour</a:t>
            </a:r>
            <a:r>
              <a:rPr sz="2550" spc="18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1D1B0F"/>
                </a:solidFill>
                <a:latin typeface="Calibri"/>
                <a:cs typeface="Calibri"/>
              </a:rPr>
              <a:t>collecter</a:t>
            </a:r>
            <a:r>
              <a:rPr sz="2550" spc="18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1D1B0F"/>
                </a:solidFill>
                <a:latin typeface="Calibri"/>
                <a:cs typeface="Calibri"/>
              </a:rPr>
              <a:t>des</a:t>
            </a:r>
            <a:r>
              <a:rPr sz="2550" spc="19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550" spc="-10" dirty="0">
                <a:solidFill>
                  <a:srgbClr val="1D1B0F"/>
                </a:solidFill>
                <a:latin typeface="Calibri"/>
                <a:cs typeface="Calibri"/>
              </a:rPr>
              <a:t>données sensibles,</a:t>
            </a:r>
            <a:r>
              <a:rPr sz="2550" spc="-9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550" spc="-20" dirty="0">
                <a:solidFill>
                  <a:srgbClr val="1D1B0F"/>
                </a:solidFill>
                <a:latin typeface="Calibri"/>
                <a:cs typeface="Calibri"/>
              </a:rPr>
              <a:t>confidentielles,</a:t>
            </a:r>
            <a:r>
              <a:rPr sz="2550" spc="-8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550" spc="-50" dirty="0">
                <a:solidFill>
                  <a:srgbClr val="1D1B0F"/>
                </a:solidFill>
                <a:latin typeface="Calibri"/>
                <a:cs typeface="Calibri"/>
              </a:rPr>
              <a:t>…</a:t>
            </a:r>
            <a:endParaRPr sz="2550" dirty="0">
              <a:latin typeface="Calibri"/>
              <a:cs typeface="Calibri"/>
            </a:endParaRPr>
          </a:p>
          <a:p>
            <a:pPr marL="238125" marR="5080" indent="-226060">
              <a:lnSpc>
                <a:spcPct val="78200"/>
              </a:lnSpc>
              <a:spcBef>
                <a:spcPts val="3000"/>
              </a:spcBef>
              <a:buFont typeface="Arial MT"/>
              <a:buChar char="•"/>
              <a:tabLst>
                <a:tab pos="238125" algn="l"/>
              </a:tabLst>
            </a:pPr>
            <a:r>
              <a:rPr sz="2550" b="1" dirty="0">
                <a:solidFill>
                  <a:srgbClr val="1D1B0F"/>
                </a:solidFill>
                <a:latin typeface="Calibri"/>
                <a:cs typeface="Calibri"/>
              </a:rPr>
              <a:t>Le</a:t>
            </a:r>
            <a:r>
              <a:rPr sz="2550" b="1" spc="-1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550" b="1" dirty="0">
                <a:solidFill>
                  <a:srgbClr val="1D1B0F"/>
                </a:solidFill>
                <a:latin typeface="Calibri"/>
                <a:cs typeface="Calibri"/>
              </a:rPr>
              <a:t>déni</a:t>
            </a:r>
            <a:r>
              <a:rPr sz="2550" b="1" spc="1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550" b="1" dirty="0">
                <a:solidFill>
                  <a:srgbClr val="1D1B0F"/>
                </a:solidFill>
                <a:latin typeface="Calibri"/>
                <a:cs typeface="Calibri"/>
              </a:rPr>
              <a:t>de service</a:t>
            </a:r>
            <a:r>
              <a:rPr sz="2550" b="1" spc="2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550" b="1" dirty="0">
                <a:solidFill>
                  <a:srgbClr val="1D1B0F"/>
                </a:solidFill>
                <a:latin typeface="Calibri"/>
                <a:cs typeface="Calibri"/>
              </a:rPr>
              <a:t>(</a:t>
            </a:r>
            <a:r>
              <a:rPr sz="2550" b="1" i="1" dirty="0">
                <a:solidFill>
                  <a:srgbClr val="1D1B0F"/>
                </a:solidFill>
                <a:latin typeface="Calibri"/>
                <a:cs typeface="Calibri"/>
              </a:rPr>
              <a:t>denial</a:t>
            </a:r>
            <a:r>
              <a:rPr sz="2550" b="1" i="1" spc="-3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550" b="1" i="1" dirty="0">
                <a:solidFill>
                  <a:srgbClr val="1D1B0F"/>
                </a:solidFill>
                <a:latin typeface="Calibri"/>
                <a:cs typeface="Calibri"/>
              </a:rPr>
              <a:t>of</a:t>
            </a:r>
            <a:r>
              <a:rPr sz="2550" b="1" i="1" spc="-1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550" b="1" i="1" dirty="0">
                <a:solidFill>
                  <a:srgbClr val="1D1B0F"/>
                </a:solidFill>
                <a:latin typeface="Calibri"/>
                <a:cs typeface="Calibri"/>
              </a:rPr>
              <a:t>service</a:t>
            </a:r>
            <a:r>
              <a:rPr sz="2550" b="1" dirty="0">
                <a:solidFill>
                  <a:srgbClr val="1D1B0F"/>
                </a:solidFill>
                <a:latin typeface="Calibri"/>
                <a:cs typeface="Calibri"/>
              </a:rPr>
              <a:t>)</a:t>
            </a:r>
            <a:r>
              <a:rPr sz="2550" b="1" spc="-5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1D1B0F"/>
                </a:solidFill>
                <a:latin typeface="Calibri"/>
                <a:cs typeface="Calibri"/>
              </a:rPr>
              <a:t>provoque</a:t>
            </a:r>
            <a:r>
              <a:rPr sz="2550" spc="-2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1D1B0F"/>
                </a:solidFill>
                <a:latin typeface="Calibri"/>
                <a:cs typeface="Calibri"/>
              </a:rPr>
              <a:t>des</a:t>
            </a:r>
            <a:r>
              <a:rPr sz="2550" spc="-6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550" spc="-10" dirty="0">
                <a:solidFill>
                  <a:srgbClr val="1D1B0F"/>
                </a:solidFill>
                <a:latin typeface="Calibri"/>
                <a:cs typeface="Calibri"/>
              </a:rPr>
              <a:t>interruptions </a:t>
            </a:r>
            <a:r>
              <a:rPr sz="2550" dirty="0">
                <a:solidFill>
                  <a:srgbClr val="1D1B0F"/>
                </a:solidFill>
                <a:latin typeface="Calibri"/>
                <a:cs typeface="Calibri"/>
              </a:rPr>
              <a:t>de</a:t>
            </a:r>
            <a:r>
              <a:rPr sz="2550" spc="4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1D1B0F"/>
                </a:solidFill>
                <a:latin typeface="Calibri"/>
                <a:cs typeface="Calibri"/>
              </a:rPr>
              <a:t>service</a:t>
            </a:r>
            <a:r>
              <a:rPr sz="2550" spc="5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1D1B0F"/>
                </a:solidFill>
                <a:latin typeface="Calibri"/>
                <a:cs typeface="Calibri"/>
              </a:rPr>
              <a:t>pour</a:t>
            </a:r>
            <a:r>
              <a:rPr sz="2550" spc="3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1D1B0F"/>
                </a:solidFill>
                <a:latin typeface="Calibri"/>
                <a:cs typeface="Calibri"/>
              </a:rPr>
              <a:t>empêcher</a:t>
            </a:r>
            <a:r>
              <a:rPr sz="2550" spc="2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1D1B0F"/>
                </a:solidFill>
                <a:latin typeface="Calibri"/>
                <a:cs typeface="Calibri"/>
              </a:rPr>
              <a:t>le</a:t>
            </a:r>
            <a:r>
              <a:rPr sz="2550" spc="5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1D1B0F"/>
                </a:solidFill>
                <a:latin typeface="Calibri"/>
                <a:cs typeface="Calibri"/>
              </a:rPr>
              <a:t>bon</a:t>
            </a:r>
            <a:r>
              <a:rPr sz="2550" spc="6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550" spc="-10" dirty="0">
                <a:solidFill>
                  <a:srgbClr val="1D1B0F"/>
                </a:solidFill>
                <a:latin typeface="Calibri"/>
                <a:cs typeface="Calibri"/>
              </a:rPr>
              <a:t>fonctionnement</a:t>
            </a:r>
            <a:r>
              <a:rPr sz="2550" spc="3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1D1B0F"/>
                </a:solidFill>
                <a:latin typeface="Calibri"/>
                <a:cs typeface="Calibri"/>
              </a:rPr>
              <a:t>d’un</a:t>
            </a:r>
            <a:r>
              <a:rPr sz="2550" spc="1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550" spc="-10" dirty="0">
                <a:solidFill>
                  <a:srgbClr val="1D1B0F"/>
                </a:solidFill>
                <a:latin typeface="Calibri"/>
                <a:cs typeface="Calibri"/>
              </a:rPr>
              <a:t>système </a:t>
            </a:r>
            <a:r>
              <a:rPr sz="2200" dirty="0">
                <a:solidFill>
                  <a:srgbClr val="1D1B0F"/>
                </a:solidFill>
                <a:latin typeface="Calibri"/>
                <a:cs typeface="Calibri"/>
              </a:rPr>
              <a:t>1</a:t>
            </a:r>
            <a:r>
              <a:rPr sz="2200" spc="-1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1D1B0F"/>
                </a:solidFill>
                <a:latin typeface="Calibri"/>
                <a:cs typeface="Calibri"/>
              </a:rPr>
              <a:t>Des</a:t>
            </a:r>
            <a:r>
              <a:rPr sz="2200" spc="-1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200" spc="-35" dirty="0">
                <a:solidFill>
                  <a:srgbClr val="1D1B0F"/>
                </a:solidFill>
                <a:latin typeface="Calibri"/>
                <a:cs typeface="Calibri"/>
              </a:rPr>
              <a:t>tentatives</a:t>
            </a:r>
            <a:r>
              <a:rPr sz="2200" spc="-9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200" spc="-30" dirty="0">
                <a:solidFill>
                  <a:srgbClr val="1D1B0F"/>
                </a:solidFill>
                <a:latin typeface="Calibri"/>
                <a:cs typeface="Calibri"/>
              </a:rPr>
              <a:t>d'extorsion</a:t>
            </a:r>
            <a:r>
              <a:rPr sz="2200" spc="-6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1D1B0F"/>
                </a:solidFill>
                <a:latin typeface="Calibri"/>
                <a:cs typeface="Calibri"/>
              </a:rPr>
              <a:t>de</a:t>
            </a:r>
            <a:r>
              <a:rPr sz="2200" spc="-2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1D1B0F"/>
                </a:solidFill>
                <a:latin typeface="Calibri"/>
                <a:cs typeface="Calibri"/>
              </a:rPr>
              <a:t>fond</a:t>
            </a:r>
            <a:r>
              <a:rPr sz="2200" spc="1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1D1B0F"/>
                </a:solidFill>
                <a:latin typeface="Calibri"/>
                <a:cs typeface="Calibri"/>
              </a:rPr>
              <a:t>:</a:t>
            </a:r>
            <a:r>
              <a:rPr sz="2200" spc="-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1D1B0F"/>
                </a:solidFill>
                <a:latin typeface="Calibri"/>
                <a:cs typeface="Calibri"/>
              </a:rPr>
              <a:t>menacer</a:t>
            </a:r>
            <a:r>
              <a:rPr sz="2200" spc="-3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1D1B0F"/>
                </a:solidFill>
                <a:latin typeface="Calibri"/>
                <a:cs typeface="Calibri"/>
              </a:rPr>
              <a:t>de</a:t>
            </a:r>
            <a:r>
              <a:rPr sz="2200" spc="-1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1D1B0F"/>
                </a:solidFill>
                <a:latin typeface="Calibri"/>
                <a:cs typeface="Calibri"/>
              </a:rPr>
              <a:t>stopper</a:t>
            </a:r>
            <a:r>
              <a:rPr sz="2200" spc="-2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1D1B0F"/>
                </a:solidFill>
                <a:latin typeface="Calibri"/>
                <a:cs typeface="Calibri"/>
              </a:rPr>
              <a:t>l'activité</a:t>
            </a:r>
            <a:r>
              <a:rPr sz="2200" spc="1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1D1B0F"/>
                </a:solidFill>
                <a:latin typeface="Calibri"/>
                <a:cs typeface="Calibri"/>
              </a:rPr>
              <a:t>d'une entreprise.</a:t>
            </a:r>
            <a:endParaRPr sz="2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47293" rIns="0" bIns="0" rtlCol="0">
            <a:spAutoFit/>
          </a:bodyPr>
          <a:lstStyle/>
          <a:p>
            <a:pPr marL="1121410">
              <a:lnSpc>
                <a:spcPct val="100000"/>
              </a:lnSpc>
              <a:spcBef>
                <a:spcPts val="95"/>
              </a:spcBef>
            </a:pPr>
            <a:r>
              <a:rPr dirty="0"/>
              <a:t>Les</a:t>
            </a:r>
            <a:r>
              <a:rPr spc="-120" dirty="0"/>
              <a:t> </a:t>
            </a:r>
            <a:r>
              <a:rPr spc="-30" dirty="0"/>
              <a:t>contre-mesures</a:t>
            </a:r>
            <a:r>
              <a:rPr spc="-110" dirty="0"/>
              <a:t> </a:t>
            </a:r>
            <a:r>
              <a:rPr spc="-25" dirty="0"/>
              <a:t>(1)</a:t>
            </a:r>
          </a:p>
        </p:txBody>
      </p:sp>
      <p:sp>
        <p:nvSpPr>
          <p:cNvPr id="3" name="object 3"/>
          <p:cNvSpPr/>
          <p:nvPr/>
        </p:nvSpPr>
        <p:spPr>
          <a:xfrm>
            <a:off x="4675632" y="2042160"/>
            <a:ext cx="6689725" cy="847090"/>
          </a:xfrm>
          <a:custGeom>
            <a:avLst/>
            <a:gdLst/>
            <a:ahLst/>
            <a:cxnLst/>
            <a:rect l="l" t="t" r="r" b="b"/>
            <a:pathLst>
              <a:path w="6689725" h="847089">
                <a:moveTo>
                  <a:pt x="6548882" y="0"/>
                </a:moveTo>
                <a:lnTo>
                  <a:pt x="0" y="0"/>
                </a:lnTo>
                <a:lnTo>
                  <a:pt x="0" y="846836"/>
                </a:lnTo>
                <a:lnTo>
                  <a:pt x="6548882" y="846836"/>
                </a:lnTo>
                <a:lnTo>
                  <a:pt x="6602729" y="836167"/>
                </a:lnTo>
                <a:lnTo>
                  <a:pt x="6648450" y="805561"/>
                </a:lnTo>
                <a:lnTo>
                  <a:pt x="6679057" y="759713"/>
                </a:lnTo>
                <a:lnTo>
                  <a:pt x="6689725" y="705738"/>
                </a:lnTo>
                <a:lnTo>
                  <a:pt x="6689725" y="141097"/>
                </a:lnTo>
                <a:lnTo>
                  <a:pt x="6678675" y="86105"/>
                </a:lnTo>
                <a:lnTo>
                  <a:pt x="6648450" y="41275"/>
                </a:lnTo>
                <a:lnTo>
                  <a:pt x="6603619" y="11175"/>
                </a:lnTo>
                <a:lnTo>
                  <a:pt x="6548882" y="0"/>
                </a:lnTo>
                <a:close/>
              </a:path>
            </a:pathLst>
          </a:custGeom>
          <a:solidFill>
            <a:srgbClr val="F6D2C8">
              <a:alpha val="89802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962271" y="2103500"/>
            <a:ext cx="5635625" cy="596900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214629" marR="5080" indent="-202565">
              <a:lnSpc>
                <a:spcPts val="2200"/>
              </a:lnSpc>
              <a:spcBef>
                <a:spcPts val="259"/>
              </a:spcBef>
              <a:buChar char="•"/>
              <a:tabLst>
                <a:tab pos="216535" algn="l"/>
              </a:tabLst>
            </a:pP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Une</a:t>
            </a:r>
            <a:r>
              <a:rPr sz="1900" spc="-6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spc="-25" dirty="0">
                <a:solidFill>
                  <a:srgbClr val="1D1B0F"/>
                </a:solidFill>
                <a:latin typeface="Calibri"/>
                <a:cs typeface="Calibri"/>
              </a:rPr>
              <a:t>sécurité</a:t>
            </a:r>
            <a:r>
              <a:rPr sz="1900" spc="-8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en</a:t>
            </a:r>
            <a:r>
              <a:rPr sz="1900" spc="-7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1D1B0F"/>
                </a:solidFill>
                <a:latin typeface="Calibri"/>
                <a:cs typeface="Calibri"/>
              </a:rPr>
              <a:t>couches,</a:t>
            </a:r>
            <a:r>
              <a:rPr sz="1900" spc="-4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plus</a:t>
            </a:r>
            <a:r>
              <a:rPr sz="1900" spc="-8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spc="-25" dirty="0">
                <a:solidFill>
                  <a:srgbClr val="1D1B0F"/>
                </a:solidFill>
                <a:latin typeface="Calibri"/>
                <a:cs typeface="Calibri"/>
              </a:rPr>
              <a:t>difficile</a:t>
            </a:r>
            <a:r>
              <a:rPr sz="1900" spc="2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à</a:t>
            </a:r>
            <a:r>
              <a:rPr sz="1900" spc="-5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spc="-70" dirty="0">
                <a:solidFill>
                  <a:srgbClr val="1D1B0F"/>
                </a:solidFill>
                <a:latin typeface="Calibri"/>
                <a:cs typeface="Calibri"/>
              </a:rPr>
              <a:t>percer,</a:t>
            </a:r>
            <a:r>
              <a:rPr sz="1900" spc="-3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spc="-30" dirty="0">
                <a:solidFill>
                  <a:srgbClr val="1D1B0F"/>
                </a:solidFill>
                <a:latin typeface="Calibri"/>
                <a:cs typeface="Calibri"/>
              </a:rPr>
              <a:t>résister</a:t>
            </a:r>
            <a:r>
              <a:rPr sz="1900" spc="-2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spc="-50" dirty="0">
                <a:solidFill>
                  <a:srgbClr val="1D1B0F"/>
                </a:solidFill>
                <a:latin typeface="Calibri"/>
                <a:cs typeface="Calibri"/>
              </a:rPr>
              <a:t>à 	</a:t>
            </a:r>
            <a:r>
              <a:rPr sz="1900" spc="-10" dirty="0">
                <a:solidFill>
                  <a:srgbClr val="1D1B0F"/>
                </a:solidFill>
                <a:latin typeface="Calibri"/>
                <a:cs typeface="Calibri"/>
              </a:rPr>
              <a:t>une</a:t>
            </a:r>
            <a:r>
              <a:rPr sz="1900" spc="-7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spc="-30" dirty="0">
                <a:solidFill>
                  <a:srgbClr val="1D1B0F"/>
                </a:solidFill>
                <a:latin typeface="Calibri"/>
                <a:cs typeface="Calibri"/>
              </a:rPr>
              <a:t>variété</a:t>
            </a:r>
            <a:r>
              <a:rPr sz="1900" spc="-5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1D1B0F"/>
                </a:solidFill>
                <a:latin typeface="Calibri"/>
                <a:cs typeface="Calibri"/>
              </a:rPr>
              <a:t>d’attaques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11352" y="1938527"/>
            <a:ext cx="3764279" cy="1054100"/>
          </a:xfrm>
          <a:custGeom>
            <a:avLst/>
            <a:gdLst/>
            <a:ahLst/>
            <a:cxnLst/>
            <a:rect l="l" t="t" r="r" b="b"/>
            <a:pathLst>
              <a:path w="3764279" h="1054100">
                <a:moveTo>
                  <a:pt x="3588131" y="0"/>
                </a:moveTo>
                <a:lnTo>
                  <a:pt x="176098" y="0"/>
                </a:lnTo>
                <a:lnTo>
                  <a:pt x="120446" y="9017"/>
                </a:lnTo>
                <a:lnTo>
                  <a:pt x="72097" y="34036"/>
                </a:lnTo>
                <a:lnTo>
                  <a:pt x="33972" y="71882"/>
                </a:lnTo>
                <a:lnTo>
                  <a:pt x="8978" y="120142"/>
                </a:lnTo>
                <a:lnTo>
                  <a:pt x="0" y="175768"/>
                </a:lnTo>
                <a:lnTo>
                  <a:pt x="0" y="878459"/>
                </a:lnTo>
                <a:lnTo>
                  <a:pt x="8978" y="934085"/>
                </a:lnTo>
                <a:lnTo>
                  <a:pt x="33972" y="982091"/>
                </a:lnTo>
                <a:lnTo>
                  <a:pt x="72097" y="1020191"/>
                </a:lnTo>
                <a:lnTo>
                  <a:pt x="120446" y="1045210"/>
                </a:lnTo>
                <a:lnTo>
                  <a:pt x="176098" y="1054100"/>
                </a:lnTo>
                <a:lnTo>
                  <a:pt x="3588131" y="1054100"/>
                </a:lnTo>
                <a:lnTo>
                  <a:pt x="3643757" y="1045210"/>
                </a:lnTo>
                <a:lnTo>
                  <a:pt x="3692017" y="1020191"/>
                </a:lnTo>
                <a:lnTo>
                  <a:pt x="3730117" y="982091"/>
                </a:lnTo>
                <a:lnTo>
                  <a:pt x="3755136" y="934085"/>
                </a:lnTo>
                <a:lnTo>
                  <a:pt x="3764153" y="878459"/>
                </a:lnTo>
                <a:lnTo>
                  <a:pt x="3764153" y="175768"/>
                </a:lnTo>
                <a:lnTo>
                  <a:pt x="3750691" y="108331"/>
                </a:lnTo>
                <a:lnTo>
                  <a:pt x="3712591" y="51562"/>
                </a:lnTo>
                <a:lnTo>
                  <a:pt x="3655441" y="13462"/>
                </a:lnTo>
                <a:lnTo>
                  <a:pt x="3588131" y="0"/>
                </a:lnTo>
                <a:close/>
              </a:path>
            </a:pathLst>
          </a:custGeom>
          <a:solidFill>
            <a:srgbClr val="EB7A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920620" y="2191003"/>
            <a:ext cx="17100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FFFFFF"/>
                </a:solidFill>
                <a:latin typeface="Calibri"/>
                <a:cs typeface="Calibri"/>
              </a:rPr>
              <a:t>Superposition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675632" y="3151632"/>
            <a:ext cx="6689725" cy="844550"/>
          </a:xfrm>
          <a:custGeom>
            <a:avLst/>
            <a:gdLst/>
            <a:ahLst/>
            <a:cxnLst/>
            <a:rect l="l" t="t" r="r" b="b"/>
            <a:pathLst>
              <a:path w="6689725" h="844550">
                <a:moveTo>
                  <a:pt x="6548882" y="0"/>
                </a:moveTo>
                <a:lnTo>
                  <a:pt x="0" y="0"/>
                </a:lnTo>
                <a:lnTo>
                  <a:pt x="0" y="844295"/>
                </a:lnTo>
                <a:lnTo>
                  <a:pt x="6548882" y="844295"/>
                </a:lnTo>
                <a:lnTo>
                  <a:pt x="6602729" y="833627"/>
                </a:lnTo>
                <a:lnTo>
                  <a:pt x="6648450" y="803147"/>
                </a:lnTo>
                <a:lnTo>
                  <a:pt x="6679057" y="757427"/>
                </a:lnTo>
                <a:lnTo>
                  <a:pt x="6689725" y="703579"/>
                </a:lnTo>
                <a:lnTo>
                  <a:pt x="6689725" y="140715"/>
                </a:lnTo>
                <a:lnTo>
                  <a:pt x="6678675" y="85978"/>
                </a:lnTo>
                <a:lnTo>
                  <a:pt x="6648450" y="41147"/>
                </a:lnTo>
                <a:lnTo>
                  <a:pt x="6603619" y="11175"/>
                </a:lnTo>
                <a:lnTo>
                  <a:pt x="6548882" y="0"/>
                </a:lnTo>
                <a:close/>
              </a:path>
            </a:pathLst>
          </a:custGeom>
          <a:solidFill>
            <a:srgbClr val="DFDFDF">
              <a:alpha val="89802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962271" y="3355085"/>
            <a:ext cx="4831715" cy="3181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15265" indent="-202565">
              <a:lnSpc>
                <a:spcPct val="100000"/>
              </a:lnSpc>
              <a:spcBef>
                <a:spcPts val="120"/>
              </a:spcBef>
              <a:buChar char="•"/>
              <a:tabLst>
                <a:tab pos="215265" algn="l"/>
              </a:tabLst>
            </a:pPr>
            <a:r>
              <a:rPr sz="1900" spc="-35" dirty="0">
                <a:solidFill>
                  <a:srgbClr val="1D1B0F"/>
                </a:solidFill>
                <a:latin typeface="Calibri"/>
                <a:cs typeface="Calibri"/>
              </a:rPr>
              <a:t>Autorisation</a:t>
            </a:r>
            <a:r>
              <a:rPr sz="1900" spc="-7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1D1B0F"/>
                </a:solidFill>
                <a:latin typeface="Calibri"/>
                <a:cs typeface="Calibri"/>
              </a:rPr>
              <a:t>requise</a:t>
            </a:r>
            <a:r>
              <a:rPr sz="1900" spc="1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pour</a:t>
            </a:r>
            <a:r>
              <a:rPr sz="1900" spc="1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spc="-45" dirty="0">
                <a:solidFill>
                  <a:srgbClr val="1D1B0F"/>
                </a:solidFill>
                <a:latin typeface="Calibri"/>
                <a:cs typeface="Calibri"/>
              </a:rPr>
              <a:t>l’accès</a:t>
            </a:r>
            <a:r>
              <a:rPr sz="1900" spc="-15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spc="-25" dirty="0">
                <a:solidFill>
                  <a:srgbClr val="1D1B0F"/>
                </a:solidFill>
                <a:latin typeface="Calibri"/>
                <a:cs typeface="Calibri"/>
              </a:rPr>
              <a:t>(limité,</a:t>
            </a:r>
            <a:r>
              <a:rPr sz="1900" spc="-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1D1B0F"/>
                </a:solidFill>
                <a:latin typeface="Calibri"/>
                <a:cs typeface="Calibri"/>
              </a:rPr>
              <a:t>réduit).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11352" y="3048000"/>
            <a:ext cx="3764279" cy="1054735"/>
          </a:xfrm>
          <a:custGeom>
            <a:avLst/>
            <a:gdLst/>
            <a:ahLst/>
            <a:cxnLst/>
            <a:rect l="l" t="t" r="r" b="b"/>
            <a:pathLst>
              <a:path w="3764279" h="1054735">
                <a:moveTo>
                  <a:pt x="3588131" y="0"/>
                </a:moveTo>
                <a:lnTo>
                  <a:pt x="176098" y="0"/>
                </a:lnTo>
                <a:lnTo>
                  <a:pt x="120446" y="9016"/>
                </a:lnTo>
                <a:lnTo>
                  <a:pt x="72097" y="34036"/>
                </a:lnTo>
                <a:lnTo>
                  <a:pt x="33972" y="71882"/>
                </a:lnTo>
                <a:lnTo>
                  <a:pt x="8978" y="120141"/>
                </a:lnTo>
                <a:lnTo>
                  <a:pt x="0" y="175767"/>
                </a:lnTo>
                <a:lnTo>
                  <a:pt x="0" y="878713"/>
                </a:lnTo>
                <a:lnTo>
                  <a:pt x="8978" y="934212"/>
                </a:lnTo>
                <a:lnTo>
                  <a:pt x="33972" y="982472"/>
                </a:lnTo>
                <a:lnTo>
                  <a:pt x="72097" y="1020444"/>
                </a:lnTo>
                <a:lnTo>
                  <a:pt x="120446" y="1045463"/>
                </a:lnTo>
                <a:lnTo>
                  <a:pt x="176098" y="1054481"/>
                </a:lnTo>
                <a:lnTo>
                  <a:pt x="3588131" y="1054481"/>
                </a:lnTo>
                <a:lnTo>
                  <a:pt x="3643757" y="1045463"/>
                </a:lnTo>
                <a:lnTo>
                  <a:pt x="3692017" y="1020444"/>
                </a:lnTo>
                <a:lnTo>
                  <a:pt x="3730117" y="982472"/>
                </a:lnTo>
                <a:lnTo>
                  <a:pt x="3755136" y="934212"/>
                </a:lnTo>
                <a:lnTo>
                  <a:pt x="3764153" y="878713"/>
                </a:lnTo>
                <a:lnTo>
                  <a:pt x="3764153" y="175767"/>
                </a:lnTo>
                <a:lnTo>
                  <a:pt x="3750691" y="108330"/>
                </a:lnTo>
                <a:lnTo>
                  <a:pt x="3712591" y="51308"/>
                </a:lnTo>
                <a:lnTo>
                  <a:pt x="3655441" y="13462"/>
                </a:lnTo>
                <a:lnTo>
                  <a:pt x="3588131" y="0"/>
                </a:lnTo>
                <a:close/>
              </a:path>
            </a:pathLst>
          </a:custGeom>
          <a:solidFill>
            <a:srgbClr val="A2A2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155063" y="3300729"/>
            <a:ext cx="1245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FFFFFF"/>
                </a:solidFill>
                <a:latin typeface="Calibri"/>
                <a:cs typeface="Calibri"/>
              </a:rPr>
              <a:t>Limitation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675632" y="4264152"/>
            <a:ext cx="6689725" cy="844550"/>
          </a:xfrm>
          <a:custGeom>
            <a:avLst/>
            <a:gdLst/>
            <a:ahLst/>
            <a:cxnLst/>
            <a:rect l="l" t="t" r="r" b="b"/>
            <a:pathLst>
              <a:path w="6689725" h="844550">
                <a:moveTo>
                  <a:pt x="6548882" y="0"/>
                </a:moveTo>
                <a:lnTo>
                  <a:pt x="0" y="0"/>
                </a:lnTo>
                <a:lnTo>
                  <a:pt x="0" y="844296"/>
                </a:lnTo>
                <a:lnTo>
                  <a:pt x="6548882" y="844296"/>
                </a:lnTo>
                <a:lnTo>
                  <a:pt x="6602729" y="833628"/>
                </a:lnTo>
                <a:lnTo>
                  <a:pt x="6648450" y="803148"/>
                </a:lnTo>
                <a:lnTo>
                  <a:pt x="6679057" y="757428"/>
                </a:lnTo>
                <a:lnTo>
                  <a:pt x="6689725" y="703580"/>
                </a:lnTo>
                <a:lnTo>
                  <a:pt x="6689725" y="140716"/>
                </a:lnTo>
                <a:lnTo>
                  <a:pt x="6678675" y="85979"/>
                </a:lnTo>
                <a:lnTo>
                  <a:pt x="6648450" y="41148"/>
                </a:lnTo>
                <a:lnTo>
                  <a:pt x="6603619" y="11175"/>
                </a:lnTo>
                <a:lnTo>
                  <a:pt x="6548882" y="0"/>
                </a:lnTo>
                <a:close/>
              </a:path>
            </a:pathLst>
          </a:custGeom>
          <a:solidFill>
            <a:srgbClr val="FFE7C7">
              <a:alpha val="89802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962271" y="4187393"/>
            <a:ext cx="5549265" cy="86486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15265" indent="-202565">
              <a:lnSpc>
                <a:spcPts val="2145"/>
              </a:lnSpc>
              <a:spcBef>
                <a:spcPts val="120"/>
              </a:spcBef>
              <a:buChar char="•"/>
              <a:tabLst>
                <a:tab pos="215265" algn="l"/>
              </a:tabLst>
            </a:pPr>
            <a:r>
              <a:rPr sz="1900" spc="-40" dirty="0">
                <a:solidFill>
                  <a:srgbClr val="1D1B0F"/>
                </a:solidFill>
                <a:latin typeface="Calibri"/>
                <a:cs typeface="Calibri"/>
              </a:rPr>
              <a:t>Différenciation</a:t>
            </a:r>
            <a:r>
              <a:rPr sz="1900" spc="-3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des</a:t>
            </a:r>
            <a:r>
              <a:rPr sz="1900" spc="-2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1D1B0F"/>
                </a:solidFill>
                <a:latin typeface="Calibri"/>
                <a:cs typeface="Calibri"/>
              </a:rPr>
              <a:t>couches</a:t>
            </a:r>
            <a:r>
              <a:rPr sz="1900" spc="-1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de</a:t>
            </a:r>
            <a:r>
              <a:rPr sz="1900" spc="-2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1D1B0F"/>
                </a:solidFill>
                <a:latin typeface="Calibri"/>
                <a:cs typeface="Calibri"/>
              </a:rPr>
              <a:t>sécurité</a:t>
            </a:r>
            <a:r>
              <a:rPr sz="1900" spc="-3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1D1B0F"/>
                </a:solidFill>
                <a:latin typeface="Calibri"/>
                <a:cs typeface="Calibri"/>
              </a:rPr>
              <a:t>1différentiation</a:t>
            </a:r>
            <a:endParaRPr sz="1900">
              <a:latin typeface="Calibri"/>
              <a:cs typeface="Calibri"/>
            </a:endParaRPr>
          </a:p>
          <a:p>
            <a:pPr marL="216535">
              <a:lnSpc>
                <a:spcPts val="2145"/>
              </a:lnSpc>
            </a:pP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des</a:t>
            </a:r>
            <a:r>
              <a:rPr sz="1900" spc="-6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1D1B0F"/>
                </a:solidFill>
                <a:latin typeface="Calibri"/>
                <a:cs typeface="Calibri"/>
              </a:rPr>
              <a:t>outils</a:t>
            </a:r>
            <a:r>
              <a:rPr sz="1900" spc="-5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1D1B0F"/>
                </a:solidFill>
                <a:latin typeface="Calibri"/>
                <a:cs typeface="Calibri"/>
              </a:rPr>
              <a:t>d’attaque</a:t>
            </a:r>
            <a:endParaRPr sz="1900">
              <a:latin typeface="Calibri"/>
              <a:cs typeface="Calibri"/>
            </a:endParaRPr>
          </a:p>
          <a:p>
            <a:pPr marL="215265" indent="-202565">
              <a:lnSpc>
                <a:spcPct val="100000"/>
              </a:lnSpc>
              <a:spcBef>
                <a:spcPts val="15"/>
              </a:spcBef>
              <a:buChar char="•"/>
              <a:tabLst>
                <a:tab pos="215265" algn="l"/>
              </a:tabLst>
            </a:pPr>
            <a:r>
              <a:rPr sz="1900" spc="-25" dirty="0">
                <a:solidFill>
                  <a:srgbClr val="1D1B0F"/>
                </a:solidFill>
                <a:latin typeface="Calibri"/>
                <a:cs typeface="Calibri"/>
              </a:rPr>
              <a:t>Violation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1D1B0F"/>
                </a:solidFill>
                <a:latin typeface="Calibri"/>
                <a:cs typeface="Calibri"/>
              </a:rPr>
              <a:t>d'une</a:t>
            </a:r>
            <a:r>
              <a:rPr sz="1900" spc="-5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1D1B0F"/>
                </a:solidFill>
                <a:latin typeface="Calibri"/>
                <a:cs typeface="Calibri"/>
              </a:rPr>
              <a:t>couche</a:t>
            </a:r>
            <a:r>
              <a:rPr sz="1900" spc="-7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de</a:t>
            </a:r>
            <a:r>
              <a:rPr sz="1900" spc="-5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1D1B0F"/>
                </a:solidFill>
                <a:latin typeface="Calibri"/>
                <a:cs typeface="Calibri"/>
              </a:rPr>
              <a:t>sécurité</a:t>
            </a:r>
            <a:r>
              <a:rPr sz="1900" spc="-4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≠</a:t>
            </a:r>
            <a:r>
              <a:rPr sz="1900" spc="-5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1D1B0F"/>
                </a:solidFill>
                <a:latin typeface="Calibri"/>
                <a:cs typeface="Calibri"/>
              </a:rPr>
              <a:t>ensemble</a:t>
            </a:r>
            <a:r>
              <a:rPr sz="1900" spc="-5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du</a:t>
            </a:r>
            <a:r>
              <a:rPr sz="1900" spc="-6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spc="-25" dirty="0">
                <a:solidFill>
                  <a:srgbClr val="1D1B0F"/>
                </a:solidFill>
                <a:latin typeface="Calibri"/>
                <a:cs typeface="Calibri"/>
              </a:rPr>
              <a:t>SI.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11352" y="4157471"/>
            <a:ext cx="3764279" cy="1057910"/>
          </a:xfrm>
          <a:custGeom>
            <a:avLst/>
            <a:gdLst/>
            <a:ahLst/>
            <a:cxnLst/>
            <a:rect l="l" t="t" r="r" b="b"/>
            <a:pathLst>
              <a:path w="3764279" h="1057910">
                <a:moveTo>
                  <a:pt x="3588131" y="0"/>
                </a:moveTo>
                <a:lnTo>
                  <a:pt x="176098" y="0"/>
                </a:lnTo>
                <a:lnTo>
                  <a:pt x="120446" y="9016"/>
                </a:lnTo>
                <a:lnTo>
                  <a:pt x="72097" y="34035"/>
                </a:lnTo>
                <a:lnTo>
                  <a:pt x="33972" y="72135"/>
                </a:lnTo>
                <a:lnTo>
                  <a:pt x="8978" y="120522"/>
                </a:lnTo>
                <a:lnTo>
                  <a:pt x="0" y="176275"/>
                </a:lnTo>
                <a:lnTo>
                  <a:pt x="0" y="881126"/>
                </a:lnTo>
                <a:lnTo>
                  <a:pt x="8978" y="936751"/>
                </a:lnTo>
                <a:lnTo>
                  <a:pt x="33972" y="985392"/>
                </a:lnTo>
                <a:lnTo>
                  <a:pt x="72097" y="1023492"/>
                </a:lnTo>
                <a:lnTo>
                  <a:pt x="120446" y="1048511"/>
                </a:lnTo>
                <a:lnTo>
                  <a:pt x="176098" y="1057528"/>
                </a:lnTo>
                <a:lnTo>
                  <a:pt x="3588131" y="1057528"/>
                </a:lnTo>
                <a:lnTo>
                  <a:pt x="3643757" y="1048511"/>
                </a:lnTo>
                <a:lnTo>
                  <a:pt x="3692017" y="1023492"/>
                </a:lnTo>
                <a:lnTo>
                  <a:pt x="3730117" y="985392"/>
                </a:lnTo>
                <a:lnTo>
                  <a:pt x="3755136" y="936751"/>
                </a:lnTo>
                <a:lnTo>
                  <a:pt x="3764153" y="881126"/>
                </a:lnTo>
                <a:lnTo>
                  <a:pt x="3764153" y="176275"/>
                </a:lnTo>
                <a:lnTo>
                  <a:pt x="3750691" y="108838"/>
                </a:lnTo>
                <a:lnTo>
                  <a:pt x="3712591" y="51561"/>
                </a:lnTo>
                <a:lnTo>
                  <a:pt x="3655441" y="13461"/>
                </a:lnTo>
                <a:lnTo>
                  <a:pt x="3588131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233041" y="4411217"/>
            <a:ext cx="10871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35" dirty="0">
                <a:solidFill>
                  <a:srgbClr val="FFFFFF"/>
                </a:solidFill>
                <a:latin typeface="Calibri"/>
                <a:cs typeface="Calibri"/>
              </a:rPr>
              <a:t>Diversité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675632" y="5370576"/>
            <a:ext cx="6689725" cy="847090"/>
          </a:xfrm>
          <a:custGeom>
            <a:avLst/>
            <a:gdLst/>
            <a:ahLst/>
            <a:cxnLst/>
            <a:rect l="l" t="t" r="r" b="b"/>
            <a:pathLst>
              <a:path w="6689725" h="847089">
                <a:moveTo>
                  <a:pt x="6548882" y="0"/>
                </a:moveTo>
                <a:lnTo>
                  <a:pt x="0" y="0"/>
                </a:lnTo>
                <a:lnTo>
                  <a:pt x="0" y="846937"/>
                </a:lnTo>
                <a:lnTo>
                  <a:pt x="6548882" y="846937"/>
                </a:lnTo>
                <a:lnTo>
                  <a:pt x="6602729" y="836168"/>
                </a:lnTo>
                <a:lnTo>
                  <a:pt x="6648450" y="805573"/>
                </a:lnTo>
                <a:lnTo>
                  <a:pt x="6679057" y="759790"/>
                </a:lnTo>
                <a:lnTo>
                  <a:pt x="6689725" y="705777"/>
                </a:lnTo>
                <a:lnTo>
                  <a:pt x="6689725" y="141097"/>
                </a:lnTo>
                <a:lnTo>
                  <a:pt x="6678675" y="86233"/>
                </a:lnTo>
                <a:lnTo>
                  <a:pt x="6648450" y="41402"/>
                </a:lnTo>
                <a:lnTo>
                  <a:pt x="6603619" y="11049"/>
                </a:lnTo>
                <a:lnTo>
                  <a:pt x="6548882" y="0"/>
                </a:lnTo>
                <a:close/>
              </a:path>
            </a:pathLst>
          </a:custGeom>
          <a:solidFill>
            <a:srgbClr val="CCD2EA">
              <a:alpha val="89802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962271" y="5575808"/>
            <a:ext cx="4169410" cy="3181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15265" indent="-202565">
              <a:lnSpc>
                <a:spcPct val="100000"/>
              </a:lnSpc>
              <a:spcBef>
                <a:spcPts val="120"/>
              </a:spcBef>
              <a:buChar char="•"/>
              <a:tabLst>
                <a:tab pos="215265" algn="l"/>
              </a:tabLst>
            </a:pPr>
            <a:r>
              <a:rPr sz="1900" spc="-20" dirty="0">
                <a:solidFill>
                  <a:srgbClr val="1D1B0F"/>
                </a:solidFill>
                <a:latin typeface="Calibri"/>
                <a:cs typeface="Calibri"/>
              </a:rPr>
              <a:t>Limiter</a:t>
            </a:r>
            <a:r>
              <a:rPr sz="1900" spc="-5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les</a:t>
            </a:r>
            <a:r>
              <a:rPr sz="1900" spc="-6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spc="-35" dirty="0">
                <a:solidFill>
                  <a:srgbClr val="1D1B0F"/>
                </a:solidFill>
                <a:latin typeface="Calibri"/>
                <a:cs typeface="Calibri"/>
              </a:rPr>
              <a:t>informations</a:t>
            </a:r>
            <a:r>
              <a:rPr sz="1900" spc="-7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1D1B0F"/>
                </a:solidFill>
                <a:latin typeface="Calibri"/>
                <a:cs typeface="Calibri"/>
              </a:rPr>
              <a:t>concernant</a:t>
            </a:r>
            <a:r>
              <a:rPr sz="1900" spc="4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1B0F"/>
                </a:solidFill>
                <a:latin typeface="Calibri"/>
                <a:cs typeface="Calibri"/>
              </a:rPr>
              <a:t>un</a:t>
            </a:r>
            <a:r>
              <a:rPr sz="1900" spc="-4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00" spc="-25" dirty="0">
                <a:solidFill>
                  <a:srgbClr val="1D1B0F"/>
                </a:solidFill>
                <a:latin typeface="Calibri"/>
                <a:cs typeface="Calibri"/>
              </a:rPr>
              <a:t>SI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911352" y="5263896"/>
            <a:ext cx="3764279" cy="1057910"/>
          </a:xfrm>
          <a:custGeom>
            <a:avLst/>
            <a:gdLst/>
            <a:ahLst/>
            <a:cxnLst/>
            <a:rect l="l" t="t" r="r" b="b"/>
            <a:pathLst>
              <a:path w="3764279" h="1057910">
                <a:moveTo>
                  <a:pt x="3588131" y="0"/>
                </a:moveTo>
                <a:lnTo>
                  <a:pt x="176098" y="0"/>
                </a:lnTo>
                <a:lnTo>
                  <a:pt x="120446" y="9016"/>
                </a:lnTo>
                <a:lnTo>
                  <a:pt x="72097" y="34035"/>
                </a:lnTo>
                <a:lnTo>
                  <a:pt x="33972" y="72135"/>
                </a:lnTo>
                <a:lnTo>
                  <a:pt x="8978" y="120522"/>
                </a:lnTo>
                <a:lnTo>
                  <a:pt x="0" y="176275"/>
                </a:lnTo>
                <a:lnTo>
                  <a:pt x="0" y="881227"/>
                </a:lnTo>
                <a:lnTo>
                  <a:pt x="8978" y="936929"/>
                </a:lnTo>
                <a:lnTo>
                  <a:pt x="33972" y="985316"/>
                </a:lnTo>
                <a:lnTo>
                  <a:pt x="72097" y="1023454"/>
                </a:lnTo>
                <a:lnTo>
                  <a:pt x="120446" y="1048499"/>
                </a:lnTo>
                <a:lnTo>
                  <a:pt x="176098" y="1057478"/>
                </a:lnTo>
                <a:lnTo>
                  <a:pt x="3588131" y="1057478"/>
                </a:lnTo>
                <a:lnTo>
                  <a:pt x="3643757" y="1048499"/>
                </a:lnTo>
                <a:lnTo>
                  <a:pt x="3692017" y="1023454"/>
                </a:lnTo>
                <a:lnTo>
                  <a:pt x="3730117" y="985316"/>
                </a:lnTo>
                <a:lnTo>
                  <a:pt x="3755136" y="936929"/>
                </a:lnTo>
                <a:lnTo>
                  <a:pt x="3764153" y="881227"/>
                </a:lnTo>
                <a:lnTo>
                  <a:pt x="3764153" y="176275"/>
                </a:lnTo>
                <a:lnTo>
                  <a:pt x="3750691" y="108838"/>
                </a:lnTo>
                <a:lnTo>
                  <a:pt x="3712591" y="51561"/>
                </a:lnTo>
                <a:lnTo>
                  <a:pt x="3655441" y="13461"/>
                </a:lnTo>
                <a:lnTo>
                  <a:pt x="3588131" y="0"/>
                </a:lnTo>
                <a:close/>
              </a:path>
            </a:pathLst>
          </a:custGeom>
          <a:solidFill>
            <a:srgbClr val="436F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2181225" y="5521858"/>
            <a:ext cx="11969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FFFFFF"/>
                </a:solidFill>
                <a:latin typeface="Calibri"/>
                <a:cs typeface="Calibri"/>
              </a:rPr>
              <a:t>Obscurité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42619" y="-98043"/>
            <a:ext cx="1454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1D1B0F"/>
                </a:solidFill>
                <a:latin typeface="Trebuchet MS"/>
                <a:cs typeface="Trebuchet MS"/>
              </a:rPr>
              <a:t>3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42619" y="92456"/>
            <a:ext cx="1454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1D1B0F"/>
                </a:solidFill>
                <a:latin typeface="Trebuchet MS"/>
                <a:cs typeface="Trebuchet MS"/>
              </a:rPr>
              <a:t>6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63623" y="563129"/>
            <a:ext cx="4931284" cy="7021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Les</a:t>
            </a:r>
            <a:r>
              <a:rPr spc="-120" dirty="0"/>
              <a:t> </a:t>
            </a:r>
            <a:r>
              <a:rPr spc="-30" dirty="0" err="1"/>
              <a:t>contre-mesures</a:t>
            </a:r>
            <a:r>
              <a:rPr spc="-110" dirty="0"/>
              <a:t> </a:t>
            </a:r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243840" marR="5080" indent="-231775">
              <a:lnSpc>
                <a:spcPct val="78500"/>
              </a:lnSpc>
              <a:spcBef>
                <a:spcPts val="695"/>
              </a:spcBef>
              <a:buFont typeface="Arial MT"/>
              <a:buChar char="•"/>
              <a:tabLst>
                <a:tab pos="243840" algn="l"/>
              </a:tabLst>
            </a:pPr>
            <a:r>
              <a:rPr spc="-20" dirty="0">
                <a:solidFill>
                  <a:srgbClr val="006DC0"/>
                </a:solidFill>
              </a:rPr>
              <a:t>Objectif</a:t>
            </a:r>
            <a:r>
              <a:rPr spc="-110" dirty="0">
                <a:solidFill>
                  <a:srgbClr val="006DC0"/>
                </a:solidFill>
              </a:rPr>
              <a:t> </a:t>
            </a:r>
            <a:r>
              <a:rPr spc="-25" dirty="0">
                <a:solidFill>
                  <a:srgbClr val="006DC0"/>
                </a:solidFill>
              </a:rPr>
              <a:t>d’une</a:t>
            </a:r>
            <a:r>
              <a:rPr spc="-85" dirty="0">
                <a:solidFill>
                  <a:srgbClr val="006DC0"/>
                </a:solidFill>
              </a:rPr>
              <a:t> </a:t>
            </a:r>
            <a:r>
              <a:rPr spc="-10" dirty="0">
                <a:solidFill>
                  <a:srgbClr val="006DC0"/>
                </a:solidFill>
              </a:rPr>
              <a:t>mesure</a:t>
            </a:r>
            <a:r>
              <a:rPr spc="-95" dirty="0">
                <a:solidFill>
                  <a:srgbClr val="006DC0"/>
                </a:solidFill>
              </a:rPr>
              <a:t> </a:t>
            </a:r>
            <a:r>
              <a:rPr dirty="0">
                <a:solidFill>
                  <a:srgbClr val="006DC0"/>
                </a:solidFill>
              </a:rPr>
              <a:t>de</a:t>
            </a:r>
            <a:r>
              <a:rPr spc="-125" dirty="0">
                <a:solidFill>
                  <a:srgbClr val="006DC0"/>
                </a:solidFill>
              </a:rPr>
              <a:t> </a:t>
            </a:r>
            <a:r>
              <a:rPr spc="-20" dirty="0">
                <a:solidFill>
                  <a:srgbClr val="006DC0"/>
                </a:solidFill>
              </a:rPr>
              <a:t>sécurité</a:t>
            </a:r>
            <a:r>
              <a:rPr spc="-20" dirty="0"/>
              <a:t>:</a:t>
            </a:r>
            <a:r>
              <a:rPr spc="-60" dirty="0"/>
              <a:t> </a:t>
            </a:r>
            <a:r>
              <a:rPr spc="-35" dirty="0"/>
              <a:t>déclaration </a:t>
            </a:r>
            <a:r>
              <a:rPr spc="-45" dirty="0"/>
              <a:t>décrivant</a:t>
            </a:r>
            <a:r>
              <a:rPr spc="-75" dirty="0"/>
              <a:t> </a:t>
            </a:r>
            <a:r>
              <a:rPr dirty="0"/>
              <a:t>ce</a:t>
            </a:r>
            <a:r>
              <a:rPr spc="-75" dirty="0"/>
              <a:t> </a:t>
            </a:r>
            <a:r>
              <a:rPr dirty="0"/>
              <a:t>qui</a:t>
            </a:r>
            <a:r>
              <a:rPr spc="-75" dirty="0"/>
              <a:t> </a:t>
            </a:r>
            <a:r>
              <a:rPr dirty="0"/>
              <a:t>est</a:t>
            </a:r>
            <a:r>
              <a:rPr spc="-60" dirty="0"/>
              <a:t> </a:t>
            </a:r>
            <a:r>
              <a:rPr spc="-10" dirty="0"/>
              <a:t>attendu</a:t>
            </a:r>
            <a:r>
              <a:rPr spc="-50" dirty="0"/>
              <a:t> </a:t>
            </a:r>
            <a:r>
              <a:rPr dirty="0"/>
              <a:t>de</a:t>
            </a:r>
            <a:r>
              <a:rPr spc="-80" dirty="0"/>
              <a:t> </a:t>
            </a:r>
            <a:r>
              <a:rPr dirty="0"/>
              <a:t>la</a:t>
            </a:r>
            <a:r>
              <a:rPr spc="-70" dirty="0"/>
              <a:t> </a:t>
            </a:r>
            <a:r>
              <a:rPr dirty="0"/>
              <a:t>mise</a:t>
            </a:r>
            <a:r>
              <a:rPr spc="-70" dirty="0"/>
              <a:t> </a:t>
            </a:r>
            <a:r>
              <a:rPr spc="-25" dirty="0"/>
              <a:t>en œuvre</a:t>
            </a:r>
            <a:r>
              <a:rPr spc="-110" dirty="0"/>
              <a:t> </a:t>
            </a:r>
            <a:r>
              <a:rPr dirty="0"/>
              <a:t>des</a:t>
            </a:r>
            <a:r>
              <a:rPr spc="-70" dirty="0"/>
              <a:t> </a:t>
            </a:r>
            <a:r>
              <a:rPr spc="-20" dirty="0"/>
              <a:t>mesures</a:t>
            </a:r>
            <a:r>
              <a:rPr spc="-114" dirty="0"/>
              <a:t> </a:t>
            </a:r>
            <a:r>
              <a:rPr dirty="0"/>
              <a:t>de</a:t>
            </a:r>
            <a:r>
              <a:rPr spc="-80" dirty="0"/>
              <a:t> </a:t>
            </a:r>
            <a:r>
              <a:rPr spc="-10" dirty="0"/>
              <a:t>sécurité</a:t>
            </a:r>
          </a:p>
          <a:p>
            <a:pPr marL="243840" indent="-231140">
              <a:lnSpc>
                <a:spcPts val="2680"/>
              </a:lnSpc>
              <a:buFont typeface="Arial MT"/>
              <a:buChar char="•"/>
              <a:tabLst>
                <a:tab pos="243840" algn="l"/>
              </a:tabLst>
            </a:pPr>
            <a:r>
              <a:rPr spc="-30" dirty="0">
                <a:solidFill>
                  <a:srgbClr val="006DC0"/>
                </a:solidFill>
              </a:rPr>
              <a:t>Mesure</a:t>
            </a:r>
            <a:r>
              <a:rPr spc="-140" dirty="0">
                <a:solidFill>
                  <a:srgbClr val="006DC0"/>
                </a:solidFill>
              </a:rPr>
              <a:t> </a:t>
            </a:r>
            <a:r>
              <a:rPr dirty="0">
                <a:solidFill>
                  <a:srgbClr val="006DC0"/>
                </a:solidFill>
              </a:rPr>
              <a:t>de</a:t>
            </a:r>
            <a:r>
              <a:rPr spc="-35" dirty="0">
                <a:solidFill>
                  <a:srgbClr val="006DC0"/>
                </a:solidFill>
              </a:rPr>
              <a:t> </a:t>
            </a:r>
            <a:r>
              <a:rPr spc="-10" dirty="0">
                <a:solidFill>
                  <a:srgbClr val="006DC0"/>
                </a:solidFill>
              </a:rPr>
              <a:t>sécurité:</a:t>
            </a:r>
          </a:p>
          <a:p>
            <a:pPr marL="791210" lvl="1" indent="-240665" algn="just">
              <a:lnSpc>
                <a:spcPts val="2245"/>
              </a:lnSpc>
              <a:buFont typeface="Arial MT"/>
              <a:buChar char="•"/>
              <a:tabLst>
                <a:tab pos="791210" algn="l"/>
              </a:tabLst>
            </a:pPr>
            <a:r>
              <a:rPr sz="1950" dirty="0">
                <a:solidFill>
                  <a:srgbClr val="1D1B0F"/>
                </a:solidFill>
                <a:latin typeface="Calibri"/>
                <a:cs typeface="Calibri"/>
              </a:rPr>
              <a:t>Mesure</a:t>
            </a:r>
            <a:r>
              <a:rPr sz="1950" spc="-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50" dirty="0">
                <a:solidFill>
                  <a:srgbClr val="1D1B0F"/>
                </a:solidFill>
                <a:latin typeface="Calibri"/>
                <a:cs typeface="Calibri"/>
              </a:rPr>
              <a:t>qui</a:t>
            </a:r>
            <a:r>
              <a:rPr sz="1950" spc="-6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50" dirty="0">
                <a:solidFill>
                  <a:srgbClr val="1D1B0F"/>
                </a:solidFill>
                <a:latin typeface="Calibri"/>
                <a:cs typeface="Calibri"/>
              </a:rPr>
              <a:t>modifie</a:t>
            </a:r>
            <a:r>
              <a:rPr sz="1950" spc="1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50" dirty="0">
                <a:solidFill>
                  <a:srgbClr val="1D1B0F"/>
                </a:solidFill>
                <a:latin typeface="Calibri"/>
                <a:cs typeface="Calibri"/>
              </a:rPr>
              <a:t>un </a:t>
            </a:r>
            <a:r>
              <a:rPr sz="1950" spc="-10" dirty="0">
                <a:solidFill>
                  <a:srgbClr val="1D1B0F"/>
                </a:solidFill>
                <a:latin typeface="Calibri"/>
                <a:cs typeface="Calibri"/>
              </a:rPr>
              <a:t>risque</a:t>
            </a:r>
            <a:endParaRPr sz="1950">
              <a:latin typeface="Calibri"/>
              <a:cs typeface="Calibri"/>
            </a:endParaRPr>
          </a:p>
          <a:p>
            <a:pPr marL="790575" marR="149225" lvl="1" indent="-237490" algn="just">
              <a:lnSpc>
                <a:spcPts val="1920"/>
              </a:lnSpc>
              <a:spcBef>
                <a:spcPts val="380"/>
              </a:spcBef>
              <a:buFont typeface="Arial MT"/>
              <a:buChar char="•"/>
              <a:tabLst>
                <a:tab pos="792480" algn="l"/>
              </a:tabLst>
            </a:pPr>
            <a:r>
              <a:rPr sz="1950" dirty="0">
                <a:solidFill>
                  <a:srgbClr val="1D1B0F"/>
                </a:solidFill>
                <a:latin typeface="Calibri"/>
                <a:cs typeface="Calibri"/>
              </a:rPr>
              <a:t>Les</a:t>
            </a:r>
            <a:r>
              <a:rPr sz="1950" spc="14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50" dirty="0">
                <a:solidFill>
                  <a:srgbClr val="1D1B0F"/>
                </a:solidFill>
                <a:latin typeface="Calibri"/>
                <a:cs typeface="Calibri"/>
              </a:rPr>
              <a:t>mesures</a:t>
            </a:r>
            <a:r>
              <a:rPr sz="1950" spc="13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50" dirty="0">
                <a:solidFill>
                  <a:srgbClr val="1D1B0F"/>
                </a:solidFill>
                <a:latin typeface="Calibri"/>
                <a:cs typeface="Calibri"/>
              </a:rPr>
              <a:t>de</a:t>
            </a:r>
            <a:r>
              <a:rPr sz="1950" spc="14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50" dirty="0">
                <a:solidFill>
                  <a:srgbClr val="1D1B0F"/>
                </a:solidFill>
                <a:latin typeface="Calibri"/>
                <a:cs typeface="Calibri"/>
              </a:rPr>
              <a:t>sécurité</a:t>
            </a:r>
            <a:r>
              <a:rPr sz="1950" spc="12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50" dirty="0">
                <a:solidFill>
                  <a:srgbClr val="1D1B0F"/>
                </a:solidFill>
                <a:latin typeface="Calibri"/>
                <a:cs typeface="Calibri"/>
              </a:rPr>
              <a:t>comprennent</a:t>
            </a:r>
            <a:r>
              <a:rPr sz="1950" spc="13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50" dirty="0">
                <a:solidFill>
                  <a:srgbClr val="1D1B0F"/>
                </a:solidFill>
                <a:latin typeface="Calibri"/>
                <a:cs typeface="Calibri"/>
              </a:rPr>
              <a:t>tous</a:t>
            </a:r>
            <a:r>
              <a:rPr sz="1950" spc="15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50" spc="-25" dirty="0">
                <a:solidFill>
                  <a:srgbClr val="1D1B0F"/>
                </a:solidFill>
                <a:latin typeface="Calibri"/>
                <a:cs typeface="Calibri"/>
              </a:rPr>
              <a:t>les 	</a:t>
            </a:r>
            <a:r>
              <a:rPr sz="1950" dirty="0">
                <a:solidFill>
                  <a:srgbClr val="1D1B0F"/>
                </a:solidFill>
                <a:latin typeface="Calibri"/>
                <a:cs typeface="Calibri"/>
              </a:rPr>
              <a:t>processus,</a:t>
            </a:r>
            <a:r>
              <a:rPr sz="1950" spc="229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50" dirty="0">
                <a:solidFill>
                  <a:srgbClr val="1D1B0F"/>
                </a:solidFill>
                <a:latin typeface="Calibri"/>
                <a:cs typeface="Calibri"/>
              </a:rPr>
              <a:t>politiques,</a:t>
            </a:r>
            <a:r>
              <a:rPr sz="1950" spc="25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50" dirty="0">
                <a:solidFill>
                  <a:srgbClr val="1D1B0F"/>
                </a:solidFill>
                <a:latin typeface="Calibri"/>
                <a:cs typeface="Calibri"/>
              </a:rPr>
              <a:t>dispositifs,</a:t>
            </a:r>
            <a:r>
              <a:rPr sz="1950" spc="23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50" dirty="0">
                <a:solidFill>
                  <a:srgbClr val="1D1B0F"/>
                </a:solidFill>
                <a:latin typeface="Calibri"/>
                <a:cs typeface="Calibri"/>
              </a:rPr>
              <a:t>pratiques</a:t>
            </a:r>
            <a:r>
              <a:rPr sz="1950" spc="254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50" spc="-25" dirty="0">
                <a:solidFill>
                  <a:srgbClr val="1D1B0F"/>
                </a:solidFill>
                <a:latin typeface="Calibri"/>
                <a:cs typeface="Calibri"/>
              </a:rPr>
              <a:t>ou 	</a:t>
            </a:r>
            <a:r>
              <a:rPr sz="1950" dirty="0">
                <a:solidFill>
                  <a:srgbClr val="1D1B0F"/>
                </a:solidFill>
                <a:latin typeface="Calibri"/>
                <a:cs typeface="Calibri"/>
              </a:rPr>
              <a:t>autres actions</a:t>
            </a:r>
            <a:r>
              <a:rPr sz="1950" spc="3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50" dirty="0">
                <a:solidFill>
                  <a:srgbClr val="1D1B0F"/>
                </a:solidFill>
                <a:latin typeface="Calibri"/>
                <a:cs typeface="Calibri"/>
              </a:rPr>
              <a:t>qui</a:t>
            </a:r>
            <a:r>
              <a:rPr sz="1950" spc="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50" dirty="0">
                <a:solidFill>
                  <a:srgbClr val="1D1B0F"/>
                </a:solidFill>
                <a:latin typeface="Calibri"/>
                <a:cs typeface="Calibri"/>
              </a:rPr>
              <a:t>modifient</a:t>
            </a:r>
            <a:r>
              <a:rPr sz="1950" spc="-3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50" dirty="0">
                <a:solidFill>
                  <a:srgbClr val="1D1B0F"/>
                </a:solidFill>
                <a:latin typeface="Calibri"/>
                <a:cs typeface="Calibri"/>
              </a:rPr>
              <a:t>un</a:t>
            </a:r>
            <a:r>
              <a:rPr sz="1950" spc="4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50" spc="-10" dirty="0">
                <a:solidFill>
                  <a:srgbClr val="1D1B0F"/>
                </a:solidFill>
                <a:latin typeface="Calibri"/>
                <a:cs typeface="Calibri"/>
              </a:rPr>
              <a:t>risque</a:t>
            </a:r>
            <a:endParaRPr sz="195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27847" y="1694688"/>
            <a:ext cx="3340607" cy="334365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286115" y="1981580"/>
            <a:ext cx="1576070" cy="67183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5080" indent="370205">
              <a:lnSpc>
                <a:spcPts val="2500"/>
              </a:lnSpc>
              <a:spcBef>
                <a:spcPts val="260"/>
              </a:spcBef>
            </a:pPr>
            <a:r>
              <a:rPr sz="2150" spc="-10" dirty="0">
                <a:solidFill>
                  <a:srgbClr val="1D1B0F"/>
                </a:solidFill>
                <a:latin typeface="Calibri"/>
                <a:cs typeface="Calibri"/>
              </a:rPr>
              <a:t>Mesure </a:t>
            </a:r>
            <a:r>
              <a:rPr sz="2150" spc="-35" dirty="0">
                <a:solidFill>
                  <a:srgbClr val="1D1B0F"/>
                </a:solidFill>
                <a:latin typeface="Calibri"/>
                <a:cs typeface="Calibri"/>
              </a:rPr>
              <a:t>administrative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278871" y="3337686"/>
            <a:ext cx="858519" cy="96774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52069" marR="5080" indent="-40005" algn="just">
              <a:lnSpc>
                <a:spcPts val="2410"/>
              </a:lnSpc>
              <a:spcBef>
                <a:spcPts val="330"/>
              </a:spcBef>
            </a:pPr>
            <a:r>
              <a:rPr sz="2150" spc="-35" dirty="0">
                <a:solidFill>
                  <a:srgbClr val="1D1B0F"/>
                </a:solidFill>
                <a:latin typeface="Calibri"/>
                <a:cs typeface="Calibri"/>
              </a:rPr>
              <a:t>Mesure </a:t>
            </a:r>
            <a:r>
              <a:rPr sz="2150" spc="-10" dirty="0">
                <a:solidFill>
                  <a:srgbClr val="1D1B0F"/>
                </a:solidFill>
                <a:latin typeface="Calibri"/>
                <a:cs typeface="Calibri"/>
              </a:rPr>
              <a:t>techni- </a:t>
            </a:r>
            <a:r>
              <a:rPr sz="2150" spc="-20" dirty="0">
                <a:solidFill>
                  <a:srgbClr val="1D1B0F"/>
                </a:solidFill>
                <a:latin typeface="Calibri"/>
                <a:cs typeface="Calibri"/>
              </a:rPr>
              <a:t>ques</a:t>
            </a:r>
            <a:endParaRPr sz="215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00671" y="2718816"/>
            <a:ext cx="3343655" cy="334365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8576564" y="4981447"/>
            <a:ext cx="991235" cy="6838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73025">
              <a:lnSpc>
                <a:spcPct val="100499"/>
              </a:lnSpc>
              <a:spcBef>
                <a:spcPts val="95"/>
              </a:spcBef>
            </a:pPr>
            <a:r>
              <a:rPr sz="2150" spc="-10" dirty="0">
                <a:solidFill>
                  <a:srgbClr val="1D1B0F"/>
                </a:solidFill>
                <a:latin typeface="Calibri"/>
                <a:cs typeface="Calibri"/>
              </a:rPr>
              <a:t>Mesure </a:t>
            </a:r>
            <a:r>
              <a:rPr sz="2150" spc="-35" dirty="0">
                <a:solidFill>
                  <a:srgbClr val="1D1B0F"/>
                </a:solidFill>
                <a:latin typeface="Calibri"/>
                <a:cs typeface="Calibri"/>
              </a:rPr>
              <a:t>juridique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076313" y="3280028"/>
            <a:ext cx="894080" cy="9772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2384">
              <a:lnSpc>
                <a:spcPts val="2490"/>
              </a:lnSpc>
              <a:spcBef>
                <a:spcPts val="110"/>
              </a:spcBef>
            </a:pPr>
            <a:r>
              <a:rPr sz="2150" spc="-10" dirty="0">
                <a:solidFill>
                  <a:srgbClr val="1D1B0F"/>
                </a:solidFill>
                <a:latin typeface="Calibri"/>
                <a:cs typeface="Calibri"/>
              </a:rPr>
              <a:t>Mesure</a:t>
            </a:r>
            <a:endParaRPr sz="2150">
              <a:latin typeface="Calibri"/>
              <a:cs typeface="Calibri"/>
            </a:endParaRPr>
          </a:p>
          <a:p>
            <a:pPr marL="12700">
              <a:lnSpc>
                <a:spcPts val="2450"/>
              </a:lnSpc>
            </a:pPr>
            <a:r>
              <a:rPr sz="2150" spc="-20" dirty="0">
                <a:solidFill>
                  <a:srgbClr val="1D1B0F"/>
                </a:solidFill>
                <a:latin typeface="Calibri"/>
                <a:cs typeface="Calibri"/>
              </a:rPr>
              <a:t>managé</a:t>
            </a:r>
            <a:endParaRPr sz="2150">
              <a:latin typeface="Calibri"/>
              <a:cs typeface="Calibri"/>
            </a:endParaRPr>
          </a:p>
          <a:p>
            <a:pPr marL="163195">
              <a:lnSpc>
                <a:spcPts val="2540"/>
              </a:lnSpc>
            </a:pPr>
            <a:r>
              <a:rPr sz="2150" spc="-30" dirty="0">
                <a:solidFill>
                  <a:srgbClr val="1D1B0F"/>
                </a:solidFill>
                <a:latin typeface="Calibri"/>
                <a:cs typeface="Calibri"/>
              </a:rPr>
              <a:t>-</a:t>
            </a:r>
            <a:r>
              <a:rPr sz="2150" spc="-10" dirty="0">
                <a:solidFill>
                  <a:srgbClr val="1D1B0F"/>
                </a:solidFill>
                <a:latin typeface="Calibri"/>
                <a:cs typeface="Calibri"/>
              </a:rPr>
              <a:t>riale</a:t>
            </a:r>
            <a:endParaRPr sz="215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95431" y="4605909"/>
            <a:ext cx="6132195" cy="118745"/>
            <a:chOff x="695431" y="4605909"/>
            <a:chExt cx="6132195" cy="118745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5431" y="4605909"/>
              <a:ext cx="6131600" cy="118237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740663" y="4639056"/>
              <a:ext cx="6044565" cy="0"/>
            </a:xfrm>
            <a:custGeom>
              <a:avLst/>
              <a:gdLst/>
              <a:ahLst/>
              <a:cxnLst/>
              <a:rect l="l" t="t" r="r" b="b"/>
              <a:pathLst>
                <a:path w="6044565">
                  <a:moveTo>
                    <a:pt x="0" y="0"/>
                  </a:moveTo>
                  <a:lnTo>
                    <a:pt x="6044057" y="0"/>
                  </a:lnTo>
                </a:path>
              </a:pathLst>
            </a:custGeom>
            <a:ln w="9144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782523" y="4631182"/>
            <a:ext cx="851535" cy="480059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5715">
              <a:lnSpc>
                <a:spcPts val="1700"/>
              </a:lnSpc>
              <a:spcBef>
                <a:spcPts val="300"/>
              </a:spcBef>
            </a:pPr>
            <a:r>
              <a:rPr sz="1550" spc="-10" dirty="0">
                <a:solidFill>
                  <a:srgbClr val="1D1B0F"/>
                </a:solidFill>
                <a:latin typeface="Calibri"/>
                <a:cs typeface="Calibri"/>
              </a:rPr>
              <a:t>Mesure </a:t>
            </a:r>
            <a:r>
              <a:rPr sz="1550" spc="-40" dirty="0">
                <a:solidFill>
                  <a:srgbClr val="1D1B0F"/>
                </a:solidFill>
                <a:latin typeface="Calibri"/>
                <a:cs typeface="Calibri"/>
              </a:rPr>
              <a:t>préventive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071497" y="4642484"/>
            <a:ext cx="3479165" cy="245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50" spc="-25" dirty="0">
                <a:solidFill>
                  <a:srgbClr val="1D1B0F"/>
                </a:solidFill>
                <a:latin typeface="Calibri"/>
                <a:cs typeface="Calibri"/>
              </a:rPr>
              <a:t>Dissuader</a:t>
            </a:r>
            <a:r>
              <a:rPr sz="1450" spc="2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1D1B0F"/>
                </a:solidFill>
                <a:latin typeface="Calibri"/>
                <a:cs typeface="Calibri"/>
              </a:rPr>
              <a:t>ou</a:t>
            </a:r>
            <a:r>
              <a:rPr sz="1450" spc="4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450" spc="-40" dirty="0">
                <a:solidFill>
                  <a:srgbClr val="1D1B0F"/>
                </a:solidFill>
                <a:latin typeface="Calibri"/>
                <a:cs typeface="Calibri"/>
              </a:rPr>
              <a:t>prévenir</a:t>
            </a:r>
            <a:r>
              <a:rPr sz="1450" spc="-4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450" spc="-50" dirty="0">
                <a:solidFill>
                  <a:srgbClr val="1D1B0F"/>
                </a:solidFill>
                <a:latin typeface="Calibri"/>
                <a:cs typeface="Calibri"/>
              </a:rPr>
              <a:t>l’apparition</a:t>
            </a:r>
            <a:r>
              <a:rPr sz="1450" spc="-14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1D1B0F"/>
                </a:solidFill>
                <a:latin typeface="Calibri"/>
                <a:cs typeface="Calibri"/>
              </a:rPr>
              <a:t>de</a:t>
            </a:r>
            <a:r>
              <a:rPr sz="1450" spc="1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1D1B0F"/>
                </a:solidFill>
                <a:latin typeface="Calibri"/>
                <a:cs typeface="Calibri"/>
              </a:rPr>
              <a:t>problèmes</a:t>
            </a:r>
            <a:endParaRPr sz="145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64463" y="5157215"/>
            <a:ext cx="6193790" cy="149860"/>
            <a:chOff x="664463" y="5157215"/>
            <a:chExt cx="6193790" cy="149860"/>
          </a:xfrm>
        </p:grpSpPr>
        <p:sp>
          <p:nvSpPr>
            <p:cNvPr id="16" name="object 16"/>
            <p:cNvSpPr/>
            <p:nvPr/>
          </p:nvSpPr>
          <p:spPr>
            <a:xfrm>
              <a:off x="1947672" y="5181599"/>
              <a:ext cx="4836795" cy="0"/>
            </a:xfrm>
            <a:custGeom>
              <a:avLst/>
              <a:gdLst/>
              <a:ahLst/>
              <a:cxnLst/>
              <a:rect l="l" t="t" r="r" b="b"/>
              <a:pathLst>
                <a:path w="4836795">
                  <a:moveTo>
                    <a:pt x="0" y="0"/>
                  </a:moveTo>
                  <a:lnTo>
                    <a:pt x="4836541" y="0"/>
                  </a:lnTo>
                </a:path>
              </a:pathLst>
            </a:custGeom>
            <a:ln w="9144">
              <a:solidFill>
                <a:srgbClr val="FFDF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64463" y="5157215"/>
              <a:ext cx="6193536" cy="149351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740663" y="5209031"/>
              <a:ext cx="6044565" cy="0"/>
            </a:xfrm>
            <a:custGeom>
              <a:avLst/>
              <a:gdLst/>
              <a:ahLst/>
              <a:cxnLst/>
              <a:rect l="l" t="t" r="r" b="b"/>
              <a:pathLst>
                <a:path w="6044565">
                  <a:moveTo>
                    <a:pt x="0" y="0"/>
                  </a:moveTo>
                  <a:lnTo>
                    <a:pt x="6044057" y="0"/>
                  </a:lnTo>
                </a:path>
              </a:pathLst>
            </a:custGeom>
            <a:ln w="9144">
              <a:solidFill>
                <a:srgbClr val="1FDF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782523" y="5174107"/>
            <a:ext cx="869315" cy="4921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1830"/>
              </a:lnSpc>
              <a:spcBef>
                <a:spcPts val="110"/>
              </a:spcBef>
            </a:pPr>
            <a:r>
              <a:rPr sz="1550" spc="-10" dirty="0">
                <a:solidFill>
                  <a:srgbClr val="1D1B0F"/>
                </a:solidFill>
                <a:latin typeface="Calibri"/>
                <a:cs typeface="Calibri"/>
              </a:rPr>
              <a:t>Mesure</a:t>
            </a:r>
            <a:r>
              <a:rPr sz="1550" spc="-3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550" spc="-25" dirty="0">
                <a:solidFill>
                  <a:srgbClr val="1D1B0F"/>
                </a:solidFill>
                <a:latin typeface="Calibri"/>
                <a:cs typeface="Calibri"/>
              </a:rPr>
              <a:t>de</a:t>
            </a:r>
            <a:endParaRPr sz="1550">
              <a:latin typeface="Calibri"/>
              <a:cs typeface="Calibri"/>
            </a:endParaRPr>
          </a:p>
          <a:p>
            <a:pPr marL="12700">
              <a:lnSpc>
                <a:spcPts val="1830"/>
              </a:lnSpc>
            </a:pPr>
            <a:r>
              <a:rPr sz="1550" spc="-10" dirty="0">
                <a:solidFill>
                  <a:srgbClr val="1D1B0F"/>
                </a:solidFill>
                <a:latin typeface="Calibri"/>
                <a:cs typeface="Calibri"/>
              </a:rPr>
              <a:t>détection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071497" y="5211826"/>
            <a:ext cx="3409315" cy="245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50" spc="-55" dirty="0">
                <a:solidFill>
                  <a:srgbClr val="1D1B0F"/>
                </a:solidFill>
                <a:latin typeface="Calibri"/>
                <a:cs typeface="Calibri"/>
              </a:rPr>
              <a:t>Rechercher,</a:t>
            </a:r>
            <a:r>
              <a:rPr sz="1450" spc="-16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450" spc="-35" dirty="0">
                <a:solidFill>
                  <a:srgbClr val="1D1B0F"/>
                </a:solidFill>
                <a:latin typeface="Calibri"/>
                <a:cs typeface="Calibri"/>
              </a:rPr>
              <a:t>détecter</a:t>
            </a:r>
            <a:r>
              <a:rPr sz="1450" spc="1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1D1B0F"/>
                </a:solidFill>
                <a:latin typeface="Calibri"/>
                <a:cs typeface="Calibri"/>
              </a:rPr>
              <a:t>et</a:t>
            </a:r>
            <a:r>
              <a:rPr sz="1450" spc="3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450" spc="-35" dirty="0">
                <a:solidFill>
                  <a:srgbClr val="1D1B0F"/>
                </a:solidFill>
                <a:latin typeface="Calibri"/>
                <a:cs typeface="Calibri"/>
              </a:rPr>
              <a:t>identifier</a:t>
            </a:r>
            <a:r>
              <a:rPr sz="1450" spc="-2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1D1B0F"/>
                </a:solidFill>
                <a:latin typeface="Calibri"/>
                <a:cs typeface="Calibri"/>
              </a:rPr>
              <a:t>les</a:t>
            </a:r>
            <a:r>
              <a:rPr sz="1450" spc="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1D1B0F"/>
                </a:solidFill>
                <a:latin typeface="Calibri"/>
                <a:cs typeface="Calibri"/>
              </a:rPr>
              <a:t>anomalies</a:t>
            </a:r>
            <a:endParaRPr sz="145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64463" y="5727191"/>
            <a:ext cx="6193790" cy="149860"/>
            <a:chOff x="664463" y="5727191"/>
            <a:chExt cx="6193790" cy="149860"/>
          </a:xfrm>
        </p:grpSpPr>
        <p:sp>
          <p:nvSpPr>
            <p:cNvPr id="22" name="object 22"/>
            <p:cNvSpPr/>
            <p:nvPr/>
          </p:nvSpPr>
          <p:spPr>
            <a:xfrm>
              <a:off x="1947672" y="5751575"/>
              <a:ext cx="4836795" cy="0"/>
            </a:xfrm>
            <a:custGeom>
              <a:avLst/>
              <a:gdLst/>
              <a:ahLst/>
              <a:cxnLst/>
              <a:rect l="l" t="t" r="r" b="b"/>
              <a:pathLst>
                <a:path w="4836795">
                  <a:moveTo>
                    <a:pt x="0" y="0"/>
                  </a:moveTo>
                  <a:lnTo>
                    <a:pt x="4836541" y="0"/>
                  </a:lnTo>
                </a:path>
              </a:pathLst>
            </a:custGeom>
            <a:ln w="9144">
              <a:solidFill>
                <a:srgbClr val="FFDF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64463" y="5727191"/>
              <a:ext cx="6193536" cy="149352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740663" y="5775959"/>
              <a:ext cx="6044565" cy="0"/>
            </a:xfrm>
            <a:custGeom>
              <a:avLst/>
              <a:gdLst/>
              <a:ahLst/>
              <a:cxnLst/>
              <a:rect l="l" t="t" r="r" b="b"/>
              <a:pathLst>
                <a:path w="6044565">
                  <a:moveTo>
                    <a:pt x="0" y="0"/>
                  </a:moveTo>
                  <a:lnTo>
                    <a:pt x="6044057" y="0"/>
                  </a:lnTo>
                </a:path>
              </a:pathLst>
            </a:custGeom>
            <a:ln w="9144">
              <a:solidFill>
                <a:srgbClr val="436EC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782523" y="5770575"/>
            <a:ext cx="877569" cy="480059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5080">
              <a:lnSpc>
                <a:spcPts val="1700"/>
              </a:lnSpc>
              <a:spcBef>
                <a:spcPts val="300"/>
              </a:spcBef>
            </a:pPr>
            <a:r>
              <a:rPr sz="1550" spc="-10" dirty="0">
                <a:solidFill>
                  <a:srgbClr val="1D1B0F"/>
                </a:solidFill>
                <a:latin typeface="Calibri"/>
                <a:cs typeface="Calibri"/>
              </a:rPr>
              <a:t>Mesure </a:t>
            </a:r>
            <a:r>
              <a:rPr sz="1550" spc="-30" dirty="0">
                <a:solidFill>
                  <a:srgbClr val="1D1B0F"/>
                </a:solidFill>
                <a:latin typeface="Calibri"/>
                <a:cs typeface="Calibri"/>
              </a:rPr>
              <a:t>correctives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071497" y="5776976"/>
            <a:ext cx="4423410" cy="461645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700"/>
              </a:lnSpc>
              <a:spcBef>
                <a:spcPts val="180"/>
              </a:spcBef>
            </a:pPr>
            <a:r>
              <a:rPr sz="1450" spc="-45" dirty="0">
                <a:solidFill>
                  <a:srgbClr val="1D1B0F"/>
                </a:solidFill>
                <a:latin typeface="Calibri"/>
                <a:cs typeface="Calibri"/>
              </a:rPr>
              <a:t>Remédier</a:t>
            </a:r>
            <a:r>
              <a:rPr sz="1450" spc="-8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1D1B0F"/>
                </a:solidFill>
                <a:latin typeface="Calibri"/>
                <a:cs typeface="Calibri"/>
              </a:rPr>
              <a:t>aux</a:t>
            </a:r>
            <a:r>
              <a:rPr sz="1450" spc="2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450" spc="-35" dirty="0">
                <a:solidFill>
                  <a:srgbClr val="1D1B0F"/>
                </a:solidFill>
                <a:latin typeface="Calibri"/>
                <a:cs typeface="Calibri"/>
              </a:rPr>
              <a:t>problèmes </a:t>
            </a:r>
            <a:r>
              <a:rPr sz="1450" spc="-30" dirty="0">
                <a:solidFill>
                  <a:srgbClr val="1D1B0F"/>
                </a:solidFill>
                <a:latin typeface="Calibri"/>
                <a:cs typeface="Calibri"/>
              </a:rPr>
              <a:t>découverts</a:t>
            </a:r>
            <a:r>
              <a:rPr sz="1450" spc="4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1D1B0F"/>
                </a:solidFill>
                <a:latin typeface="Calibri"/>
                <a:cs typeface="Calibri"/>
              </a:rPr>
              <a:t>et</a:t>
            </a:r>
            <a:r>
              <a:rPr sz="1450" spc="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450" spc="-40" dirty="0">
                <a:solidFill>
                  <a:srgbClr val="1D1B0F"/>
                </a:solidFill>
                <a:latin typeface="Calibri"/>
                <a:cs typeface="Calibri"/>
              </a:rPr>
              <a:t>prévenir</a:t>
            </a:r>
            <a:r>
              <a:rPr sz="1450" spc="-5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1D1B0F"/>
                </a:solidFill>
                <a:latin typeface="Calibri"/>
                <a:cs typeface="Calibri"/>
              </a:rPr>
              <a:t>la </a:t>
            </a:r>
            <a:r>
              <a:rPr sz="1450" spc="-10" dirty="0">
                <a:solidFill>
                  <a:srgbClr val="1D1B0F"/>
                </a:solidFill>
                <a:latin typeface="Calibri"/>
                <a:cs typeface="Calibri"/>
              </a:rPr>
              <a:t>répétition </a:t>
            </a:r>
            <a:r>
              <a:rPr sz="1450" spc="-20" dirty="0">
                <a:solidFill>
                  <a:srgbClr val="1D1B0F"/>
                </a:solidFill>
                <a:latin typeface="Calibri"/>
                <a:cs typeface="Calibri"/>
              </a:rPr>
              <a:t>des</a:t>
            </a:r>
            <a:r>
              <a:rPr sz="1450" spc="-6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1D1B0F"/>
                </a:solidFill>
                <a:latin typeface="Calibri"/>
                <a:cs typeface="Calibri"/>
              </a:rPr>
              <a:t>anomalies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947672" y="6321552"/>
            <a:ext cx="4836795" cy="0"/>
          </a:xfrm>
          <a:custGeom>
            <a:avLst/>
            <a:gdLst/>
            <a:ahLst/>
            <a:cxnLst/>
            <a:rect l="l" t="t" r="r" b="b"/>
            <a:pathLst>
              <a:path w="4836795">
                <a:moveTo>
                  <a:pt x="0" y="0"/>
                </a:moveTo>
                <a:lnTo>
                  <a:pt x="4836541" y="0"/>
                </a:lnTo>
              </a:path>
            </a:pathLst>
          </a:custGeom>
          <a:ln w="9144">
            <a:solidFill>
              <a:srgbClr val="FFDF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243027" y="187833"/>
            <a:ext cx="266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1D1B0F"/>
                </a:solidFill>
                <a:latin typeface="Trebuchet MS"/>
                <a:cs typeface="Trebuchet MS"/>
              </a:rPr>
              <a:t>37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5088" y="1395983"/>
            <a:ext cx="10030967" cy="505663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22528" rIns="0" bIns="0" rtlCol="0">
            <a:spAutoFit/>
          </a:bodyPr>
          <a:lstStyle/>
          <a:p>
            <a:pPr marL="1160780">
              <a:lnSpc>
                <a:spcPct val="100000"/>
              </a:lnSpc>
              <a:spcBef>
                <a:spcPts val="95"/>
              </a:spcBef>
            </a:pPr>
            <a:r>
              <a:rPr dirty="0"/>
              <a:t>Relation</a:t>
            </a:r>
            <a:r>
              <a:rPr spc="-130" dirty="0"/>
              <a:t> </a:t>
            </a:r>
            <a:r>
              <a:rPr dirty="0"/>
              <a:t>entre</a:t>
            </a:r>
            <a:r>
              <a:rPr spc="-150" dirty="0"/>
              <a:t> </a:t>
            </a:r>
            <a:r>
              <a:rPr dirty="0"/>
              <a:t>concepts</a:t>
            </a:r>
            <a:r>
              <a:rPr spc="-140" dirty="0"/>
              <a:t> </a:t>
            </a:r>
            <a:r>
              <a:rPr dirty="0"/>
              <a:t>de</a:t>
            </a:r>
            <a:r>
              <a:rPr spc="-65" dirty="0"/>
              <a:t> </a:t>
            </a:r>
            <a:r>
              <a:rPr spc="-10" dirty="0"/>
              <a:t>sécurité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42619" y="-98043"/>
            <a:ext cx="1454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1D1B0F"/>
                </a:solidFill>
                <a:latin typeface="Trebuchet MS"/>
                <a:cs typeface="Trebuchet MS"/>
              </a:rPr>
              <a:t>3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2619" y="92456"/>
            <a:ext cx="1454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1D1B0F"/>
                </a:solidFill>
                <a:latin typeface="Trebuchet MS"/>
                <a:cs typeface="Trebuchet MS"/>
              </a:rPr>
              <a:t>8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24000" y="1752600"/>
            <a:ext cx="5845810" cy="494220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276860" indent="-248920">
              <a:lnSpc>
                <a:spcPct val="100000"/>
              </a:lnSpc>
              <a:spcBef>
                <a:spcPts val="525"/>
              </a:spcBef>
              <a:buSzPct val="88636"/>
              <a:buAutoNum type="arabicPeriod"/>
              <a:tabLst>
                <a:tab pos="276860" algn="l"/>
              </a:tabLst>
            </a:pPr>
            <a:r>
              <a:rPr sz="2200" spc="-25" dirty="0">
                <a:solidFill>
                  <a:srgbClr val="1D1B0F"/>
                </a:solidFill>
                <a:latin typeface="Calibri"/>
                <a:cs typeface="Calibri"/>
              </a:rPr>
              <a:t>Identifier</a:t>
            </a:r>
            <a:r>
              <a:rPr sz="2200" spc="-5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1D1B0F"/>
                </a:solidFill>
                <a:latin typeface="Calibri"/>
                <a:cs typeface="Calibri"/>
              </a:rPr>
              <a:t>la</a:t>
            </a:r>
            <a:r>
              <a:rPr sz="2200" spc="-6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1D1B0F"/>
                </a:solidFill>
                <a:latin typeface="Calibri"/>
                <a:cs typeface="Calibri"/>
              </a:rPr>
              <a:t>menace</a:t>
            </a:r>
            <a:endParaRPr sz="2200" dirty="0">
              <a:latin typeface="Calibri"/>
              <a:cs typeface="Calibri"/>
            </a:endParaRPr>
          </a:p>
          <a:p>
            <a:pPr marL="850900" lvl="1" indent="-237490">
              <a:lnSpc>
                <a:spcPct val="100000"/>
              </a:lnSpc>
              <a:spcBef>
                <a:spcPts val="434"/>
              </a:spcBef>
              <a:buFont typeface="Arial MT"/>
              <a:buChar char="•"/>
              <a:tabLst>
                <a:tab pos="850900" algn="l"/>
              </a:tabLst>
            </a:pPr>
            <a:r>
              <a:rPr sz="1950" dirty="0">
                <a:solidFill>
                  <a:srgbClr val="1D1B0F"/>
                </a:solidFill>
                <a:latin typeface="Calibri"/>
                <a:cs typeface="Calibri"/>
              </a:rPr>
              <a:t>Qui</a:t>
            </a:r>
            <a:r>
              <a:rPr sz="1950" spc="-7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50" dirty="0">
                <a:solidFill>
                  <a:srgbClr val="1D1B0F"/>
                </a:solidFill>
                <a:latin typeface="Calibri"/>
                <a:cs typeface="Calibri"/>
              </a:rPr>
              <a:t>ou</a:t>
            </a:r>
            <a:r>
              <a:rPr sz="1950" spc="-1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50" dirty="0">
                <a:solidFill>
                  <a:srgbClr val="1D1B0F"/>
                </a:solidFill>
                <a:latin typeface="Calibri"/>
                <a:cs typeface="Calibri"/>
              </a:rPr>
              <a:t>quoi</a:t>
            </a:r>
            <a:r>
              <a:rPr sz="1950" spc="-12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50" dirty="0">
                <a:solidFill>
                  <a:srgbClr val="1D1B0F"/>
                </a:solidFill>
                <a:latin typeface="Calibri"/>
                <a:cs typeface="Calibri"/>
              </a:rPr>
              <a:t>/</a:t>
            </a:r>
            <a:r>
              <a:rPr sz="1950" spc="3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50" dirty="0">
                <a:solidFill>
                  <a:srgbClr val="1D1B0F"/>
                </a:solidFill>
                <a:latin typeface="Calibri"/>
                <a:cs typeface="Calibri"/>
              </a:rPr>
              <a:t>Comment</a:t>
            </a:r>
            <a:r>
              <a:rPr sz="1950" spc="-10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50" dirty="0">
                <a:solidFill>
                  <a:srgbClr val="1D1B0F"/>
                </a:solidFill>
                <a:latin typeface="Calibri"/>
                <a:cs typeface="Calibri"/>
              </a:rPr>
              <a:t>(vulnérabilités)</a:t>
            </a:r>
            <a:r>
              <a:rPr sz="1950" spc="-3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200" spc="-50" dirty="0">
                <a:solidFill>
                  <a:srgbClr val="1D1B0F"/>
                </a:solidFill>
                <a:latin typeface="Calibri"/>
                <a:cs typeface="Calibri"/>
              </a:rPr>
              <a:t>?</a:t>
            </a:r>
            <a:endParaRPr sz="2200" dirty="0">
              <a:latin typeface="Calibri"/>
              <a:cs typeface="Calibri"/>
            </a:endParaRPr>
          </a:p>
          <a:p>
            <a:pPr marL="288925" indent="-260985">
              <a:lnSpc>
                <a:spcPct val="100000"/>
              </a:lnSpc>
              <a:spcBef>
                <a:spcPts val="620"/>
              </a:spcBef>
              <a:buSzPct val="88636"/>
              <a:buAutoNum type="arabicPeriod"/>
              <a:tabLst>
                <a:tab pos="288925" algn="l"/>
              </a:tabLst>
            </a:pPr>
            <a:r>
              <a:rPr sz="2200" spc="-40" dirty="0">
                <a:solidFill>
                  <a:srgbClr val="1D1B0F"/>
                </a:solidFill>
                <a:latin typeface="Calibri"/>
                <a:cs typeface="Calibri"/>
              </a:rPr>
              <a:t>Évaluer</a:t>
            </a:r>
            <a:r>
              <a:rPr sz="2200" spc="-12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1D1B0F"/>
                </a:solidFill>
                <a:latin typeface="Calibri"/>
                <a:cs typeface="Calibri"/>
              </a:rPr>
              <a:t>les</a:t>
            </a:r>
            <a:r>
              <a:rPr sz="2200" spc="-7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1D1B0F"/>
                </a:solidFill>
                <a:latin typeface="Calibri"/>
                <a:cs typeface="Calibri"/>
              </a:rPr>
              <a:t>risques</a:t>
            </a:r>
            <a:r>
              <a:rPr sz="2200" spc="-8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1D1B0F"/>
                </a:solidFill>
                <a:latin typeface="Calibri"/>
                <a:cs typeface="Calibri"/>
              </a:rPr>
              <a:t>et</a:t>
            </a:r>
            <a:r>
              <a:rPr sz="2200" spc="-9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1D1B0F"/>
                </a:solidFill>
                <a:latin typeface="Calibri"/>
                <a:cs typeface="Calibri"/>
              </a:rPr>
              <a:t>les</a:t>
            </a:r>
            <a:r>
              <a:rPr sz="2200" spc="-7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1D1B0F"/>
                </a:solidFill>
                <a:latin typeface="Calibri"/>
                <a:cs typeface="Calibri"/>
              </a:rPr>
              <a:t>vulnérabilités</a:t>
            </a:r>
            <a:endParaRPr sz="2200" dirty="0">
              <a:latin typeface="Calibri"/>
              <a:cs typeface="Calibri"/>
            </a:endParaRPr>
          </a:p>
          <a:p>
            <a:pPr marL="850900" lvl="1" indent="-237490">
              <a:lnSpc>
                <a:spcPct val="100000"/>
              </a:lnSpc>
              <a:spcBef>
                <a:spcPts val="445"/>
              </a:spcBef>
              <a:buFont typeface="Arial MT"/>
              <a:buChar char="•"/>
              <a:tabLst>
                <a:tab pos="850900" algn="l"/>
              </a:tabLst>
            </a:pPr>
            <a:r>
              <a:rPr sz="1950" spc="-20" dirty="0">
                <a:solidFill>
                  <a:srgbClr val="1D1B0F"/>
                </a:solidFill>
                <a:latin typeface="Calibri"/>
                <a:cs typeface="Calibri"/>
              </a:rPr>
              <a:t>Probabilité</a:t>
            </a:r>
            <a:r>
              <a:rPr sz="1950" spc="-5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50" dirty="0">
                <a:solidFill>
                  <a:srgbClr val="1D1B0F"/>
                </a:solidFill>
                <a:latin typeface="Calibri"/>
                <a:cs typeface="Calibri"/>
              </a:rPr>
              <a:t>/</a:t>
            </a:r>
            <a:r>
              <a:rPr sz="1950" spc="-3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50" spc="-10" dirty="0">
                <a:solidFill>
                  <a:srgbClr val="1D1B0F"/>
                </a:solidFill>
                <a:latin typeface="Calibri"/>
                <a:cs typeface="Calibri"/>
              </a:rPr>
              <a:t>Impact</a:t>
            </a:r>
            <a:endParaRPr sz="1950" dirty="0">
              <a:latin typeface="Calibri"/>
              <a:cs typeface="Calibri"/>
            </a:endParaRPr>
          </a:p>
          <a:p>
            <a:pPr marL="276225" marR="5080" indent="-264160">
              <a:lnSpc>
                <a:spcPct val="110300"/>
              </a:lnSpc>
              <a:spcBef>
                <a:spcPts val="30"/>
              </a:spcBef>
              <a:buSzPct val="88636"/>
              <a:buAutoNum type="arabicPeriod"/>
              <a:tabLst>
                <a:tab pos="277495" algn="l"/>
              </a:tabLst>
            </a:pPr>
            <a:r>
              <a:rPr sz="3300" spc="-37" baseline="2525" dirty="0">
                <a:solidFill>
                  <a:srgbClr val="1D1B0F"/>
                </a:solidFill>
                <a:latin typeface="Calibri"/>
                <a:cs typeface="Calibri"/>
              </a:rPr>
              <a:t>Considérer</a:t>
            </a:r>
            <a:r>
              <a:rPr sz="3300" spc="-75" baseline="252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3300" baseline="2525" dirty="0">
                <a:solidFill>
                  <a:srgbClr val="1D1B0F"/>
                </a:solidFill>
                <a:latin typeface="Calibri"/>
                <a:cs typeface="Calibri"/>
              </a:rPr>
              <a:t>les</a:t>
            </a:r>
            <a:r>
              <a:rPr sz="3300" spc="-67" baseline="252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3300" spc="-30" baseline="2525" dirty="0">
                <a:solidFill>
                  <a:srgbClr val="1D1B0F"/>
                </a:solidFill>
                <a:latin typeface="Calibri"/>
                <a:cs typeface="Calibri"/>
              </a:rPr>
              <a:t>mesures</a:t>
            </a:r>
            <a:r>
              <a:rPr sz="3300" spc="-44" baseline="252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3300" baseline="2525" dirty="0">
                <a:solidFill>
                  <a:srgbClr val="1D1B0F"/>
                </a:solidFill>
                <a:latin typeface="Calibri"/>
                <a:cs typeface="Calibri"/>
              </a:rPr>
              <a:t>de</a:t>
            </a:r>
            <a:r>
              <a:rPr sz="3300" spc="-89" baseline="252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3300" spc="-37" baseline="2525" dirty="0">
                <a:solidFill>
                  <a:srgbClr val="1D1B0F"/>
                </a:solidFill>
                <a:latin typeface="Calibri"/>
                <a:cs typeface="Calibri"/>
              </a:rPr>
              <a:t>protection</a:t>
            </a:r>
            <a:r>
              <a:rPr sz="3300" spc="-60" baseline="252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3300" baseline="2525" dirty="0">
                <a:solidFill>
                  <a:srgbClr val="1D1B0F"/>
                </a:solidFill>
                <a:latin typeface="Calibri"/>
                <a:cs typeface="Calibri"/>
              </a:rPr>
              <a:t>par</a:t>
            </a:r>
            <a:r>
              <a:rPr sz="3300" spc="-60" baseline="252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3300" spc="-15" baseline="2525" dirty="0">
                <a:solidFill>
                  <a:srgbClr val="1D1B0F"/>
                </a:solidFill>
                <a:latin typeface="Calibri"/>
                <a:cs typeface="Calibri"/>
              </a:rPr>
              <a:t>rapp</a:t>
            </a:r>
            <a:r>
              <a:rPr sz="2200" spc="-10" dirty="0">
                <a:solidFill>
                  <a:srgbClr val="1D1B0F"/>
                </a:solidFill>
                <a:latin typeface="Calibri"/>
                <a:cs typeface="Calibri"/>
              </a:rPr>
              <a:t>ort 	</a:t>
            </a:r>
            <a:r>
              <a:rPr sz="2200" dirty="0">
                <a:solidFill>
                  <a:srgbClr val="1D1B0F"/>
                </a:solidFill>
                <a:latin typeface="Calibri"/>
                <a:cs typeface="Calibri"/>
              </a:rPr>
              <a:t>au</a:t>
            </a:r>
            <a:r>
              <a:rPr sz="2200" spc="-6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1D1B0F"/>
                </a:solidFill>
                <a:latin typeface="Calibri"/>
                <a:cs typeface="Calibri"/>
              </a:rPr>
              <a:t>risque</a:t>
            </a:r>
            <a:endParaRPr sz="2200" dirty="0">
              <a:latin typeface="Calibri"/>
              <a:cs typeface="Calibri"/>
            </a:endParaRPr>
          </a:p>
          <a:p>
            <a:pPr marL="850900" lvl="1" indent="-237490">
              <a:lnSpc>
                <a:spcPct val="100000"/>
              </a:lnSpc>
              <a:spcBef>
                <a:spcPts val="550"/>
              </a:spcBef>
              <a:buFont typeface="Arial MT"/>
              <a:buChar char="•"/>
              <a:tabLst>
                <a:tab pos="850900" algn="l"/>
              </a:tabLst>
            </a:pPr>
            <a:r>
              <a:rPr sz="1950" spc="-35" dirty="0">
                <a:solidFill>
                  <a:srgbClr val="1D1B0F"/>
                </a:solidFill>
                <a:latin typeface="Calibri"/>
                <a:cs typeface="Calibri"/>
              </a:rPr>
              <a:t>Efficacité</a:t>
            </a:r>
            <a:r>
              <a:rPr sz="1950" spc="-5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50" dirty="0">
                <a:solidFill>
                  <a:srgbClr val="1D1B0F"/>
                </a:solidFill>
                <a:latin typeface="Calibri"/>
                <a:cs typeface="Calibri"/>
              </a:rPr>
              <a:t>/</a:t>
            </a:r>
            <a:r>
              <a:rPr sz="1950" spc="6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50" dirty="0">
                <a:solidFill>
                  <a:srgbClr val="1D1B0F"/>
                </a:solidFill>
                <a:latin typeface="Calibri"/>
                <a:cs typeface="Calibri"/>
              </a:rPr>
              <a:t>Coût</a:t>
            </a:r>
            <a:r>
              <a:rPr sz="1950" spc="-8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50" dirty="0">
                <a:solidFill>
                  <a:srgbClr val="1D1B0F"/>
                </a:solidFill>
                <a:latin typeface="Calibri"/>
                <a:cs typeface="Calibri"/>
              </a:rPr>
              <a:t>/</a:t>
            </a:r>
            <a:r>
              <a:rPr sz="1950" spc="1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50" spc="-25" dirty="0">
                <a:solidFill>
                  <a:srgbClr val="1D1B0F"/>
                </a:solidFill>
                <a:latin typeface="Calibri"/>
                <a:cs typeface="Calibri"/>
              </a:rPr>
              <a:t>Difficulté</a:t>
            </a:r>
            <a:r>
              <a:rPr sz="1950" spc="-2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50" spc="-10" dirty="0">
                <a:solidFill>
                  <a:srgbClr val="1D1B0F"/>
                </a:solidFill>
                <a:latin typeface="Calibri"/>
                <a:cs typeface="Calibri"/>
              </a:rPr>
              <a:t>d'utilisation</a:t>
            </a:r>
            <a:endParaRPr sz="1950" dirty="0">
              <a:latin typeface="Calibri"/>
              <a:cs typeface="Calibri"/>
            </a:endParaRPr>
          </a:p>
          <a:p>
            <a:pPr marL="267970" indent="-255270">
              <a:lnSpc>
                <a:spcPct val="100000"/>
              </a:lnSpc>
              <a:spcBef>
                <a:spcPts val="220"/>
              </a:spcBef>
              <a:buSzPct val="88636"/>
              <a:buAutoNum type="arabicPeriod"/>
              <a:tabLst>
                <a:tab pos="267970" algn="l"/>
              </a:tabLst>
            </a:pPr>
            <a:r>
              <a:rPr sz="2200" spc="-30" dirty="0">
                <a:solidFill>
                  <a:srgbClr val="1D1B0F"/>
                </a:solidFill>
                <a:latin typeface="Calibri"/>
                <a:cs typeface="Calibri"/>
              </a:rPr>
              <a:t>Mettre</a:t>
            </a:r>
            <a:r>
              <a:rPr sz="2200" spc="-9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1D1B0F"/>
                </a:solidFill>
                <a:latin typeface="Calibri"/>
                <a:cs typeface="Calibri"/>
              </a:rPr>
              <a:t>en</a:t>
            </a:r>
            <a:r>
              <a:rPr sz="2200" spc="-7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1D1B0F"/>
                </a:solidFill>
                <a:latin typeface="Calibri"/>
                <a:cs typeface="Calibri"/>
              </a:rPr>
              <a:t>place</a:t>
            </a:r>
            <a:r>
              <a:rPr sz="2200" spc="-8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1D1B0F"/>
                </a:solidFill>
                <a:latin typeface="Calibri"/>
                <a:cs typeface="Calibri"/>
              </a:rPr>
              <a:t>et</a:t>
            </a:r>
            <a:r>
              <a:rPr sz="2200" spc="-11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1D1B0F"/>
                </a:solidFill>
                <a:latin typeface="Calibri"/>
                <a:cs typeface="Calibri"/>
              </a:rPr>
              <a:t>opérer</a:t>
            </a:r>
            <a:r>
              <a:rPr sz="2200" spc="-6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1D1B0F"/>
                </a:solidFill>
                <a:latin typeface="Calibri"/>
                <a:cs typeface="Calibri"/>
              </a:rPr>
              <a:t>les</a:t>
            </a:r>
            <a:r>
              <a:rPr sz="2200" spc="-7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1D1B0F"/>
                </a:solidFill>
                <a:latin typeface="Calibri"/>
                <a:cs typeface="Calibri"/>
              </a:rPr>
              <a:t>mesures</a:t>
            </a:r>
            <a:r>
              <a:rPr sz="2200" spc="-10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200" spc="-25" dirty="0">
                <a:solidFill>
                  <a:srgbClr val="1D1B0F"/>
                </a:solidFill>
                <a:latin typeface="Calibri"/>
                <a:cs typeface="Calibri"/>
              </a:rPr>
              <a:t>de</a:t>
            </a:r>
            <a:endParaRPr sz="2200" dirty="0">
              <a:latin typeface="Calibri"/>
              <a:cs typeface="Calibri"/>
            </a:endParaRPr>
          </a:p>
          <a:p>
            <a:pPr marL="277495">
              <a:lnSpc>
                <a:spcPct val="100000"/>
              </a:lnSpc>
              <a:spcBef>
                <a:spcPts val="420"/>
              </a:spcBef>
            </a:pPr>
            <a:r>
              <a:rPr sz="2200" spc="-10" dirty="0">
                <a:solidFill>
                  <a:srgbClr val="1D1B0F"/>
                </a:solidFill>
                <a:latin typeface="Calibri"/>
                <a:cs typeface="Calibri"/>
              </a:rPr>
              <a:t>protections</a:t>
            </a:r>
            <a:endParaRPr sz="2200" dirty="0">
              <a:latin typeface="Calibri"/>
              <a:cs typeface="Calibri"/>
            </a:endParaRPr>
          </a:p>
          <a:p>
            <a:pPr marL="849630" lvl="1" indent="-238760">
              <a:lnSpc>
                <a:spcPct val="100000"/>
              </a:lnSpc>
              <a:spcBef>
                <a:spcPts val="610"/>
              </a:spcBef>
              <a:buFont typeface="Arial MT"/>
              <a:buChar char="•"/>
              <a:tabLst>
                <a:tab pos="849630" algn="l"/>
              </a:tabLst>
            </a:pPr>
            <a:r>
              <a:rPr sz="1950" dirty="0">
                <a:solidFill>
                  <a:srgbClr val="1D1B0F"/>
                </a:solidFill>
                <a:latin typeface="Calibri"/>
                <a:cs typeface="Calibri"/>
              </a:rPr>
              <a:t>Modification</a:t>
            </a:r>
            <a:r>
              <a:rPr sz="1950" spc="-15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50" spc="-20" dirty="0">
                <a:solidFill>
                  <a:srgbClr val="1D1B0F"/>
                </a:solidFill>
                <a:latin typeface="Calibri"/>
                <a:cs typeface="Calibri"/>
              </a:rPr>
              <a:t>et/ou</a:t>
            </a:r>
            <a:r>
              <a:rPr sz="1950" spc="-3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50" spc="-10" dirty="0">
                <a:solidFill>
                  <a:srgbClr val="1D1B0F"/>
                </a:solidFill>
                <a:latin typeface="Calibri"/>
                <a:cs typeface="Calibri"/>
              </a:rPr>
              <a:t>installation</a:t>
            </a:r>
            <a:endParaRPr sz="1950" dirty="0">
              <a:latin typeface="Calibri"/>
              <a:cs typeface="Calibri"/>
            </a:endParaRPr>
          </a:p>
          <a:p>
            <a:pPr marL="849630" lvl="1" indent="-238760">
              <a:lnSpc>
                <a:spcPct val="100000"/>
              </a:lnSpc>
              <a:spcBef>
                <a:spcPts val="540"/>
              </a:spcBef>
              <a:buFont typeface="Arial MT"/>
              <a:buChar char="•"/>
              <a:tabLst>
                <a:tab pos="849630" algn="l"/>
              </a:tabLst>
            </a:pPr>
            <a:r>
              <a:rPr sz="1950" dirty="0">
                <a:solidFill>
                  <a:srgbClr val="1D1B0F"/>
                </a:solidFill>
                <a:latin typeface="Calibri"/>
                <a:cs typeface="Calibri"/>
              </a:rPr>
              <a:t>Changer</a:t>
            </a:r>
            <a:r>
              <a:rPr sz="1950" spc="-13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50" dirty="0">
                <a:solidFill>
                  <a:srgbClr val="1D1B0F"/>
                </a:solidFill>
                <a:latin typeface="Calibri"/>
                <a:cs typeface="Calibri"/>
              </a:rPr>
              <a:t>les</a:t>
            </a:r>
            <a:r>
              <a:rPr sz="1950" spc="2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50" spc="-10" dirty="0">
                <a:solidFill>
                  <a:srgbClr val="1D1B0F"/>
                </a:solidFill>
                <a:latin typeface="Calibri"/>
                <a:cs typeface="Calibri"/>
              </a:rPr>
              <a:t>politiques</a:t>
            </a:r>
            <a:endParaRPr sz="1950" dirty="0">
              <a:latin typeface="Calibri"/>
              <a:cs typeface="Calibri"/>
            </a:endParaRPr>
          </a:p>
          <a:p>
            <a:pPr marL="849630" lvl="1" indent="-238760">
              <a:lnSpc>
                <a:spcPct val="100000"/>
              </a:lnSpc>
              <a:spcBef>
                <a:spcPts val="540"/>
              </a:spcBef>
              <a:buFont typeface="Arial MT"/>
              <a:buChar char="•"/>
              <a:tabLst>
                <a:tab pos="849630" algn="l"/>
              </a:tabLst>
            </a:pPr>
            <a:r>
              <a:rPr sz="1950" spc="-10" dirty="0">
                <a:solidFill>
                  <a:srgbClr val="1D1B0F"/>
                </a:solidFill>
                <a:latin typeface="Calibri"/>
                <a:cs typeface="Calibri"/>
              </a:rPr>
              <a:t>Éduquer</a:t>
            </a:r>
            <a:r>
              <a:rPr sz="1950" spc="-13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50" dirty="0">
                <a:solidFill>
                  <a:srgbClr val="1D1B0F"/>
                </a:solidFill>
                <a:latin typeface="Calibri"/>
                <a:cs typeface="Calibri"/>
              </a:rPr>
              <a:t>les</a:t>
            </a:r>
            <a:r>
              <a:rPr sz="1950" spc="3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950" spc="-10" dirty="0">
                <a:solidFill>
                  <a:srgbClr val="1D1B0F"/>
                </a:solidFill>
                <a:latin typeface="Calibri"/>
                <a:cs typeface="Calibri"/>
              </a:rPr>
              <a:t>utilisateurs</a:t>
            </a:r>
            <a:endParaRPr sz="1950" dirty="0">
              <a:latin typeface="Calibri"/>
              <a:cs typeface="Calibri"/>
            </a:endParaRPr>
          </a:p>
          <a:p>
            <a:pPr marL="274320" indent="-247015">
              <a:lnSpc>
                <a:spcPct val="100000"/>
              </a:lnSpc>
              <a:spcBef>
                <a:spcPts val="509"/>
              </a:spcBef>
              <a:buSzPct val="88636"/>
              <a:buAutoNum type="arabicPeriod" startAt="5"/>
              <a:tabLst>
                <a:tab pos="274320" algn="l"/>
              </a:tabLst>
            </a:pPr>
            <a:r>
              <a:rPr sz="2200" spc="-60" dirty="0">
                <a:solidFill>
                  <a:srgbClr val="1D1B0F"/>
                </a:solidFill>
                <a:latin typeface="Calibri"/>
                <a:cs typeface="Calibri"/>
              </a:rPr>
              <a:t>Auditer,</a:t>
            </a:r>
            <a:r>
              <a:rPr sz="2200" spc="-9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200" spc="-50" dirty="0">
                <a:solidFill>
                  <a:srgbClr val="1D1B0F"/>
                </a:solidFill>
                <a:latin typeface="Calibri"/>
                <a:cs typeface="Calibri"/>
              </a:rPr>
              <a:t>Valider</a:t>
            </a:r>
            <a:r>
              <a:rPr sz="2200" spc="-4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1D1B0F"/>
                </a:solidFill>
                <a:latin typeface="Calibri"/>
                <a:cs typeface="Calibri"/>
              </a:rPr>
              <a:t>et</a:t>
            </a:r>
            <a:r>
              <a:rPr sz="2200" spc="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1D1B0F"/>
                </a:solidFill>
                <a:latin typeface="Calibri"/>
                <a:cs typeface="Calibri"/>
              </a:rPr>
              <a:t>suivre</a:t>
            </a:r>
            <a:endParaRPr sz="2200" dirty="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67600" y="1762836"/>
            <a:ext cx="4355591" cy="479145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09374" y="-69766"/>
            <a:ext cx="10515600" cy="1572481"/>
          </a:xfrm>
          <a:prstGeom prst="rect">
            <a:avLst/>
          </a:prstGeom>
        </p:spPr>
        <p:txBody>
          <a:bodyPr vert="horz" wrap="square" lIns="0" tIns="447293" rIns="0" bIns="0" rtlCol="0">
            <a:spAutoFit/>
          </a:bodyPr>
          <a:lstStyle/>
          <a:p>
            <a:pPr marL="1313180">
              <a:lnSpc>
                <a:spcPct val="100000"/>
              </a:lnSpc>
              <a:spcBef>
                <a:spcPts val="95"/>
              </a:spcBef>
            </a:pPr>
            <a:r>
              <a:rPr lang="fr-FR" sz="3600" spc="-30" dirty="0"/>
              <a:t>Règles de base de la sécurité:</a:t>
            </a:r>
            <a:br>
              <a:rPr lang="fr-FR" sz="3600" spc="-30" dirty="0"/>
            </a:br>
            <a:r>
              <a:rPr lang="fr-FR" sz="3600" spc="-30" dirty="0"/>
              <a:t>Méthodologie</a:t>
            </a:r>
            <a:endParaRPr sz="3600" spc="-10" dirty="0"/>
          </a:p>
        </p:txBody>
      </p:sp>
      <p:sp>
        <p:nvSpPr>
          <p:cNvPr id="5" name="object 5"/>
          <p:cNvSpPr txBox="1"/>
          <p:nvPr/>
        </p:nvSpPr>
        <p:spPr>
          <a:xfrm>
            <a:off x="11156695" y="6308547"/>
            <a:ext cx="202565" cy="2457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50" spc="-25" dirty="0">
                <a:solidFill>
                  <a:srgbClr val="858585"/>
                </a:solidFill>
                <a:latin typeface="Calibri"/>
                <a:cs typeface="Calibri"/>
              </a:rPr>
              <a:t>39</a:t>
            </a:r>
            <a:endParaRPr sz="14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47293" rIns="0" bIns="0" rtlCol="0">
            <a:spAutoFit/>
          </a:bodyPr>
          <a:lstStyle/>
          <a:p>
            <a:pPr marL="131318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Règles</a:t>
            </a:r>
            <a:r>
              <a:rPr spc="-180" dirty="0"/>
              <a:t> </a:t>
            </a:r>
            <a:r>
              <a:rPr dirty="0"/>
              <a:t>de</a:t>
            </a:r>
            <a:r>
              <a:rPr spc="-130" dirty="0"/>
              <a:t> </a:t>
            </a:r>
            <a:r>
              <a:rPr spc="-20" dirty="0"/>
              <a:t>base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55904" y="1539239"/>
            <a:ext cx="10826750" cy="149860"/>
            <a:chOff x="755904" y="1539239"/>
            <a:chExt cx="10826750" cy="14986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5904" y="1539239"/>
              <a:ext cx="10826496" cy="14935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29056" y="1591055"/>
              <a:ext cx="10710545" cy="0"/>
            </a:xfrm>
            <a:custGeom>
              <a:avLst/>
              <a:gdLst/>
              <a:ahLst/>
              <a:cxnLst/>
              <a:rect l="l" t="t" r="r" b="b"/>
              <a:pathLst>
                <a:path w="10710545">
                  <a:moveTo>
                    <a:pt x="0" y="0"/>
                  </a:moveTo>
                  <a:lnTo>
                    <a:pt x="10710037" y="0"/>
                  </a:lnTo>
                </a:path>
              </a:pathLst>
            </a:custGeom>
            <a:ln w="9144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873658" y="1566494"/>
            <a:ext cx="1920239" cy="2819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50" spc="-20" dirty="0">
                <a:solidFill>
                  <a:srgbClr val="1D1B0F"/>
                </a:solidFill>
                <a:latin typeface="Calibri"/>
                <a:cs typeface="Calibri"/>
              </a:rPr>
              <a:t>Interdiction</a:t>
            </a:r>
            <a:r>
              <a:rPr sz="1650" spc="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1D1B0F"/>
                </a:solidFill>
                <a:latin typeface="Calibri"/>
                <a:cs typeface="Calibri"/>
              </a:rPr>
              <a:t>par</a:t>
            </a:r>
            <a:r>
              <a:rPr sz="1650" spc="-6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1D1B0F"/>
                </a:solidFill>
                <a:latin typeface="Calibri"/>
                <a:cs typeface="Calibri"/>
              </a:rPr>
              <a:t>défaut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177920" y="1605533"/>
            <a:ext cx="4615815" cy="2819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50" spc="-60" dirty="0">
                <a:solidFill>
                  <a:srgbClr val="1D1B0F"/>
                </a:solidFill>
                <a:latin typeface="Calibri"/>
                <a:cs typeface="Calibri"/>
              </a:rPr>
              <a:t>Tout</a:t>
            </a:r>
            <a:r>
              <a:rPr sz="1650" spc="-12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1D1B0F"/>
                </a:solidFill>
                <a:latin typeface="Calibri"/>
                <a:cs typeface="Calibri"/>
              </a:rPr>
              <a:t>ce</a:t>
            </a:r>
            <a:r>
              <a:rPr sz="1650" spc="-4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1D1B0F"/>
                </a:solidFill>
                <a:latin typeface="Calibri"/>
                <a:cs typeface="Calibri"/>
              </a:rPr>
              <a:t>qui</a:t>
            </a:r>
            <a:r>
              <a:rPr sz="1650" spc="-2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650" spc="-45" dirty="0">
                <a:solidFill>
                  <a:srgbClr val="1D1B0F"/>
                </a:solidFill>
                <a:latin typeface="Calibri"/>
                <a:cs typeface="Calibri"/>
              </a:rPr>
              <a:t>n’est</a:t>
            </a:r>
            <a:r>
              <a:rPr sz="1650" spc="-7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1D1B0F"/>
                </a:solidFill>
                <a:latin typeface="Calibri"/>
                <a:cs typeface="Calibri"/>
              </a:rPr>
              <a:t>pas</a:t>
            </a:r>
            <a:r>
              <a:rPr sz="1650" spc="-2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1D1B0F"/>
                </a:solidFill>
                <a:latin typeface="Calibri"/>
                <a:cs typeface="Calibri"/>
              </a:rPr>
              <a:t>autorisé</a:t>
            </a:r>
            <a:r>
              <a:rPr sz="1650" spc="8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650" spc="-20" dirty="0">
                <a:solidFill>
                  <a:srgbClr val="1D1B0F"/>
                </a:solidFill>
                <a:latin typeface="Calibri"/>
                <a:cs typeface="Calibri"/>
              </a:rPr>
              <a:t>explicitement</a:t>
            </a:r>
            <a:r>
              <a:rPr sz="1650" dirty="0">
                <a:solidFill>
                  <a:srgbClr val="1D1B0F"/>
                </a:solidFill>
                <a:latin typeface="Calibri"/>
                <a:cs typeface="Calibri"/>
              </a:rPr>
              <a:t> est </a:t>
            </a:r>
            <a:r>
              <a:rPr sz="1650" spc="-10" dirty="0">
                <a:solidFill>
                  <a:srgbClr val="1D1B0F"/>
                </a:solidFill>
                <a:latin typeface="Calibri"/>
                <a:cs typeface="Calibri"/>
              </a:rPr>
              <a:t>interdit</a:t>
            </a:r>
            <a:endParaRPr sz="165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55904" y="2362200"/>
            <a:ext cx="10826750" cy="149860"/>
            <a:chOff x="755904" y="2362200"/>
            <a:chExt cx="10826750" cy="149860"/>
          </a:xfrm>
        </p:grpSpPr>
        <p:sp>
          <p:nvSpPr>
            <p:cNvPr id="9" name="object 9"/>
            <p:cNvSpPr/>
            <p:nvPr/>
          </p:nvSpPr>
          <p:spPr>
            <a:xfrm>
              <a:off x="2971799" y="2374391"/>
              <a:ext cx="8567420" cy="0"/>
            </a:xfrm>
            <a:custGeom>
              <a:avLst/>
              <a:gdLst/>
              <a:ahLst/>
              <a:cxnLst/>
              <a:rect l="l" t="t" r="r" b="b"/>
              <a:pathLst>
                <a:path w="8567420">
                  <a:moveTo>
                    <a:pt x="0" y="0"/>
                  </a:moveTo>
                  <a:lnTo>
                    <a:pt x="8567293" y="0"/>
                  </a:lnTo>
                </a:path>
              </a:pathLst>
            </a:custGeom>
            <a:ln w="9144">
              <a:solidFill>
                <a:srgbClr val="FFDF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5904" y="2362200"/>
              <a:ext cx="10826496" cy="149351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829056" y="2414015"/>
              <a:ext cx="10710545" cy="0"/>
            </a:xfrm>
            <a:custGeom>
              <a:avLst/>
              <a:gdLst/>
              <a:ahLst/>
              <a:cxnLst/>
              <a:rect l="l" t="t" r="r" b="b"/>
              <a:pathLst>
                <a:path w="10710545">
                  <a:moveTo>
                    <a:pt x="0" y="0"/>
                  </a:moveTo>
                  <a:lnTo>
                    <a:pt x="10710037" y="0"/>
                  </a:lnTo>
                </a:path>
              </a:pathLst>
            </a:custGeom>
            <a:ln w="9144">
              <a:solidFill>
                <a:srgbClr val="A2EE0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873658" y="2392806"/>
            <a:ext cx="1511300" cy="2819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50" spc="-10" dirty="0">
                <a:solidFill>
                  <a:srgbClr val="1D1B0F"/>
                </a:solidFill>
                <a:latin typeface="Calibri"/>
                <a:cs typeface="Calibri"/>
              </a:rPr>
              <a:t>Moindre</a:t>
            </a:r>
            <a:r>
              <a:rPr sz="1650" spc="-4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1D1B0F"/>
                </a:solidFill>
                <a:latin typeface="Calibri"/>
                <a:cs typeface="Calibri"/>
              </a:rPr>
              <a:t>privilège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177920" y="2429636"/>
            <a:ext cx="2922905" cy="2819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50" spc="-35" dirty="0">
                <a:solidFill>
                  <a:srgbClr val="1D1B0F"/>
                </a:solidFill>
                <a:latin typeface="Calibri"/>
                <a:cs typeface="Calibri"/>
              </a:rPr>
              <a:t>N’autoriser</a:t>
            </a:r>
            <a:r>
              <a:rPr sz="1650" spc="-4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1D1B0F"/>
                </a:solidFill>
                <a:latin typeface="Calibri"/>
                <a:cs typeface="Calibri"/>
              </a:rPr>
              <a:t>que</a:t>
            </a:r>
            <a:r>
              <a:rPr sz="1650" spc="-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1D1B0F"/>
                </a:solidFill>
                <a:latin typeface="Calibri"/>
                <a:cs typeface="Calibri"/>
              </a:rPr>
              <a:t>le strict</a:t>
            </a:r>
            <a:r>
              <a:rPr sz="1650" spc="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1D1B0F"/>
                </a:solidFill>
                <a:latin typeface="Calibri"/>
                <a:cs typeface="Calibri"/>
              </a:rPr>
              <a:t>nécessaire</a:t>
            </a:r>
            <a:endParaRPr sz="165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55904" y="3188207"/>
            <a:ext cx="10826750" cy="146685"/>
            <a:chOff x="755904" y="3188207"/>
            <a:chExt cx="10826750" cy="146685"/>
          </a:xfrm>
        </p:grpSpPr>
        <p:sp>
          <p:nvSpPr>
            <p:cNvPr id="15" name="object 15"/>
            <p:cNvSpPr/>
            <p:nvPr/>
          </p:nvSpPr>
          <p:spPr>
            <a:xfrm>
              <a:off x="2971799" y="3200399"/>
              <a:ext cx="8567420" cy="0"/>
            </a:xfrm>
            <a:custGeom>
              <a:avLst/>
              <a:gdLst/>
              <a:ahLst/>
              <a:cxnLst/>
              <a:rect l="l" t="t" r="r" b="b"/>
              <a:pathLst>
                <a:path w="8567420">
                  <a:moveTo>
                    <a:pt x="0" y="0"/>
                  </a:moveTo>
                  <a:lnTo>
                    <a:pt x="8567293" y="0"/>
                  </a:lnTo>
                </a:path>
              </a:pathLst>
            </a:custGeom>
            <a:ln w="9144">
              <a:solidFill>
                <a:srgbClr val="FFDF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5904" y="3188207"/>
              <a:ext cx="10826496" cy="146303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829056" y="3240023"/>
              <a:ext cx="10710545" cy="0"/>
            </a:xfrm>
            <a:custGeom>
              <a:avLst/>
              <a:gdLst/>
              <a:ahLst/>
              <a:cxnLst/>
              <a:rect l="l" t="t" r="r" b="b"/>
              <a:pathLst>
                <a:path w="10710545">
                  <a:moveTo>
                    <a:pt x="0" y="0"/>
                  </a:moveTo>
                  <a:lnTo>
                    <a:pt x="10710037" y="0"/>
                  </a:lnTo>
                </a:path>
              </a:pathLst>
            </a:custGeom>
            <a:ln w="9144">
              <a:solidFill>
                <a:srgbClr val="2CE71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873658" y="3211194"/>
            <a:ext cx="985519" cy="52387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ts val="1945"/>
              </a:lnSpc>
              <a:spcBef>
                <a:spcPts val="130"/>
              </a:spcBef>
            </a:pPr>
            <a:r>
              <a:rPr sz="1650" spc="-25" dirty="0">
                <a:solidFill>
                  <a:srgbClr val="1D1B0F"/>
                </a:solidFill>
                <a:latin typeface="Calibri"/>
                <a:cs typeface="Calibri"/>
              </a:rPr>
              <a:t>Défense</a:t>
            </a:r>
            <a:r>
              <a:rPr sz="1650" spc="-4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650" spc="-25" dirty="0">
                <a:solidFill>
                  <a:srgbClr val="1D1B0F"/>
                </a:solidFill>
                <a:latin typeface="Calibri"/>
                <a:cs typeface="Calibri"/>
              </a:rPr>
              <a:t>en</a:t>
            </a:r>
            <a:endParaRPr sz="1650">
              <a:latin typeface="Calibri"/>
              <a:cs typeface="Calibri"/>
            </a:endParaRPr>
          </a:p>
          <a:p>
            <a:pPr marL="12700">
              <a:lnSpc>
                <a:spcPts val="1945"/>
              </a:lnSpc>
            </a:pPr>
            <a:r>
              <a:rPr sz="1650" spc="-10" dirty="0">
                <a:solidFill>
                  <a:srgbClr val="1D1B0F"/>
                </a:solidFill>
                <a:latin typeface="Calibri"/>
                <a:cs typeface="Calibri"/>
              </a:rPr>
              <a:t>profondeur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177920" y="3236468"/>
            <a:ext cx="3615690" cy="2819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50" spc="-10" dirty="0">
                <a:solidFill>
                  <a:srgbClr val="1D1B0F"/>
                </a:solidFill>
                <a:latin typeface="Calibri"/>
                <a:cs typeface="Calibri"/>
              </a:rPr>
              <a:t>Protection</a:t>
            </a:r>
            <a:r>
              <a:rPr sz="1650" spc="-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1D1B0F"/>
                </a:solidFill>
                <a:latin typeface="Calibri"/>
                <a:cs typeface="Calibri"/>
              </a:rPr>
              <a:t>au</a:t>
            </a:r>
            <a:r>
              <a:rPr sz="1650" spc="-4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1D1B0F"/>
                </a:solidFill>
                <a:latin typeface="Calibri"/>
                <a:cs typeface="Calibri"/>
              </a:rPr>
              <a:t>plus</a:t>
            </a:r>
            <a:r>
              <a:rPr sz="1650" spc="-5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1D1B0F"/>
                </a:solidFill>
                <a:latin typeface="Calibri"/>
                <a:cs typeface="Calibri"/>
              </a:rPr>
              <a:t>tôt</a:t>
            </a:r>
            <a:r>
              <a:rPr sz="1650" spc="-3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1D1B0F"/>
                </a:solidFill>
                <a:latin typeface="Calibri"/>
                <a:cs typeface="Calibri"/>
              </a:rPr>
              <a:t>et</a:t>
            </a:r>
            <a:r>
              <a:rPr sz="1650" spc="-2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1D1B0F"/>
                </a:solidFill>
                <a:latin typeface="Calibri"/>
                <a:cs typeface="Calibri"/>
              </a:rPr>
              <a:t>à</a:t>
            </a:r>
            <a:r>
              <a:rPr sz="1650" spc="-3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1D1B0F"/>
                </a:solidFill>
                <a:latin typeface="Calibri"/>
                <a:cs typeface="Calibri"/>
              </a:rPr>
              <a:t>tous</a:t>
            </a:r>
            <a:r>
              <a:rPr sz="1650" spc="-4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1D1B0F"/>
                </a:solidFill>
                <a:latin typeface="Calibri"/>
                <a:cs typeface="Calibri"/>
              </a:rPr>
              <a:t>les</a:t>
            </a:r>
            <a:r>
              <a:rPr sz="1650" spc="-3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1D1B0F"/>
                </a:solidFill>
                <a:latin typeface="Calibri"/>
                <a:cs typeface="Calibri"/>
              </a:rPr>
              <a:t>niveaux</a:t>
            </a:r>
            <a:endParaRPr sz="1650" dirty="0">
              <a:latin typeface="Calibri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971800" y="3642359"/>
            <a:ext cx="8567420" cy="0"/>
          </a:xfrm>
          <a:custGeom>
            <a:avLst/>
            <a:gdLst/>
            <a:ahLst/>
            <a:cxnLst/>
            <a:rect l="l" t="t" r="r" b="b"/>
            <a:pathLst>
              <a:path w="8567420">
                <a:moveTo>
                  <a:pt x="0" y="0"/>
                </a:moveTo>
                <a:lnTo>
                  <a:pt x="8567293" y="0"/>
                </a:lnTo>
              </a:path>
            </a:pathLst>
          </a:custGeom>
          <a:ln w="9144">
            <a:solidFill>
              <a:srgbClr val="FFDF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3177920" y="3639692"/>
            <a:ext cx="1482090" cy="2819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50" spc="-30" dirty="0">
                <a:solidFill>
                  <a:srgbClr val="1D1B0F"/>
                </a:solidFill>
                <a:latin typeface="Calibri"/>
                <a:cs typeface="Calibri"/>
              </a:rPr>
              <a:t>Défenses</a:t>
            </a:r>
            <a:r>
              <a:rPr sz="1650" spc="-4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1D1B0F"/>
                </a:solidFill>
                <a:latin typeface="Calibri"/>
                <a:cs typeface="Calibri"/>
              </a:rPr>
              <a:t>en</a:t>
            </a:r>
            <a:r>
              <a:rPr sz="1650" spc="-5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650" spc="-20" dirty="0">
                <a:solidFill>
                  <a:srgbClr val="1D1B0F"/>
                </a:solidFill>
                <a:latin typeface="Calibri"/>
                <a:cs typeface="Calibri"/>
              </a:rPr>
              <a:t>série</a:t>
            </a:r>
            <a:endParaRPr sz="165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755904" y="4011167"/>
            <a:ext cx="10826750" cy="149860"/>
            <a:chOff x="755904" y="4011167"/>
            <a:chExt cx="10826750" cy="149860"/>
          </a:xfrm>
        </p:grpSpPr>
        <p:sp>
          <p:nvSpPr>
            <p:cNvPr id="23" name="object 23"/>
            <p:cNvSpPr/>
            <p:nvPr/>
          </p:nvSpPr>
          <p:spPr>
            <a:xfrm>
              <a:off x="2971799" y="4044695"/>
              <a:ext cx="8567420" cy="0"/>
            </a:xfrm>
            <a:custGeom>
              <a:avLst/>
              <a:gdLst/>
              <a:ahLst/>
              <a:cxnLst/>
              <a:rect l="l" t="t" r="r" b="b"/>
              <a:pathLst>
                <a:path w="8567420">
                  <a:moveTo>
                    <a:pt x="0" y="0"/>
                  </a:moveTo>
                  <a:lnTo>
                    <a:pt x="8567293" y="0"/>
                  </a:lnTo>
                </a:path>
              </a:pathLst>
            </a:custGeom>
            <a:ln w="9144">
              <a:solidFill>
                <a:srgbClr val="FFDF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5904" y="4011167"/>
              <a:ext cx="10826496" cy="149351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829056" y="4062983"/>
              <a:ext cx="10710545" cy="0"/>
            </a:xfrm>
            <a:custGeom>
              <a:avLst/>
              <a:gdLst/>
              <a:ahLst/>
              <a:cxnLst/>
              <a:rect l="l" t="t" r="r" b="b"/>
              <a:pathLst>
                <a:path w="10710545">
                  <a:moveTo>
                    <a:pt x="0" y="0"/>
                  </a:moveTo>
                  <a:lnTo>
                    <a:pt x="10710037" y="0"/>
                  </a:lnTo>
                </a:path>
              </a:pathLst>
            </a:custGeom>
            <a:ln w="9144">
              <a:solidFill>
                <a:srgbClr val="27DB7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873658" y="4042664"/>
            <a:ext cx="1924050" cy="2819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50" spc="-10" dirty="0">
                <a:solidFill>
                  <a:srgbClr val="1D1B0F"/>
                </a:solidFill>
                <a:latin typeface="Calibri"/>
                <a:cs typeface="Calibri"/>
              </a:rPr>
              <a:t>Goulet</a:t>
            </a:r>
            <a:r>
              <a:rPr sz="1650" spc="-8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650" spc="-20" dirty="0">
                <a:solidFill>
                  <a:srgbClr val="1D1B0F"/>
                </a:solidFill>
                <a:latin typeface="Calibri"/>
                <a:cs typeface="Calibri"/>
              </a:rPr>
              <a:t>d’étranglement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177920" y="4080129"/>
            <a:ext cx="3853179" cy="2819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50" spc="-20" dirty="0">
                <a:solidFill>
                  <a:srgbClr val="1D1B0F"/>
                </a:solidFill>
                <a:latin typeface="Calibri"/>
                <a:cs typeface="Calibri"/>
              </a:rPr>
              <a:t>Point</a:t>
            </a:r>
            <a:r>
              <a:rPr sz="1650" spc="-5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1D1B0F"/>
                </a:solidFill>
                <a:latin typeface="Calibri"/>
                <a:cs typeface="Calibri"/>
              </a:rPr>
              <a:t>de</a:t>
            </a:r>
            <a:r>
              <a:rPr sz="1650" spc="-4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1D1B0F"/>
                </a:solidFill>
                <a:latin typeface="Calibri"/>
                <a:cs typeface="Calibri"/>
              </a:rPr>
              <a:t>sortie</a:t>
            </a:r>
            <a:r>
              <a:rPr sz="1650" spc="-2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1D1B0F"/>
                </a:solidFill>
                <a:latin typeface="Calibri"/>
                <a:cs typeface="Calibri"/>
              </a:rPr>
              <a:t>unique</a:t>
            </a:r>
            <a:r>
              <a:rPr sz="1650" spc="-6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1D1B0F"/>
                </a:solidFill>
                <a:latin typeface="Calibri"/>
                <a:cs typeface="Calibri"/>
              </a:rPr>
              <a:t>permettant</a:t>
            </a:r>
            <a:r>
              <a:rPr sz="1650" spc="-2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1D1B0F"/>
                </a:solidFill>
                <a:latin typeface="Calibri"/>
                <a:cs typeface="Calibri"/>
              </a:rPr>
              <a:t>le</a:t>
            </a:r>
            <a:r>
              <a:rPr sz="1650" spc="-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1D1B0F"/>
                </a:solidFill>
                <a:latin typeface="Calibri"/>
                <a:cs typeface="Calibri"/>
              </a:rPr>
              <a:t>contrôle</a:t>
            </a:r>
            <a:endParaRPr sz="165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755904" y="4837176"/>
            <a:ext cx="10826750" cy="149860"/>
            <a:chOff x="755904" y="4837176"/>
            <a:chExt cx="10826750" cy="149860"/>
          </a:xfrm>
        </p:grpSpPr>
        <p:sp>
          <p:nvSpPr>
            <p:cNvPr id="29" name="object 29"/>
            <p:cNvSpPr/>
            <p:nvPr/>
          </p:nvSpPr>
          <p:spPr>
            <a:xfrm>
              <a:off x="2971799" y="4849368"/>
              <a:ext cx="8567420" cy="0"/>
            </a:xfrm>
            <a:custGeom>
              <a:avLst/>
              <a:gdLst/>
              <a:ahLst/>
              <a:cxnLst/>
              <a:rect l="l" t="t" r="r" b="b"/>
              <a:pathLst>
                <a:path w="8567420">
                  <a:moveTo>
                    <a:pt x="0" y="0"/>
                  </a:moveTo>
                  <a:lnTo>
                    <a:pt x="8567293" y="0"/>
                  </a:lnTo>
                </a:path>
              </a:pathLst>
            </a:custGeom>
            <a:ln w="9144">
              <a:solidFill>
                <a:srgbClr val="FFDF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5904" y="4837176"/>
              <a:ext cx="10826496" cy="149351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829056" y="4888992"/>
              <a:ext cx="10710545" cy="0"/>
            </a:xfrm>
            <a:custGeom>
              <a:avLst/>
              <a:gdLst/>
              <a:ahLst/>
              <a:cxnLst/>
              <a:rect l="l" t="t" r="r" b="b"/>
              <a:pathLst>
                <a:path w="10710545">
                  <a:moveTo>
                    <a:pt x="0" y="0"/>
                  </a:moveTo>
                  <a:lnTo>
                    <a:pt x="10710037" y="0"/>
                  </a:lnTo>
                </a:path>
              </a:pathLst>
            </a:custGeom>
            <a:ln w="9144">
              <a:solidFill>
                <a:srgbClr val="35C5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873658" y="4867783"/>
            <a:ext cx="834390" cy="2819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50" spc="-10" dirty="0">
                <a:solidFill>
                  <a:srgbClr val="1D1B0F"/>
                </a:solidFill>
                <a:latin typeface="Calibri"/>
                <a:cs typeface="Calibri"/>
              </a:rPr>
              <a:t>Simplicité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177920" y="4904613"/>
            <a:ext cx="2577465" cy="2819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50" spc="-20" dirty="0">
                <a:solidFill>
                  <a:srgbClr val="1D1B0F"/>
                </a:solidFill>
                <a:latin typeface="Calibri"/>
                <a:cs typeface="Calibri"/>
              </a:rPr>
              <a:t>Filtrage</a:t>
            </a:r>
            <a:r>
              <a:rPr sz="1650" spc="1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1D1B0F"/>
                </a:solidFill>
                <a:latin typeface="Calibri"/>
                <a:cs typeface="Calibri"/>
              </a:rPr>
              <a:t>le</a:t>
            </a:r>
            <a:r>
              <a:rPr sz="1650" spc="-5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1D1B0F"/>
                </a:solidFill>
                <a:latin typeface="Calibri"/>
                <a:cs typeface="Calibri"/>
              </a:rPr>
              <a:t>plus</a:t>
            </a:r>
            <a:r>
              <a:rPr sz="1650" spc="-45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1D1B0F"/>
                </a:solidFill>
                <a:latin typeface="Calibri"/>
                <a:cs typeface="Calibri"/>
              </a:rPr>
              <a:t>simple</a:t>
            </a:r>
            <a:r>
              <a:rPr sz="1650" spc="-5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1D1B0F"/>
                </a:solidFill>
                <a:latin typeface="Calibri"/>
                <a:cs typeface="Calibri"/>
              </a:rPr>
              <a:t>possible</a:t>
            </a:r>
            <a:endParaRPr sz="1650">
              <a:latin typeface="Calibri"/>
              <a:cs typeface="Calibri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755904" y="5663184"/>
            <a:ext cx="10826750" cy="146685"/>
            <a:chOff x="755904" y="5663184"/>
            <a:chExt cx="10826750" cy="146685"/>
          </a:xfrm>
        </p:grpSpPr>
        <p:sp>
          <p:nvSpPr>
            <p:cNvPr id="35" name="object 35"/>
            <p:cNvSpPr/>
            <p:nvPr/>
          </p:nvSpPr>
          <p:spPr>
            <a:xfrm>
              <a:off x="2971799" y="5675376"/>
              <a:ext cx="8567420" cy="0"/>
            </a:xfrm>
            <a:custGeom>
              <a:avLst/>
              <a:gdLst/>
              <a:ahLst/>
              <a:cxnLst/>
              <a:rect l="l" t="t" r="r" b="b"/>
              <a:pathLst>
                <a:path w="8567420">
                  <a:moveTo>
                    <a:pt x="0" y="0"/>
                  </a:moveTo>
                  <a:lnTo>
                    <a:pt x="8567293" y="0"/>
                  </a:lnTo>
                </a:path>
              </a:pathLst>
            </a:custGeom>
            <a:ln w="9144">
              <a:solidFill>
                <a:srgbClr val="FFDF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5904" y="5663184"/>
              <a:ext cx="10826496" cy="146303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829056" y="5711952"/>
              <a:ext cx="10710545" cy="0"/>
            </a:xfrm>
            <a:custGeom>
              <a:avLst/>
              <a:gdLst/>
              <a:ahLst/>
              <a:cxnLst/>
              <a:rect l="l" t="t" r="r" b="b"/>
              <a:pathLst>
                <a:path w="10710545">
                  <a:moveTo>
                    <a:pt x="0" y="0"/>
                  </a:moveTo>
                  <a:lnTo>
                    <a:pt x="10710037" y="0"/>
                  </a:lnTo>
                </a:path>
              </a:pathLst>
            </a:custGeom>
            <a:ln w="9144">
              <a:solidFill>
                <a:srgbClr val="436EC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873658" y="5693155"/>
            <a:ext cx="1117600" cy="2819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50" spc="-10" dirty="0">
                <a:solidFill>
                  <a:srgbClr val="1D1B0F"/>
                </a:solidFill>
                <a:latin typeface="Calibri"/>
                <a:cs typeface="Calibri"/>
              </a:rPr>
              <a:t>Concertation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177920" y="5730646"/>
            <a:ext cx="3673475" cy="2819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50" spc="-10" dirty="0">
                <a:solidFill>
                  <a:srgbClr val="1D1B0F"/>
                </a:solidFill>
                <a:latin typeface="Calibri"/>
                <a:cs typeface="Calibri"/>
              </a:rPr>
              <a:t>Acceptation</a:t>
            </a:r>
            <a:r>
              <a:rPr sz="1650" dirty="0">
                <a:solidFill>
                  <a:srgbClr val="1D1B0F"/>
                </a:solidFill>
                <a:latin typeface="Calibri"/>
                <a:cs typeface="Calibri"/>
              </a:rPr>
              <a:t> des</a:t>
            </a:r>
            <a:r>
              <a:rPr sz="1650" spc="-20" dirty="0">
                <a:solidFill>
                  <a:srgbClr val="1D1B0F"/>
                </a:solidFill>
                <a:latin typeface="Calibri"/>
                <a:cs typeface="Calibri"/>
              </a:rPr>
              <a:t> contraintes</a:t>
            </a:r>
            <a:r>
              <a:rPr sz="1650" spc="-3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1D1B0F"/>
                </a:solidFill>
                <a:latin typeface="Calibri"/>
                <a:cs typeface="Calibri"/>
              </a:rPr>
              <a:t>par</a:t>
            </a:r>
            <a:r>
              <a:rPr sz="1650" spc="-40" dirty="0">
                <a:solidFill>
                  <a:srgbClr val="1D1B0F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1D1B0F"/>
                </a:solidFill>
                <a:latin typeface="Calibri"/>
                <a:cs typeface="Calibri"/>
              </a:rPr>
              <a:t>utilisateurs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2971800" y="6498335"/>
            <a:ext cx="8567420" cy="0"/>
          </a:xfrm>
          <a:custGeom>
            <a:avLst/>
            <a:gdLst/>
            <a:ahLst/>
            <a:cxnLst/>
            <a:rect l="l" t="t" r="r" b="b"/>
            <a:pathLst>
              <a:path w="8567420">
                <a:moveTo>
                  <a:pt x="0" y="0"/>
                </a:moveTo>
                <a:lnTo>
                  <a:pt x="8567293" y="0"/>
                </a:lnTo>
              </a:path>
            </a:pathLst>
          </a:custGeom>
          <a:ln w="9144">
            <a:solidFill>
              <a:srgbClr val="FFDF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10531856" y="6373164"/>
            <a:ext cx="202565" cy="245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50" spc="-25" dirty="0">
                <a:solidFill>
                  <a:srgbClr val="858585"/>
                </a:solidFill>
                <a:latin typeface="Calibri"/>
                <a:cs typeface="Calibri"/>
              </a:rPr>
              <a:t>40</a:t>
            </a:r>
            <a:endParaRPr sz="14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498340" y="2751277"/>
            <a:ext cx="33312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spc="-10" dirty="0">
                <a:solidFill>
                  <a:srgbClr val="FFFFFF"/>
                </a:solidFill>
                <a:latin typeface="Calibri"/>
                <a:cs typeface="Calibri"/>
              </a:rPr>
              <a:t>Fin</a:t>
            </a:r>
            <a:r>
              <a:rPr sz="4400" b="1" spc="-2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400" b="1" spc="-140" dirty="0">
                <a:solidFill>
                  <a:srgbClr val="FFFFFF"/>
                </a:solidFill>
                <a:latin typeface="Calibri"/>
                <a:cs typeface="Calibri"/>
              </a:rPr>
              <a:t>du</a:t>
            </a:r>
            <a:r>
              <a:rPr sz="4400" b="1" spc="-5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400" b="1" spc="-25" dirty="0">
                <a:solidFill>
                  <a:srgbClr val="FFFFFF"/>
                </a:solidFill>
                <a:latin typeface="Calibri"/>
                <a:cs typeface="Calibri"/>
              </a:rPr>
              <a:t>chapitre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3A8A12DF-F389-83CF-5EA0-8793A89D93F8}"/>
              </a:ext>
            </a:extLst>
          </p:cNvPr>
          <p:cNvSpPr txBox="1"/>
          <p:nvPr/>
        </p:nvSpPr>
        <p:spPr>
          <a:xfrm>
            <a:off x="2782250" y="2725877"/>
            <a:ext cx="6763390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6600" dirty="0">
                <a:solidFill>
                  <a:srgbClr val="C00000"/>
                </a:solidFill>
                <a:latin typeface="Segoe Print" panose="02000600000000000000" pitchFamily="2" charset="0"/>
              </a:rPr>
              <a:t>Fin du chapitre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sprit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sprit" id="{CF689974-CC37-40EE-A2B4-7C19456630E6}" vid="{E91750A3-A7A2-474B-AA47-14B7AF8813C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esprit</Template>
  <TotalTime>1561</TotalTime>
  <Words>2944</Words>
  <Application>Microsoft Office PowerPoint</Application>
  <PresentationFormat>Grand écran</PresentationFormat>
  <Paragraphs>426</Paragraphs>
  <Slides>36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36</vt:i4>
      </vt:variant>
    </vt:vector>
  </HeadingPairs>
  <TitlesOfParts>
    <vt:vector size="45" baseType="lpstr">
      <vt:lpstr>MS PGothic</vt:lpstr>
      <vt:lpstr>MS UI Gothic</vt:lpstr>
      <vt:lpstr>Arial</vt:lpstr>
      <vt:lpstr>Arial MT</vt:lpstr>
      <vt:lpstr>Calibri</vt:lpstr>
      <vt:lpstr>Segoe Print</vt:lpstr>
      <vt:lpstr>Times New Roman</vt:lpstr>
      <vt:lpstr>Trebuchet MS</vt:lpstr>
      <vt:lpstr>esprit</vt:lpstr>
      <vt:lpstr>Présentation PowerPoint</vt:lpstr>
      <vt:lpstr>Plan du chapitre</vt:lpstr>
      <vt:lpstr>Préambule (1/2) </vt:lpstr>
      <vt:lpstr>Préambule (2/2)</vt:lpstr>
      <vt:lpstr>Les enjeux de la sécurité informatique</vt:lpstr>
      <vt:lpstr>Pourquoi les pirates s’intéressent aux S.I? </vt:lpstr>
      <vt:lpstr>Pourquoi les pirates s’intéressent aux S.I? </vt:lpstr>
      <vt:lpstr>Pourquoi les pirates s’intéressent aux S.I? (</vt:lpstr>
      <vt:lpstr>Impacts de la Sécurité Informatique (1/2)</vt:lpstr>
      <vt:lpstr>Impacts de la Sécurité Informatique (2/2)</vt:lpstr>
      <vt:lpstr>Les services de la sécurité</vt:lpstr>
      <vt:lpstr>Objectifs complémentaires</vt:lpstr>
      <vt:lpstr>Exemple d’évaluation DICP</vt:lpstr>
      <vt:lpstr>Actions de Sécurité à mettre en place</vt:lpstr>
      <vt:lpstr>Mécanismes de Sécurité pour atteindre les besoins DICP (1/2)</vt:lpstr>
      <vt:lpstr>Mécanismes de Sécurité pour atteindre les besoins DICP (2/2)</vt:lpstr>
      <vt:lpstr>Vulnérabilité</vt:lpstr>
      <vt:lpstr>Vulnérabilités</vt:lpstr>
      <vt:lpstr>Les principales causes des vulnérabilités</vt:lpstr>
      <vt:lpstr>La menace (1)</vt:lpstr>
      <vt:lpstr>La menace (2)</vt:lpstr>
      <vt:lpstr>Impact</vt:lpstr>
      <vt:lpstr>Relation vulnérabilité-menace-impact</vt:lpstr>
      <vt:lpstr>Les Risques (1/2)</vt:lpstr>
      <vt:lpstr>Les Risques - Classification (1/2)</vt:lpstr>
      <vt:lpstr>Présentation PowerPoint</vt:lpstr>
      <vt:lpstr>Attaque par logiciel malveillant (1)</vt:lpstr>
      <vt:lpstr>Attaque par logiciel malveillant (2)</vt:lpstr>
      <vt:lpstr>Attaque par messagerie électronique</vt:lpstr>
      <vt:lpstr>Attaque par mise en réseau</vt:lpstr>
      <vt:lpstr>Les contre-mesures (1)</vt:lpstr>
      <vt:lpstr>Les contre-mesures </vt:lpstr>
      <vt:lpstr>Relation entre concepts de sécurité</vt:lpstr>
      <vt:lpstr>Règles de base de la sécurité: Méthodologie</vt:lpstr>
      <vt:lpstr>Règles de base</vt:lpstr>
      <vt:lpstr>Fin du chapitre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Sécurité Informatique</dc:title>
  <dc:creator>MILADI</dc:creator>
  <cp:lastModifiedBy>sirajeddine miladi</cp:lastModifiedBy>
  <cp:revision>5</cp:revision>
  <dcterms:created xsi:type="dcterms:W3CDTF">2024-03-11T15:46:19Z</dcterms:created>
  <dcterms:modified xsi:type="dcterms:W3CDTF">2024-09-06T14:57:26Z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2023-09-22T00:00:00Z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2024-03-11T00:00:00Z</vt:filetime>
  </property>
  <property fmtid="{D5CDD505-2E9C-101B-9397-08002B2CF9AE}" pid="5" name="Producer">
    <vt:lpwstr>Microsoft® PowerPoint® 2019</vt:lpwstr>
  </property>
</Properties>
</file>