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6"/>
  </p:notesMasterIdLst>
  <p:sldIdLst>
    <p:sldId id="256" r:id="rId2"/>
    <p:sldId id="257" r:id="rId3"/>
    <p:sldId id="259" r:id="rId4"/>
    <p:sldId id="260" r:id="rId5"/>
    <p:sldId id="261" r:id="rId6"/>
    <p:sldId id="262" r:id="rId7"/>
    <p:sldId id="301"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81" r:id="rId23"/>
    <p:sldId id="282" r:id="rId24"/>
    <p:sldId id="283" r:id="rId25"/>
    <p:sldId id="291" r:id="rId26"/>
    <p:sldId id="294" r:id="rId27"/>
    <p:sldId id="293" r:id="rId28"/>
    <p:sldId id="295" r:id="rId29"/>
    <p:sldId id="298" r:id="rId30"/>
    <p:sldId id="284" r:id="rId31"/>
    <p:sldId id="302" r:id="rId32"/>
    <p:sldId id="288" r:id="rId33"/>
    <p:sldId id="289" r:id="rId34"/>
    <p:sldId id="290" r:id="rId35"/>
  </p:sldIdLst>
  <p:sldSz cx="12192000" cy="6858000"/>
  <p:notesSz cx="12192000" cy="6858000"/>
  <p:defaultTextStyle>
    <a:defPPr>
      <a:defRPr lang="fr-T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34" autoAdjust="0"/>
    <p:restoredTop sz="94474" autoAdjust="0"/>
  </p:normalViewPr>
  <p:slideViewPr>
    <p:cSldViewPr>
      <p:cViewPr varScale="1">
        <p:scale>
          <a:sx n="68" d="100"/>
          <a:sy n="68" d="100"/>
        </p:scale>
        <p:origin x="48" y="78"/>
      </p:cViewPr>
      <p:guideLst>
        <p:guide orient="horz" pos="2880"/>
        <p:guide pos="2160"/>
      </p:guideLst>
    </p:cSldViewPr>
  </p:slideViewPr>
  <p:outlineViewPr>
    <p:cViewPr>
      <p:scale>
        <a:sx n="33" d="100"/>
        <a:sy n="33" d="100"/>
      </p:scale>
      <p:origin x="0" y="-5910"/>
    </p:cViewPr>
  </p:outlin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CC9CA5-1AE6-4ADC-B0A5-7A1C1BDB5B79}"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GB"/>
        </a:p>
      </dgm:t>
    </dgm:pt>
    <dgm:pt modelId="{0A0D305A-FE5B-47F5-A7AB-58194AE16EAD}">
      <dgm:prSet/>
      <dgm:spPr/>
      <dgm:t>
        <a:bodyPr/>
        <a:lstStyle/>
        <a:p>
          <a:r>
            <a:rPr lang="fr-FR" b="1"/>
            <a:t>Red Hat Hackers :</a:t>
          </a:r>
          <a:r>
            <a:rPr lang="fr-FR"/>
            <a:t> des hackers vigilants, qui agissent dans un cadre éthique. Leur but est de détruire les black hackers et de les contre-attaquer</a:t>
          </a:r>
          <a:endParaRPr lang="en-GB"/>
        </a:p>
      </dgm:t>
    </dgm:pt>
    <dgm:pt modelId="{04346FBD-E834-484C-B0EC-37CAFF64BC6F}" type="parTrans" cxnId="{79BEBA5B-44A1-4CE8-8E7B-C32599C2B727}">
      <dgm:prSet/>
      <dgm:spPr/>
      <dgm:t>
        <a:bodyPr/>
        <a:lstStyle/>
        <a:p>
          <a:endParaRPr lang="en-GB"/>
        </a:p>
      </dgm:t>
    </dgm:pt>
    <dgm:pt modelId="{1263F104-3B79-4A7B-98D6-61A1506791EC}" type="sibTrans" cxnId="{79BEBA5B-44A1-4CE8-8E7B-C32599C2B727}">
      <dgm:prSet/>
      <dgm:spPr/>
      <dgm:t>
        <a:bodyPr/>
        <a:lstStyle/>
        <a:p>
          <a:endParaRPr lang="en-GB"/>
        </a:p>
      </dgm:t>
    </dgm:pt>
    <dgm:pt modelId="{16345912-4D56-4A8C-8084-E728447BBAB3}">
      <dgm:prSet/>
      <dgm:spPr/>
      <dgm:t>
        <a:bodyPr/>
        <a:lstStyle/>
        <a:p>
          <a:r>
            <a:rPr lang="fr-FR" b="1"/>
            <a:t>Green Hat hackers:</a:t>
          </a:r>
          <a:r>
            <a:rPr lang="fr-FR"/>
            <a:t> ne sont pas des experts ou des spécialistes du domaines, ce sont des enthousiastes qui intègrent le monde du hacking.</a:t>
          </a:r>
          <a:endParaRPr lang="en-GB"/>
        </a:p>
      </dgm:t>
    </dgm:pt>
    <dgm:pt modelId="{6E3AC9B7-0542-4346-8280-842B681FACB2}" type="parTrans" cxnId="{D81FC493-3B22-4074-AB60-9288886B095A}">
      <dgm:prSet/>
      <dgm:spPr/>
      <dgm:t>
        <a:bodyPr/>
        <a:lstStyle/>
        <a:p>
          <a:endParaRPr lang="en-GB"/>
        </a:p>
      </dgm:t>
    </dgm:pt>
    <dgm:pt modelId="{BCE9CF44-7E2F-46C4-908D-089BC54B5C58}" type="sibTrans" cxnId="{D81FC493-3B22-4074-AB60-9288886B095A}">
      <dgm:prSet/>
      <dgm:spPr/>
      <dgm:t>
        <a:bodyPr/>
        <a:lstStyle/>
        <a:p>
          <a:endParaRPr lang="en-GB"/>
        </a:p>
      </dgm:t>
    </dgm:pt>
    <dgm:pt modelId="{C734F277-AFF5-479F-A0D0-881E2093706E}">
      <dgm:prSet/>
      <dgm:spPr/>
      <dgm:t>
        <a:bodyPr/>
        <a:lstStyle/>
        <a:p>
          <a:r>
            <a:rPr lang="en-US" b="1" i="0"/>
            <a:t>Script kiddies: </a:t>
          </a:r>
          <a:r>
            <a:rPr lang="en-US" i="0"/>
            <a:t>n</a:t>
          </a:r>
          <a:r>
            <a:rPr lang="en-US"/>
            <a:t>ovices, utilisent des scripts </a:t>
          </a:r>
          <a:r>
            <a:rPr lang="fr-FR"/>
            <a:t>prêts</a:t>
          </a:r>
          <a:r>
            <a:rPr lang="en-US"/>
            <a:t> à utiliser</a:t>
          </a:r>
          <a:endParaRPr lang="en-GB"/>
        </a:p>
      </dgm:t>
    </dgm:pt>
    <dgm:pt modelId="{FB71CC55-FEF4-4916-934C-9200166F8B61}" type="parTrans" cxnId="{1A8FFE1B-941C-4726-8292-B573776FB464}">
      <dgm:prSet/>
      <dgm:spPr/>
      <dgm:t>
        <a:bodyPr/>
        <a:lstStyle/>
        <a:p>
          <a:endParaRPr lang="en-GB"/>
        </a:p>
      </dgm:t>
    </dgm:pt>
    <dgm:pt modelId="{2812E794-515C-439F-86DF-350A5137B2CB}" type="sibTrans" cxnId="{1A8FFE1B-941C-4726-8292-B573776FB464}">
      <dgm:prSet/>
      <dgm:spPr/>
      <dgm:t>
        <a:bodyPr/>
        <a:lstStyle/>
        <a:p>
          <a:endParaRPr lang="en-GB"/>
        </a:p>
      </dgm:t>
    </dgm:pt>
    <dgm:pt modelId="{D7F2E9FB-6202-4CD5-A59B-B0791FE273E8}">
      <dgm:prSet/>
      <dgm:spPr/>
      <dgm:t>
        <a:bodyPr/>
        <a:lstStyle/>
        <a:p>
          <a:r>
            <a:rPr lang="en-US" b="1" i="0"/>
            <a:t>Nation-state hackers</a:t>
          </a:r>
          <a:r>
            <a:rPr lang="fr-FR" i="0"/>
            <a:t>: a</a:t>
          </a:r>
          <a:r>
            <a:rPr lang="fr-FR"/>
            <a:t>ppelés aussi </a:t>
          </a:r>
          <a:r>
            <a:rPr lang="en-US" i="1"/>
            <a:t>state-sponsored hackers</a:t>
          </a:r>
          <a:r>
            <a:rPr lang="en-US" i="0"/>
            <a:t>, employés par les états pour hackers d’autres </a:t>
          </a:r>
          <a:r>
            <a:rPr lang="en-US"/>
            <a:t>grouvernemets / </a:t>
          </a:r>
          <a:r>
            <a:rPr lang="fr-FR"/>
            <a:t>campanies</a:t>
          </a:r>
          <a:r>
            <a:rPr lang="en-US"/>
            <a:t>…</a:t>
          </a:r>
          <a:endParaRPr lang="en-GB"/>
        </a:p>
      </dgm:t>
    </dgm:pt>
    <dgm:pt modelId="{1BAE7FE2-5464-453F-83C9-D2BD246E0BB7}" type="parTrans" cxnId="{F298380B-3DE0-46AB-8D9E-A2C365849CF8}">
      <dgm:prSet/>
      <dgm:spPr/>
      <dgm:t>
        <a:bodyPr/>
        <a:lstStyle/>
        <a:p>
          <a:endParaRPr lang="en-GB"/>
        </a:p>
      </dgm:t>
    </dgm:pt>
    <dgm:pt modelId="{47EFD57D-98BA-45CE-8597-47CA63E6369C}" type="sibTrans" cxnId="{F298380B-3DE0-46AB-8D9E-A2C365849CF8}">
      <dgm:prSet/>
      <dgm:spPr/>
      <dgm:t>
        <a:bodyPr/>
        <a:lstStyle/>
        <a:p>
          <a:endParaRPr lang="en-GB"/>
        </a:p>
      </dgm:t>
    </dgm:pt>
    <dgm:pt modelId="{9693C7A6-772F-4252-9401-0AD677C81ADD}">
      <dgm:prSet/>
      <dgm:spPr/>
      <dgm:t>
        <a:bodyPr/>
        <a:lstStyle/>
        <a:p>
          <a:r>
            <a:rPr lang="en-US" b="1" i="0"/>
            <a:t>Hacktivists: </a:t>
          </a:r>
          <a:r>
            <a:rPr lang="en-US"/>
            <a:t>hacker + activist, ils ont des motivations politiques ou sociale (peuvent supporter des causes).</a:t>
          </a:r>
          <a:endParaRPr lang="en-GB"/>
        </a:p>
      </dgm:t>
    </dgm:pt>
    <dgm:pt modelId="{566B9BC6-987E-4656-9FD5-3D4428F79688}" type="parTrans" cxnId="{E3D3B82C-7865-4DE1-ABA7-B9A237235889}">
      <dgm:prSet/>
      <dgm:spPr/>
      <dgm:t>
        <a:bodyPr/>
        <a:lstStyle/>
        <a:p>
          <a:endParaRPr lang="en-GB"/>
        </a:p>
      </dgm:t>
    </dgm:pt>
    <dgm:pt modelId="{A863E9BC-505A-4BA0-B0B6-B73EB1D4E332}" type="sibTrans" cxnId="{E3D3B82C-7865-4DE1-ABA7-B9A237235889}">
      <dgm:prSet/>
      <dgm:spPr/>
      <dgm:t>
        <a:bodyPr/>
        <a:lstStyle/>
        <a:p>
          <a:endParaRPr lang="en-GB"/>
        </a:p>
      </dgm:t>
    </dgm:pt>
    <dgm:pt modelId="{EDE544A0-3553-4CB0-9E57-2ABDC1EA2273}">
      <dgm:prSet/>
      <dgm:spPr/>
      <dgm:t>
        <a:bodyPr/>
        <a:lstStyle/>
        <a:p>
          <a:r>
            <a:rPr lang="en-US" b="1" i="0"/>
            <a:t>Malicious insiders</a:t>
          </a:r>
          <a:r>
            <a:rPr lang="en-US" i="0"/>
            <a:t>: ce sont des attaquants internes, peuvent êtres des employés travaillant pour des entreprises concurrentes .</a:t>
          </a:r>
          <a:endParaRPr lang="en-GB"/>
        </a:p>
      </dgm:t>
    </dgm:pt>
    <dgm:pt modelId="{DCFBC092-3607-472F-8847-FA2262A58816}" type="parTrans" cxnId="{587ACDA7-CA3C-49C5-8D77-AC9AB65B5C63}">
      <dgm:prSet/>
      <dgm:spPr/>
      <dgm:t>
        <a:bodyPr/>
        <a:lstStyle/>
        <a:p>
          <a:endParaRPr lang="en-GB"/>
        </a:p>
      </dgm:t>
    </dgm:pt>
    <dgm:pt modelId="{6F280CEA-8E04-4249-82F9-9D03EA48FE74}" type="sibTrans" cxnId="{587ACDA7-CA3C-49C5-8D77-AC9AB65B5C63}">
      <dgm:prSet/>
      <dgm:spPr/>
      <dgm:t>
        <a:bodyPr/>
        <a:lstStyle/>
        <a:p>
          <a:endParaRPr lang="en-GB"/>
        </a:p>
      </dgm:t>
    </dgm:pt>
    <dgm:pt modelId="{DCB74242-A219-4371-93B1-371AD06E83FB}" type="pres">
      <dgm:prSet presAssocID="{62CC9CA5-1AE6-4ADC-B0A5-7A1C1BDB5B79}" presName="diagram" presStyleCnt="0">
        <dgm:presLayoutVars>
          <dgm:dir/>
          <dgm:resizeHandles val="exact"/>
        </dgm:presLayoutVars>
      </dgm:prSet>
      <dgm:spPr/>
    </dgm:pt>
    <dgm:pt modelId="{C741ACDF-5879-4EA2-A9BE-C09B420C6EC5}" type="pres">
      <dgm:prSet presAssocID="{0A0D305A-FE5B-47F5-A7AB-58194AE16EAD}" presName="node" presStyleLbl="node1" presStyleIdx="0" presStyleCnt="6">
        <dgm:presLayoutVars>
          <dgm:bulletEnabled val="1"/>
        </dgm:presLayoutVars>
      </dgm:prSet>
      <dgm:spPr/>
    </dgm:pt>
    <dgm:pt modelId="{9F6338A2-5F31-4E0A-B1F8-0BB564002BC4}" type="pres">
      <dgm:prSet presAssocID="{1263F104-3B79-4A7B-98D6-61A1506791EC}" presName="sibTrans" presStyleCnt="0"/>
      <dgm:spPr/>
    </dgm:pt>
    <dgm:pt modelId="{83AFC974-10EE-4832-A02A-3104409E3D37}" type="pres">
      <dgm:prSet presAssocID="{16345912-4D56-4A8C-8084-E728447BBAB3}" presName="node" presStyleLbl="node1" presStyleIdx="1" presStyleCnt="6">
        <dgm:presLayoutVars>
          <dgm:bulletEnabled val="1"/>
        </dgm:presLayoutVars>
      </dgm:prSet>
      <dgm:spPr/>
    </dgm:pt>
    <dgm:pt modelId="{70C56F32-C404-4E1C-8ED3-BE985A40FC41}" type="pres">
      <dgm:prSet presAssocID="{BCE9CF44-7E2F-46C4-908D-089BC54B5C58}" presName="sibTrans" presStyleCnt="0"/>
      <dgm:spPr/>
    </dgm:pt>
    <dgm:pt modelId="{CA24C922-634C-4D86-8A3C-9A102D3F8F8C}" type="pres">
      <dgm:prSet presAssocID="{C734F277-AFF5-479F-A0D0-881E2093706E}" presName="node" presStyleLbl="node1" presStyleIdx="2" presStyleCnt="6">
        <dgm:presLayoutVars>
          <dgm:bulletEnabled val="1"/>
        </dgm:presLayoutVars>
      </dgm:prSet>
      <dgm:spPr/>
    </dgm:pt>
    <dgm:pt modelId="{CA6814BB-75A3-42BE-96C6-5FDC9772FAC8}" type="pres">
      <dgm:prSet presAssocID="{2812E794-515C-439F-86DF-350A5137B2CB}" presName="sibTrans" presStyleCnt="0"/>
      <dgm:spPr/>
    </dgm:pt>
    <dgm:pt modelId="{554AAF75-E18C-47DE-A89C-83BED746D6CA}" type="pres">
      <dgm:prSet presAssocID="{D7F2E9FB-6202-4CD5-A59B-B0791FE273E8}" presName="node" presStyleLbl="node1" presStyleIdx="3" presStyleCnt="6">
        <dgm:presLayoutVars>
          <dgm:bulletEnabled val="1"/>
        </dgm:presLayoutVars>
      </dgm:prSet>
      <dgm:spPr/>
    </dgm:pt>
    <dgm:pt modelId="{AB7FAF7D-2886-4EC1-BFAB-E220CA3B52F5}" type="pres">
      <dgm:prSet presAssocID="{47EFD57D-98BA-45CE-8597-47CA63E6369C}" presName="sibTrans" presStyleCnt="0"/>
      <dgm:spPr/>
    </dgm:pt>
    <dgm:pt modelId="{2958DBD9-2FB6-48F7-9DD4-0FEE4A8594DF}" type="pres">
      <dgm:prSet presAssocID="{9693C7A6-772F-4252-9401-0AD677C81ADD}" presName="node" presStyleLbl="node1" presStyleIdx="4" presStyleCnt="6">
        <dgm:presLayoutVars>
          <dgm:bulletEnabled val="1"/>
        </dgm:presLayoutVars>
      </dgm:prSet>
      <dgm:spPr/>
    </dgm:pt>
    <dgm:pt modelId="{B5DFA17E-2715-47D5-BF88-9EF40B7868F3}" type="pres">
      <dgm:prSet presAssocID="{A863E9BC-505A-4BA0-B0B6-B73EB1D4E332}" presName="sibTrans" presStyleCnt="0"/>
      <dgm:spPr/>
    </dgm:pt>
    <dgm:pt modelId="{40D8B929-89A9-48F5-AEDB-580C2BA1E6FC}" type="pres">
      <dgm:prSet presAssocID="{EDE544A0-3553-4CB0-9E57-2ABDC1EA2273}" presName="node" presStyleLbl="node1" presStyleIdx="5" presStyleCnt="6">
        <dgm:presLayoutVars>
          <dgm:bulletEnabled val="1"/>
        </dgm:presLayoutVars>
      </dgm:prSet>
      <dgm:spPr/>
    </dgm:pt>
  </dgm:ptLst>
  <dgm:cxnLst>
    <dgm:cxn modelId="{F298380B-3DE0-46AB-8D9E-A2C365849CF8}" srcId="{62CC9CA5-1AE6-4ADC-B0A5-7A1C1BDB5B79}" destId="{D7F2E9FB-6202-4CD5-A59B-B0791FE273E8}" srcOrd="3" destOrd="0" parTransId="{1BAE7FE2-5464-453F-83C9-D2BD246E0BB7}" sibTransId="{47EFD57D-98BA-45CE-8597-47CA63E6369C}"/>
    <dgm:cxn modelId="{1A8FFE1B-941C-4726-8292-B573776FB464}" srcId="{62CC9CA5-1AE6-4ADC-B0A5-7A1C1BDB5B79}" destId="{C734F277-AFF5-479F-A0D0-881E2093706E}" srcOrd="2" destOrd="0" parTransId="{FB71CC55-FEF4-4916-934C-9200166F8B61}" sibTransId="{2812E794-515C-439F-86DF-350A5137B2CB}"/>
    <dgm:cxn modelId="{E3D3B82C-7865-4DE1-ABA7-B9A237235889}" srcId="{62CC9CA5-1AE6-4ADC-B0A5-7A1C1BDB5B79}" destId="{9693C7A6-772F-4252-9401-0AD677C81ADD}" srcOrd="4" destOrd="0" parTransId="{566B9BC6-987E-4656-9FD5-3D4428F79688}" sibTransId="{A863E9BC-505A-4BA0-B0B6-B73EB1D4E332}"/>
    <dgm:cxn modelId="{79BEBA5B-44A1-4CE8-8E7B-C32599C2B727}" srcId="{62CC9CA5-1AE6-4ADC-B0A5-7A1C1BDB5B79}" destId="{0A0D305A-FE5B-47F5-A7AB-58194AE16EAD}" srcOrd="0" destOrd="0" parTransId="{04346FBD-E834-484C-B0EC-37CAFF64BC6F}" sibTransId="{1263F104-3B79-4A7B-98D6-61A1506791EC}"/>
    <dgm:cxn modelId="{1A104D4F-57A2-4727-890D-4FC6ADDC1BE6}" type="presOf" srcId="{C734F277-AFF5-479F-A0D0-881E2093706E}" destId="{CA24C922-634C-4D86-8A3C-9A102D3F8F8C}" srcOrd="0" destOrd="0" presId="urn:microsoft.com/office/officeart/2005/8/layout/default"/>
    <dgm:cxn modelId="{BEC9A77E-C796-47DF-8300-6F4113821480}" type="presOf" srcId="{9693C7A6-772F-4252-9401-0AD677C81ADD}" destId="{2958DBD9-2FB6-48F7-9DD4-0FEE4A8594DF}" srcOrd="0" destOrd="0" presId="urn:microsoft.com/office/officeart/2005/8/layout/default"/>
    <dgm:cxn modelId="{7C4E7B8F-E363-4EC6-AD95-4F187D62EBA1}" type="presOf" srcId="{EDE544A0-3553-4CB0-9E57-2ABDC1EA2273}" destId="{40D8B929-89A9-48F5-AEDB-580C2BA1E6FC}" srcOrd="0" destOrd="0" presId="urn:microsoft.com/office/officeart/2005/8/layout/default"/>
    <dgm:cxn modelId="{2F032791-3DA4-40E8-8DB6-1B58B2C98652}" type="presOf" srcId="{16345912-4D56-4A8C-8084-E728447BBAB3}" destId="{83AFC974-10EE-4832-A02A-3104409E3D37}" srcOrd="0" destOrd="0" presId="urn:microsoft.com/office/officeart/2005/8/layout/default"/>
    <dgm:cxn modelId="{D81FC493-3B22-4074-AB60-9288886B095A}" srcId="{62CC9CA5-1AE6-4ADC-B0A5-7A1C1BDB5B79}" destId="{16345912-4D56-4A8C-8084-E728447BBAB3}" srcOrd="1" destOrd="0" parTransId="{6E3AC9B7-0542-4346-8280-842B681FACB2}" sibTransId="{BCE9CF44-7E2F-46C4-908D-089BC54B5C58}"/>
    <dgm:cxn modelId="{587ACDA7-CA3C-49C5-8D77-AC9AB65B5C63}" srcId="{62CC9CA5-1AE6-4ADC-B0A5-7A1C1BDB5B79}" destId="{EDE544A0-3553-4CB0-9E57-2ABDC1EA2273}" srcOrd="5" destOrd="0" parTransId="{DCFBC092-3607-472F-8847-FA2262A58816}" sibTransId="{6F280CEA-8E04-4249-82F9-9D03EA48FE74}"/>
    <dgm:cxn modelId="{98691EAA-F204-4B50-8DD6-7B5A69ACB701}" type="presOf" srcId="{0A0D305A-FE5B-47F5-A7AB-58194AE16EAD}" destId="{C741ACDF-5879-4EA2-A9BE-C09B420C6EC5}" srcOrd="0" destOrd="0" presId="urn:microsoft.com/office/officeart/2005/8/layout/default"/>
    <dgm:cxn modelId="{C42EF4CE-DD8C-4AE7-BF71-07892E8468A0}" type="presOf" srcId="{62CC9CA5-1AE6-4ADC-B0A5-7A1C1BDB5B79}" destId="{DCB74242-A219-4371-93B1-371AD06E83FB}" srcOrd="0" destOrd="0" presId="urn:microsoft.com/office/officeart/2005/8/layout/default"/>
    <dgm:cxn modelId="{44BF1AEA-2B72-4CD8-B816-AD92F660C60D}" type="presOf" srcId="{D7F2E9FB-6202-4CD5-A59B-B0791FE273E8}" destId="{554AAF75-E18C-47DE-A89C-83BED746D6CA}" srcOrd="0" destOrd="0" presId="urn:microsoft.com/office/officeart/2005/8/layout/default"/>
    <dgm:cxn modelId="{FA7E5AC5-BF67-485F-B4B7-95D3B1597777}" type="presParOf" srcId="{DCB74242-A219-4371-93B1-371AD06E83FB}" destId="{C741ACDF-5879-4EA2-A9BE-C09B420C6EC5}" srcOrd="0" destOrd="0" presId="urn:microsoft.com/office/officeart/2005/8/layout/default"/>
    <dgm:cxn modelId="{44959368-336F-4F2A-8AED-F0CA8364575A}" type="presParOf" srcId="{DCB74242-A219-4371-93B1-371AD06E83FB}" destId="{9F6338A2-5F31-4E0A-B1F8-0BB564002BC4}" srcOrd="1" destOrd="0" presId="urn:microsoft.com/office/officeart/2005/8/layout/default"/>
    <dgm:cxn modelId="{9C502597-46FE-4473-ABB3-4093346CA8E6}" type="presParOf" srcId="{DCB74242-A219-4371-93B1-371AD06E83FB}" destId="{83AFC974-10EE-4832-A02A-3104409E3D37}" srcOrd="2" destOrd="0" presId="urn:microsoft.com/office/officeart/2005/8/layout/default"/>
    <dgm:cxn modelId="{09DA2FD2-4FCB-49BF-9842-E9A5F9C11398}" type="presParOf" srcId="{DCB74242-A219-4371-93B1-371AD06E83FB}" destId="{70C56F32-C404-4E1C-8ED3-BE985A40FC41}" srcOrd="3" destOrd="0" presId="urn:microsoft.com/office/officeart/2005/8/layout/default"/>
    <dgm:cxn modelId="{68EE98BC-FCBB-4902-9160-43EAE5E2858A}" type="presParOf" srcId="{DCB74242-A219-4371-93B1-371AD06E83FB}" destId="{CA24C922-634C-4D86-8A3C-9A102D3F8F8C}" srcOrd="4" destOrd="0" presId="urn:microsoft.com/office/officeart/2005/8/layout/default"/>
    <dgm:cxn modelId="{50691389-AA83-4B98-A26D-5C3257FD3A9E}" type="presParOf" srcId="{DCB74242-A219-4371-93B1-371AD06E83FB}" destId="{CA6814BB-75A3-42BE-96C6-5FDC9772FAC8}" srcOrd="5" destOrd="0" presId="urn:microsoft.com/office/officeart/2005/8/layout/default"/>
    <dgm:cxn modelId="{05E8C7AE-6771-4243-BC32-B48C729AACA9}" type="presParOf" srcId="{DCB74242-A219-4371-93B1-371AD06E83FB}" destId="{554AAF75-E18C-47DE-A89C-83BED746D6CA}" srcOrd="6" destOrd="0" presId="urn:microsoft.com/office/officeart/2005/8/layout/default"/>
    <dgm:cxn modelId="{442FFF9A-A580-439F-AF1A-277CB5F335EC}" type="presParOf" srcId="{DCB74242-A219-4371-93B1-371AD06E83FB}" destId="{AB7FAF7D-2886-4EC1-BFAB-E220CA3B52F5}" srcOrd="7" destOrd="0" presId="urn:microsoft.com/office/officeart/2005/8/layout/default"/>
    <dgm:cxn modelId="{E98DD640-89F6-45ED-9B5A-242BEBB2C5E7}" type="presParOf" srcId="{DCB74242-A219-4371-93B1-371AD06E83FB}" destId="{2958DBD9-2FB6-48F7-9DD4-0FEE4A8594DF}" srcOrd="8" destOrd="0" presId="urn:microsoft.com/office/officeart/2005/8/layout/default"/>
    <dgm:cxn modelId="{1FC6CCC8-2152-4058-99E6-755432B34694}" type="presParOf" srcId="{DCB74242-A219-4371-93B1-371AD06E83FB}" destId="{B5DFA17E-2715-47D5-BF88-9EF40B7868F3}" srcOrd="9" destOrd="0" presId="urn:microsoft.com/office/officeart/2005/8/layout/default"/>
    <dgm:cxn modelId="{A4358B15-3DE1-457F-941E-5C698CF81F86}" type="presParOf" srcId="{DCB74242-A219-4371-93B1-371AD06E83FB}" destId="{40D8B929-89A9-48F5-AEDB-580C2BA1E6FC}"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4DCE385-157E-45E5-B54B-276BFDBBF774}" type="doc">
      <dgm:prSet loTypeId="urn:microsoft.com/office/officeart/2008/layout/HorizontalMultiLevelHierarchy" loCatId="hierarchy" qsTypeId="urn:microsoft.com/office/officeart/2005/8/quickstyle/simple3" qsCatId="simple" csTypeId="urn:microsoft.com/office/officeart/2005/8/colors/accent1_2" csCatId="accent1" phldr="1"/>
      <dgm:spPr/>
      <dgm:t>
        <a:bodyPr/>
        <a:lstStyle/>
        <a:p>
          <a:endParaRPr lang="en-GB"/>
        </a:p>
      </dgm:t>
    </dgm:pt>
    <dgm:pt modelId="{42508A3A-A5A4-4C77-A1E0-1CC82086F93B}">
      <dgm:prSet custT="1"/>
      <dgm:spPr/>
      <dgm:t>
        <a:bodyPr/>
        <a:lstStyle/>
        <a:p>
          <a:r>
            <a:rPr lang="fr-FR" sz="2800" b="1" dirty="0"/>
            <a:t>Méthodes courantes</a:t>
          </a:r>
          <a:endParaRPr lang="en-GB" sz="2800" dirty="0"/>
        </a:p>
      </dgm:t>
    </dgm:pt>
    <dgm:pt modelId="{B550D6ED-F8DF-4270-BE4A-48FC7C2A440F}" type="parTrans" cxnId="{9F3075C9-0432-4CCD-AC55-48438FACA091}">
      <dgm:prSet/>
      <dgm:spPr/>
      <dgm:t>
        <a:bodyPr/>
        <a:lstStyle/>
        <a:p>
          <a:endParaRPr lang="en-GB"/>
        </a:p>
      </dgm:t>
    </dgm:pt>
    <dgm:pt modelId="{C990869B-FD42-4D02-BFCC-178A10652C02}" type="sibTrans" cxnId="{9F3075C9-0432-4CCD-AC55-48438FACA091}">
      <dgm:prSet/>
      <dgm:spPr/>
      <dgm:t>
        <a:bodyPr/>
        <a:lstStyle/>
        <a:p>
          <a:endParaRPr lang="en-GB"/>
        </a:p>
      </dgm:t>
    </dgm:pt>
    <dgm:pt modelId="{DEE3C1A7-35A4-40EC-8DFA-1E2B77724C48}">
      <dgm:prSet custT="1"/>
      <dgm:spPr/>
      <dgm:t>
        <a:bodyPr/>
        <a:lstStyle/>
        <a:p>
          <a:r>
            <a:rPr lang="fr-FR" sz="2000" dirty="0"/>
            <a:t>Requêtes DNS (Whois, </a:t>
          </a:r>
          <a:r>
            <a:rPr lang="fr-FR" sz="2000" dirty="0" err="1"/>
            <a:t>nslookup</a:t>
          </a:r>
          <a:r>
            <a:rPr lang="fr-FR" sz="2000" dirty="0"/>
            <a:t>)</a:t>
          </a:r>
          <a:endParaRPr lang="en-GB" sz="2000" dirty="0"/>
        </a:p>
      </dgm:t>
    </dgm:pt>
    <dgm:pt modelId="{20B1AC39-B516-42D6-80C9-3B3686384398}" type="parTrans" cxnId="{DE72005A-78BE-487F-9F1A-48F4C254F972}">
      <dgm:prSet/>
      <dgm:spPr/>
      <dgm:t>
        <a:bodyPr/>
        <a:lstStyle/>
        <a:p>
          <a:endParaRPr lang="en-GB"/>
        </a:p>
      </dgm:t>
    </dgm:pt>
    <dgm:pt modelId="{E556ED3E-785B-4651-8DD9-E6254FC01E64}" type="sibTrans" cxnId="{DE72005A-78BE-487F-9F1A-48F4C254F972}">
      <dgm:prSet/>
      <dgm:spPr/>
      <dgm:t>
        <a:bodyPr/>
        <a:lstStyle/>
        <a:p>
          <a:endParaRPr lang="en-GB"/>
        </a:p>
      </dgm:t>
    </dgm:pt>
    <dgm:pt modelId="{18ECB18A-5109-43F3-B449-6CAA7EB1F148}">
      <dgm:prSet custT="1"/>
      <dgm:spPr/>
      <dgm:t>
        <a:bodyPr/>
        <a:lstStyle/>
        <a:p>
          <a:r>
            <a:rPr lang="fr-FR" sz="2000" b="1" dirty="0"/>
            <a:t>Packet </a:t>
          </a:r>
          <a:r>
            <a:rPr lang="fr-FR" sz="2000" b="1" dirty="0" err="1"/>
            <a:t>Sniffers</a:t>
          </a:r>
          <a:r>
            <a:rPr lang="fr-FR" sz="2000" dirty="0"/>
            <a:t> : Capture des paquets réseau (ex. : Wireshark, </a:t>
          </a:r>
          <a:r>
            <a:rPr lang="fr-FR" sz="2000" dirty="0" err="1"/>
            <a:t>tcpdump</a:t>
          </a:r>
          <a:r>
            <a:rPr lang="fr-FR" sz="2000" dirty="0"/>
            <a:t>, </a:t>
          </a:r>
          <a:r>
            <a:rPr lang="fr-FR" sz="2000" dirty="0" err="1"/>
            <a:t>Omnipeek</a:t>
          </a:r>
          <a:r>
            <a:rPr lang="fr-FR" sz="2000" dirty="0"/>
            <a:t>)</a:t>
          </a:r>
          <a:endParaRPr lang="en-GB" sz="2000" dirty="0"/>
        </a:p>
      </dgm:t>
    </dgm:pt>
    <dgm:pt modelId="{9588FF21-8722-49AA-BEE2-DE57EC03B3AC}" type="parTrans" cxnId="{F66865C5-7439-4217-9B9F-8571615B6748}">
      <dgm:prSet/>
      <dgm:spPr/>
      <dgm:t>
        <a:bodyPr/>
        <a:lstStyle/>
        <a:p>
          <a:endParaRPr lang="en-GB"/>
        </a:p>
      </dgm:t>
    </dgm:pt>
    <dgm:pt modelId="{CEEE0BDD-CCC9-4A2C-A58F-4DA882D24FB0}" type="sibTrans" cxnId="{F66865C5-7439-4217-9B9F-8571615B6748}">
      <dgm:prSet/>
      <dgm:spPr/>
      <dgm:t>
        <a:bodyPr/>
        <a:lstStyle/>
        <a:p>
          <a:endParaRPr lang="en-GB"/>
        </a:p>
      </dgm:t>
    </dgm:pt>
    <dgm:pt modelId="{17876A3F-9A02-4C68-8309-E3C2417AE171}">
      <dgm:prSet custT="1"/>
      <dgm:spPr/>
      <dgm:t>
        <a:bodyPr/>
        <a:lstStyle/>
        <a:p>
          <a:r>
            <a:rPr lang="fr-FR" sz="2000" b="1" dirty="0"/>
            <a:t>Ping </a:t>
          </a:r>
          <a:r>
            <a:rPr lang="fr-FR" sz="2000" b="1" dirty="0" err="1"/>
            <a:t>Sweeps</a:t>
          </a:r>
          <a:r>
            <a:rPr lang="fr-FR" sz="2000" dirty="0"/>
            <a:t> : Balayage ICMP pour identifier les hôtes actifs</a:t>
          </a:r>
          <a:endParaRPr lang="en-GB" sz="2000" dirty="0"/>
        </a:p>
      </dgm:t>
    </dgm:pt>
    <dgm:pt modelId="{4DFCDAEB-D164-437A-9360-2AB073D3605B}" type="parTrans" cxnId="{EC2F3C20-CC83-41B6-B2CA-51820BBAF702}">
      <dgm:prSet/>
      <dgm:spPr/>
      <dgm:t>
        <a:bodyPr/>
        <a:lstStyle/>
        <a:p>
          <a:endParaRPr lang="en-GB"/>
        </a:p>
      </dgm:t>
    </dgm:pt>
    <dgm:pt modelId="{C7BDFE23-C6D5-43C4-930C-03953181EA06}" type="sibTrans" cxnId="{EC2F3C20-CC83-41B6-B2CA-51820BBAF702}">
      <dgm:prSet/>
      <dgm:spPr/>
      <dgm:t>
        <a:bodyPr/>
        <a:lstStyle/>
        <a:p>
          <a:endParaRPr lang="en-GB"/>
        </a:p>
      </dgm:t>
    </dgm:pt>
    <dgm:pt modelId="{9E7E2AA4-ABB3-4D97-8FE4-20DB667E1A8F}">
      <dgm:prSet custT="1"/>
      <dgm:spPr/>
      <dgm:t>
        <a:bodyPr/>
        <a:lstStyle/>
        <a:p>
          <a:r>
            <a:rPr lang="fr-FR" sz="2000" b="1" dirty="0"/>
            <a:t>Port Scans</a:t>
          </a:r>
          <a:r>
            <a:rPr lang="fr-FR" sz="2000" dirty="0"/>
            <a:t> : Envoi de messages pour détecter les ports ouverts et vulnérables</a:t>
          </a:r>
          <a:endParaRPr lang="en-GB" sz="2000" dirty="0"/>
        </a:p>
      </dgm:t>
    </dgm:pt>
    <dgm:pt modelId="{A1FEC9BB-1542-42D2-B6CA-82D850303725}" type="parTrans" cxnId="{1C21A209-7AFF-4BA6-AACC-59DE552F03FA}">
      <dgm:prSet/>
      <dgm:spPr/>
      <dgm:t>
        <a:bodyPr/>
        <a:lstStyle/>
        <a:p>
          <a:endParaRPr lang="en-GB"/>
        </a:p>
      </dgm:t>
    </dgm:pt>
    <dgm:pt modelId="{B1C34BAB-1C6A-455A-BB77-DA305A47893D}" type="sibTrans" cxnId="{1C21A209-7AFF-4BA6-AACC-59DE552F03FA}">
      <dgm:prSet/>
      <dgm:spPr/>
      <dgm:t>
        <a:bodyPr/>
        <a:lstStyle/>
        <a:p>
          <a:endParaRPr lang="en-GB"/>
        </a:p>
      </dgm:t>
    </dgm:pt>
    <dgm:pt modelId="{8B96B7E2-F4D0-4ECC-A993-C5E630AAA132}" type="pres">
      <dgm:prSet presAssocID="{94DCE385-157E-45E5-B54B-276BFDBBF774}" presName="Name0" presStyleCnt="0">
        <dgm:presLayoutVars>
          <dgm:chPref val="1"/>
          <dgm:dir/>
          <dgm:animOne val="branch"/>
          <dgm:animLvl val="lvl"/>
          <dgm:resizeHandles val="exact"/>
        </dgm:presLayoutVars>
      </dgm:prSet>
      <dgm:spPr/>
    </dgm:pt>
    <dgm:pt modelId="{3DB6BA61-EDA3-43BA-9AA7-90B26054BF65}" type="pres">
      <dgm:prSet presAssocID="{42508A3A-A5A4-4C77-A1E0-1CC82086F93B}" presName="root1" presStyleCnt="0"/>
      <dgm:spPr/>
    </dgm:pt>
    <dgm:pt modelId="{ACA46CDC-1703-45E6-B28F-6B2676EE0FB4}" type="pres">
      <dgm:prSet presAssocID="{42508A3A-A5A4-4C77-A1E0-1CC82086F93B}" presName="LevelOneTextNode" presStyleLbl="node0" presStyleIdx="0" presStyleCnt="1" custLinFactX="-100000" custLinFactNeighborX="-194206">
        <dgm:presLayoutVars>
          <dgm:chPref val="3"/>
        </dgm:presLayoutVars>
      </dgm:prSet>
      <dgm:spPr/>
    </dgm:pt>
    <dgm:pt modelId="{255C996D-157D-4AF1-B417-DFACE9A40D5F}" type="pres">
      <dgm:prSet presAssocID="{42508A3A-A5A4-4C77-A1E0-1CC82086F93B}" presName="level2hierChild" presStyleCnt="0"/>
      <dgm:spPr/>
    </dgm:pt>
    <dgm:pt modelId="{DC3CA469-BBBE-4BD0-8EDD-81ED18AB8230}" type="pres">
      <dgm:prSet presAssocID="{20B1AC39-B516-42D6-80C9-3B3686384398}" presName="conn2-1" presStyleLbl="parChTrans1D2" presStyleIdx="0" presStyleCnt="4"/>
      <dgm:spPr/>
    </dgm:pt>
    <dgm:pt modelId="{E21FA671-9756-48DC-AC95-B868F0EAB42C}" type="pres">
      <dgm:prSet presAssocID="{20B1AC39-B516-42D6-80C9-3B3686384398}" presName="connTx" presStyleLbl="parChTrans1D2" presStyleIdx="0" presStyleCnt="4"/>
      <dgm:spPr/>
    </dgm:pt>
    <dgm:pt modelId="{550C6B50-F78D-4F18-968F-7E794299650C}" type="pres">
      <dgm:prSet presAssocID="{DEE3C1A7-35A4-40EC-8DFA-1E2B77724C48}" presName="root2" presStyleCnt="0"/>
      <dgm:spPr/>
    </dgm:pt>
    <dgm:pt modelId="{C96E4CE3-4179-4B31-A8D2-01624FBA86B0}" type="pres">
      <dgm:prSet presAssocID="{DEE3C1A7-35A4-40EC-8DFA-1E2B77724C48}" presName="LevelTwoTextNode" presStyleLbl="node2" presStyleIdx="0" presStyleCnt="4" custScaleX="235795">
        <dgm:presLayoutVars>
          <dgm:chPref val="3"/>
        </dgm:presLayoutVars>
      </dgm:prSet>
      <dgm:spPr/>
    </dgm:pt>
    <dgm:pt modelId="{B41D065B-4546-41CC-9AC6-D92C92783006}" type="pres">
      <dgm:prSet presAssocID="{DEE3C1A7-35A4-40EC-8DFA-1E2B77724C48}" presName="level3hierChild" presStyleCnt="0"/>
      <dgm:spPr/>
    </dgm:pt>
    <dgm:pt modelId="{E79ADBF7-E2C4-4888-9B0A-EB4AD8337F7F}" type="pres">
      <dgm:prSet presAssocID="{9588FF21-8722-49AA-BEE2-DE57EC03B3AC}" presName="conn2-1" presStyleLbl="parChTrans1D2" presStyleIdx="1" presStyleCnt="4"/>
      <dgm:spPr/>
    </dgm:pt>
    <dgm:pt modelId="{650C771E-57C3-44D8-B1D6-C9C18B2215F1}" type="pres">
      <dgm:prSet presAssocID="{9588FF21-8722-49AA-BEE2-DE57EC03B3AC}" presName="connTx" presStyleLbl="parChTrans1D2" presStyleIdx="1" presStyleCnt="4"/>
      <dgm:spPr/>
    </dgm:pt>
    <dgm:pt modelId="{74083888-9332-42EB-BAFD-441A83856C6B}" type="pres">
      <dgm:prSet presAssocID="{18ECB18A-5109-43F3-B449-6CAA7EB1F148}" presName="root2" presStyleCnt="0"/>
      <dgm:spPr/>
    </dgm:pt>
    <dgm:pt modelId="{2C663727-D4D6-424C-815A-FD4FFB15554B}" type="pres">
      <dgm:prSet presAssocID="{18ECB18A-5109-43F3-B449-6CAA7EB1F148}" presName="LevelTwoTextNode" presStyleLbl="node2" presStyleIdx="1" presStyleCnt="4" custScaleX="235795">
        <dgm:presLayoutVars>
          <dgm:chPref val="3"/>
        </dgm:presLayoutVars>
      </dgm:prSet>
      <dgm:spPr/>
    </dgm:pt>
    <dgm:pt modelId="{3215ABA3-5003-4D63-9461-622B577153AE}" type="pres">
      <dgm:prSet presAssocID="{18ECB18A-5109-43F3-B449-6CAA7EB1F148}" presName="level3hierChild" presStyleCnt="0"/>
      <dgm:spPr/>
    </dgm:pt>
    <dgm:pt modelId="{B1AEB9A7-89A6-412F-9BCF-70E29DA95654}" type="pres">
      <dgm:prSet presAssocID="{4DFCDAEB-D164-437A-9360-2AB073D3605B}" presName="conn2-1" presStyleLbl="parChTrans1D2" presStyleIdx="2" presStyleCnt="4"/>
      <dgm:spPr/>
    </dgm:pt>
    <dgm:pt modelId="{CD8182AA-6F1F-4A78-95CF-3FC1A2FB6CE1}" type="pres">
      <dgm:prSet presAssocID="{4DFCDAEB-D164-437A-9360-2AB073D3605B}" presName="connTx" presStyleLbl="parChTrans1D2" presStyleIdx="2" presStyleCnt="4"/>
      <dgm:spPr/>
    </dgm:pt>
    <dgm:pt modelId="{3F826AC6-4FC4-4783-A947-3210C70610DA}" type="pres">
      <dgm:prSet presAssocID="{17876A3F-9A02-4C68-8309-E3C2417AE171}" presName="root2" presStyleCnt="0"/>
      <dgm:spPr/>
    </dgm:pt>
    <dgm:pt modelId="{FE958512-148F-4A26-AB5F-B701273A97EF}" type="pres">
      <dgm:prSet presAssocID="{17876A3F-9A02-4C68-8309-E3C2417AE171}" presName="LevelTwoTextNode" presStyleLbl="node2" presStyleIdx="2" presStyleCnt="4" custScaleX="235795">
        <dgm:presLayoutVars>
          <dgm:chPref val="3"/>
        </dgm:presLayoutVars>
      </dgm:prSet>
      <dgm:spPr/>
    </dgm:pt>
    <dgm:pt modelId="{C86EDFD3-67DB-4996-BA08-AB5AF27C16DC}" type="pres">
      <dgm:prSet presAssocID="{17876A3F-9A02-4C68-8309-E3C2417AE171}" presName="level3hierChild" presStyleCnt="0"/>
      <dgm:spPr/>
    </dgm:pt>
    <dgm:pt modelId="{E4511A36-C0DF-4ACC-BA94-6AE81085F065}" type="pres">
      <dgm:prSet presAssocID="{A1FEC9BB-1542-42D2-B6CA-82D850303725}" presName="conn2-1" presStyleLbl="parChTrans1D2" presStyleIdx="3" presStyleCnt="4"/>
      <dgm:spPr/>
    </dgm:pt>
    <dgm:pt modelId="{647D2443-254B-4D03-9735-6853C5CB9BF4}" type="pres">
      <dgm:prSet presAssocID="{A1FEC9BB-1542-42D2-B6CA-82D850303725}" presName="connTx" presStyleLbl="parChTrans1D2" presStyleIdx="3" presStyleCnt="4"/>
      <dgm:spPr/>
    </dgm:pt>
    <dgm:pt modelId="{7AD106FC-AF14-4D83-AEDF-F34C00D8D40D}" type="pres">
      <dgm:prSet presAssocID="{9E7E2AA4-ABB3-4D97-8FE4-20DB667E1A8F}" presName="root2" presStyleCnt="0"/>
      <dgm:spPr/>
    </dgm:pt>
    <dgm:pt modelId="{E709359B-F1CA-4F26-911B-9A997221BA9C}" type="pres">
      <dgm:prSet presAssocID="{9E7E2AA4-ABB3-4D97-8FE4-20DB667E1A8F}" presName="LevelTwoTextNode" presStyleLbl="node2" presStyleIdx="3" presStyleCnt="4" custScaleX="235795">
        <dgm:presLayoutVars>
          <dgm:chPref val="3"/>
        </dgm:presLayoutVars>
      </dgm:prSet>
      <dgm:spPr/>
    </dgm:pt>
    <dgm:pt modelId="{7C53425A-7851-4979-BD13-7E2C9B6222B7}" type="pres">
      <dgm:prSet presAssocID="{9E7E2AA4-ABB3-4D97-8FE4-20DB667E1A8F}" presName="level3hierChild" presStyleCnt="0"/>
      <dgm:spPr/>
    </dgm:pt>
  </dgm:ptLst>
  <dgm:cxnLst>
    <dgm:cxn modelId="{1C21A209-7AFF-4BA6-AACC-59DE552F03FA}" srcId="{42508A3A-A5A4-4C77-A1E0-1CC82086F93B}" destId="{9E7E2AA4-ABB3-4D97-8FE4-20DB667E1A8F}" srcOrd="3" destOrd="0" parTransId="{A1FEC9BB-1542-42D2-B6CA-82D850303725}" sibTransId="{B1C34BAB-1C6A-455A-BB77-DA305A47893D}"/>
    <dgm:cxn modelId="{81E7D513-EBC8-4DB8-8774-AF10EDCFE2BE}" type="presOf" srcId="{9588FF21-8722-49AA-BEE2-DE57EC03B3AC}" destId="{E79ADBF7-E2C4-4888-9B0A-EB4AD8337F7F}" srcOrd="0" destOrd="0" presId="urn:microsoft.com/office/officeart/2008/layout/HorizontalMultiLevelHierarchy"/>
    <dgm:cxn modelId="{F1A4DA19-A8C6-4744-90E2-7E81C0231646}" type="presOf" srcId="{A1FEC9BB-1542-42D2-B6CA-82D850303725}" destId="{E4511A36-C0DF-4ACC-BA94-6AE81085F065}" srcOrd="0" destOrd="0" presId="urn:microsoft.com/office/officeart/2008/layout/HorizontalMultiLevelHierarchy"/>
    <dgm:cxn modelId="{EC2F3C20-CC83-41B6-B2CA-51820BBAF702}" srcId="{42508A3A-A5A4-4C77-A1E0-1CC82086F93B}" destId="{17876A3F-9A02-4C68-8309-E3C2417AE171}" srcOrd="2" destOrd="0" parTransId="{4DFCDAEB-D164-437A-9360-2AB073D3605B}" sibTransId="{C7BDFE23-C6D5-43C4-930C-03953181EA06}"/>
    <dgm:cxn modelId="{DF6F3A2A-6A0B-4604-BE6C-4EAB0F21C257}" type="presOf" srcId="{DEE3C1A7-35A4-40EC-8DFA-1E2B77724C48}" destId="{C96E4CE3-4179-4B31-A8D2-01624FBA86B0}" srcOrd="0" destOrd="0" presId="urn:microsoft.com/office/officeart/2008/layout/HorizontalMultiLevelHierarchy"/>
    <dgm:cxn modelId="{D9A7B33A-5C75-4BC0-9377-6FBA4E6C3C7D}" type="presOf" srcId="{18ECB18A-5109-43F3-B449-6CAA7EB1F148}" destId="{2C663727-D4D6-424C-815A-FD4FFB15554B}" srcOrd="0" destOrd="0" presId="urn:microsoft.com/office/officeart/2008/layout/HorizontalMultiLevelHierarchy"/>
    <dgm:cxn modelId="{1E41803C-A1D1-4CB2-B21B-E81C52BA026F}" type="presOf" srcId="{9588FF21-8722-49AA-BEE2-DE57EC03B3AC}" destId="{650C771E-57C3-44D8-B1D6-C9C18B2215F1}" srcOrd="1" destOrd="0" presId="urn:microsoft.com/office/officeart/2008/layout/HorizontalMultiLevelHierarchy"/>
    <dgm:cxn modelId="{92959F3F-F4B6-46D2-A8AA-9A9E12734AFE}" type="presOf" srcId="{9E7E2AA4-ABB3-4D97-8FE4-20DB667E1A8F}" destId="{E709359B-F1CA-4F26-911B-9A997221BA9C}" srcOrd="0" destOrd="0" presId="urn:microsoft.com/office/officeart/2008/layout/HorizontalMultiLevelHierarchy"/>
    <dgm:cxn modelId="{A38B7145-7DA8-49ED-9FD0-98337536C937}" type="presOf" srcId="{A1FEC9BB-1542-42D2-B6CA-82D850303725}" destId="{647D2443-254B-4D03-9735-6853C5CB9BF4}" srcOrd="1" destOrd="0" presId="urn:microsoft.com/office/officeart/2008/layout/HorizontalMultiLevelHierarchy"/>
    <dgm:cxn modelId="{39527270-EE81-4F3A-A134-745EC45E20BC}" type="presOf" srcId="{4DFCDAEB-D164-437A-9360-2AB073D3605B}" destId="{B1AEB9A7-89A6-412F-9BCF-70E29DA95654}" srcOrd="0" destOrd="0" presId="urn:microsoft.com/office/officeart/2008/layout/HorizontalMultiLevelHierarchy"/>
    <dgm:cxn modelId="{DE72005A-78BE-487F-9F1A-48F4C254F972}" srcId="{42508A3A-A5A4-4C77-A1E0-1CC82086F93B}" destId="{DEE3C1A7-35A4-40EC-8DFA-1E2B77724C48}" srcOrd="0" destOrd="0" parTransId="{20B1AC39-B516-42D6-80C9-3B3686384398}" sibTransId="{E556ED3E-785B-4651-8DD9-E6254FC01E64}"/>
    <dgm:cxn modelId="{1FF0C7B5-E4F1-49EE-AE45-75524AE06590}" type="presOf" srcId="{4DFCDAEB-D164-437A-9360-2AB073D3605B}" destId="{CD8182AA-6F1F-4A78-95CF-3FC1A2FB6CE1}" srcOrd="1" destOrd="0" presId="urn:microsoft.com/office/officeart/2008/layout/HorizontalMultiLevelHierarchy"/>
    <dgm:cxn modelId="{F66865C5-7439-4217-9B9F-8571615B6748}" srcId="{42508A3A-A5A4-4C77-A1E0-1CC82086F93B}" destId="{18ECB18A-5109-43F3-B449-6CAA7EB1F148}" srcOrd="1" destOrd="0" parTransId="{9588FF21-8722-49AA-BEE2-DE57EC03B3AC}" sibTransId="{CEEE0BDD-CCC9-4A2C-A58F-4DA882D24FB0}"/>
    <dgm:cxn modelId="{9F3075C9-0432-4CCD-AC55-48438FACA091}" srcId="{94DCE385-157E-45E5-B54B-276BFDBBF774}" destId="{42508A3A-A5A4-4C77-A1E0-1CC82086F93B}" srcOrd="0" destOrd="0" parTransId="{B550D6ED-F8DF-4270-BE4A-48FC7C2A440F}" sibTransId="{C990869B-FD42-4D02-BFCC-178A10652C02}"/>
    <dgm:cxn modelId="{F72CAACA-980A-4E7A-B1DC-83371340D644}" type="presOf" srcId="{20B1AC39-B516-42D6-80C9-3B3686384398}" destId="{DC3CA469-BBBE-4BD0-8EDD-81ED18AB8230}" srcOrd="0" destOrd="0" presId="urn:microsoft.com/office/officeart/2008/layout/HorizontalMultiLevelHierarchy"/>
    <dgm:cxn modelId="{0FA49BD4-4299-479F-B64F-E8C3EC976449}" type="presOf" srcId="{94DCE385-157E-45E5-B54B-276BFDBBF774}" destId="{8B96B7E2-F4D0-4ECC-A993-C5E630AAA132}" srcOrd="0" destOrd="0" presId="urn:microsoft.com/office/officeart/2008/layout/HorizontalMultiLevelHierarchy"/>
    <dgm:cxn modelId="{71F322D6-542C-4660-BE64-BE5BF9903694}" type="presOf" srcId="{42508A3A-A5A4-4C77-A1E0-1CC82086F93B}" destId="{ACA46CDC-1703-45E6-B28F-6B2676EE0FB4}" srcOrd="0" destOrd="0" presId="urn:microsoft.com/office/officeart/2008/layout/HorizontalMultiLevelHierarchy"/>
    <dgm:cxn modelId="{B0F2EFD8-F68A-4819-A007-D487D5875F09}" type="presOf" srcId="{17876A3F-9A02-4C68-8309-E3C2417AE171}" destId="{FE958512-148F-4A26-AB5F-B701273A97EF}" srcOrd="0" destOrd="0" presId="urn:microsoft.com/office/officeart/2008/layout/HorizontalMultiLevelHierarchy"/>
    <dgm:cxn modelId="{970682EC-83E9-48C9-B8D4-E29E1944403B}" type="presOf" srcId="{20B1AC39-B516-42D6-80C9-3B3686384398}" destId="{E21FA671-9756-48DC-AC95-B868F0EAB42C}" srcOrd="1" destOrd="0" presId="urn:microsoft.com/office/officeart/2008/layout/HorizontalMultiLevelHierarchy"/>
    <dgm:cxn modelId="{AAA2AD83-3C2A-4E45-B984-8B5BC7751DFC}" type="presParOf" srcId="{8B96B7E2-F4D0-4ECC-A993-C5E630AAA132}" destId="{3DB6BA61-EDA3-43BA-9AA7-90B26054BF65}" srcOrd="0" destOrd="0" presId="urn:microsoft.com/office/officeart/2008/layout/HorizontalMultiLevelHierarchy"/>
    <dgm:cxn modelId="{9D902019-4F7E-43BE-A1F3-2D035E8745C1}" type="presParOf" srcId="{3DB6BA61-EDA3-43BA-9AA7-90B26054BF65}" destId="{ACA46CDC-1703-45E6-B28F-6B2676EE0FB4}" srcOrd="0" destOrd="0" presId="urn:microsoft.com/office/officeart/2008/layout/HorizontalMultiLevelHierarchy"/>
    <dgm:cxn modelId="{C0C352CE-4B97-484A-9819-EA4970B1336B}" type="presParOf" srcId="{3DB6BA61-EDA3-43BA-9AA7-90B26054BF65}" destId="{255C996D-157D-4AF1-B417-DFACE9A40D5F}" srcOrd="1" destOrd="0" presId="urn:microsoft.com/office/officeart/2008/layout/HorizontalMultiLevelHierarchy"/>
    <dgm:cxn modelId="{EE1ED013-3412-467E-BD62-23B92C1CC8FC}" type="presParOf" srcId="{255C996D-157D-4AF1-B417-DFACE9A40D5F}" destId="{DC3CA469-BBBE-4BD0-8EDD-81ED18AB8230}" srcOrd="0" destOrd="0" presId="urn:microsoft.com/office/officeart/2008/layout/HorizontalMultiLevelHierarchy"/>
    <dgm:cxn modelId="{CFE10EAB-A406-4EA4-A32E-52B5797B6ED8}" type="presParOf" srcId="{DC3CA469-BBBE-4BD0-8EDD-81ED18AB8230}" destId="{E21FA671-9756-48DC-AC95-B868F0EAB42C}" srcOrd="0" destOrd="0" presId="urn:microsoft.com/office/officeart/2008/layout/HorizontalMultiLevelHierarchy"/>
    <dgm:cxn modelId="{4A2DA8E0-4552-47BD-9031-37D549180B0A}" type="presParOf" srcId="{255C996D-157D-4AF1-B417-DFACE9A40D5F}" destId="{550C6B50-F78D-4F18-968F-7E794299650C}" srcOrd="1" destOrd="0" presId="urn:microsoft.com/office/officeart/2008/layout/HorizontalMultiLevelHierarchy"/>
    <dgm:cxn modelId="{D99F0C60-38E2-4892-97F1-21CD51FCD514}" type="presParOf" srcId="{550C6B50-F78D-4F18-968F-7E794299650C}" destId="{C96E4CE3-4179-4B31-A8D2-01624FBA86B0}" srcOrd="0" destOrd="0" presId="urn:microsoft.com/office/officeart/2008/layout/HorizontalMultiLevelHierarchy"/>
    <dgm:cxn modelId="{E4D1FFA5-90D4-4259-B72B-5DEF27F75CD6}" type="presParOf" srcId="{550C6B50-F78D-4F18-968F-7E794299650C}" destId="{B41D065B-4546-41CC-9AC6-D92C92783006}" srcOrd="1" destOrd="0" presId="urn:microsoft.com/office/officeart/2008/layout/HorizontalMultiLevelHierarchy"/>
    <dgm:cxn modelId="{22CFFE7E-AB83-440C-9A6A-13BC4AF36A6F}" type="presParOf" srcId="{255C996D-157D-4AF1-B417-DFACE9A40D5F}" destId="{E79ADBF7-E2C4-4888-9B0A-EB4AD8337F7F}" srcOrd="2" destOrd="0" presId="urn:microsoft.com/office/officeart/2008/layout/HorizontalMultiLevelHierarchy"/>
    <dgm:cxn modelId="{A1D93A9E-32DB-48A3-9CAD-13D8E68099A6}" type="presParOf" srcId="{E79ADBF7-E2C4-4888-9B0A-EB4AD8337F7F}" destId="{650C771E-57C3-44D8-B1D6-C9C18B2215F1}" srcOrd="0" destOrd="0" presId="urn:microsoft.com/office/officeart/2008/layout/HorizontalMultiLevelHierarchy"/>
    <dgm:cxn modelId="{AE496A8A-1453-449B-B7FD-8E245F72BB63}" type="presParOf" srcId="{255C996D-157D-4AF1-B417-DFACE9A40D5F}" destId="{74083888-9332-42EB-BAFD-441A83856C6B}" srcOrd="3" destOrd="0" presId="urn:microsoft.com/office/officeart/2008/layout/HorizontalMultiLevelHierarchy"/>
    <dgm:cxn modelId="{6CBD84F9-9E44-4A4B-A5A5-3C8F6891C26C}" type="presParOf" srcId="{74083888-9332-42EB-BAFD-441A83856C6B}" destId="{2C663727-D4D6-424C-815A-FD4FFB15554B}" srcOrd="0" destOrd="0" presId="urn:microsoft.com/office/officeart/2008/layout/HorizontalMultiLevelHierarchy"/>
    <dgm:cxn modelId="{776F0623-159C-4BF4-90AA-C3CBA710E1D4}" type="presParOf" srcId="{74083888-9332-42EB-BAFD-441A83856C6B}" destId="{3215ABA3-5003-4D63-9461-622B577153AE}" srcOrd="1" destOrd="0" presId="urn:microsoft.com/office/officeart/2008/layout/HorizontalMultiLevelHierarchy"/>
    <dgm:cxn modelId="{7546741F-A94A-4010-AB71-AAB46A80EF20}" type="presParOf" srcId="{255C996D-157D-4AF1-B417-DFACE9A40D5F}" destId="{B1AEB9A7-89A6-412F-9BCF-70E29DA95654}" srcOrd="4" destOrd="0" presId="urn:microsoft.com/office/officeart/2008/layout/HorizontalMultiLevelHierarchy"/>
    <dgm:cxn modelId="{9DA1F1EF-5EB0-4D4B-A0B1-A8D2FB5FFDE4}" type="presParOf" srcId="{B1AEB9A7-89A6-412F-9BCF-70E29DA95654}" destId="{CD8182AA-6F1F-4A78-95CF-3FC1A2FB6CE1}" srcOrd="0" destOrd="0" presId="urn:microsoft.com/office/officeart/2008/layout/HorizontalMultiLevelHierarchy"/>
    <dgm:cxn modelId="{F254F2B2-788A-4FA6-AF37-8125A7DE3334}" type="presParOf" srcId="{255C996D-157D-4AF1-B417-DFACE9A40D5F}" destId="{3F826AC6-4FC4-4783-A947-3210C70610DA}" srcOrd="5" destOrd="0" presId="urn:microsoft.com/office/officeart/2008/layout/HorizontalMultiLevelHierarchy"/>
    <dgm:cxn modelId="{334D6098-08F0-40CB-A4A9-24EBB2444581}" type="presParOf" srcId="{3F826AC6-4FC4-4783-A947-3210C70610DA}" destId="{FE958512-148F-4A26-AB5F-B701273A97EF}" srcOrd="0" destOrd="0" presId="urn:microsoft.com/office/officeart/2008/layout/HorizontalMultiLevelHierarchy"/>
    <dgm:cxn modelId="{B478FA41-7BDF-4047-8BB1-AF680915D1BB}" type="presParOf" srcId="{3F826AC6-4FC4-4783-A947-3210C70610DA}" destId="{C86EDFD3-67DB-4996-BA08-AB5AF27C16DC}" srcOrd="1" destOrd="0" presId="urn:microsoft.com/office/officeart/2008/layout/HorizontalMultiLevelHierarchy"/>
    <dgm:cxn modelId="{6C83F1BA-4B5F-4983-A03B-08DAB381468B}" type="presParOf" srcId="{255C996D-157D-4AF1-B417-DFACE9A40D5F}" destId="{E4511A36-C0DF-4ACC-BA94-6AE81085F065}" srcOrd="6" destOrd="0" presId="urn:microsoft.com/office/officeart/2008/layout/HorizontalMultiLevelHierarchy"/>
    <dgm:cxn modelId="{26CBD032-3330-4166-B6CC-E221DC1E730B}" type="presParOf" srcId="{E4511A36-C0DF-4ACC-BA94-6AE81085F065}" destId="{647D2443-254B-4D03-9735-6853C5CB9BF4}" srcOrd="0" destOrd="0" presId="urn:microsoft.com/office/officeart/2008/layout/HorizontalMultiLevelHierarchy"/>
    <dgm:cxn modelId="{FC8C472E-8639-4600-B502-19668F9EC7BD}" type="presParOf" srcId="{255C996D-157D-4AF1-B417-DFACE9A40D5F}" destId="{7AD106FC-AF14-4D83-AEDF-F34C00D8D40D}" srcOrd="7" destOrd="0" presId="urn:microsoft.com/office/officeart/2008/layout/HorizontalMultiLevelHierarchy"/>
    <dgm:cxn modelId="{C68D1230-2A6A-4A16-9E22-7F870B2F4116}" type="presParOf" srcId="{7AD106FC-AF14-4D83-AEDF-F34C00D8D40D}" destId="{E709359B-F1CA-4F26-911B-9A997221BA9C}" srcOrd="0" destOrd="0" presId="urn:microsoft.com/office/officeart/2008/layout/HorizontalMultiLevelHierarchy"/>
    <dgm:cxn modelId="{EF05A8FD-6EC0-4297-AADA-3878E1023081}" type="presParOf" srcId="{7AD106FC-AF14-4D83-AEDF-F34C00D8D40D}" destId="{7C53425A-7851-4979-BD13-7E2C9B6222B7}"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C79C118-F46E-43F4-9A55-B7300FB532B5}"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GB"/>
        </a:p>
      </dgm:t>
    </dgm:pt>
    <dgm:pt modelId="{19F662BE-1547-4801-9737-251679DD01B9}">
      <dgm:prSet/>
      <dgm:spPr/>
      <dgm:t>
        <a:bodyPr/>
        <a:lstStyle/>
        <a:p>
          <a:r>
            <a:rPr lang="en-GB" dirty="0"/>
            <a:t>Les types </a:t>
          </a:r>
          <a:r>
            <a:rPr lang="en-GB" dirty="0" err="1"/>
            <a:t>d’attaques</a:t>
          </a:r>
          <a:r>
            <a:rPr lang="en-GB" dirty="0"/>
            <a:t> DoS </a:t>
          </a:r>
          <a:r>
            <a:rPr lang="en-GB" dirty="0" err="1"/>
            <a:t>incluent</a:t>
          </a:r>
          <a:endParaRPr lang="en-GB" dirty="0"/>
        </a:p>
      </dgm:t>
    </dgm:pt>
    <dgm:pt modelId="{CF2E11EC-1408-469B-B9E2-E49DAC199F06}" type="parTrans" cxnId="{45CE07C9-1E4E-4D7F-82A6-F57F0C930678}">
      <dgm:prSet/>
      <dgm:spPr/>
      <dgm:t>
        <a:bodyPr/>
        <a:lstStyle/>
        <a:p>
          <a:endParaRPr lang="en-GB"/>
        </a:p>
      </dgm:t>
    </dgm:pt>
    <dgm:pt modelId="{5EBC85E8-D2AE-4BF4-A3B4-8373988A973A}" type="sibTrans" cxnId="{45CE07C9-1E4E-4D7F-82A6-F57F0C930678}">
      <dgm:prSet/>
      <dgm:spPr/>
      <dgm:t>
        <a:bodyPr/>
        <a:lstStyle/>
        <a:p>
          <a:endParaRPr lang="en-GB"/>
        </a:p>
      </dgm:t>
    </dgm:pt>
    <dgm:pt modelId="{8E843E51-31C1-4801-9FDC-BB5406D2EBB9}">
      <dgm:prSet/>
      <dgm:spPr/>
      <dgm:t>
        <a:bodyPr/>
        <a:lstStyle/>
        <a:p>
          <a:r>
            <a:rPr lang="en-GB" b="1" dirty="0"/>
            <a:t>Smurf Attack</a:t>
          </a:r>
          <a:endParaRPr lang="en-GB" dirty="0"/>
        </a:p>
      </dgm:t>
    </dgm:pt>
    <dgm:pt modelId="{A5988658-A7CB-4342-86B3-0549043C2A88}" type="parTrans" cxnId="{96E3C266-3304-4BDE-8BC4-2726AF53A8CB}">
      <dgm:prSet/>
      <dgm:spPr/>
      <dgm:t>
        <a:bodyPr/>
        <a:lstStyle/>
        <a:p>
          <a:endParaRPr lang="en-GB"/>
        </a:p>
      </dgm:t>
    </dgm:pt>
    <dgm:pt modelId="{E91ABB4D-CDB0-459B-9559-C3A62469A275}" type="sibTrans" cxnId="{96E3C266-3304-4BDE-8BC4-2726AF53A8CB}">
      <dgm:prSet/>
      <dgm:spPr/>
      <dgm:t>
        <a:bodyPr/>
        <a:lstStyle/>
        <a:p>
          <a:endParaRPr lang="en-GB"/>
        </a:p>
      </dgm:t>
    </dgm:pt>
    <dgm:pt modelId="{8C53F5B8-1DF4-4391-8294-DA0BC936FEAF}">
      <dgm:prSet/>
      <dgm:spPr/>
      <dgm:t>
        <a:bodyPr/>
        <a:lstStyle/>
        <a:p>
          <a:r>
            <a:rPr lang="en-GB" b="1" dirty="0"/>
            <a:t>TCP SYN flood attack</a:t>
          </a:r>
          <a:endParaRPr lang="en-GB" dirty="0"/>
        </a:p>
      </dgm:t>
    </dgm:pt>
    <dgm:pt modelId="{2AC086F6-C204-4F0A-BE47-D7F158AD4895}" type="parTrans" cxnId="{343C2DDE-688C-4AF1-9DD1-EA09593CF044}">
      <dgm:prSet/>
      <dgm:spPr/>
      <dgm:t>
        <a:bodyPr/>
        <a:lstStyle/>
        <a:p>
          <a:endParaRPr lang="en-GB"/>
        </a:p>
      </dgm:t>
    </dgm:pt>
    <dgm:pt modelId="{8E600F51-C8DA-4B7B-82EA-F0252D11D35A}" type="sibTrans" cxnId="{343C2DDE-688C-4AF1-9DD1-EA09593CF044}">
      <dgm:prSet/>
      <dgm:spPr/>
      <dgm:t>
        <a:bodyPr/>
        <a:lstStyle/>
        <a:p>
          <a:endParaRPr lang="en-GB"/>
        </a:p>
      </dgm:t>
    </dgm:pt>
    <dgm:pt modelId="{2E89BCC2-41B4-49E0-BB8F-D096DAC2321D}">
      <dgm:prSet/>
      <dgm:spPr/>
      <dgm:t>
        <a:bodyPr/>
        <a:lstStyle/>
        <a:p>
          <a:r>
            <a:rPr lang="en-GB" b="1" dirty="0"/>
            <a:t>Ping of death</a:t>
          </a:r>
          <a:endParaRPr lang="en-GB" dirty="0"/>
        </a:p>
      </dgm:t>
    </dgm:pt>
    <dgm:pt modelId="{9F406F67-FF79-41DC-BF17-9A325FAF879B}" type="parTrans" cxnId="{D121D30B-8051-4AB0-B13B-1BD43B3628CF}">
      <dgm:prSet/>
      <dgm:spPr/>
      <dgm:t>
        <a:bodyPr/>
        <a:lstStyle/>
        <a:p>
          <a:endParaRPr lang="en-GB"/>
        </a:p>
      </dgm:t>
    </dgm:pt>
    <dgm:pt modelId="{5C70CD64-994A-40B3-A87E-C7C0F6E063CC}" type="sibTrans" cxnId="{D121D30B-8051-4AB0-B13B-1BD43B3628CF}">
      <dgm:prSet/>
      <dgm:spPr/>
      <dgm:t>
        <a:bodyPr/>
        <a:lstStyle/>
        <a:p>
          <a:endParaRPr lang="en-GB"/>
        </a:p>
      </dgm:t>
    </dgm:pt>
    <dgm:pt modelId="{38706E89-D5A0-4B00-9A75-CAD99B48DBF3}" type="pres">
      <dgm:prSet presAssocID="{6C79C118-F46E-43F4-9A55-B7300FB532B5}" presName="linear" presStyleCnt="0">
        <dgm:presLayoutVars>
          <dgm:dir/>
          <dgm:animLvl val="lvl"/>
          <dgm:resizeHandles val="exact"/>
        </dgm:presLayoutVars>
      </dgm:prSet>
      <dgm:spPr/>
    </dgm:pt>
    <dgm:pt modelId="{9CEA6CE7-3E13-4220-8444-EC1750BED69D}" type="pres">
      <dgm:prSet presAssocID="{19F662BE-1547-4801-9737-251679DD01B9}" presName="parentLin" presStyleCnt="0"/>
      <dgm:spPr/>
    </dgm:pt>
    <dgm:pt modelId="{659821B5-C5E4-458D-AC6D-A76CF69BDE24}" type="pres">
      <dgm:prSet presAssocID="{19F662BE-1547-4801-9737-251679DD01B9}" presName="parentLeftMargin" presStyleLbl="node1" presStyleIdx="0" presStyleCnt="1"/>
      <dgm:spPr/>
    </dgm:pt>
    <dgm:pt modelId="{8CECCF17-3BE5-4553-A10B-3DF6428FAF6E}" type="pres">
      <dgm:prSet presAssocID="{19F662BE-1547-4801-9737-251679DD01B9}" presName="parentText" presStyleLbl="node1" presStyleIdx="0" presStyleCnt="1">
        <dgm:presLayoutVars>
          <dgm:chMax val="0"/>
          <dgm:bulletEnabled val="1"/>
        </dgm:presLayoutVars>
      </dgm:prSet>
      <dgm:spPr/>
    </dgm:pt>
    <dgm:pt modelId="{D713B3B3-FBA0-4F22-A96A-AB3C9C2AE875}" type="pres">
      <dgm:prSet presAssocID="{19F662BE-1547-4801-9737-251679DD01B9}" presName="negativeSpace" presStyleCnt="0"/>
      <dgm:spPr/>
    </dgm:pt>
    <dgm:pt modelId="{F7A2C618-6C6A-412A-B169-F2C56519AD4B}" type="pres">
      <dgm:prSet presAssocID="{19F662BE-1547-4801-9737-251679DD01B9}" presName="childText" presStyleLbl="conFgAcc1" presStyleIdx="0" presStyleCnt="1">
        <dgm:presLayoutVars>
          <dgm:bulletEnabled val="1"/>
        </dgm:presLayoutVars>
      </dgm:prSet>
      <dgm:spPr/>
    </dgm:pt>
  </dgm:ptLst>
  <dgm:cxnLst>
    <dgm:cxn modelId="{D121D30B-8051-4AB0-B13B-1BD43B3628CF}" srcId="{19F662BE-1547-4801-9737-251679DD01B9}" destId="{2E89BCC2-41B4-49E0-BB8F-D096DAC2321D}" srcOrd="0" destOrd="0" parTransId="{9F406F67-FF79-41DC-BF17-9A325FAF879B}" sibTransId="{5C70CD64-994A-40B3-A87E-C7C0F6E063CC}"/>
    <dgm:cxn modelId="{96E3C266-3304-4BDE-8BC4-2726AF53A8CB}" srcId="{19F662BE-1547-4801-9737-251679DD01B9}" destId="{8E843E51-31C1-4801-9FDC-BB5406D2EBB9}" srcOrd="1" destOrd="0" parTransId="{A5988658-A7CB-4342-86B3-0549043C2A88}" sibTransId="{E91ABB4D-CDB0-459B-9559-C3A62469A275}"/>
    <dgm:cxn modelId="{279BA98C-3645-490A-B306-2845AAF7E6CC}" type="presOf" srcId="{19F662BE-1547-4801-9737-251679DD01B9}" destId="{8CECCF17-3BE5-4553-A10B-3DF6428FAF6E}" srcOrd="1" destOrd="0" presId="urn:microsoft.com/office/officeart/2005/8/layout/list1"/>
    <dgm:cxn modelId="{F158458F-C071-4258-8F65-744CF6B8B8E8}" type="presOf" srcId="{8E843E51-31C1-4801-9FDC-BB5406D2EBB9}" destId="{F7A2C618-6C6A-412A-B169-F2C56519AD4B}" srcOrd="0" destOrd="1" presId="urn:microsoft.com/office/officeart/2005/8/layout/list1"/>
    <dgm:cxn modelId="{BC8833AA-3B7B-4028-948A-A1AAE04A1688}" type="presOf" srcId="{2E89BCC2-41B4-49E0-BB8F-D096DAC2321D}" destId="{F7A2C618-6C6A-412A-B169-F2C56519AD4B}" srcOrd="0" destOrd="0" presId="urn:microsoft.com/office/officeart/2005/8/layout/list1"/>
    <dgm:cxn modelId="{45CE07C9-1E4E-4D7F-82A6-F57F0C930678}" srcId="{6C79C118-F46E-43F4-9A55-B7300FB532B5}" destId="{19F662BE-1547-4801-9737-251679DD01B9}" srcOrd="0" destOrd="0" parTransId="{CF2E11EC-1408-469B-B9E2-E49DAC199F06}" sibTransId="{5EBC85E8-D2AE-4BF4-A3B4-8373988A973A}"/>
    <dgm:cxn modelId="{7AAD06D9-D7F0-4E46-B547-988AA9099918}" type="presOf" srcId="{6C79C118-F46E-43F4-9A55-B7300FB532B5}" destId="{38706E89-D5A0-4B00-9A75-CAD99B48DBF3}" srcOrd="0" destOrd="0" presId="urn:microsoft.com/office/officeart/2005/8/layout/list1"/>
    <dgm:cxn modelId="{343C2DDE-688C-4AF1-9DD1-EA09593CF044}" srcId="{19F662BE-1547-4801-9737-251679DD01B9}" destId="{8C53F5B8-1DF4-4391-8294-DA0BC936FEAF}" srcOrd="2" destOrd="0" parTransId="{2AC086F6-C204-4F0A-BE47-D7F158AD4895}" sibTransId="{8E600F51-C8DA-4B7B-82EA-F0252D11D35A}"/>
    <dgm:cxn modelId="{683ECFEC-F247-4DCA-904F-8DAC09104B39}" type="presOf" srcId="{19F662BE-1547-4801-9737-251679DD01B9}" destId="{659821B5-C5E4-458D-AC6D-A76CF69BDE24}" srcOrd="0" destOrd="0" presId="urn:microsoft.com/office/officeart/2005/8/layout/list1"/>
    <dgm:cxn modelId="{42AD5FFE-BBC1-4968-B672-EE80AE25A621}" type="presOf" srcId="{8C53F5B8-1DF4-4391-8294-DA0BC936FEAF}" destId="{F7A2C618-6C6A-412A-B169-F2C56519AD4B}" srcOrd="0" destOrd="2" presId="urn:microsoft.com/office/officeart/2005/8/layout/list1"/>
    <dgm:cxn modelId="{4CCAA167-558D-4968-96C6-AD3A349DFDF8}" type="presParOf" srcId="{38706E89-D5A0-4B00-9A75-CAD99B48DBF3}" destId="{9CEA6CE7-3E13-4220-8444-EC1750BED69D}" srcOrd="0" destOrd="0" presId="urn:microsoft.com/office/officeart/2005/8/layout/list1"/>
    <dgm:cxn modelId="{AA4A6C2D-1784-4F3A-8BF1-21EBA6FA6409}" type="presParOf" srcId="{9CEA6CE7-3E13-4220-8444-EC1750BED69D}" destId="{659821B5-C5E4-458D-AC6D-A76CF69BDE24}" srcOrd="0" destOrd="0" presId="urn:microsoft.com/office/officeart/2005/8/layout/list1"/>
    <dgm:cxn modelId="{5862F45F-248A-4D58-B758-078C39910960}" type="presParOf" srcId="{9CEA6CE7-3E13-4220-8444-EC1750BED69D}" destId="{8CECCF17-3BE5-4553-A10B-3DF6428FAF6E}" srcOrd="1" destOrd="0" presId="urn:microsoft.com/office/officeart/2005/8/layout/list1"/>
    <dgm:cxn modelId="{C99394BC-2D09-450B-B76A-C0CE281E199B}" type="presParOf" srcId="{38706E89-D5A0-4B00-9A75-CAD99B48DBF3}" destId="{D713B3B3-FBA0-4F22-A96A-AB3C9C2AE875}" srcOrd="1" destOrd="0" presId="urn:microsoft.com/office/officeart/2005/8/layout/list1"/>
    <dgm:cxn modelId="{08C7A046-85DA-4DD3-82AD-2DC7E8324F1E}" type="presParOf" srcId="{38706E89-D5A0-4B00-9A75-CAD99B48DBF3}" destId="{F7A2C618-6C6A-412A-B169-F2C56519AD4B}" srcOrd="2"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20B7476-6D41-4C71-B6DC-D78CF50A983F}" type="doc">
      <dgm:prSet loTypeId="urn:microsoft.com/office/officeart/2005/8/layout/vList2" loCatId="list" qsTypeId="urn:microsoft.com/office/officeart/2005/8/quickstyle/3d1" qsCatId="3D" csTypeId="urn:microsoft.com/office/officeart/2005/8/colors/colorful1" csCatId="colorful"/>
      <dgm:spPr/>
      <dgm:t>
        <a:bodyPr/>
        <a:lstStyle/>
        <a:p>
          <a:endParaRPr lang="en-GB"/>
        </a:p>
      </dgm:t>
    </dgm:pt>
    <dgm:pt modelId="{0E5AC255-1F2A-4C24-A01C-AB37AD9F1A14}">
      <dgm:prSet/>
      <dgm:spPr/>
      <dgm:t>
        <a:bodyPr/>
        <a:lstStyle/>
        <a:p>
          <a:r>
            <a:rPr lang="fr-FR" b="0" i="0"/>
            <a:t>Atténuer les </a:t>
          </a:r>
          <a:r>
            <a:rPr lang="fr-FR" b="1" i="0"/>
            <a:t>attaques de reconnaissance </a:t>
          </a:r>
          <a:r>
            <a:rPr lang="fr-FR" b="0" i="0"/>
            <a:t>consiste à chiffrer les données, bloquer les protocoles vulnérables et utiliser pare-feu, IPS et outils anti-renifleur.</a:t>
          </a:r>
          <a:endParaRPr lang="en-GB"/>
        </a:p>
      </dgm:t>
    </dgm:pt>
    <dgm:pt modelId="{39A3CB79-1CE6-42AD-AF6D-CD0DC29AF47B}" type="parTrans" cxnId="{9CB024DA-4C4F-4903-955C-FD7A21808D9F}">
      <dgm:prSet/>
      <dgm:spPr/>
      <dgm:t>
        <a:bodyPr/>
        <a:lstStyle/>
        <a:p>
          <a:endParaRPr lang="en-GB"/>
        </a:p>
      </dgm:t>
    </dgm:pt>
    <dgm:pt modelId="{0946479A-9A39-459B-B0A4-1918B4740CEE}" type="sibTrans" cxnId="{9CB024DA-4C4F-4903-955C-FD7A21808D9F}">
      <dgm:prSet/>
      <dgm:spPr/>
      <dgm:t>
        <a:bodyPr/>
        <a:lstStyle/>
        <a:p>
          <a:endParaRPr lang="en-GB"/>
        </a:p>
      </dgm:t>
    </dgm:pt>
    <dgm:pt modelId="{EE47CF45-D02A-42A5-A682-3DFA05B7648D}">
      <dgm:prSet/>
      <dgm:spPr/>
      <dgm:t>
        <a:bodyPr/>
        <a:lstStyle/>
        <a:p>
          <a:r>
            <a:rPr lang="fr-FR" b="0" i="0"/>
            <a:t>Les </a:t>
          </a:r>
          <a:r>
            <a:rPr lang="fr-FR" b="1" i="0"/>
            <a:t>attaques d’accès </a:t>
          </a:r>
          <a:r>
            <a:rPr lang="fr-FR" b="0" i="0"/>
            <a:t>s’atténuent par des mots de passe forts, la confiance minimale et la cryptographie.</a:t>
          </a:r>
          <a:endParaRPr lang="en-GB"/>
        </a:p>
      </dgm:t>
    </dgm:pt>
    <dgm:pt modelId="{EB333294-38CE-4B25-9B23-0ADF18C04A53}" type="parTrans" cxnId="{A195C5A3-06B4-4F12-ACAB-88DCF18C372C}">
      <dgm:prSet/>
      <dgm:spPr/>
      <dgm:t>
        <a:bodyPr/>
        <a:lstStyle/>
        <a:p>
          <a:endParaRPr lang="en-GB"/>
        </a:p>
      </dgm:t>
    </dgm:pt>
    <dgm:pt modelId="{7044D101-EA0E-4844-9CC3-1DC7CEA5D263}" type="sibTrans" cxnId="{A195C5A3-06B4-4F12-ACAB-88DCF18C372C}">
      <dgm:prSet/>
      <dgm:spPr/>
      <dgm:t>
        <a:bodyPr/>
        <a:lstStyle/>
        <a:p>
          <a:endParaRPr lang="en-GB"/>
        </a:p>
      </dgm:t>
    </dgm:pt>
    <dgm:pt modelId="{EC3326E9-4913-43C7-8115-AC7476FE8CCF}">
      <dgm:prSet/>
      <dgm:spPr/>
      <dgm:t>
        <a:bodyPr/>
        <a:lstStyle/>
        <a:p>
          <a:r>
            <a:rPr lang="fr-FR" b="0" i="0" dirty="0"/>
            <a:t>L’atténuation des </a:t>
          </a:r>
          <a:r>
            <a:rPr lang="fr-FR" b="1" i="0" dirty="0"/>
            <a:t>attaques </a:t>
          </a:r>
          <a:r>
            <a:rPr lang="fr-FR" b="1" i="0" dirty="0" err="1"/>
            <a:t>DoS</a:t>
          </a:r>
          <a:r>
            <a:rPr lang="fr-FR" b="1" i="0" dirty="0"/>
            <a:t> </a:t>
          </a:r>
          <a:r>
            <a:rPr lang="fr-FR" b="0" i="0" dirty="0"/>
            <a:t>repose sur des pare-feu, IPS, technologies </a:t>
          </a:r>
          <a:r>
            <a:rPr lang="fr-FR" b="0" i="0" dirty="0" err="1"/>
            <a:t>antispoofing</a:t>
          </a:r>
          <a:r>
            <a:rPr lang="fr-FR" b="0" i="0" dirty="0"/>
            <a:t>, QoS et correctifs réguliers. Elle inclut aussi antivirus, contrôle des accès, segmentation réseau, surveillance, chiffrement et formation des utilisateurs.</a:t>
          </a:r>
          <a:endParaRPr lang="en-GB" dirty="0"/>
        </a:p>
      </dgm:t>
    </dgm:pt>
    <dgm:pt modelId="{631198EA-BA9C-4741-A263-40F4B5206022}" type="parTrans" cxnId="{05CD914C-29F1-48EA-B297-8B808CAEAEE7}">
      <dgm:prSet/>
      <dgm:spPr/>
      <dgm:t>
        <a:bodyPr/>
        <a:lstStyle/>
        <a:p>
          <a:endParaRPr lang="en-GB"/>
        </a:p>
      </dgm:t>
    </dgm:pt>
    <dgm:pt modelId="{9B08C4B0-4F5E-40B8-9BFB-49F5D62BADAB}" type="sibTrans" cxnId="{05CD914C-29F1-48EA-B297-8B808CAEAEE7}">
      <dgm:prSet/>
      <dgm:spPr/>
      <dgm:t>
        <a:bodyPr/>
        <a:lstStyle/>
        <a:p>
          <a:endParaRPr lang="en-GB"/>
        </a:p>
      </dgm:t>
    </dgm:pt>
    <dgm:pt modelId="{4D34EE78-DE7B-429F-8B79-C1549F167F03}">
      <dgm:prSet/>
      <dgm:spPr/>
      <dgm:t>
        <a:bodyPr/>
        <a:lstStyle/>
        <a:p>
          <a:r>
            <a:rPr lang="fr-FR" b="0" i="0"/>
            <a:t>L’atténuation des </a:t>
          </a:r>
          <a:r>
            <a:rPr lang="fr-FR" b="1" i="0"/>
            <a:t>attaques sur les systèmes d’exploitation </a:t>
          </a:r>
          <a:r>
            <a:rPr lang="fr-FR" b="0" i="0"/>
            <a:t>repose sur les mises à jour, antivirus, contrôle des accès, mots de passe robustes, surveillance, IDS/IPS et configuration sécurisée. Elle inclut aussi le chiffrement, la segmentation réseau et la sensibilisation des utilisateurs.</a:t>
          </a:r>
          <a:endParaRPr lang="en-GB"/>
        </a:p>
      </dgm:t>
    </dgm:pt>
    <dgm:pt modelId="{ADF32F20-518B-4918-B4D8-004B2E0757FA}" type="parTrans" cxnId="{4DDDC210-BEF9-479D-824B-6A10B0A98B3F}">
      <dgm:prSet/>
      <dgm:spPr/>
      <dgm:t>
        <a:bodyPr/>
        <a:lstStyle/>
        <a:p>
          <a:endParaRPr lang="en-GB"/>
        </a:p>
      </dgm:t>
    </dgm:pt>
    <dgm:pt modelId="{6B01603B-297E-4536-886A-7E5FA010979F}" type="sibTrans" cxnId="{4DDDC210-BEF9-479D-824B-6A10B0A98B3F}">
      <dgm:prSet/>
      <dgm:spPr/>
      <dgm:t>
        <a:bodyPr/>
        <a:lstStyle/>
        <a:p>
          <a:endParaRPr lang="en-GB"/>
        </a:p>
      </dgm:t>
    </dgm:pt>
    <dgm:pt modelId="{4332CD1F-7EFD-43EF-96FC-268313470439}" type="pres">
      <dgm:prSet presAssocID="{C20B7476-6D41-4C71-B6DC-D78CF50A983F}" presName="linear" presStyleCnt="0">
        <dgm:presLayoutVars>
          <dgm:animLvl val="lvl"/>
          <dgm:resizeHandles val="exact"/>
        </dgm:presLayoutVars>
      </dgm:prSet>
      <dgm:spPr/>
    </dgm:pt>
    <dgm:pt modelId="{F5A83156-A425-4C88-89A4-57FCCC7D7BBE}" type="pres">
      <dgm:prSet presAssocID="{0E5AC255-1F2A-4C24-A01C-AB37AD9F1A14}" presName="parentText" presStyleLbl="node1" presStyleIdx="0" presStyleCnt="4">
        <dgm:presLayoutVars>
          <dgm:chMax val="0"/>
          <dgm:bulletEnabled val="1"/>
        </dgm:presLayoutVars>
      </dgm:prSet>
      <dgm:spPr/>
    </dgm:pt>
    <dgm:pt modelId="{E92C9C9A-E6AB-40F1-AF6E-C5AEC6AB19A2}" type="pres">
      <dgm:prSet presAssocID="{0946479A-9A39-459B-B0A4-1918B4740CEE}" presName="spacer" presStyleCnt="0"/>
      <dgm:spPr/>
    </dgm:pt>
    <dgm:pt modelId="{A746604B-502D-428C-A100-D20E12369537}" type="pres">
      <dgm:prSet presAssocID="{EE47CF45-D02A-42A5-A682-3DFA05B7648D}" presName="parentText" presStyleLbl="node1" presStyleIdx="1" presStyleCnt="4">
        <dgm:presLayoutVars>
          <dgm:chMax val="0"/>
          <dgm:bulletEnabled val="1"/>
        </dgm:presLayoutVars>
      </dgm:prSet>
      <dgm:spPr/>
    </dgm:pt>
    <dgm:pt modelId="{DA42AF83-0918-48ED-BB02-6139CF163131}" type="pres">
      <dgm:prSet presAssocID="{7044D101-EA0E-4844-9CC3-1DC7CEA5D263}" presName="spacer" presStyleCnt="0"/>
      <dgm:spPr/>
    </dgm:pt>
    <dgm:pt modelId="{E27EE1EE-2C60-4470-80B6-26C04E8C6E21}" type="pres">
      <dgm:prSet presAssocID="{EC3326E9-4913-43C7-8115-AC7476FE8CCF}" presName="parentText" presStyleLbl="node1" presStyleIdx="2" presStyleCnt="4">
        <dgm:presLayoutVars>
          <dgm:chMax val="0"/>
          <dgm:bulletEnabled val="1"/>
        </dgm:presLayoutVars>
      </dgm:prSet>
      <dgm:spPr/>
    </dgm:pt>
    <dgm:pt modelId="{140BEE0E-FA38-4CF5-9846-6C4DB92A9928}" type="pres">
      <dgm:prSet presAssocID="{9B08C4B0-4F5E-40B8-9BFB-49F5D62BADAB}" presName="spacer" presStyleCnt="0"/>
      <dgm:spPr/>
    </dgm:pt>
    <dgm:pt modelId="{47254A19-35D4-4F03-B433-FC46148B90A3}" type="pres">
      <dgm:prSet presAssocID="{4D34EE78-DE7B-429F-8B79-C1549F167F03}" presName="parentText" presStyleLbl="node1" presStyleIdx="3" presStyleCnt="4">
        <dgm:presLayoutVars>
          <dgm:chMax val="0"/>
          <dgm:bulletEnabled val="1"/>
        </dgm:presLayoutVars>
      </dgm:prSet>
      <dgm:spPr/>
    </dgm:pt>
  </dgm:ptLst>
  <dgm:cxnLst>
    <dgm:cxn modelId="{0F5DE707-89F7-4384-B0E3-B926C057AB71}" type="presOf" srcId="{4D34EE78-DE7B-429F-8B79-C1549F167F03}" destId="{47254A19-35D4-4F03-B433-FC46148B90A3}" srcOrd="0" destOrd="0" presId="urn:microsoft.com/office/officeart/2005/8/layout/vList2"/>
    <dgm:cxn modelId="{4DDDC210-BEF9-479D-824B-6A10B0A98B3F}" srcId="{C20B7476-6D41-4C71-B6DC-D78CF50A983F}" destId="{4D34EE78-DE7B-429F-8B79-C1549F167F03}" srcOrd="3" destOrd="0" parTransId="{ADF32F20-518B-4918-B4D8-004B2E0757FA}" sibTransId="{6B01603B-297E-4536-886A-7E5FA010979F}"/>
    <dgm:cxn modelId="{7F37BE45-8805-4256-9F3F-73C61A5256F5}" type="presOf" srcId="{0E5AC255-1F2A-4C24-A01C-AB37AD9F1A14}" destId="{F5A83156-A425-4C88-89A4-57FCCC7D7BBE}" srcOrd="0" destOrd="0" presId="urn:microsoft.com/office/officeart/2005/8/layout/vList2"/>
    <dgm:cxn modelId="{05CD914C-29F1-48EA-B297-8B808CAEAEE7}" srcId="{C20B7476-6D41-4C71-B6DC-D78CF50A983F}" destId="{EC3326E9-4913-43C7-8115-AC7476FE8CCF}" srcOrd="2" destOrd="0" parTransId="{631198EA-BA9C-4741-A263-40F4B5206022}" sibTransId="{9B08C4B0-4F5E-40B8-9BFB-49F5D62BADAB}"/>
    <dgm:cxn modelId="{D4C13083-4E9F-4B8E-80E6-4CFE21B0DB13}" type="presOf" srcId="{EC3326E9-4913-43C7-8115-AC7476FE8CCF}" destId="{E27EE1EE-2C60-4470-80B6-26C04E8C6E21}" srcOrd="0" destOrd="0" presId="urn:microsoft.com/office/officeart/2005/8/layout/vList2"/>
    <dgm:cxn modelId="{AE3E1B86-889D-4557-A889-52281012ADFF}" type="presOf" srcId="{C20B7476-6D41-4C71-B6DC-D78CF50A983F}" destId="{4332CD1F-7EFD-43EF-96FC-268313470439}" srcOrd="0" destOrd="0" presId="urn:microsoft.com/office/officeart/2005/8/layout/vList2"/>
    <dgm:cxn modelId="{A195C5A3-06B4-4F12-ACAB-88DCF18C372C}" srcId="{C20B7476-6D41-4C71-B6DC-D78CF50A983F}" destId="{EE47CF45-D02A-42A5-A682-3DFA05B7648D}" srcOrd="1" destOrd="0" parTransId="{EB333294-38CE-4B25-9B23-0ADF18C04A53}" sibTransId="{7044D101-EA0E-4844-9CC3-1DC7CEA5D263}"/>
    <dgm:cxn modelId="{FB933AC3-BC06-4D98-8F5F-5C55D63D1507}" type="presOf" srcId="{EE47CF45-D02A-42A5-A682-3DFA05B7648D}" destId="{A746604B-502D-428C-A100-D20E12369537}" srcOrd="0" destOrd="0" presId="urn:microsoft.com/office/officeart/2005/8/layout/vList2"/>
    <dgm:cxn modelId="{9CB024DA-4C4F-4903-955C-FD7A21808D9F}" srcId="{C20B7476-6D41-4C71-B6DC-D78CF50A983F}" destId="{0E5AC255-1F2A-4C24-A01C-AB37AD9F1A14}" srcOrd="0" destOrd="0" parTransId="{39A3CB79-1CE6-42AD-AF6D-CD0DC29AF47B}" sibTransId="{0946479A-9A39-459B-B0A4-1918B4740CEE}"/>
    <dgm:cxn modelId="{53D324ED-A9E3-4DC2-AA53-636BA9EE8DE2}" type="presParOf" srcId="{4332CD1F-7EFD-43EF-96FC-268313470439}" destId="{F5A83156-A425-4C88-89A4-57FCCC7D7BBE}" srcOrd="0" destOrd="0" presId="urn:microsoft.com/office/officeart/2005/8/layout/vList2"/>
    <dgm:cxn modelId="{1A5FF40A-C2ED-46A8-AD69-96FAFEE00B8A}" type="presParOf" srcId="{4332CD1F-7EFD-43EF-96FC-268313470439}" destId="{E92C9C9A-E6AB-40F1-AF6E-C5AEC6AB19A2}" srcOrd="1" destOrd="0" presId="urn:microsoft.com/office/officeart/2005/8/layout/vList2"/>
    <dgm:cxn modelId="{A854796E-D576-4A8C-B16A-72A6561580A1}" type="presParOf" srcId="{4332CD1F-7EFD-43EF-96FC-268313470439}" destId="{A746604B-502D-428C-A100-D20E12369537}" srcOrd="2" destOrd="0" presId="urn:microsoft.com/office/officeart/2005/8/layout/vList2"/>
    <dgm:cxn modelId="{4E4BB398-FB62-4968-B838-197A2E3F2400}" type="presParOf" srcId="{4332CD1F-7EFD-43EF-96FC-268313470439}" destId="{DA42AF83-0918-48ED-BB02-6139CF163131}" srcOrd="3" destOrd="0" presId="urn:microsoft.com/office/officeart/2005/8/layout/vList2"/>
    <dgm:cxn modelId="{213E3C04-9FDC-41DA-A096-AF7939C1B281}" type="presParOf" srcId="{4332CD1F-7EFD-43EF-96FC-268313470439}" destId="{E27EE1EE-2C60-4470-80B6-26C04E8C6E21}" srcOrd="4" destOrd="0" presId="urn:microsoft.com/office/officeart/2005/8/layout/vList2"/>
    <dgm:cxn modelId="{C78E5F13-BF69-493D-A8C9-8EADF206E9D5}" type="presParOf" srcId="{4332CD1F-7EFD-43EF-96FC-268313470439}" destId="{140BEE0E-FA38-4CF5-9846-6C4DB92A9928}" srcOrd="5" destOrd="0" presId="urn:microsoft.com/office/officeart/2005/8/layout/vList2"/>
    <dgm:cxn modelId="{25241725-5B4C-489C-ADBC-C500C63CB970}" type="presParOf" srcId="{4332CD1F-7EFD-43EF-96FC-268313470439}" destId="{47254A19-35D4-4F03-B433-FC46148B90A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41ACDF-5879-4EA2-A9BE-C09B420C6EC5}">
      <dsp:nvSpPr>
        <dsp:cNvPr id="0" name=""/>
        <dsp:cNvSpPr/>
      </dsp:nvSpPr>
      <dsp:spPr>
        <a:xfrm>
          <a:off x="0" y="298642"/>
          <a:ext cx="3572866" cy="2143720"/>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b="1" kern="1200"/>
            <a:t>Red Hat Hackers :</a:t>
          </a:r>
          <a:r>
            <a:rPr lang="fr-FR" sz="2200" kern="1200"/>
            <a:t> des hackers vigilants, qui agissent dans un cadre éthique. Leur but est de détruire les black hackers et de les contre-attaquer</a:t>
          </a:r>
          <a:endParaRPr lang="en-GB" sz="2200" kern="1200"/>
        </a:p>
      </dsp:txBody>
      <dsp:txXfrm>
        <a:off x="0" y="298642"/>
        <a:ext cx="3572866" cy="2143720"/>
      </dsp:txXfrm>
    </dsp:sp>
    <dsp:sp modelId="{83AFC974-10EE-4832-A02A-3104409E3D37}">
      <dsp:nvSpPr>
        <dsp:cNvPr id="0" name=""/>
        <dsp:cNvSpPr/>
      </dsp:nvSpPr>
      <dsp:spPr>
        <a:xfrm>
          <a:off x="3930153" y="298642"/>
          <a:ext cx="3572866" cy="214372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fr-FR" sz="2200" b="1" kern="1200"/>
            <a:t>Green Hat hackers:</a:t>
          </a:r>
          <a:r>
            <a:rPr lang="fr-FR" sz="2200" kern="1200"/>
            <a:t> ne sont pas des experts ou des spécialistes du domaines, ce sont des enthousiastes qui intègrent le monde du hacking.</a:t>
          </a:r>
          <a:endParaRPr lang="en-GB" sz="2200" kern="1200"/>
        </a:p>
      </dsp:txBody>
      <dsp:txXfrm>
        <a:off x="3930153" y="298642"/>
        <a:ext cx="3572866" cy="2143720"/>
      </dsp:txXfrm>
    </dsp:sp>
    <dsp:sp modelId="{CA24C922-634C-4D86-8A3C-9A102D3F8F8C}">
      <dsp:nvSpPr>
        <dsp:cNvPr id="0" name=""/>
        <dsp:cNvSpPr/>
      </dsp:nvSpPr>
      <dsp:spPr>
        <a:xfrm>
          <a:off x="7860307" y="298642"/>
          <a:ext cx="3572866" cy="2143720"/>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i="0" kern="1200"/>
            <a:t>Script kiddies: </a:t>
          </a:r>
          <a:r>
            <a:rPr lang="en-US" sz="2200" i="0" kern="1200"/>
            <a:t>n</a:t>
          </a:r>
          <a:r>
            <a:rPr lang="en-US" sz="2200" kern="1200"/>
            <a:t>ovices, utilisent des scripts </a:t>
          </a:r>
          <a:r>
            <a:rPr lang="fr-FR" sz="2200" kern="1200"/>
            <a:t>prêts</a:t>
          </a:r>
          <a:r>
            <a:rPr lang="en-US" sz="2200" kern="1200"/>
            <a:t> à utiliser</a:t>
          </a:r>
          <a:endParaRPr lang="en-GB" sz="2200" kern="1200"/>
        </a:p>
      </dsp:txBody>
      <dsp:txXfrm>
        <a:off x="7860307" y="298642"/>
        <a:ext cx="3572866" cy="2143720"/>
      </dsp:txXfrm>
    </dsp:sp>
    <dsp:sp modelId="{554AAF75-E18C-47DE-A89C-83BED746D6CA}">
      <dsp:nvSpPr>
        <dsp:cNvPr id="0" name=""/>
        <dsp:cNvSpPr/>
      </dsp:nvSpPr>
      <dsp:spPr>
        <a:xfrm>
          <a:off x="0" y="2799649"/>
          <a:ext cx="3572866" cy="2143720"/>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i="0" kern="1200"/>
            <a:t>Nation-state hackers</a:t>
          </a:r>
          <a:r>
            <a:rPr lang="fr-FR" sz="2200" i="0" kern="1200"/>
            <a:t>: a</a:t>
          </a:r>
          <a:r>
            <a:rPr lang="fr-FR" sz="2200" kern="1200"/>
            <a:t>ppelés aussi </a:t>
          </a:r>
          <a:r>
            <a:rPr lang="en-US" sz="2200" i="1" kern="1200"/>
            <a:t>state-sponsored hackers</a:t>
          </a:r>
          <a:r>
            <a:rPr lang="en-US" sz="2200" i="0" kern="1200"/>
            <a:t>, employés par les états pour hackers d’autres </a:t>
          </a:r>
          <a:r>
            <a:rPr lang="en-US" sz="2200" kern="1200"/>
            <a:t>grouvernemets / </a:t>
          </a:r>
          <a:r>
            <a:rPr lang="fr-FR" sz="2200" kern="1200"/>
            <a:t>campanies</a:t>
          </a:r>
          <a:r>
            <a:rPr lang="en-US" sz="2200" kern="1200"/>
            <a:t>…</a:t>
          </a:r>
          <a:endParaRPr lang="en-GB" sz="2200" kern="1200"/>
        </a:p>
      </dsp:txBody>
      <dsp:txXfrm>
        <a:off x="0" y="2799649"/>
        <a:ext cx="3572866" cy="2143720"/>
      </dsp:txXfrm>
    </dsp:sp>
    <dsp:sp modelId="{2958DBD9-2FB6-48F7-9DD4-0FEE4A8594DF}">
      <dsp:nvSpPr>
        <dsp:cNvPr id="0" name=""/>
        <dsp:cNvSpPr/>
      </dsp:nvSpPr>
      <dsp:spPr>
        <a:xfrm>
          <a:off x="3930153" y="2799649"/>
          <a:ext cx="3572866" cy="2143720"/>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i="0" kern="1200"/>
            <a:t>Hacktivists: </a:t>
          </a:r>
          <a:r>
            <a:rPr lang="en-US" sz="2200" kern="1200"/>
            <a:t>hacker + activist, ils ont des motivations politiques ou sociale (peuvent supporter des causes).</a:t>
          </a:r>
          <a:endParaRPr lang="en-GB" sz="2200" kern="1200"/>
        </a:p>
      </dsp:txBody>
      <dsp:txXfrm>
        <a:off x="3930153" y="2799649"/>
        <a:ext cx="3572866" cy="2143720"/>
      </dsp:txXfrm>
    </dsp:sp>
    <dsp:sp modelId="{40D8B929-89A9-48F5-AEDB-580C2BA1E6FC}">
      <dsp:nvSpPr>
        <dsp:cNvPr id="0" name=""/>
        <dsp:cNvSpPr/>
      </dsp:nvSpPr>
      <dsp:spPr>
        <a:xfrm>
          <a:off x="7860307" y="2799649"/>
          <a:ext cx="3572866" cy="2143720"/>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i="0" kern="1200"/>
            <a:t>Malicious insiders</a:t>
          </a:r>
          <a:r>
            <a:rPr lang="en-US" sz="2200" i="0" kern="1200"/>
            <a:t>: ce sont des attaquants internes, peuvent êtres des employés travaillant pour des entreprises concurrentes .</a:t>
          </a:r>
          <a:endParaRPr lang="en-GB" sz="2200" kern="1200"/>
        </a:p>
      </dsp:txBody>
      <dsp:txXfrm>
        <a:off x="7860307" y="2799649"/>
        <a:ext cx="3572866" cy="21437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511A36-C0DF-4ACC-BA94-6AE81085F065}">
      <dsp:nvSpPr>
        <dsp:cNvPr id="0" name=""/>
        <dsp:cNvSpPr/>
      </dsp:nvSpPr>
      <dsp:spPr>
        <a:xfrm>
          <a:off x="688810" y="1816205"/>
          <a:ext cx="1180266" cy="1291520"/>
        </a:xfrm>
        <a:custGeom>
          <a:avLst/>
          <a:gdLst/>
          <a:ahLst/>
          <a:cxnLst/>
          <a:rect l="0" t="0" r="0" b="0"/>
          <a:pathLst>
            <a:path>
              <a:moveTo>
                <a:pt x="0" y="0"/>
              </a:moveTo>
              <a:lnTo>
                <a:pt x="590133" y="0"/>
              </a:lnTo>
              <a:lnTo>
                <a:pt x="590133" y="1291520"/>
              </a:lnTo>
              <a:lnTo>
                <a:pt x="1180266" y="129152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GB" sz="600" kern="1200"/>
        </a:p>
      </dsp:txBody>
      <dsp:txXfrm>
        <a:off x="1235204" y="2418225"/>
        <a:ext cx="87479" cy="87479"/>
      </dsp:txXfrm>
    </dsp:sp>
    <dsp:sp modelId="{B1AEB9A7-89A6-412F-9BCF-70E29DA95654}">
      <dsp:nvSpPr>
        <dsp:cNvPr id="0" name=""/>
        <dsp:cNvSpPr/>
      </dsp:nvSpPr>
      <dsp:spPr>
        <a:xfrm>
          <a:off x="688810" y="1816205"/>
          <a:ext cx="1180266" cy="430506"/>
        </a:xfrm>
        <a:custGeom>
          <a:avLst/>
          <a:gdLst/>
          <a:ahLst/>
          <a:cxnLst/>
          <a:rect l="0" t="0" r="0" b="0"/>
          <a:pathLst>
            <a:path>
              <a:moveTo>
                <a:pt x="0" y="0"/>
              </a:moveTo>
              <a:lnTo>
                <a:pt x="590133" y="0"/>
              </a:lnTo>
              <a:lnTo>
                <a:pt x="590133" y="430506"/>
              </a:lnTo>
              <a:lnTo>
                <a:pt x="1180266" y="43050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247535" y="2000050"/>
        <a:ext cx="62816" cy="62816"/>
      </dsp:txXfrm>
    </dsp:sp>
    <dsp:sp modelId="{E79ADBF7-E2C4-4888-9B0A-EB4AD8337F7F}">
      <dsp:nvSpPr>
        <dsp:cNvPr id="0" name=""/>
        <dsp:cNvSpPr/>
      </dsp:nvSpPr>
      <dsp:spPr>
        <a:xfrm>
          <a:off x="688810" y="1385698"/>
          <a:ext cx="1180266" cy="430506"/>
        </a:xfrm>
        <a:custGeom>
          <a:avLst/>
          <a:gdLst/>
          <a:ahLst/>
          <a:cxnLst/>
          <a:rect l="0" t="0" r="0" b="0"/>
          <a:pathLst>
            <a:path>
              <a:moveTo>
                <a:pt x="0" y="430506"/>
              </a:moveTo>
              <a:lnTo>
                <a:pt x="590133" y="430506"/>
              </a:lnTo>
              <a:lnTo>
                <a:pt x="590133" y="0"/>
              </a:lnTo>
              <a:lnTo>
                <a:pt x="1180266"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247535" y="1569543"/>
        <a:ext cx="62816" cy="62816"/>
      </dsp:txXfrm>
    </dsp:sp>
    <dsp:sp modelId="{DC3CA469-BBBE-4BD0-8EDD-81ED18AB8230}">
      <dsp:nvSpPr>
        <dsp:cNvPr id="0" name=""/>
        <dsp:cNvSpPr/>
      </dsp:nvSpPr>
      <dsp:spPr>
        <a:xfrm>
          <a:off x="688810" y="524685"/>
          <a:ext cx="1180266" cy="1291520"/>
        </a:xfrm>
        <a:custGeom>
          <a:avLst/>
          <a:gdLst/>
          <a:ahLst/>
          <a:cxnLst/>
          <a:rect l="0" t="0" r="0" b="0"/>
          <a:pathLst>
            <a:path>
              <a:moveTo>
                <a:pt x="0" y="1291520"/>
              </a:moveTo>
              <a:lnTo>
                <a:pt x="590133" y="1291520"/>
              </a:lnTo>
              <a:lnTo>
                <a:pt x="590133" y="0"/>
              </a:lnTo>
              <a:lnTo>
                <a:pt x="1180266"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GB" sz="600" kern="1200"/>
        </a:p>
      </dsp:txBody>
      <dsp:txXfrm>
        <a:off x="1235204" y="1126705"/>
        <a:ext cx="87479" cy="87479"/>
      </dsp:txXfrm>
    </dsp:sp>
    <dsp:sp modelId="{ACA46CDC-1703-45E6-B28F-6B2676EE0FB4}">
      <dsp:nvSpPr>
        <dsp:cNvPr id="0" name=""/>
        <dsp:cNvSpPr/>
      </dsp:nvSpPr>
      <dsp:spPr>
        <a:xfrm rot="16200000">
          <a:off x="-1468254" y="1471800"/>
          <a:ext cx="3625319" cy="688810"/>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fr-FR" sz="2800" b="1" kern="1200" dirty="0"/>
            <a:t>Méthodes courantes</a:t>
          </a:r>
          <a:endParaRPr lang="en-GB" sz="2800" kern="1200" dirty="0"/>
        </a:p>
      </dsp:txBody>
      <dsp:txXfrm>
        <a:off x="-1468254" y="1471800"/>
        <a:ext cx="3625319" cy="688810"/>
      </dsp:txXfrm>
    </dsp:sp>
    <dsp:sp modelId="{C96E4CE3-4179-4B31-A8D2-01624FBA86B0}">
      <dsp:nvSpPr>
        <dsp:cNvPr id="0" name=""/>
        <dsp:cNvSpPr/>
      </dsp:nvSpPr>
      <dsp:spPr>
        <a:xfrm>
          <a:off x="1869077" y="180279"/>
          <a:ext cx="5327314" cy="688810"/>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FR" sz="2000" kern="1200" dirty="0"/>
            <a:t>Requêtes DNS (Whois, </a:t>
          </a:r>
          <a:r>
            <a:rPr lang="fr-FR" sz="2000" kern="1200" dirty="0" err="1"/>
            <a:t>nslookup</a:t>
          </a:r>
          <a:r>
            <a:rPr lang="fr-FR" sz="2000" kern="1200" dirty="0"/>
            <a:t>)</a:t>
          </a:r>
          <a:endParaRPr lang="en-GB" sz="2000" kern="1200" dirty="0"/>
        </a:p>
      </dsp:txBody>
      <dsp:txXfrm>
        <a:off x="1869077" y="180279"/>
        <a:ext cx="5327314" cy="688810"/>
      </dsp:txXfrm>
    </dsp:sp>
    <dsp:sp modelId="{2C663727-D4D6-424C-815A-FD4FFB15554B}">
      <dsp:nvSpPr>
        <dsp:cNvPr id="0" name=""/>
        <dsp:cNvSpPr/>
      </dsp:nvSpPr>
      <dsp:spPr>
        <a:xfrm>
          <a:off x="1869077" y="1041293"/>
          <a:ext cx="5327314" cy="688810"/>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FR" sz="2000" b="1" kern="1200" dirty="0"/>
            <a:t>Packet </a:t>
          </a:r>
          <a:r>
            <a:rPr lang="fr-FR" sz="2000" b="1" kern="1200" dirty="0" err="1"/>
            <a:t>Sniffers</a:t>
          </a:r>
          <a:r>
            <a:rPr lang="fr-FR" sz="2000" kern="1200" dirty="0"/>
            <a:t> : Capture des paquets réseau (ex. : Wireshark, </a:t>
          </a:r>
          <a:r>
            <a:rPr lang="fr-FR" sz="2000" kern="1200" dirty="0" err="1"/>
            <a:t>tcpdump</a:t>
          </a:r>
          <a:r>
            <a:rPr lang="fr-FR" sz="2000" kern="1200" dirty="0"/>
            <a:t>, </a:t>
          </a:r>
          <a:r>
            <a:rPr lang="fr-FR" sz="2000" kern="1200" dirty="0" err="1"/>
            <a:t>Omnipeek</a:t>
          </a:r>
          <a:r>
            <a:rPr lang="fr-FR" sz="2000" kern="1200" dirty="0"/>
            <a:t>)</a:t>
          </a:r>
          <a:endParaRPr lang="en-GB" sz="2000" kern="1200" dirty="0"/>
        </a:p>
      </dsp:txBody>
      <dsp:txXfrm>
        <a:off x="1869077" y="1041293"/>
        <a:ext cx="5327314" cy="688810"/>
      </dsp:txXfrm>
    </dsp:sp>
    <dsp:sp modelId="{FE958512-148F-4A26-AB5F-B701273A97EF}">
      <dsp:nvSpPr>
        <dsp:cNvPr id="0" name=""/>
        <dsp:cNvSpPr/>
      </dsp:nvSpPr>
      <dsp:spPr>
        <a:xfrm>
          <a:off x="1869077" y="1902306"/>
          <a:ext cx="5327314" cy="688810"/>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FR" sz="2000" b="1" kern="1200" dirty="0"/>
            <a:t>Ping </a:t>
          </a:r>
          <a:r>
            <a:rPr lang="fr-FR" sz="2000" b="1" kern="1200" dirty="0" err="1"/>
            <a:t>Sweeps</a:t>
          </a:r>
          <a:r>
            <a:rPr lang="fr-FR" sz="2000" kern="1200" dirty="0"/>
            <a:t> : Balayage ICMP pour identifier les hôtes actifs</a:t>
          </a:r>
          <a:endParaRPr lang="en-GB" sz="2000" kern="1200" dirty="0"/>
        </a:p>
      </dsp:txBody>
      <dsp:txXfrm>
        <a:off x="1869077" y="1902306"/>
        <a:ext cx="5327314" cy="688810"/>
      </dsp:txXfrm>
    </dsp:sp>
    <dsp:sp modelId="{E709359B-F1CA-4F26-911B-9A997221BA9C}">
      <dsp:nvSpPr>
        <dsp:cNvPr id="0" name=""/>
        <dsp:cNvSpPr/>
      </dsp:nvSpPr>
      <dsp:spPr>
        <a:xfrm>
          <a:off x="1869077" y="2763320"/>
          <a:ext cx="5327314" cy="688810"/>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fr-FR" sz="2000" b="1" kern="1200" dirty="0"/>
            <a:t>Port Scans</a:t>
          </a:r>
          <a:r>
            <a:rPr lang="fr-FR" sz="2000" kern="1200" dirty="0"/>
            <a:t> : Envoi de messages pour détecter les ports ouverts et vulnérables</a:t>
          </a:r>
          <a:endParaRPr lang="en-GB" sz="2000" kern="1200" dirty="0"/>
        </a:p>
      </dsp:txBody>
      <dsp:txXfrm>
        <a:off x="1869077" y="2763320"/>
        <a:ext cx="5327314" cy="6888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A2C618-6C6A-412A-B169-F2C56519AD4B}">
      <dsp:nvSpPr>
        <dsp:cNvPr id="0" name=""/>
        <dsp:cNvSpPr/>
      </dsp:nvSpPr>
      <dsp:spPr>
        <a:xfrm>
          <a:off x="0" y="368223"/>
          <a:ext cx="8782690" cy="1663200"/>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1634" tIns="458216" rIns="681634" bIns="156464" numCol="1" spcCol="1270" anchor="t" anchorCtr="0">
          <a:noAutofit/>
        </a:bodyPr>
        <a:lstStyle/>
        <a:p>
          <a:pPr marL="228600" lvl="1" indent="-228600" algn="l" defTabSz="977900">
            <a:lnSpc>
              <a:spcPct val="90000"/>
            </a:lnSpc>
            <a:spcBef>
              <a:spcPct val="0"/>
            </a:spcBef>
            <a:spcAft>
              <a:spcPct val="15000"/>
            </a:spcAft>
            <a:buChar char="•"/>
          </a:pPr>
          <a:r>
            <a:rPr lang="en-GB" sz="2200" b="1" kern="1200" dirty="0"/>
            <a:t>Ping of death</a:t>
          </a:r>
          <a:endParaRPr lang="en-GB" sz="2200" kern="1200" dirty="0"/>
        </a:p>
        <a:p>
          <a:pPr marL="228600" lvl="1" indent="-228600" algn="l" defTabSz="977900">
            <a:lnSpc>
              <a:spcPct val="90000"/>
            </a:lnSpc>
            <a:spcBef>
              <a:spcPct val="0"/>
            </a:spcBef>
            <a:spcAft>
              <a:spcPct val="15000"/>
            </a:spcAft>
            <a:buChar char="•"/>
          </a:pPr>
          <a:r>
            <a:rPr lang="en-GB" sz="2200" b="1" kern="1200" dirty="0"/>
            <a:t>Smurf Attack</a:t>
          </a:r>
          <a:endParaRPr lang="en-GB" sz="2200" kern="1200" dirty="0"/>
        </a:p>
        <a:p>
          <a:pPr marL="228600" lvl="1" indent="-228600" algn="l" defTabSz="977900">
            <a:lnSpc>
              <a:spcPct val="90000"/>
            </a:lnSpc>
            <a:spcBef>
              <a:spcPct val="0"/>
            </a:spcBef>
            <a:spcAft>
              <a:spcPct val="15000"/>
            </a:spcAft>
            <a:buChar char="•"/>
          </a:pPr>
          <a:r>
            <a:rPr lang="en-GB" sz="2200" b="1" kern="1200" dirty="0"/>
            <a:t>TCP SYN flood attack</a:t>
          </a:r>
          <a:endParaRPr lang="en-GB" sz="2200" kern="1200" dirty="0"/>
        </a:p>
      </dsp:txBody>
      <dsp:txXfrm>
        <a:off x="0" y="368223"/>
        <a:ext cx="8782690" cy="1663200"/>
      </dsp:txXfrm>
    </dsp:sp>
    <dsp:sp modelId="{8CECCF17-3BE5-4553-A10B-3DF6428FAF6E}">
      <dsp:nvSpPr>
        <dsp:cNvPr id="0" name=""/>
        <dsp:cNvSpPr/>
      </dsp:nvSpPr>
      <dsp:spPr>
        <a:xfrm>
          <a:off x="439134" y="43503"/>
          <a:ext cx="6147883" cy="64944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32375" tIns="0" rIns="232375" bIns="0" numCol="1" spcCol="1270" anchor="ctr" anchorCtr="0">
          <a:noAutofit/>
        </a:bodyPr>
        <a:lstStyle/>
        <a:p>
          <a:pPr marL="0" lvl="0" indent="0" algn="l" defTabSz="977900">
            <a:lnSpc>
              <a:spcPct val="90000"/>
            </a:lnSpc>
            <a:spcBef>
              <a:spcPct val="0"/>
            </a:spcBef>
            <a:spcAft>
              <a:spcPct val="35000"/>
            </a:spcAft>
            <a:buNone/>
          </a:pPr>
          <a:r>
            <a:rPr lang="en-GB" sz="2200" kern="1200" dirty="0"/>
            <a:t>Les types </a:t>
          </a:r>
          <a:r>
            <a:rPr lang="en-GB" sz="2200" kern="1200" dirty="0" err="1"/>
            <a:t>d’attaques</a:t>
          </a:r>
          <a:r>
            <a:rPr lang="en-GB" sz="2200" kern="1200" dirty="0"/>
            <a:t> DoS </a:t>
          </a:r>
          <a:r>
            <a:rPr lang="en-GB" sz="2200" kern="1200" dirty="0" err="1"/>
            <a:t>incluent</a:t>
          </a:r>
          <a:endParaRPr lang="en-GB" sz="2200" kern="1200" dirty="0"/>
        </a:p>
      </dsp:txBody>
      <dsp:txXfrm>
        <a:off x="470837" y="75206"/>
        <a:ext cx="6084477" cy="58603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A83156-A425-4C88-89A4-57FCCC7D7BBE}">
      <dsp:nvSpPr>
        <dsp:cNvPr id="0" name=""/>
        <dsp:cNvSpPr/>
      </dsp:nvSpPr>
      <dsp:spPr>
        <a:xfrm>
          <a:off x="0" y="124921"/>
          <a:ext cx="11292235" cy="1230693"/>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b="0" i="0" kern="1200"/>
            <a:t>Atténuer les </a:t>
          </a:r>
          <a:r>
            <a:rPr lang="fr-FR" sz="2200" b="1" i="0" kern="1200"/>
            <a:t>attaques de reconnaissance </a:t>
          </a:r>
          <a:r>
            <a:rPr lang="fr-FR" sz="2200" b="0" i="0" kern="1200"/>
            <a:t>consiste à chiffrer les données, bloquer les protocoles vulnérables et utiliser pare-feu, IPS et outils anti-renifleur.</a:t>
          </a:r>
          <a:endParaRPr lang="en-GB" sz="2200" kern="1200"/>
        </a:p>
      </dsp:txBody>
      <dsp:txXfrm>
        <a:off x="60077" y="184998"/>
        <a:ext cx="11172081" cy="1110539"/>
      </dsp:txXfrm>
    </dsp:sp>
    <dsp:sp modelId="{A746604B-502D-428C-A100-D20E12369537}">
      <dsp:nvSpPr>
        <dsp:cNvPr id="0" name=""/>
        <dsp:cNvSpPr/>
      </dsp:nvSpPr>
      <dsp:spPr>
        <a:xfrm>
          <a:off x="0" y="1418975"/>
          <a:ext cx="11292235" cy="1230693"/>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b="0" i="0" kern="1200"/>
            <a:t>Les </a:t>
          </a:r>
          <a:r>
            <a:rPr lang="fr-FR" sz="2200" b="1" i="0" kern="1200"/>
            <a:t>attaques d’accès </a:t>
          </a:r>
          <a:r>
            <a:rPr lang="fr-FR" sz="2200" b="0" i="0" kern="1200"/>
            <a:t>s’atténuent par des mots de passe forts, la confiance minimale et la cryptographie.</a:t>
          </a:r>
          <a:endParaRPr lang="en-GB" sz="2200" kern="1200"/>
        </a:p>
      </dsp:txBody>
      <dsp:txXfrm>
        <a:off x="60077" y="1479052"/>
        <a:ext cx="11172081" cy="1110539"/>
      </dsp:txXfrm>
    </dsp:sp>
    <dsp:sp modelId="{E27EE1EE-2C60-4470-80B6-26C04E8C6E21}">
      <dsp:nvSpPr>
        <dsp:cNvPr id="0" name=""/>
        <dsp:cNvSpPr/>
      </dsp:nvSpPr>
      <dsp:spPr>
        <a:xfrm>
          <a:off x="0" y="2713029"/>
          <a:ext cx="11292235" cy="1230693"/>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b="0" i="0" kern="1200" dirty="0"/>
            <a:t>L’atténuation des </a:t>
          </a:r>
          <a:r>
            <a:rPr lang="fr-FR" sz="2200" b="1" i="0" kern="1200" dirty="0"/>
            <a:t>attaques </a:t>
          </a:r>
          <a:r>
            <a:rPr lang="fr-FR" sz="2200" b="1" i="0" kern="1200" dirty="0" err="1"/>
            <a:t>DoS</a:t>
          </a:r>
          <a:r>
            <a:rPr lang="fr-FR" sz="2200" b="1" i="0" kern="1200" dirty="0"/>
            <a:t> </a:t>
          </a:r>
          <a:r>
            <a:rPr lang="fr-FR" sz="2200" b="0" i="0" kern="1200" dirty="0"/>
            <a:t>repose sur des pare-feu, IPS, technologies </a:t>
          </a:r>
          <a:r>
            <a:rPr lang="fr-FR" sz="2200" b="0" i="0" kern="1200" dirty="0" err="1"/>
            <a:t>antispoofing</a:t>
          </a:r>
          <a:r>
            <a:rPr lang="fr-FR" sz="2200" b="0" i="0" kern="1200" dirty="0"/>
            <a:t>, QoS et correctifs réguliers. Elle inclut aussi antivirus, contrôle des accès, segmentation réseau, surveillance, chiffrement et formation des utilisateurs.</a:t>
          </a:r>
          <a:endParaRPr lang="en-GB" sz="2200" kern="1200" dirty="0"/>
        </a:p>
      </dsp:txBody>
      <dsp:txXfrm>
        <a:off x="60077" y="2773106"/>
        <a:ext cx="11172081" cy="1110539"/>
      </dsp:txXfrm>
    </dsp:sp>
    <dsp:sp modelId="{47254A19-35D4-4F03-B433-FC46148B90A3}">
      <dsp:nvSpPr>
        <dsp:cNvPr id="0" name=""/>
        <dsp:cNvSpPr/>
      </dsp:nvSpPr>
      <dsp:spPr>
        <a:xfrm>
          <a:off x="0" y="4007083"/>
          <a:ext cx="11292235" cy="1230693"/>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b="0" i="0" kern="1200"/>
            <a:t>L’atténuation des </a:t>
          </a:r>
          <a:r>
            <a:rPr lang="fr-FR" sz="2200" b="1" i="0" kern="1200"/>
            <a:t>attaques sur les systèmes d’exploitation </a:t>
          </a:r>
          <a:r>
            <a:rPr lang="fr-FR" sz="2200" b="0" i="0" kern="1200"/>
            <a:t>repose sur les mises à jour, antivirus, contrôle des accès, mots de passe robustes, surveillance, IDS/IPS et configuration sécurisée. Elle inclut aussi le chiffrement, la segmentation réseau et la sensibilisation des utilisateurs.</a:t>
          </a:r>
          <a:endParaRPr lang="en-GB" sz="2200" kern="1200"/>
        </a:p>
      </dsp:txBody>
      <dsp:txXfrm>
        <a:off x="60077" y="4067160"/>
        <a:ext cx="11172081" cy="111053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fr-TN"/>
          </a:p>
        </p:txBody>
      </p:sp>
      <p:sp>
        <p:nvSpPr>
          <p:cNvPr id="3" name="Espace réservé de la date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4FD2F116-5A9D-4D1B-9352-0B896CDB3C4D}" type="datetimeFigureOut">
              <a:rPr lang="fr-TN" smtClean="0"/>
              <a:t>09/13/2025</a:t>
            </a:fld>
            <a:endParaRPr lang="fr-TN"/>
          </a:p>
        </p:txBody>
      </p:sp>
      <p:sp>
        <p:nvSpPr>
          <p:cNvPr id="4" name="Espace réservé de l'image des diapositives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fr-TN"/>
          </a:p>
        </p:txBody>
      </p:sp>
      <p:sp>
        <p:nvSpPr>
          <p:cNvPr id="5" name="Espace réservé des note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N"/>
          </a:p>
        </p:txBody>
      </p:sp>
      <p:sp>
        <p:nvSpPr>
          <p:cNvPr id="6" name="Espace réservé du pied de page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fr-TN"/>
          </a:p>
        </p:txBody>
      </p:sp>
      <p:sp>
        <p:nvSpPr>
          <p:cNvPr id="7" name="Espace réservé du numéro de diapositive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7B613AC8-3DB9-41DC-836A-C9AF943BA108}" type="slidenum">
              <a:rPr lang="fr-TN" smtClean="0"/>
              <a:t>‹N°›</a:t>
            </a:fld>
            <a:endParaRPr lang="fr-TN"/>
          </a:p>
        </p:txBody>
      </p:sp>
    </p:spTree>
    <p:extLst>
      <p:ext uri="{BB962C8B-B14F-4D97-AF65-F5344CB8AC3E}">
        <p14:creationId xmlns:p14="http://schemas.microsoft.com/office/powerpoint/2010/main" val="2517165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Les premiers utilisateurs d’Internet avaient très peu de menaces comparés à ces temps-ci.</a:t>
            </a:r>
            <a:endParaRPr lang="fr-FR" dirty="0"/>
          </a:p>
          <a:p>
            <a:pPr>
              <a:buFont typeface="Arial" panose="020B0604020202020204" pitchFamily="34" charset="0"/>
              <a:buChar char="•"/>
            </a:pPr>
            <a:r>
              <a:rPr lang="fr-FR" dirty="0"/>
              <a:t>Internet était principalement utilisé par des chercheurs et des universitaires.</a:t>
            </a:r>
          </a:p>
          <a:p>
            <a:pPr>
              <a:buFont typeface="Arial" panose="020B0604020202020204" pitchFamily="34" charset="0"/>
              <a:buChar char="•"/>
            </a:pPr>
            <a:r>
              <a:rPr lang="fr-FR" dirty="0"/>
              <a:t>Les menaces étaient rares et souvent non malveillantes.</a:t>
            </a:r>
          </a:p>
          <a:p>
            <a:r>
              <a:rPr lang="fr-FR" b="1" dirty="0"/>
              <a:t>Les attaques sont de plus en plus sophistiquées grâce aux outils disponibles.</a:t>
            </a:r>
            <a:endParaRPr lang="fr-FR" dirty="0"/>
          </a:p>
          <a:p>
            <a:pPr>
              <a:buFont typeface="Arial" panose="020B0604020202020204" pitchFamily="34" charset="0"/>
              <a:buChar char="•"/>
            </a:pPr>
            <a:r>
              <a:rPr lang="fr-FR" dirty="0"/>
              <a:t>Les cybercriminels utilisent des techniques avancées comme le phishing et les ransomwares.</a:t>
            </a:r>
          </a:p>
          <a:p>
            <a:pPr>
              <a:buFont typeface="Arial" panose="020B0604020202020204" pitchFamily="34" charset="0"/>
              <a:buChar char="•"/>
            </a:pPr>
            <a:r>
              <a:rPr lang="fr-FR" dirty="0"/>
              <a:t>Des kits d'outils et des services de piratage sont facilement accessibles.</a:t>
            </a:r>
          </a:p>
          <a:p>
            <a:r>
              <a:rPr lang="fr-FR" b="1" dirty="0"/>
              <a:t>Aujourd’hui, Internet est un réseau très différent de ses débuts.</a:t>
            </a:r>
            <a:endParaRPr lang="fr-FR" dirty="0"/>
          </a:p>
          <a:p>
            <a:pPr>
              <a:buFont typeface="Arial" panose="020B0604020202020204" pitchFamily="34" charset="0"/>
              <a:buChar char="•"/>
            </a:pPr>
            <a:r>
              <a:rPr lang="fr-FR" dirty="0"/>
              <a:t>L'Internet est crucial pour les entreprises, les gouvernements et les infrastructures critiques.</a:t>
            </a:r>
          </a:p>
          <a:p>
            <a:pPr>
              <a:buFont typeface="Arial" panose="020B0604020202020204" pitchFamily="34" charset="0"/>
              <a:buChar char="•"/>
            </a:pPr>
            <a:r>
              <a:rPr lang="fr-FR" dirty="0"/>
              <a:t>L'augmentation des dispositifs connectés (IoT) et des services en nuage a élargi la surface d'attaque.</a:t>
            </a:r>
          </a:p>
          <a:p>
            <a:pPr>
              <a:buFont typeface="Arial" panose="020B0604020202020204" pitchFamily="34" charset="0"/>
              <a:buChar char="•"/>
            </a:pPr>
            <a:r>
              <a:rPr lang="fr-FR" dirty="0"/>
              <a:t>La cybercriminalité est devenue une industrie sophistiquée et bien financée.</a:t>
            </a:r>
          </a:p>
          <a:p>
            <a:endParaRPr lang="fr-TN" dirty="0"/>
          </a:p>
        </p:txBody>
      </p:sp>
      <p:sp>
        <p:nvSpPr>
          <p:cNvPr id="4" name="Espace réservé du numéro de diapositive 3"/>
          <p:cNvSpPr>
            <a:spLocks noGrp="1"/>
          </p:cNvSpPr>
          <p:nvPr>
            <p:ph type="sldNum" sz="quarter" idx="5"/>
          </p:nvPr>
        </p:nvSpPr>
        <p:spPr/>
        <p:txBody>
          <a:bodyPr/>
          <a:lstStyle/>
          <a:p>
            <a:fld id="{7B613AC8-3DB9-41DC-836A-C9AF943BA108}" type="slidenum">
              <a:rPr lang="fr-TN" smtClean="0"/>
              <a:t>4</a:t>
            </a:fld>
            <a:endParaRPr lang="fr-TN"/>
          </a:p>
        </p:txBody>
      </p:sp>
    </p:spTree>
    <p:extLst>
      <p:ext uri="{BB962C8B-B14F-4D97-AF65-F5344CB8AC3E}">
        <p14:creationId xmlns:p14="http://schemas.microsoft.com/office/powerpoint/2010/main" val="3933710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2700" marR="8890" indent="0" algn="just">
              <a:lnSpc>
                <a:spcPct val="100699"/>
              </a:lnSpc>
              <a:spcBef>
                <a:spcPts val="950"/>
              </a:spcBef>
              <a:buFont typeface="Wingdings" panose="05000000000000000000" pitchFamily="2" charset="2"/>
              <a:buNone/>
            </a:pPr>
            <a:r>
              <a:rPr lang="fr-FR" sz="1200" spc="100" dirty="0" err="1">
                <a:latin typeface="Arial" panose="020B0604020202020204" pitchFamily="34" charset="0"/>
                <a:cs typeface="Arial" panose="020B0604020202020204" pitchFamily="34" charset="0"/>
              </a:rPr>
              <a:t>Attques</a:t>
            </a:r>
            <a:r>
              <a:rPr lang="fr-FR" sz="1200" spc="100" dirty="0">
                <a:latin typeface="Arial" panose="020B0604020202020204" pitchFamily="34" charset="0"/>
                <a:cs typeface="Arial" panose="020B0604020202020204" pitchFamily="34" charset="0"/>
              </a:rPr>
              <a:t> </a:t>
            </a:r>
            <a:r>
              <a:rPr lang="fr-FR" sz="1200" spc="100" dirty="0" err="1">
                <a:latin typeface="Arial" panose="020B0604020202020204" pitchFamily="34" charset="0"/>
                <a:cs typeface="Arial" panose="020B0604020202020204" pitchFamily="34" charset="0"/>
              </a:rPr>
              <a:t>DOs</a:t>
            </a:r>
            <a:r>
              <a:rPr lang="fr-FR" sz="1200" spc="100" dirty="0">
                <a:latin typeface="Arial" panose="020B0604020202020204" pitchFamily="34" charset="0"/>
                <a:cs typeface="Arial" panose="020B0604020202020204" pitchFamily="34" charset="0"/>
              </a:rPr>
              <a:t> </a:t>
            </a:r>
            <a:r>
              <a:rPr lang="fr-FR" sz="1200" spc="-5" dirty="0">
                <a:latin typeface="Arial" panose="020B0604020202020204" pitchFamily="34" charset="0"/>
                <a:cs typeface="Arial" panose="020B0604020202020204" pitchFamily="34" charset="0"/>
              </a:rPr>
              <a:t>Ces demandes multiples entraînent une utilisation excessive des ressources de </a:t>
            </a:r>
            <a:r>
              <a:rPr lang="fr-FR" sz="1200" dirty="0">
                <a:latin typeface="Arial" panose="020B0604020202020204" pitchFamily="34" charset="0"/>
                <a:cs typeface="Arial" panose="020B0604020202020204" pitchFamily="34" charset="0"/>
              </a:rPr>
              <a:t> </a:t>
            </a:r>
            <a:r>
              <a:rPr lang="fr-FR" sz="1200" spc="-5" dirty="0">
                <a:latin typeface="Arial" panose="020B0604020202020204" pitchFamily="34" charset="0"/>
                <a:cs typeface="Arial" panose="020B0604020202020204" pitchFamily="34" charset="0"/>
              </a:rPr>
              <a:t>l’appareil</a:t>
            </a:r>
            <a:r>
              <a:rPr lang="fr-FR" sz="1200" spc="-10" dirty="0">
                <a:latin typeface="Arial" panose="020B0604020202020204" pitchFamily="34" charset="0"/>
                <a:cs typeface="Arial" panose="020B0604020202020204" pitchFamily="34" charset="0"/>
              </a:rPr>
              <a:t> </a:t>
            </a:r>
            <a:r>
              <a:rPr lang="fr-FR" sz="1200" spc="-5" dirty="0">
                <a:latin typeface="Arial" panose="020B0604020202020204" pitchFamily="34" charset="0"/>
                <a:cs typeface="Arial" panose="020B0604020202020204" pitchFamily="34" charset="0"/>
              </a:rPr>
              <a:t>cible.</a:t>
            </a:r>
            <a:endParaRPr lang="fr-FR" sz="1200" dirty="0">
              <a:latin typeface="Arial" panose="020B0604020202020204" pitchFamily="34" charset="0"/>
              <a:cs typeface="Arial" panose="020B0604020202020204" pitchFamily="34" charset="0"/>
            </a:endParaRPr>
          </a:p>
          <a:p>
            <a:pPr marL="355600" marR="7620" indent="-342900" algn="just">
              <a:lnSpc>
                <a:spcPct val="100699"/>
              </a:lnSpc>
              <a:spcBef>
                <a:spcPts val="950"/>
              </a:spcBef>
              <a:buFont typeface="Wingdings" panose="05000000000000000000" pitchFamily="2" charset="2"/>
              <a:buChar char="Ø"/>
            </a:pPr>
            <a:r>
              <a:rPr lang="fr-FR" sz="1200" spc="100" dirty="0">
                <a:latin typeface="Arial" panose="020B0604020202020204" pitchFamily="34" charset="0"/>
                <a:cs typeface="Arial" panose="020B0604020202020204" pitchFamily="34" charset="0"/>
              </a:rPr>
              <a:t> </a:t>
            </a:r>
            <a:r>
              <a:rPr lang="fr-FR" sz="1200" spc="-5" dirty="0">
                <a:latin typeface="Arial" panose="020B0604020202020204" pitchFamily="34" charset="0"/>
                <a:cs typeface="Arial" panose="020B0604020202020204" pitchFamily="34" charset="0"/>
              </a:rPr>
              <a:t>Par conséquent, l’appareil </a:t>
            </a:r>
            <a:r>
              <a:rPr lang="fr-FR" sz="1200" dirty="0">
                <a:latin typeface="Arial" panose="020B0604020202020204" pitchFamily="34" charset="0"/>
                <a:cs typeface="Arial" panose="020B0604020202020204" pitchFamily="34" charset="0"/>
              </a:rPr>
              <a:t>attaqué </a:t>
            </a:r>
            <a:r>
              <a:rPr lang="fr-FR" sz="1200" spc="-5" dirty="0">
                <a:latin typeface="Arial" panose="020B0604020202020204" pitchFamily="34" charset="0"/>
                <a:cs typeface="Arial" panose="020B0604020202020204" pitchFamily="34" charset="0"/>
              </a:rPr>
              <a:t>devient dégradé ou indisponible pour un </a:t>
            </a:r>
            <a:r>
              <a:rPr lang="fr-FR" sz="1200" dirty="0">
                <a:latin typeface="Arial" panose="020B0604020202020204" pitchFamily="34" charset="0"/>
                <a:cs typeface="Arial" panose="020B0604020202020204" pitchFamily="34" charset="0"/>
              </a:rPr>
              <a:t>accès </a:t>
            </a:r>
            <a:r>
              <a:rPr lang="fr-FR" sz="1200" spc="-5" dirty="0">
                <a:latin typeface="Arial" panose="020B0604020202020204" pitchFamily="34" charset="0"/>
                <a:cs typeface="Arial" panose="020B0604020202020204" pitchFamily="34" charset="0"/>
              </a:rPr>
              <a:t>et/ou une </a:t>
            </a:r>
            <a:r>
              <a:rPr lang="fr-FR" sz="1200" dirty="0">
                <a:latin typeface="Arial" panose="020B0604020202020204" pitchFamily="34" charset="0"/>
                <a:cs typeface="Arial" panose="020B0604020202020204" pitchFamily="34" charset="0"/>
              </a:rPr>
              <a:t> </a:t>
            </a:r>
            <a:r>
              <a:rPr lang="fr-FR" sz="1200" spc="-5" dirty="0">
                <a:latin typeface="Arial" panose="020B0604020202020204" pitchFamily="34" charset="0"/>
                <a:cs typeface="Arial" panose="020B0604020202020204" pitchFamily="34" charset="0"/>
              </a:rPr>
              <a:t>utilisation</a:t>
            </a:r>
            <a:r>
              <a:rPr lang="fr-FR" sz="1200" spc="-10" dirty="0">
                <a:latin typeface="Arial" panose="020B0604020202020204" pitchFamily="34" charset="0"/>
                <a:cs typeface="Arial" panose="020B0604020202020204" pitchFamily="34" charset="0"/>
              </a:rPr>
              <a:t> </a:t>
            </a:r>
            <a:r>
              <a:rPr lang="fr-FR" sz="1200" spc="-5" dirty="0">
                <a:latin typeface="Arial" panose="020B0604020202020204" pitchFamily="34" charset="0"/>
                <a:cs typeface="Arial" panose="020B0604020202020204" pitchFamily="34" charset="0"/>
              </a:rPr>
              <a:t>légitimes.</a:t>
            </a:r>
            <a:endParaRPr lang="fr-FR" sz="1200" dirty="0">
              <a:latin typeface="Arial" panose="020B0604020202020204" pitchFamily="34" charset="0"/>
              <a:cs typeface="Arial" panose="020B0604020202020204" pitchFamily="34" charset="0"/>
            </a:endParaRPr>
          </a:p>
          <a:p>
            <a:endParaRPr lang="fr-TN" dirty="0"/>
          </a:p>
        </p:txBody>
      </p:sp>
      <p:sp>
        <p:nvSpPr>
          <p:cNvPr id="4" name="Espace réservé du numéro de diapositive 3"/>
          <p:cNvSpPr>
            <a:spLocks noGrp="1"/>
          </p:cNvSpPr>
          <p:nvPr>
            <p:ph type="sldNum" sz="quarter" idx="5"/>
          </p:nvPr>
        </p:nvSpPr>
        <p:spPr/>
        <p:txBody>
          <a:bodyPr/>
          <a:lstStyle/>
          <a:p>
            <a:fld id="{7B613AC8-3DB9-41DC-836A-C9AF943BA108}" type="slidenum">
              <a:rPr lang="fr-TN" smtClean="0"/>
              <a:t>10</a:t>
            </a:fld>
            <a:endParaRPr lang="fr-TN"/>
          </a:p>
        </p:txBody>
      </p:sp>
    </p:spTree>
    <p:extLst>
      <p:ext uri="{BB962C8B-B14F-4D97-AF65-F5344CB8AC3E}">
        <p14:creationId xmlns:p14="http://schemas.microsoft.com/office/powerpoint/2010/main" val="21813305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051727"/>
                </a:solidFill>
                <a:effectLst/>
                <a:highlight>
                  <a:srgbClr val="FBFBFC"/>
                </a:highlight>
                <a:latin typeface="gotham"/>
              </a:rPr>
              <a:t>https://www.pingidentity.com/fr/resources/cybersecurity-fundamentals/threats/buffer-overflow-attack.html</a:t>
            </a:r>
          </a:p>
          <a:p>
            <a:endParaRPr lang="fr-FR" b="0" i="0" dirty="0">
              <a:solidFill>
                <a:srgbClr val="051727"/>
              </a:solidFill>
              <a:effectLst/>
              <a:highlight>
                <a:srgbClr val="FBFBFC"/>
              </a:highlight>
              <a:latin typeface="gotham"/>
            </a:endParaRPr>
          </a:p>
          <a:p>
            <a:endParaRPr lang="fr-FR" b="0" i="0" dirty="0">
              <a:solidFill>
                <a:srgbClr val="051727"/>
              </a:solidFill>
              <a:effectLst/>
              <a:highlight>
                <a:srgbClr val="FBFBFC"/>
              </a:highlight>
              <a:latin typeface="gotham"/>
            </a:endParaRPr>
          </a:p>
          <a:p>
            <a:r>
              <a:rPr lang="fr-FR" b="0" i="0" dirty="0">
                <a:solidFill>
                  <a:srgbClr val="051727"/>
                </a:solidFill>
                <a:effectLst/>
                <a:highlight>
                  <a:srgbClr val="FBFBFC"/>
                </a:highlight>
                <a:latin typeface="gotham"/>
              </a:rPr>
              <a:t>Le débordement de tampon est l’une des vulnérabilités logicielles les plus courantes, et il affecte généralement les applications C/C++. Un débordement de tampon se produit lorsqu’un volume de données entrant dépasse ce que la mémoire tampon peut contenir. Cela peut se produire par accident ou dans le cadre d’une attaque malveillante. Dans les deux cas, un débordement de tampon peut créer des opportunités pour des hackers mal intentionnés.</a:t>
            </a:r>
          </a:p>
          <a:p>
            <a:endParaRPr lang="fr-FR" b="0" i="0" dirty="0">
              <a:solidFill>
                <a:srgbClr val="051727"/>
              </a:solidFill>
              <a:effectLst/>
              <a:highlight>
                <a:srgbClr val="FBFBFC"/>
              </a:highlight>
              <a:latin typeface="gotham"/>
            </a:endParaRPr>
          </a:p>
          <a:p>
            <a:pPr algn="l"/>
            <a:r>
              <a:rPr lang="fr-FR" b="1" i="0" dirty="0">
                <a:solidFill>
                  <a:srgbClr val="051727"/>
                </a:solidFill>
                <a:effectLst/>
                <a:highlight>
                  <a:srgbClr val="FBFBFC"/>
                </a:highlight>
                <a:latin typeface="Gotham Narrow"/>
              </a:rPr>
              <a:t>Une attaque par débordement de tampon (buffer </a:t>
            </a:r>
            <a:r>
              <a:rPr lang="fr-FR" b="1" i="0" dirty="0" err="1">
                <a:solidFill>
                  <a:srgbClr val="051727"/>
                </a:solidFill>
                <a:effectLst/>
                <a:highlight>
                  <a:srgbClr val="FBFBFC"/>
                </a:highlight>
                <a:latin typeface="Gotham Narrow"/>
              </a:rPr>
              <a:t>overflow</a:t>
            </a:r>
            <a:r>
              <a:rPr lang="fr-FR" b="1" i="0" dirty="0">
                <a:solidFill>
                  <a:srgbClr val="051727"/>
                </a:solidFill>
                <a:effectLst/>
                <a:highlight>
                  <a:srgbClr val="FBFBFC"/>
                </a:highlight>
                <a:latin typeface="Gotham Narrow"/>
              </a:rPr>
              <a:t>), c’est quoi ?</a:t>
            </a:r>
            <a:endParaRPr lang="fr-FR" b="1" i="0" dirty="0">
              <a:solidFill>
                <a:srgbClr val="051727"/>
              </a:solidFill>
              <a:effectLst/>
              <a:highlight>
                <a:srgbClr val="FBFBFC"/>
              </a:highlight>
              <a:latin typeface="gotham"/>
            </a:endParaRPr>
          </a:p>
          <a:p>
            <a:pPr algn="l"/>
            <a:r>
              <a:rPr lang="fr-FR" b="0" i="0" dirty="0">
                <a:solidFill>
                  <a:srgbClr val="051727"/>
                </a:solidFill>
                <a:effectLst/>
                <a:highlight>
                  <a:srgbClr val="FBFBFC"/>
                </a:highlight>
                <a:latin typeface="gotham"/>
              </a:rPr>
              <a:t>Imaginez un tampon de mémoire conçu pour contenir des identifiants de connexion. Si le tampon attend des données de noms d’utilisateur et de mots de passe contenant 8 bits mais en reçoit 11, alors vous avez un problème de dépassement de tampon car les données en trop surchargeront la capacité du tampon.</a:t>
            </a:r>
          </a:p>
          <a:p>
            <a:pPr algn="l"/>
            <a:r>
              <a:rPr lang="fr-FR" b="0" i="0" dirty="0">
                <a:solidFill>
                  <a:srgbClr val="051727"/>
                </a:solidFill>
                <a:effectLst/>
                <a:highlight>
                  <a:srgbClr val="FBFBFC"/>
                </a:highlight>
                <a:latin typeface="gotham"/>
              </a:rPr>
              <a:t> </a:t>
            </a:r>
          </a:p>
          <a:p>
            <a:pPr algn="l"/>
            <a:r>
              <a:rPr lang="fr-FR" b="0" i="0" dirty="0">
                <a:solidFill>
                  <a:srgbClr val="051727"/>
                </a:solidFill>
                <a:effectLst/>
                <a:highlight>
                  <a:srgbClr val="FBFBFC"/>
                </a:highlight>
                <a:latin typeface="gotham"/>
              </a:rPr>
              <a:t>Les tampons de mémoire sont des segments de mémoire séquentiels de longueur fixe ayant été alloués à une suite de caractères ou un tableau de nombres entiers. Ces tampons détiennent temporairement les données pendant qu’elles sont transférées vers divers emplacements</a:t>
            </a:r>
          </a:p>
          <a:p>
            <a:endParaRPr lang="fr-FR" b="0" i="0" dirty="0">
              <a:solidFill>
                <a:srgbClr val="051727"/>
              </a:solidFill>
              <a:effectLst/>
              <a:highlight>
                <a:srgbClr val="FBFBFC"/>
              </a:highlight>
              <a:latin typeface="gotham"/>
            </a:endParaRPr>
          </a:p>
          <a:p>
            <a:endParaRPr lang="fr-TN" dirty="0"/>
          </a:p>
        </p:txBody>
      </p:sp>
      <p:sp>
        <p:nvSpPr>
          <p:cNvPr id="4" name="Espace réservé du numéro de diapositive 3"/>
          <p:cNvSpPr>
            <a:spLocks noGrp="1"/>
          </p:cNvSpPr>
          <p:nvPr>
            <p:ph type="sldNum" sz="quarter" idx="5"/>
          </p:nvPr>
        </p:nvSpPr>
        <p:spPr/>
        <p:txBody>
          <a:bodyPr/>
          <a:lstStyle/>
          <a:p>
            <a:fld id="{7B613AC8-3DB9-41DC-836A-C9AF943BA108}" type="slidenum">
              <a:rPr lang="fr-TN" smtClean="0"/>
              <a:t>26</a:t>
            </a:fld>
            <a:endParaRPr lang="fr-TN"/>
          </a:p>
        </p:txBody>
      </p:sp>
    </p:spTree>
    <p:extLst>
      <p:ext uri="{BB962C8B-B14F-4D97-AF65-F5344CB8AC3E}">
        <p14:creationId xmlns:p14="http://schemas.microsoft.com/office/powerpoint/2010/main" val="2826595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Attaque de vulnérabilité </a:t>
            </a:r>
            <a:r>
              <a:rPr lang="fr-FR" dirty="0" err="1"/>
              <a:t>Zero</a:t>
            </a:r>
            <a:r>
              <a:rPr lang="fr-FR" dirty="0"/>
              <a:t>-Day : </a:t>
            </a:r>
          </a:p>
          <a:p>
            <a:r>
              <a:rPr lang="fr-FR" dirty="0"/>
              <a:t>Le terme « jour zéro » fait référence à une vulnérabilité ou à un vecteur d’attaque dont seuls les attaquants ont connaissance, lui permettant de s’exécuter sans être détecté par les défenseurs.</a:t>
            </a:r>
          </a:p>
          <a:p>
            <a:r>
              <a:rPr lang="fr-FR" dirty="0"/>
              <a:t>C’est également connu sous le nom d’exploits </a:t>
            </a:r>
            <a:r>
              <a:rPr lang="fr-FR" dirty="0" err="1"/>
              <a:t>zero-day</a:t>
            </a:r>
            <a:r>
              <a:rPr lang="fr-FR" dirty="0"/>
              <a:t>. Il s’agit de failles dans les logiciels, micrologiciels, matériels, systèmes d’exploitation ou réseaux informatiques dont les entreprises de sécurité n’ont pas connaissance. Par conséquent, il n’existe aucun correctif prêt à l’emploi.</a:t>
            </a:r>
          </a:p>
          <a:p>
            <a:r>
              <a:rPr lang="fr-FR" dirty="0"/>
              <a:t>Le terme « zéro » fait référence à la durée depuis laquelle le fournisseur de sécurité est au courant de la faille mais n’a pas encore découvert de solution. Les pirates informatiques profitent cependant de cette fenêtre d’opportunité limitée pour développer des logiciels malveillants mortels et exploiter les failles de sécurité du système.</a:t>
            </a:r>
            <a:endParaRPr lang="fr-TN" dirty="0"/>
          </a:p>
        </p:txBody>
      </p:sp>
      <p:sp>
        <p:nvSpPr>
          <p:cNvPr id="4" name="Espace réservé du numéro de diapositive 3"/>
          <p:cNvSpPr>
            <a:spLocks noGrp="1"/>
          </p:cNvSpPr>
          <p:nvPr>
            <p:ph type="sldNum" sz="quarter" idx="5"/>
          </p:nvPr>
        </p:nvSpPr>
        <p:spPr/>
        <p:txBody>
          <a:bodyPr/>
          <a:lstStyle/>
          <a:p>
            <a:fld id="{7B613AC8-3DB9-41DC-836A-C9AF943BA108}" type="slidenum">
              <a:rPr lang="fr-TN" smtClean="0"/>
              <a:t>29</a:t>
            </a:fld>
            <a:endParaRPr lang="fr-TN"/>
          </a:p>
        </p:txBody>
      </p:sp>
    </p:spTree>
    <p:extLst>
      <p:ext uri="{BB962C8B-B14F-4D97-AF65-F5344CB8AC3E}">
        <p14:creationId xmlns:p14="http://schemas.microsoft.com/office/powerpoint/2010/main" val="715619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362801" y="1282891"/>
            <a:ext cx="7466396" cy="2501900"/>
          </a:xfrm>
          <a:prstGeom prst="rect">
            <a:avLst/>
          </a:prstGeom>
        </p:spPr>
        <p:txBody>
          <a:bodyPr wrap="square" lIns="0" tIns="0" rIns="0" bIns="0">
            <a:spAutoFit/>
          </a:bodyPr>
          <a:lstStyle>
            <a:lvl1pPr>
              <a:defRPr sz="5400" b="1" i="0">
                <a:solidFill>
                  <a:srgbClr val="C00000"/>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6A4E394C-52EF-4A71-BFEC-56D4549FA6DF}" type="datetime1">
              <a:rPr lang="en-US" smtClean="0"/>
              <a:t>9/13/2025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C0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770E520A-47C2-49A2-9883-9266D365E567}" type="datetime1">
              <a:rPr lang="en-US" smtClean="0"/>
              <a:t>9/13/2025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C00000"/>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4D3707A9-7AC9-42A1-9FB9-DE0F716551AE}" type="datetime1">
              <a:rPr lang="en-US" smtClean="0"/>
              <a:t>9/13/2025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C0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68E4BD8C-CE2E-4794-9E2E-9BC0CA444B88}" type="datetime1">
              <a:rPr lang="en-US" smtClean="0"/>
              <a:t>9/13/2025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C06E67AC-922E-4A14-8D98-5CEE3E1DD657}" type="datetime1">
              <a:rPr lang="en-US" smtClean="0"/>
              <a:t>9/13/2025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1999" cy="6857999"/>
          </a:xfrm>
          <a:prstGeom prst="rect">
            <a:avLst/>
          </a:prstGeom>
        </p:spPr>
      </p:pic>
      <p:sp>
        <p:nvSpPr>
          <p:cNvPr id="2" name="Holder 2"/>
          <p:cNvSpPr>
            <a:spLocks noGrp="1"/>
          </p:cNvSpPr>
          <p:nvPr>
            <p:ph type="title"/>
          </p:nvPr>
        </p:nvSpPr>
        <p:spPr>
          <a:xfrm>
            <a:off x="1361385" y="639172"/>
            <a:ext cx="7735570" cy="695960"/>
          </a:xfrm>
          <a:prstGeom prst="rect">
            <a:avLst/>
          </a:prstGeom>
        </p:spPr>
        <p:txBody>
          <a:bodyPr wrap="square" lIns="0" tIns="0" rIns="0" bIns="0">
            <a:spAutoFit/>
          </a:bodyPr>
          <a:lstStyle>
            <a:lvl1pPr>
              <a:defRPr sz="4400" b="1" i="0">
                <a:solidFill>
                  <a:srgbClr val="C00000"/>
                </a:solidFill>
                <a:latin typeface="Calibri"/>
                <a:cs typeface="Calibri"/>
              </a:defRPr>
            </a:lvl1pPr>
          </a:lstStyle>
          <a:p>
            <a:endParaRPr/>
          </a:p>
        </p:txBody>
      </p:sp>
      <p:sp>
        <p:nvSpPr>
          <p:cNvPr id="3" name="Holder 3"/>
          <p:cNvSpPr>
            <a:spLocks noGrp="1"/>
          </p:cNvSpPr>
          <p:nvPr>
            <p:ph type="body" idx="1"/>
          </p:nvPr>
        </p:nvSpPr>
        <p:spPr>
          <a:xfrm>
            <a:off x="747365" y="1780311"/>
            <a:ext cx="6180455" cy="1696085"/>
          </a:xfrm>
          <a:prstGeom prst="rect">
            <a:avLst/>
          </a:prstGeom>
        </p:spPr>
        <p:txBody>
          <a:bodyPr wrap="square" lIns="0" tIns="0" rIns="0" bIns="0">
            <a:spAutoFit/>
          </a:bodyPr>
          <a:lstStyle>
            <a:lvl1pPr>
              <a:defRPr sz="24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9D4B78CB-B0A5-4CC0-95C6-D5E931EE425C}" type="datetime1">
              <a:rPr lang="en-US" smtClean="0"/>
              <a:t>9/13/2025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9.jpg"/><Relationship Id="rId7" Type="http://schemas.openxmlformats.org/officeDocument/2006/relationships/diagramQuickStyle" Target="../diagrams/quickStyle3.xml"/><Relationship Id="rId2" Type="http://schemas.openxmlformats.org/officeDocument/2006/relationships/image" Target="../media/image18.jpg"/><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20.jpg"/><Relationship Id="rId9" Type="http://schemas.microsoft.com/office/2007/relationships/diagramDrawing" Target="../diagrams/drawing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99544" y="1905000"/>
            <a:ext cx="12496799" cy="2126608"/>
          </a:xfrm>
          <a:prstGeom prst="rect">
            <a:avLst/>
          </a:prstGeom>
        </p:spPr>
        <p:txBody>
          <a:bodyPr vert="horz" wrap="square" lIns="0" tIns="12065" rIns="0" bIns="0" rtlCol="0">
            <a:spAutoFit/>
          </a:bodyPr>
          <a:lstStyle/>
          <a:p>
            <a:pPr marL="1444625" marR="5080" indent="-1432560">
              <a:lnSpc>
                <a:spcPct val="150500"/>
              </a:lnSpc>
              <a:spcBef>
                <a:spcPts val="95"/>
              </a:spcBef>
            </a:pPr>
            <a:r>
              <a:rPr lang="fr-FR" sz="4800" spc="-5" dirty="0"/>
              <a:t>						</a:t>
            </a:r>
            <a:r>
              <a:rPr sz="4800" spc="-5" dirty="0" err="1"/>
              <a:t>Chapitre</a:t>
            </a:r>
            <a:r>
              <a:rPr sz="4800" spc="-35" dirty="0"/>
              <a:t> </a:t>
            </a:r>
            <a:r>
              <a:rPr sz="4800" spc="-5" dirty="0"/>
              <a:t>2</a:t>
            </a:r>
            <a:br>
              <a:rPr lang="fr-FR" sz="4800" spc="-40" dirty="0"/>
            </a:br>
            <a:r>
              <a:rPr sz="4800" spc="-10" dirty="0"/>
              <a:t>Les</a:t>
            </a:r>
            <a:r>
              <a:rPr sz="4800" spc="-35" dirty="0"/>
              <a:t> </a:t>
            </a:r>
            <a:r>
              <a:rPr sz="4800" spc="-10" dirty="0"/>
              <a:t>principales </a:t>
            </a:r>
            <a:r>
              <a:rPr sz="4800" spc="-1205" dirty="0"/>
              <a:t> </a:t>
            </a:r>
            <a:r>
              <a:rPr sz="4800" spc="-10" dirty="0" err="1"/>
              <a:t>attaques</a:t>
            </a:r>
            <a:r>
              <a:rPr sz="4800" spc="-20" dirty="0"/>
              <a:t> </a:t>
            </a:r>
            <a:r>
              <a:rPr lang="fr-FR" sz="4800" spc="-5" dirty="0"/>
              <a:t>informatiques</a:t>
            </a:r>
            <a:endParaRPr sz="4800" spc="-5" dirty="0"/>
          </a:p>
        </p:txBody>
      </p:sp>
      <p:sp>
        <p:nvSpPr>
          <p:cNvPr id="3" name="object 3"/>
          <p:cNvSpPr txBox="1"/>
          <p:nvPr/>
        </p:nvSpPr>
        <p:spPr>
          <a:xfrm>
            <a:off x="4800600" y="5653787"/>
            <a:ext cx="2181860" cy="899413"/>
          </a:xfrm>
          <a:prstGeom prst="rect">
            <a:avLst/>
          </a:prstGeom>
        </p:spPr>
        <p:txBody>
          <a:bodyPr vert="horz" wrap="square" lIns="0" tIns="12700" rIns="0" bIns="0" rtlCol="0">
            <a:spAutoFit/>
          </a:bodyPr>
          <a:lstStyle/>
          <a:p>
            <a:pPr marL="38100" marR="30480" indent="372745">
              <a:lnSpc>
                <a:spcPct val="125899"/>
              </a:lnSpc>
              <a:spcBef>
                <a:spcPts val="100"/>
              </a:spcBef>
            </a:pPr>
            <a:r>
              <a:rPr sz="2400" spc="-5" dirty="0">
                <a:latin typeface="Times New Roman"/>
                <a:cs typeface="Times New Roman"/>
              </a:rPr>
              <a:t>4</a:t>
            </a:r>
            <a:r>
              <a:rPr sz="2400" spc="-7" baseline="31250" dirty="0">
                <a:latin typeface="Times New Roman"/>
                <a:cs typeface="Times New Roman"/>
              </a:rPr>
              <a:t>ème</a:t>
            </a:r>
            <a:r>
              <a:rPr sz="2400" baseline="31250" dirty="0">
                <a:latin typeface="Times New Roman"/>
                <a:cs typeface="Times New Roman"/>
              </a:rPr>
              <a:t> </a:t>
            </a:r>
            <a:r>
              <a:rPr sz="2400" spc="-5" dirty="0">
                <a:latin typeface="Times New Roman"/>
                <a:cs typeface="Times New Roman"/>
              </a:rPr>
              <a:t>Année </a:t>
            </a:r>
            <a:r>
              <a:rPr sz="2400" dirty="0">
                <a:latin typeface="Times New Roman"/>
                <a:cs typeface="Times New Roman"/>
              </a:rPr>
              <a:t> </a:t>
            </a:r>
            <a:r>
              <a:rPr sz="2400" spc="-5" dirty="0">
                <a:latin typeface="Times New Roman"/>
                <a:cs typeface="Times New Roman"/>
              </a:rPr>
              <a:t>Esprit</a:t>
            </a:r>
            <a:r>
              <a:rPr sz="2400" spc="-100" dirty="0">
                <a:latin typeface="Times New Roman"/>
                <a:cs typeface="Times New Roman"/>
              </a:rPr>
              <a:t> </a:t>
            </a:r>
            <a:r>
              <a:rPr sz="2400" dirty="0">
                <a:latin typeface="Times New Roman"/>
                <a:cs typeface="Times New Roman"/>
              </a:rPr>
              <a:t>202</a:t>
            </a:r>
            <a:r>
              <a:rPr lang="fr-FR" sz="2400" dirty="0">
                <a:latin typeface="Times New Roman"/>
                <a:cs typeface="Times New Roman"/>
              </a:rPr>
              <a:t>5</a:t>
            </a:r>
            <a:r>
              <a:rPr sz="2400" dirty="0">
                <a:latin typeface="Times New Roman"/>
                <a:cs typeface="Times New Roman"/>
              </a:rPr>
              <a:t>/202</a:t>
            </a:r>
            <a:r>
              <a:rPr lang="fr-FR" sz="2400" dirty="0">
                <a:latin typeface="Times New Roman"/>
                <a:cs typeface="Times New Roman"/>
              </a:rPr>
              <a:t>6</a:t>
            </a:r>
            <a:endParaRPr sz="2400" dirty="0">
              <a:latin typeface="Times New Roman"/>
              <a:cs typeface="Times New Roman"/>
            </a:endParaRPr>
          </a:p>
        </p:txBody>
      </p:sp>
      <p:sp>
        <p:nvSpPr>
          <p:cNvPr id="4" name="object 4"/>
          <p:cNvSpPr txBox="1"/>
          <p:nvPr/>
        </p:nvSpPr>
        <p:spPr>
          <a:xfrm>
            <a:off x="3810001" y="746199"/>
            <a:ext cx="5562600" cy="505267"/>
          </a:xfrm>
          <a:prstGeom prst="rect">
            <a:avLst/>
          </a:prstGeom>
        </p:spPr>
        <p:txBody>
          <a:bodyPr vert="horz" wrap="square" lIns="0" tIns="12700" rIns="0" bIns="0" rtlCol="0">
            <a:spAutoFit/>
          </a:bodyPr>
          <a:lstStyle/>
          <a:p>
            <a:pPr marL="12700">
              <a:lnSpc>
                <a:spcPct val="100000"/>
              </a:lnSpc>
              <a:spcBef>
                <a:spcPts val="100"/>
              </a:spcBef>
            </a:pPr>
            <a:r>
              <a:rPr sz="3200" b="1" spc="-5" dirty="0">
                <a:solidFill>
                  <a:srgbClr val="0070C0"/>
                </a:solidFill>
                <a:latin typeface="Calibri"/>
                <a:cs typeface="Calibri"/>
              </a:rPr>
              <a:t>Module</a:t>
            </a:r>
            <a:r>
              <a:rPr sz="3200" b="1" spc="-45" dirty="0">
                <a:solidFill>
                  <a:srgbClr val="0070C0"/>
                </a:solidFill>
                <a:latin typeface="Calibri"/>
                <a:cs typeface="Calibri"/>
              </a:rPr>
              <a:t> </a:t>
            </a:r>
            <a:r>
              <a:rPr sz="3200" b="1" spc="-5" dirty="0">
                <a:solidFill>
                  <a:srgbClr val="0070C0"/>
                </a:solidFill>
                <a:latin typeface="Calibri"/>
                <a:cs typeface="Calibri"/>
              </a:rPr>
              <a:t>Sécurité</a:t>
            </a:r>
            <a:r>
              <a:rPr sz="3200" b="1" spc="-45" dirty="0">
                <a:solidFill>
                  <a:srgbClr val="0070C0"/>
                </a:solidFill>
                <a:latin typeface="Calibri"/>
                <a:cs typeface="Calibri"/>
              </a:rPr>
              <a:t> </a:t>
            </a:r>
            <a:r>
              <a:rPr sz="3200" b="1" spc="-5" dirty="0">
                <a:solidFill>
                  <a:srgbClr val="0070C0"/>
                </a:solidFill>
                <a:latin typeface="Calibri"/>
                <a:cs typeface="Calibri"/>
              </a:rPr>
              <a:t>Informatique</a:t>
            </a:r>
            <a:endParaRPr sz="3200" b="1" dirty="0">
              <a:solidFill>
                <a:srgbClr val="0070C0"/>
              </a:solidFill>
              <a:latin typeface="Calibri"/>
              <a:cs typeface="Calibri"/>
            </a:endParaRPr>
          </a:p>
        </p:txBody>
      </p:sp>
      <p:pic>
        <p:nvPicPr>
          <p:cNvPr id="2050" name="Picture 2" descr="cyber sécurité informatique ...">
            <a:extLst>
              <a:ext uri="{FF2B5EF4-FFF2-40B4-BE49-F238E27FC236}">
                <a16:creationId xmlns:a16="http://schemas.microsoft.com/office/drawing/2014/main" id="{FA18EEDA-7974-53DE-0C24-3BB089A50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15400" y="4265292"/>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7664" y="639172"/>
            <a:ext cx="2089150" cy="695960"/>
          </a:xfrm>
          <a:prstGeom prst="rect">
            <a:avLst/>
          </a:prstGeom>
        </p:spPr>
        <p:txBody>
          <a:bodyPr vert="horz" wrap="square" lIns="0" tIns="12700" rIns="0" bIns="0" rtlCol="0">
            <a:spAutoFit/>
          </a:bodyPr>
          <a:lstStyle/>
          <a:p>
            <a:pPr marL="12700">
              <a:lnSpc>
                <a:spcPct val="100000"/>
              </a:lnSpc>
              <a:spcBef>
                <a:spcPts val="100"/>
              </a:spcBef>
            </a:pPr>
            <a:r>
              <a:rPr spc="-5" dirty="0"/>
              <a:t>Objectifs</a:t>
            </a:r>
          </a:p>
        </p:txBody>
      </p:sp>
      <p:sp>
        <p:nvSpPr>
          <p:cNvPr id="3" name="object 3"/>
          <p:cNvSpPr txBox="1"/>
          <p:nvPr/>
        </p:nvSpPr>
        <p:spPr>
          <a:xfrm>
            <a:off x="964546" y="1836800"/>
            <a:ext cx="10617853" cy="4829527"/>
          </a:xfrm>
          <a:prstGeom prst="rect">
            <a:avLst/>
          </a:prstGeom>
        </p:spPr>
        <p:txBody>
          <a:bodyPr vert="horz" wrap="square" lIns="0" tIns="12700" rIns="0" bIns="0" rtlCol="0">
            <a:spAutoFit/>
          </a:bodyPr>
          <a:lstStyle/>
          <a:p>
            <a:pPr lvl="1" indent="-457200" algn="just">
              <a:spcBef>
                <a:spcPts val="100"/>
              </a:spcBef>
              <a:buSzPct val="120000"/>
              <a:buFont typeface="Arial" panose="020B0604020202020204" pitchFamily="34" charset="0"/>
              <a:buChar char="•"/>
              <a:tabLst>
                <a:tab pos="188595" algn="l"/>
              </a:tabLst>
            </a:pPr>
            <a:r>
              <a:rPr lang="fr-FR" sz="2800" spc="-5" dirty="0">
                <a:latin typeface="Arial" panose="020B0604020202020204" pitchFamily="34" charset="0"/>
                <a:cs typeface="Arial" panose="020B0604020202020204" pitchFamily="34" charset="0"/>
              </a:rPr>
              <a:t>Définir ce qu’est une attaque, identifier ses objectifs et classifier les attaques selon leur nature (actives/passives, internes/externes, directes/indirectes) </a:t>
            </a:r>
          </a:p>
          <a:p>
            <a:pPr lvl="1" indent="-457200" algn="just">
              <a:spcBef>
                <a:spcPts val="100"/>
              </a:spcBef>
              <a:buSzPct val="120000"/>
              <a:buFont typeface="Arial" panose="020B0604020202020204" pitchFamily="34" charset="0"/>
              <a:buChar char="•"/>
              <a:tabLst>
                <a:tab pos="188595" algn="l"/>
              </a:tabLst>
            </a:pPr>
            <a:endParaRPr lang="fr-FR" sz="2800" spc="-5" dirty="0">
              <a:latin typeface="Arial" panose="020B0604020202020204" pitchFamily="34" charset="0"/>
              <a:cs typeface="Arial" panose="020B0604020202020204" pitchFamily="34" charset="0"/>
            </a:endParaRPr>
          </a:p>
          <a:p>
            <a:pPr lvl="1" indent="-457200" algn="just">
              <a:spcBef>
                <a:spcPts val="100"/>
              </a:spcBef>
              <a:buSzPct val="120000"/>
              <a:buFont typeface="Arial" panose="020B0604020202020204" pitchFamily="34" charset="0"/>
              <a:buChar char="•"/>
              <a:tabLst>
                <a:tab pos="188595" algn="l"/>
              </a:tabLst>
            </a:pPr>
            <a:r>
              <a:rPr lang="fr-FR" sz="2800" spc="-5" dirty="0">
                <a:latin typeface="Arial" panose="020B0604020202020204" pitchFamily="34" charset="0"/>
                <a:cs typeface="Arial" panose="020B0604020202020204" pitchFamily="34" charset="0"/>
              </a:rPr>
              <a:t>Reconnaitre le rôle des hackers, en classifiant leurs types </a:t>
            </a:r>
          </a:p>
          <a:p>
            <a:pPr lvl="1" indent="-457200" algn="just">
              <a:spcBef>
                <a:spcPts val="100"/>
              </a:spcBef>
              <a:buSzPct val="120000"/>
              <a:buFont typeface="Arial" panose="020B0604020202020204" pitchFamily="34" charset="0"/>
              <a:buChar char="•"/>
              <a:tabLst>
                <a:tab pos="188595" algn="l"/>
              </a:tabLst>
            </a:pPr>
            <a:endParaRPr lang="fr-FR" sz="2800" spc="-5" dirty="0">
              <a:latin typeface="Arial" panose="020B0604020202020204" pitchFamily="34" charset="0"/>
              <a:cs typeface="Arial" panose="020B0604020202020204" pitchFamily="34" charset="0"/>
            </a:endParaRPr>
          </a:p>
          <a:p>
            <a:pPr lvl="1" indent="-457200" algn="just">
              <a:spcBef>
                <a:spcPts val="100"/>
              </a:spcBef>
              <a:buSzPct val="120000"/>
              <a:buFont typeface="Arial" panose="020B0604020202020204" pitchFamily="34" charset="0"/>
              <a:buChar char="•"/>
              <a:tabLst>
                <a:tab pos="188595" algn="l"/>
              </a:tabLst>
            </a:pPr>
            <a:r>
              <a:rPr lang="fr-FR" sz="2800" spc="-5" dirty="0">
                <a:latin typeface="Arial" panose="020B0604020202020204" pitchFamily="34" charset="0"/>
                <a:cs typeface="Arial" panose="020B0604020202020204" pitchFamily="34" charset="0"/>
              </a:rPr>
              <a:t>Expliquer et comparer les attaques courantes : </a:t>
            </a:r>
            <a:r>
              <a:rPr lang="fr-FR" sz="2800" spc="-5" dirty="0" err="1">
                <a:latin typeface="Arial" panose="020B0604020202020204" pitchFamily="34" charset="0"/>
                <a:cs typeface="Arial" panose="020B0604020202020204" pitchFamily="34" charset="0"/>
              </a:rPr>
              <a:t>DoS</a:t>
            </a:r>
            <a:r>
              <a:rPr lang="fr-FR" sz="2800" spc="-5" dirty="0">
                <a:latin typeface="Arial" panose="020B0604020202020204" pitchFamily="34" charset="0"/>
                <a:cs typeface="Arial" panose="020B0604020202020204" pitchFamily="34" charset="0"/>
              </a:rPr>
              <a:t>, Spoofing, MITM, reconnaissance, accès, </a:t>
            </a:r>
            <a:r>
              <a:rPr lang="fr-FR" sz="2800" spc="-5" dirty="0" err="1">
                <a:latin typeface="Arial" panose="020B0604020202020204" pitchFamily="34" charset="0"/>
                <a:cs typeface="Arial" panose="020B0604020202020204" pitchFamily="34" charset="0"/>
              </a:rPr>
              <a:t>etc</a:t>
            </a:r>
            <a:r>
              <a:rPr lang="fr-FR" sz="2800" spc="-5" dirty="0">
                <a:latin typeface="Arial" panose="020B0604020202020204" pitchFamily="34" charset="0"/>
                <a:cs typeface="Arial" panose="020B0604020202020204" pitchFamily="34" charset="0"/>
              </a:rPr>
              <a:t> </a:t>
            </a:r>
          </a:p>
          <a:p>
            <a:pPr lvl="1" indent="-457200" algn="just">
              <a:spcBef>
                <a:spcPts val="100"/>
              </a:spcBef>
              <a:buSzPct val="120000"/>
              <a:buFont typeface="Arial" panose="020B0604020202020204" pitchFamily="34" charset="0"/>
              <a:buChar char="•"/>
              <a:tabLst>
                <a:tab pos="188595" algn="l"/>
              </a:tabLst>
            </a:pPr>
            <a:endParaRPr lang="fr-FR" sz="2800" spc="-5" dirty="0">
              <a:latin typeface="Arial" panose="020B0604020202020204" pitchFamily="34" charset="0"/>
              <a:cs typeface="Arial" panose="020B0604020202020204" pitchFamily="34" charset="0"/>
            </a:endParaRPr>
          </a:p>
          <a:p>
            <a:pPr lvl="1" indent="-457200" algn="just">
              <a:spcBef>
                <a:spcPts val="100"/>
              </a:spcBef>
              <a:buSzPct val="120000"/>
              <a:buFont typeface="Arial" panose="020B0604020202020204" pitchFamily="34" charset="0"/>
              <a:buChar char="•"/>
              <a:tabLst>
                <a:tab pos="188595" algn="l"/>
              </a:tabLst>
            </a:pPr>
            <a:r>
              <a:rPr lang="fr-FR" sz="2800" spc="-5" dirty="0">
                <a:latin typeface="Arial" panose="020B0604020202020204" pitchFamily="34" charset="0"/>
                <a:cs typeface="Arial" panose="020B0604020202020204" pitchFamily="34" charset="0"/>
              </a:rPr>
              <a:t>Réaliser des attaques éthiques dans un environnement contrôlé pour comprendre leur fonctionnement </a:t>
            </a:r>
            <a:endParaRPr sz="2800" dirty="0">
              <a:latin typeface="Arial" panose="020B060402020202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1EB05FAE-0E84-09F2-879D-FAC9F95B7133}"/>
              </a:ext>
            </a:extLst>
          </p:cNvPr>
          <p:cNvSpPr>
            <a:spLocks noGrp="1"/>
          </p:cNvSpPr>
          <p:nvPr>
            <p:ph type="sldNum" sz="quarter" idx="7"/>
          </p:nvPr>
        </p:nvSpPr>
        <p:spPr/>
        <p:txBody>
          <a:bodyPr/>
          <a:lstStyle/>
          <a:p>
            <a:fld id="{B6F15528-21DE-4FAA-801E-634DDDAF4B2B}"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7664" y="639172"/>
            <a:ext cx="1230630" cy="695960"/>
          </a:xfrm>
          <a:prstGeom prst="rect">
            <a:avLst/>
          </a:prstGeom>
        </p:spPr>
        <p:txBody>
          <a:bodyPr vert="horz" wrap="square" lIns="0" tIns="12700" rIns="0" bIns="0" rtlCol="0">
            <a:spAutoFit/>
          </a:bodyPr>
          <a:lstStyle/>
          <a:p>
            <a:pPr marL="12700">
              <a:lnSpc>
                <a:spcPct val="100000"/>
              </a:lnSpc>
              <a:spcBef>
                <a:spcPts val="100"/>
              </a:spcBef>
            </a:pPr>
            <a:r>
              <a:rPr b="0" spc="-10" dirty="0">
                <a:latin typeface="Calibri"/>
                <a:cs typeface="Calibri"/>
              </a:rPr>
              <a:t>PLAN</a:t>
            </a:r>
          </a:p>
        </p:txBody>
      </p:sp>
      <p:sp>
        <p:nvSpPr>
          <p:cNvPr id="3" name="object 3"/>
          <p:cNvSpPr/>
          <p:nvPr/>
        </p:nvSpPr>
        <p:spPr>
          <a:xfrm>
            <a:off x="2621897" y="1828800"/>
            <a:ext cx="6369704" cy="533400"/>
          </a:xfrm>
          <a:custGeom>
            <a:avLst/>
            <a:gdLst/>
            <a:ahLst/>
            <a:cxnLst/>
            <a:rect l="l" t="t" r="r" b="b"/>
            <a:pathLst>
              <a:path w="7848600" h="533400">
                <a:moveTo>
                  <a:pt x="7848599" y="533399"/>
                </a:moveTo>
                <a:lnTo>
                  <a:pt x="0" y="533399"/>
                </a:lnTo>
                <a:lnTo>
                  <a:pt x="0" y="0"/>
                </a:lnTo>
                <a:lnTo>
                  <a:pt x="7848599" y="0"/>
                </a:lnTo>
                <a:lnTo>
                  <a:pt x="7848599" y="533399"/>
                </a:lnTo>
                <a:close/>
              </a:path>
            </a:pathLst>
          </a:custGeom>
          <a:solidFill>
            <a:srgbClr val="FF0000">
              <a:alpha val="34901"/>
            </a:srgbClr>
          </a:solidFill>
        </p:spPr>
        <p:txBody>
          <a:bodyPr wrap="square" lIns="0" tIns="0" rIns="0" bIns="0" rtlCol="0"/>
          <a:lstStyle/>
          <a:p>
            <a:endParaRPr/>
          </a:p>
        </p:txBody>
      </p:sp>
      <p:sp>
        <p:nvSpPr>
          <p:cNvPr id="4" name="object 4"/>
          <p:cNvSpPr txBox="1"/>
          <p:nvPr/>
        </p:nvSpPr>
        <p:spPr>
          <a:xfrm>
            <a:off x="2621897" y="1892363"/>
            <a:ext cx="8350903" cy="3552254"/>
          </a:xfrm>
          <a:prstGeom prst="rect">
            <a:avLst/>
          </a:prstGeom>
        </p:spPr>
        <p:txBody>
          <a:bodyPr vert="horz" wrap="square" lIns="0" tIns="12700" rIns="0" bIns="0" rtlCol="0">
            <a:spAutoFit/>
          </a:bodyPr>
          <a:lstStyle/>
          <a:p>
            <a:pPr marL="187960" indent="-175895">
              <a:lnSpc>
                <a:spcPct val="100000"/>
              </a:lnSpc>
              <a:spcBef>
                <a:spcPts val="100"/>
              </a:spcBef>
              <a:buFont typeface="Arial MT"/>
              <a:buChar char="•"/>
              <a:tabLst>
                <a:tab pos="188595" algn="l"/>
              </a:tabLst>
            </a:pPr>
            <a:r>
              <a:rPr sz="2800" spc="-5" dirty="0">
                <a:latin typeface="Arial" panose="020B0604020202020204" pitchFamily="34" charset="0"/>
                <a:cs typeface="Arial" panose="020B0604020202020204" pitchFamily="34" charset="0"/>
              </a:rPr>
              <a:t>Evolution</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des</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menaces</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la</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sécurité</a:t>
            </a:r>
            <a:endParaRPr sz="2800" dirty="0">
              <a:latin typeface="Arial" panose="020B0604020202020204" pitchFamily="34" charset="0"/>
              <a:cs typeface="Arial" panose="020B0604020202020204" pitchFamily="34" charset="0"/>
            </a:endParaRPr>
          </a:p>
          <a:p>
            <a:pPr marL="187960" indent="-175895">
              <a:lnSpc>
                <a:spcPct val="100000"/>
              </a:lnSpc>
              <a:spcBef>
                <a:spcPts val="2665"/>
              </a:spcBef>
              <a:buFont typeface="Arial MT"/>
              <a:buChar char="•"/>
              <a:tabLst>
                <a:tab pos="188595" algn="l"/>
              </a:tabLst>
            </a:pPr>
            <a:r>
              <a:rPr sz="2800" spc="-5" dirty="0">
                <a:latin typeface="Arial" panose="020B0604020202020204" pitchFamily="34" charset="0"/>
                <a:cs typeface="Arial" panose="020B0604020202020204" pitchFamily="34" charset="0"/>
              </a:rPr>
              <a:t>Les</a:t>
            </a:r>
            <a:r>
              <a:rPr sz="2800" spc="-35" dirty="0">
                <a:latin typeface="Arial" panose="020B0604020202020204" pitchFamily="34" charset="0"/>
                <a:cs typeface="Arial" panose="020B0604020202020204" pitchFamily="34" charset="0"/>
              </a:rPr>
              <a:t> </a:t>
            </a:r>
            <a:r>
              <a:rPr sz="2800" dirty="0" err="1">
                <a:latin typeface="Arial" panose="020B0604020202020204" pitchFamily="34" charset="0"/>
                <a:cs typeface="Arial" panose="020B0604020202020204" pitchFamily="34" charset="0"/>
              </a:rPr>
              <a:t>attaquants</a:t>
            </a:r>
            <a:r>
              <a:rPr sz="2800" spc="-30" dirty="0">
                <a:latin typeface="Arial" panose="020B0604020202020204" pitchFamily="34" charset="0"/>
                <a:cs typeface="Arial" panose="020B0604020202020204" pitchFamily="34" charset="0"/>
              </a:rPr>
              <a:t> </a:t>
            </a:r>
            <a:r>
              <a:rPr sz="2800" spc="-5" dirty="0" err="1">
                <a:latin typeface="Arial" panose="020B0604020202020204" pitchFamily="34" charset="0"/>
                <a:cs typeface="Arial" panose="020B0604020202020204" pitchFamily="34" charset="0"/>
              </a:rPr>
              <a:t>réseau</a:t>
            </a:r>
            <a:r>
              <a:rPr lang="fr-FR" sz="2800" spc="-5" dirty="0">
                <a:latin typeface="Arial" panose="020B0604020202020204" pitchFamily="34" charset="0"/>
                <a:cs typeface="Arial" panose="020B0604020202020204" pitchFamily="34" charset="0"/>
              </a:rPr>
              <a:t>x</a:t>
            </a:r>
            <a:endParaRPr sz="2800" dirty="0">
              <a:latin typeface="Arial" panose="020B0604020202020204" pitchFamily="34" charset="0"/>
              <a:cs typeface="Arial" panose="020B0604020202020204" pitchFamily="34" charset="0"/>
            </a:endParaRPr>
          </a:p>
          <a:p>
            <a:pPr marL="187960" indent="-175895">
              <a:lnSpc>
                <a:spcPct val="100000"/>
              </a:lnSpc>
              <a:spcBef>
                <a:spcPts val="2715"/>
              </a:spcBef>
              <a:buFont typeface="Arial MT"/>
              <a:buChar char="•"/>
              <a:tabLst>
                <a:tab pos="188595" algn="l"/>
              </a:tabLst>
            </a:pPr>
            <a:r>
              <a:rPr sz="2800" spc="-5" dirty="0">
                <a:latin typeface="Arial" panose="020B0604020202020204" pitchFamily="34" charset="0"/>
                <a:cs typeface="Arial" panose="020B0604020202020204" pitchFamily="34" charset="0"/>
              </a:rPr>
              <a:t>Types</a:t>
            </a:r>
            <a:r>
              <a:rPr sz="2800" spc="-3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des</a:t>
            </a:r>
            <a:r>
              <a:rPr sz="2800" spc="-25" dirty="0">
                <a:latin typeface="Arial" panose="020B0604020202020204" pitchFamily="34" charset="0"/>
                <a:cs typeface="Arial" panose="020B0604020202020204" pitchFamily="34" charset="0"/>
              </a:rPr>
              <a:t> </a:t>
            </a:r>
            <a:r>
              <a:rPr sz="2800" dirty="0" err="1">
                <a:latin typeface="Arial" panose="020B0604020202020204" pitchFamily="34" charset="0"/>
                <a:cs typeface="Arial" panose="020B0604020202020204" pitchFamily="34" charset="0"/>
              </a:rPr>
              <a:t>attaques</a:t>
            </a:r>
            <a:r>
              <a:rPr sz="2800" spc="-25" dirty="0">
                <a:latin typeface="Arial" panose="020B0604020202020204" pitchFamily="34" charset="0"/>
                <a:cs typeface="Arial" panose="020B0604020202020204" pitchFamily="34" charset="0"/>
              </a:rPr>
              <a:t> </a:t>
            </a:r>
            <a:r>
              <a:rPr sz="2800" spc="-5" dirty="0" err="1">
                <a:latin typeface="Arial" panose="020B0604020202020204" pitchFamily="34" charset="0"/>
                <a:cs typeface="Arial" panose="020B0604020202020204" pitchFamily="34" charset="0"/>
              </a:rPr>
              <a:t>réseau</a:t>
            </a:r>
            <a:r>
              <a:rPr lang="fr-FR" sz="2800" spc="-5" dirty="0">
                <a:latin typeface="Arial" panose="020B0604020202020204" pitchFamily="34" charset="0"/>
                <a:cs typeface="Arial" panose="020B0604020202020204" pitchFamily="34" charset="0"/>
              </a:rPr>
              <a:t>x</a:t>
            </a:r>
            <a:endParaRPr sz="2800" dirty="0">
              <a:latin typeface="Arial" panose="020B0604020202020204" pitchFamily="34" charset="0"/>
              <a:cs typeface="Arial" panose="020B0604020202020204" pitchFamily="34" charset="0"/>
            </a:endParaRPr>
          </a:p>
          <a:p>
            <a:pPr marL="187960" indent="-175895">
              <a:lnSpc>
                <a:spcPct val="100000"/>
              </a:lnSpc>
              <a:spcBef>
                <a:spcPts val="2715"/>
              </a:spcBef>
              <a:buFont typeface="Arial MT"/>
              <a:buChar char="•"/>
              <a:tabLst>
                <a:tab pos="188595" algn="l"/>
              </a:tabLst>
            </a:pPr>
            <a:r>
              <a:rPr sz="2800" spc="-5" dirty="0">
                <a:latin typeface="Arial" panose="020B0604020202020204" pitchFamily="34" charset="0"/>
                <a:cs typeface="Arial" panose="020B0604020202020204" pitchFamily="34" charset="0"/>
              </a:rPr>
              <a:t>Atténuation</a:t>
            </a:r>
            <a:r>
              <a:rPr sz="2800" spc="-35"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des</a:t>
            </a:r>
            <a:r>
              <a:rPr sz="2800" spc="-30" dirty="0">
                <a:latin typeface="Arial" panose="020B0604020202020204" pitchFamily="34" charset="0"/>
                <a:cs typeface="Arial" panose="020B0604020202020204" pitchFamily="34" charset="0"/>
              </a:rPr>
              <a:t> </a:t>
            </a:r>
            <a:r>
              <a:rPr sz="2800" dirty="0">
                <a:latin typeface="Arial" panose="020B0604020202020204" pitchFamily="34" charset="0"/>
                <a:cs typeface="Arial" panose="020B0604020202020204" pitchFamily="34" charset="0"/>
              </a:rPr>
              <a:t>attaques</a:t>
            </a:r>
          </a:p>
          <a:p>
            <a:pPr marL="187960" indent="-175895">
              <a:lnSpc>
                <a:spcPct val="100000"/>
              </a:lnSpc>
              <a:spcBef>
                <a:spcPts val="2715"/>
              </a:spcBef>
              <a:buFont typeface="Arial MT"/>
              <a:buChar char="•"/>
              <a:tabLst>
                <a:tab pos="188595" algn="l"/>
              </a:tabLst>
            </a:pPr>
            <a:r>
              <a:rPr sz="2800" spc="-5" dirty="0">
                <a:latin typeface="Arial" panose="020B0604020202020204" pitchFamily="34" charset="0"/>
                <a:cs typeface="Arial" panose="020B0604020202020204" pitchFamily="34" charset="0"/>
              </a:rPr>
              <a:t>Les</a:t>
            </a:r>
            <a:r>
              <a:rPr sz="2800" spc="-25"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10</a:t>
            </a:r>
            <a:r>
              <a:rPr sz="2800" spc="-25"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bonnes</a:t>
            </a:r>
            <a:r>
              <a:rPr sz="2800" spc="-25"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pratiques</a:t>
            </a:r>
            <a:endParaRPr sz="2800" dirty="0">
              <a:latin typeface="Arial" panose="020B0604020202020204" pitchFamily="34" charset="0"/>
              <a:cs typeface="Arial" panose="020B0604020202020204" pitchFamily="34" charset="0"/>
            </a:endParaRPr>
          </a:p>
        </p:txBody>
      </p:sp>
      <p:sp>
        <p:nvSpPr>
          <p:cNvPr id="5" name="Espace réservé du numéro de diapositive 4">
            <a:extLst>
              <a:ext uri="{FF2B5EF4-FFF2-40B4-BE49-F238E27FC236}">
                <a16:creationId xmlns:a16="http://schemas.microsoft.com/office/drawing/2014/main" id="{A0E425F1-089B-D846-9659-6B0B7EF73FB2}"/>
              </a:ext>
            </a:extLst>
          </p:cNvPr>
          <p:cNvSpPr>
            <a:spLocks noGrp="1"/>
          </p:cNvSpPr>
          <p:nvPr>
            <p:ph type="sldNum" sz="quarter" idx="7"/>
          </p:nvPr>
        </p:nvSpPr>
        <p:spPr/>
        <p:txBody>
          <a:bodyPr/>
          <a:lstStyle/>
          <a:p>
            <a:fld id="{B6F15528-21DE-4FAA-801E-634DDDAF4B2B}" type="slidenum">
              <a:rPr lang="en-US" smtClean="0"/>
              <a:t>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7662" y="705377"/>
            <a:ext cx="9555138" cy="566822"/>
          </a:xfrm>
          <a:prstGeom prst="rect">
            <a:avLst/>
          </a:prstGeom>
        </p:spPr>
        <p:txBody>
          <a:bodyPr vert="horz" wrap="square" lIns="0" tIns="12700" rIns="0" bIns="0" rtlCol="0">
            <a:spAutoFit/>
          </a:bodyPr>
          <a:lstStyle/>
          <a:p>
            <a:pPr marL="12700">
              <a:lnSpc>
                <a:spcPct val="100000"/>
              </a:lnSpc>
              <a:spcBef>
                <a:spcPts val="100"/>
              </a:spcBef>
            </a:pPr>
            <a:r>
              <a:rPr lang="fr-FR" sz="3600" dirty="0"/>
              <a:t>Évolution des menaces de la cybersécurité </a:t>
            </a:r>
            <a:r>
              <a:rPr sz="3600" spc="-5" dirty="0"/>
              <a:t>1/2</a:t>
            </a:r>
            <a:endParaRPr sz="3600" dirty="0"/>
          </a:p>
        </p:txBody>
      </p:sp>
      <p:sp>
        <p:nvSpPr>
          <p:cNvPr id="3" name="object 3"/>
          <p:cNvSpPr txBox="1"/>
          <p:nvPr/>
        </p:nvSpPr>
        <p:spPr>
          <a:xfrm>
            <a:off x="304800" y="1486938"/>
            <a:ext cx="8061325" cy="1892185"/>
          </a:xfrm>
          <a:prstGeom prst="rect">
            <a:avLst/>
          </a:prstGeom>
        </p:spPr>
        <p:txBody>
          <a:bodyPr vert="horz" wrap="square" lIns="0" tIns="45085" rIns="0" bIns="0" rtlCol="0">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Les premiers </a:t>
            </a:r>
            <a:r>
              <a:rPr lang="en-US" altLang="en-US" sz="2000" dirty="0" err="1">
                <a:latin typeface="Arial" panose="020B0604020202020204" pitchFamily="34" charset="0"/>
              </a:rPr>
              <a:t>utilisateurs</a:t>
            </a:r>
            <a:r>
              <a:rPr lang="en-US" altLang="en-US" sz="2000" dirty="0">
                <a:latin typeface="Arial" panose="020B0604020202020204" pitchFamily="34" charset="0"/>
              </a:rPr>
              <a:t> </a:t>
            </a:r>
            <a:r>
              <a:rPr lang="en-US" altLang="en-US" sz="2000" dirty="0" err="1">
                <a:latin typeface="Arial" panose="020B0604020202020204" pitchFamily="34" charset="0"/>
              </a:rPr>
              <a:t>d’Internet</a:t>
            </a:r>
            <a:r>
              <a:rPr lang="en-US" altLang="en-US" sz="2000" dirty="0">
                <a:latin typeface="Arial" panose="020B0604020202020204" pitchFamily="34" charset="0"/>
              </a:rPr>
              <a:t> </a:t>
            </a:r>
            <a:r>
              <a:rPr lang="en-US" altLang="en-US" sz="2000" dirty="0" err="1">
                <a:latin typeface="Arial" panose="020B0604020202020204" pitchFamily="34" charset="0"/>
              </a:rPr>
              <a:t>faisaient</a:t>
            </a:r>
            <a:r>
              <a:rPr lang="en-US" altLang="en-US" sz="2000" dirty="0">
                <a:latin typeface="Arial" panose="020B0604020202020204" pitchFamily="34" charset="0"/>
              </a:rPr>
              <a:t> face à </a:t>
            </a:r>
            <a:r>
              <a:rPr lang="en-US" altLang="en-US" sz="2000" b="1" dirty="0">
                <a:latin typeface="Arial" panose="020B0604020202020204" pitchFamily="34" charset="0"/>
              </a:rPr>
              <a:t>très peu de menaces</a:t>
            </a:r>
            <a:r>
              <a:rPr lang="en-US" altLang="en-US" sz="2000" dirty="0">
                <a:latin typeface="Arial" panose="020B0604020202020204" pitchFamily="34" charset="0"/>
              </a:rPr>
              <a:t>.</a:t>
            </a:r>
          </a:p>
          <a:p>
            <a:pPr marL="342900" lvl="0" indent="-342900" eaLnBrk="0" fontAlgn="base" hangingPunct="0">
              <a:spcBef>
                <a:spcPct val="0"/>
              </a:spcBef>
              <a:spcAft>
                <a:spcPct val="0"/>
              </a:spcAft>
              <a:buFont typeface="Arial" panose="020B0604020202020204" pitchFamily="34" charset="0"/>
              <a:buChar char="•"/>
            </a:pPr>
            <a:r>
              <a:rPr lang="en-US" altLang="en-US" sz="2000" dirty="0" err="1">
                <a:latin typeface="Arial" panose="020B0604020202020204" pitchFamily="34" charset="0"/>
              </a:rPr>
              <a:t>Aujourd’hui</a:t>
            </a:r>
            <a:r>
              <a:rPr lang="en-US" altLang="en-US" sz="2000" dirty="0">
                <a:latin typeface="Arial" panose="020B0604020202020204" pitchFamily="34" charset="0"/>
              </a:rPr>
              <a:t>, les </a:t>
            </a:r>
            <a:r>
              <a:rPr lang="en-US" altLang="en-US" sz="2000" dirty="0" err="1">
                <a:latin typeface="Arial" panose="020B0604020202020204" pitchFamily="34" charset="0"/>
              </a:rPr>
              <a:t>attaques</a:t>
            </a:r>
            <a:r>
              <a:rPr lang="en-US" altLang="en-US" sz="2000" dirty="0">
                <a:latin typeface="Arial" panose="020B0604020202020204" pitchFamily="34" charset="0"/>
              </a:rPr>
              <a:t> </a:t>
            </a:r>
            <a:r>
              <a:rPr lang="en-US" altLang="en-US" sz="2000" dirty="0" err="1">
                <a:latin typeface="Arial" panose="020B0604020202020204" pitchFamily="34" charset="0"/>
              </a:rPr>
              <a:t>sont</a:t>
            </a:r>
            <a:r>
              <a:rPr lang="en-US" altLang="en-US" sz="2000" dirty="0">
                <a:latin typeface="Arial" panose="020B0604020202020204" pitchFamily="34" charset="0"/>
              </a:rPr>
              <a:t> </a:t>
            </a:r>
            <a:r>
              <a:rPr lang="en-US" altLang="en-US" sz="2000" b="1" dirty="0">
                <a:latin typeface="Arial" panose="020B0604020202020204" pitchFamily="34" charset="0"/>
              </a:rPr>
              <a:t>beaucoup plus </a:t>
            </a:r>
            <a:r>
              <a:rPr lang="en-US" altLang="en-US" sz="2000" b="1" dirty="0" err="1">
                <a:latin typeface="Arial" panose="020B0604020202020204" pitchFamily="34" charset="0"/>
              </a:rPr>
              <a:t>sophistiquées</a:t>
            </a:r>
            <a:r>
              <a:rPr lang="en-US" altLang="en-US" sz="2000" dirty="0">
                <a:latin typeface="Arial" panose="020B0604020202020204" pitchFamily="34" charset="0"/>
              </a:rPr>
              <a:t> grâce à la </a:t>
            </a:r>
            <a:r>
              <a:rPr lang="en-US" altLang="en-US" sz="2000" dirty="0" err="1">
                <a:latin typeface="Arial" panose="020B0604020202020204" pitchFamily="34" charset="0"/>
              </a:rPr>
              <a:t>diversité</a:t>
            </a:r>
            <a:r>
              <a:rPr lang="en-US" altLang="en-US" sz="2000" dirty="0">
                <a:latin typeface="Arial" panose="020B0604020202020204" pitchFamily="34" charset="0"/>
              </a:rPr>
              <a:t> des </a:t>
            </a:r>
            <a:r>
              <a:rPr lang="en-US" altLang="en-US" sz="2000" b="1" dirty="0" err="1">
                <a:latin typeface="Arial" panose="020B0604020202020204" pitchFamily="34" charset="0"/>
              </a:rPr>
              <a:t>outils</a:t>
            </a:r>
            <a:r>
              <a:rPr lang="en-US" altLang="en-US" sz="2000" b="1" dirty="0">
                <a:latin typeface="Arial" panose="020B0604020202020204" pitchFamily="34" charset="0"/>
              </a:rPr>
              <a:t> </a:t>
            </a:r>
            <a:r>
              <a:rPr lang="en-US" altLang="en-US" sz="2000" b="1" dirty="0" err="1">
                <a:latin typeface="Arial" panose="020B0604020202020204" pitchFamily="34" charset="0"/>
              </a:rPr>
              <a:t>disponibles</a:t>
            </a:r>
            <a:r>
              <a:rPr lang="en-US" altLang="en-US" sz="2000" dirty="0">
                <a:latin typeface="Arial" panose="020B0604020202020204" pitchFamily="34" charset="0"/>
              </a:rPr>
              <a:t>.</a:t>
            </a:r>
          </a:p>
          <a:p>
            <a:pPr marL="342900" lvl="0" indent="-342900" eaLnBrk="0" fontAlgn="base" hangingPunct="0">
              <a:spcBef>
                <a:spcPct val="0"/>
              </a:spcBef>
              <a:spcAft>
                <a:spcPct val="0"/>
              </a:spcAft>
              <a:buFont typeface="Arial" panose="020B0604020202020204" pitchFamily="34" charset="0"/>
              <a:buChar char="•"/>
            </a:pPr>
            <a:r>
              <a:rPr lang="en-US" altLang="en-US" sz="2000" dirty="0">
                <a:latin typeface="Arial" panose="020B0604020202020204" pitchFamily="34" charset="0"/>
              </a:rPr>
              <a:t>Internet </a:t>
            </a:r>
            <a:r>
              <a:rPr lang="en-US" altLang="en-US" sz="2000" dirty="0" err="1">
                <a:latin typeface="Arial" panose="020B0604020202020204" pitchFamily="34" charset="0"/>
              </a:rPr>
              <a:t>est</a:t>
            </a:r>
            <a:r>
              <a:rPr lang="en-US" altLang="en-US" sz="2000" dirty="0">
                <a:latin typeface="Arial" panose="020B0604020202020204" pitchFamily="34" charset="0"/>
              </a:rPr>
              <a:t> </a:t>
            </a:r>
            <a:r>
              <a:rPr lang="en-US" altLang="en-US" sz="2000" dirty="0" err="1">
                <a:latin typeface="Arial" panose="020B0604020202020204" pitchFamily="34" charset="0"/>
              </a:rPr>
              <a:t>devenu</a:t>
            </a:r>
            <a:r>
              <a:rPr lang="en-US" altLang="en-US" sz="2000" dirty="0">
                <a:latin typeface="Arial" panose="020B0604020202020204" pitchFamily="34" charset="0"/>
              </a:rPr>
              <a:t> un </a:t>
            </a:r>
            <a:r>
              <a:rPr lang="en-US" altLang="en-US" sz="2000" b="1" dirty="0" err="1">
                <a:latin typeface="Arial" panose="020B0604020202020204" pitchFamily="34" charset="0"/>
              </a:rPr>
              <a:t>environnement</a:t>
            </a:r>
            <a:r>
              <a:rPr lang="en-US" altLang="en-US" sz="2000" b="1" dirty="0">
                <a:latin typeface="Arial" panose="020B0604020202020204" pitchFamily="34" charset="0"/>
              </a:rPr>
              <a:t> </a:t>
            </a:r>
            <a:r>
              <a:rPr lang="en-US" altLang="en-US" sz="2000" b="1" dirty="0" err="1">
                <a:latin typeface="Arial" panose="020B0604020202020204" pitchFamily="34" charset="0"/>
              </a:rPr>
              <a:t>complexe</a:t>
            </a:r>
            <a:r>
              <a:rPr lang="en-US" altLang="en-US" sz="2000" b="1" dirty="0">
                <a:latin typeface="Arial" panose="020B0604020202020204" pitchFamily="34" charset="0"/>
              </a:rPr>
              <a:t> et risqué</a:t>
            </a:r>
            <a:r>
              <a:rPr lang="en-US" altLang="en-US" sz="2000" dirty="0">
                <a:latin typeface="Arial" panose="020B0604020202020204" pitchFamily="34" charset="0"/>
              </a:rPr>
              <a:t> </a:t>
            </a:r>
            <a:r>
              <a:rPr lang="en-US" altLang="en-US" sz="2000" dirty="0" err="1">
                <a:latin typeface="Arial" panose="020B0604020202020204" pitchFamily="34" charset="0"/>
              </a:rPr>
              <a:t>comparé</a:t>
            </a:r>
            <a:r>
              <a:rPr lang="en-US" altLang="en-US" sz="2000" dirty="0">
                <a:latin typeface="Arial" panose="020B0604020202020204" pitchFamily="34" charset="0"/>
              </a:rPr>
              <a:t> à </a:t>
            </a:r>
            <a:r>
              <a:rPr lang="en-US" altLang="en-US" sz="2000" dirty="0" err="1">
                <a:latin typeface="Arial" panose="020B0604020202020204" pitchFamily="34" charset="0"/>
              </a:rPr>
              <a:t>ses</a:t>
            </a:r>
            <a:r>
              <a:rPr lang="en-US" altLang="en-US" sz="2000" dirty="0">
                <a:latin typeface="Arial" panose="020B0604020202020204" pitchFamily="34" charset="0"/>
              </a:rPr>
              <a:t> débuts.</a:t>
            </a:r>
            <a:endParaRPr sz="2000" dirty="0">
              <a:latin typeface="Arial" panose="020B0604020202020204" pitchFamily="34" charset="0"/>
              <a:cs typeface="Arial" panose="020B0604020202020204" pitchFamily="34" charset="0"/>
            </a:endParaRPr>
          </a:p>
        </p:txBody>
      </p:sp>
      <p:pic>
        <p:nvPicPr>
          <p:cNvPr id="4" name="object 4"/>
          <p:cNvPicPr/>
          <p:nvPr/>
        </p:nvPicPr>
        <p:blipFill>
          <a:blip r:embed="rId3" cstate="print"/>
          <a:stretch>
            <a:fillRect/>
          </a:stretch>
        </p:blipFill>
        <p:spPr>
          <a:xfrm>
            <a:off x="620684" y="3616093"/>
            <a:ext cx="4924271" cy="2895598"/>
          </a:xfrm>
          <a:prstGeom prst="rect">
            <a:avLst/>
          </a:prstGeom>
        </p:spPr>
      </p:pic>
      <p:grpSp>
        <p:nvGrpSpPr>
          <p:cNvPr id="5" name="object 5"/>
          <p:cNvGrpSpPr/>
          <p:nvPr/>
        </p:nvGrpSpPr>
        <p:grpSpPr>
          <a:xfrm>
            <a:off x="6309437" y="1642745"/>
            <a:ext cx="5577763" cy="4906645"/>
            <a:chOff x="5809124" y="1342081"/>
            <a:chExt cx="6301105" cy="5516245"/>
          </a:xfrm>
        </p:grpSpPr>
        <p:pic>
          <p:nvPicPr>
            <p:cNvPr id="6" name="object 6"/>
            <p:cNvPicPr/>
            <p:nvPr/>
          </p:nvPicPr>
          <p:blipFill>
            <a:blip r:embed="rId4" cstate="print"/>
            <a:stretch>
              <a:fillRect/>
            </a:stretch>
          </p:blipFill>
          <p:spPr>
            <a:xfrm>
              <a:off x="5809124" y="3404710"/>
              <a:ext cx="3853144" cy="3453289"/>
            </a:xfrm>
            <a:prstGeom prst="rect">
              <a:avLst/>
            </a:prstGeom>
          </p:spPr>
        </p:pic>
        <p:pic>
          <p:nvPicPr>
            <p:cNvPr id="7" name="object 7"/>
            <p:cNvPicPr/>
            <p:nvPr/>
          </p:nvPicPr>
          <p:blipFill>
            <a:blip r:embed="rId5" cstate="print"/>
            <a:stretch>
              <a:fillRect/>
            </a:stretch>
          </p:blipFill>
          <p:spPr>
            <a:xfrm>
              <a:off x="8169637" y="1342081"/>
              <a:ext cx="3940162" cy="3627157"/>
            </a:xfrm>
            <a:prstGeom prst="rect">
              <a:avLst/>
            </a:prstGeom>
          </p:spPr>
        </p:pic>
      </p:grpSp>
      <p:sp>
        <p:nvSpPr>
          <p:cNvPr id="8" name="Espace réservé du numéro de diapositive 7">
            <a:extLst>
              <a:ext uri="{FF2B5EF4-FFF2-40B4-BE49-F238E27FC236}">
                <a16:creationId xmlns:a16="http://schemas.microsoft.com/office/drawing/2014/main" id="{B9562155-DD15-C10D-A7D3-1711F3C9D451}"/>
              </a:ext>
            </a:extLst>
          </p:cNvPr>
          <p:cNvSpPr>
            <a:spLocks noGrp="1"/>
          </p:cNvSpPr>
          <p:nvPr>
            <p:ph type="sldNum" sz="quarter" idx="7"/>
          </p:nvPr>
        </p:nvSpPr>
        <p:spPr/>
        <p:txBody>
          <a:bodyPr/>
          <a:lstStyle/>
          <a:p>
            <a:fld id="{B6F15528-21DE-4FAA-801E-634DDDAF4B2B}"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1051" y="669893"/>
            <a:ext cx="9936401" cy="628377"/>
          </a:xfrm>
          <a:prstGeom prst="rect">
            <a:avLst/>
          </a:prstGeom>
        </p:spPr>
        <p:txBody>
          <a:bodyPr vert="horz" wrap="square" lIns="0" tIns="12700" rIns="0" bIns="0" rtlCol="0">
            <a:spAutoFit/>
          </a:bodyPr>
          <a:lstStyle/>
          <a:p>
            <a:pPr marL="12700">
              <a:lnSpc>
                <a:spcPct val="100000"/>
              </a:lnSpc>
              <a:spcBef>
                <a:spcPts val="100"/>
              </a:spcBef>
            </a:pPr>
            <a:r>
              <a:rPr lang="fr-FR" sz="4000" dirty="0"/>
              <a:t>Évolution des menaces de la cybersécurité</a:t>
            </a:r>
            <a:r>
              <a:rPr sz="4000" spc="-20" dirty="0"/>
              <a:t> </a:t>
            </a:r>
            <a:r>
              <a:rPr sz="4000" spc="-5" dirty="0"/>
              <a:t>2/2</a:t>
            </a:r>
            <a:endParaRPr sz="4000" dirty="0"/>
          </a:p>
        </p:txBody>
      </p:sp>
      <p:sp>
        <p:nvSpPr>
          <p:cNvPr id="3" name="object 3"/>
          <p:cNvSpPr txBox="1"/>
          <p:nvPr/>
        </p:nvSpPr>
        <p:spPr>
          <a:xfrm>
            <a:off x="964547" y="1802663"/>
            <a:ext cx="7813693" cy="443711"/>
          </a:xfrm>
          <a:prstGeom prst="rect">
            <a:avLst/>
          </a:prstGeom>
        </p:spPr>
        <p:txBody>
          <a:bodyPr vert="horz" wrap="square" lIns="0" tIns="12700" rIns="0" bIns="0" rtlCol="0">
            <a:spAutoFit/>
          </a:bodyPr>
          <a:lstStyle/>
          <a:p>
            <a:pPr marL="187960" indent="-175895">
              <a:lnSpc>
                <a:spcPct val="100000"/>
              </a:lnSpc>
              <a:spcBef>
                <a:spcPts val="100"/>
              </a:spcBef>
              <a:buFont typeface="Arial MT"/>
              <a:buChar char="•"/>
              <a:tabLst>
                <a:tab pos="188595" algn="l"/>
              </a:tabLst>
            </a:pPr>
            <a:r>
              <a:rPr sz="2800" spc="-5" dirty="0">
                <a:latin typeface="Calibri"/>
                <a:cs typeface="Calibri"/>
              </a:rPr>
              <a:t>Les</a:t>
            </a:r>
            <a:r>
              <a:rPr sz="2800" spc="-20" dirty="0">
                <a:latin typeface="Calibri"/>
                <a:cs typeface="Calibri"/>
              </a:rPr>
              <a:t> </a:t>
            </a:r>
            <a:r>
              <a:rPr sz="2800" spc="-5" dirty="0">
                <a:latin typeface="Calibri"/>
                <a:cs typeface="Calibri"/>
              </a:rPr>
              <a:t>vecteurs</a:t>
            </a:r>
            <a:r>
              <a:rPr sz="2800" spc="-15" dirty="0">
                <a:latin typeface="Calibri"/>
                <a:cs typeface="Calibri"/>
              </a:rPr>
              <a:t> </a:t>
            </a:r>
            <a:r>
              <a:rPr sz="2800" spc="-5" dirty="0">
                <a:latin typeface="Calibri"/>
                <a:cs typeface="Calibri"/>
              </a:rPr>
              <a:t>des</a:t>
            </a:r>
            <a:r>
              <a:rPr sz="2800" spc="-20" dirty="0">
                <a:latin typeface="Calibri"/>
                <a:cs typeface="Calibri"/>
              </a:rPr>
              <a:t> </a:t>
            </a:r>
            <a:r>
              <a:rPr sz="2800" dirty="0" err="1">
                <a:latin typeface="Calibri"/>
                <a:cs typeface="Calibri"/>
              </a:rPr>
              <a:t>attaques</a:t>
            </a:r>
            <a:r>
              <a:rPr sz="2800" spc="-15" dirty="0">
                <a:latin typeface="Calibri"/>
                <a:cs typeface="Calibri"/>
              </a:rPr>
              <a:t> </a:t>
            </a:r>
            <a:r>
              <a:rPr sz="2800" spc="-5" dirty="0" err="1">
                <a:latin typeface="Calibri"/>
                <a:cs typeface="Calibri"/>
              </a:rPr>
              <a:t>réseau</a:t>
            </a:r>
            <a:r>
              <a:rPr lang="fr-FR" sz="2800" spc="-5" dirty="0">
                <a:latin typeface="Calibri"/>
                <a:cs typeface="Calibri"/>
              </a:rPr>
              <a:t>x</a:t>
            </a:r>
            <a:r>
              <a:rPr sz="2800" spc="-15" dirty="0">
                <a:latin typeface="Calibri"/>
                <a:cs typeface="Calibri"/>
              </a:rPr>
              <a:t> </a:t>
            </a:r>
            <a:r>
              <a:rPr sz="2800" spc="-5" dirty="0">
                <a:latin typeface="Calibri"/>
                <a:cs typeface="Calibri"/>
              </a:rPr>
              <a:t>incluent</a:t>
            </a:r>
            <a:r>
              <a:rPr sz="2800" spc="-20" dirty="0">
                <a:latin typeface="Calibri"/>
                <a:cs typeface="Calibri"/>
              </a:rPr>
              <a:t> </a:t>
            </a:r>
            <a:r>
              <a:rPr sz="2800" dirty="0">
                <a:latin typeface="Calibri"/>
                <a:cs typeface="Calibri"/>
              </a:rPr>
              <a:t>:</a:t>
            </a:r>
          </a:p>
        </p:txBody>
      </p:sp>
      <p:sp>
        <p:nvSpPr>
          <p:cNvPr id="4" name="object 4"/>
          <p:cNvSpPr txBox="1"/>
          <p:nvPr/>
        </p:nvSpPr>
        <p:spPr>
          <a:xfrm>
            <a:off x="964547" y="2362200"/>
            <a:ext cx="2665095" cy="2311400"/>
          </a:xfrm>
          <a:prstGeom prst="rect">
            <a:avLst/>
          </a:prstGeom>
        </p:spPr>
        <p:txBody>
          <a:bodyPr vert="horz" wrap="square" lIns="0" tIns="104140" rIns="0" bIns="0" rtlCol="0">
            <a:spAutoFit/>
          </a:bodyPr>
          <a:lstStyle/>
          <a:p>
            <a:pPr marL="340360" indent="-328295">
              <a:lnSpc>
                <a:spcPct val="100000"/>
              </a:lnSpc>
              <a:spcBef>
                <a:spcPts val="820"/>
              </a:spcBef>
              <a:buFont typeface="Arial"/>
              <a:buChar char="□"/>
              <a:tabLst>
                <a:tab pos="340360" algn="l"/>
                <a:tab pos="340995" algn="l"/>
              </a:tabLst>
            </a:pPr>
            <a:r>
              <a:rPr sz="2400" b="1" spc="-5" dirty="0">
                <a:latin typeface="Calibri"/>
                <a:cs typeface="Calibri"/>
              </a:rPr>
              <a:t>Attaques</a:t>
            </a:r>
            <a:r>
              <a:rPr sz="2400" b="1" spc="-55" dirty="0">
                <a:latin typeface="Calibri"/>
                <a:cs typeface="Calibri"/>
              </a:rPr>
              <a:t> </a:t>
            </a:r>
            <a:r>
              <a:rPr sz="2400" b="1" spc="-5" dirty="0">
                <a:latin typeface="Calibri"/>
                <a:cs typeface="Calibri"/>
              </a:rPr>
              <a:t>internes</a:t>
            </a:r>
            <a:endParaRPr sz="2400" dirty="0">
              <a:latin typeface="Calibri"/>
              <a:cs typeface="Calibri"/>
            </a:endParaRPr>
          </a:p>
          <a:p>
            <a:pPr marL="340360" indent="-328295">
              <a:lnSpc>
                <a:spcPct val="100000"/>
              </a:lnSpc>
              <a:spcBef>
                <a:spcPts val="720"/>
              </a:spcBef>
              <a:buFont typeface="Arial"/>
              <a:buChar char="□"/>
              <a:tabLst>
                <a:tab pos="340360" algn="l"/>
                <a:tab pos="340995" algn="l"/>
              </a:tabLst>
            </a:pPr>
            <a:r>
              <a:rPr sz="2400" b="1" spc="-5" dirty="0">
                <a:latin typeface="Calibri"/>
                <a:cs typeface="Calibri"/>
              </a:rPr>
              <a:t>Attaques</a:t>
            </a:r>
            <a:r>
              <a:rPr sz="2400" b="1" spc="-85" dirty="0">
                <a:latin typeface="Calibri"/>
                <a:cs typeface="Calibri"/>
              </a:rPr>
              <a:t> </a:t>
            </a:r>
            <a:r>
              <a:rPr sz="2400" b="1" spc="-5" dirty="0">
                <a:latin typeface="Calibri"/>
                <a:cs typeface="Calibri"/>
              </a:rPr>
              <a:t>externes</a:t>
            </a:r>
            <a:endParaRPr sz="2400" dirty="0">
              <a:latin typeface="Calibri"/>
              <a:cs typeface="Calibri"/>
            </a:endParaRPr>
          </a:p>
          <a:p>
            <a:pPr>
              <a:lnSpc>
                <a:spcPct val="100000"/>
              </a:lnSpc>
              <a:spcBef>
                <a:spcPts val="45"/>
              </a:spcBef>
              <a:buFont typeface="Arial"/>
              <a:buChar char="□"/>
            </a:pPr>
            <a:endParaRPr sz="3500" dirty="0">
              <a:latin typeface="Calibri"/>
              <a:cs typeface="Calibri"/>
            </a:endParaRPr>
          </a:p>
          <a:p>
            <a:pPr marL="271780" indent="-259715">
              <a:lnSpc>
                <a:spcPct val="100000"/>
              </a:lnSpc>
              <a:buFont typeface="Arial"/>
              <a:buChar char="□"/>
              <a:tabLst>
                <a:tab pos="272415" algn="l"/>
              </a:tabLst>
            </a:pPr>
            <a:r>
              <a:rPr sz="2400" b="1" spc="-5" dirty="0">
                <a:latin typeface="Calibri"/>
                <a:cs typeface="Calibri"/>
              </a:rPr>
              <a:t>Attaques</a:t>
            </a:r>
            <a:r>
              <a:rPr sz="2400" b="1" spc="-45" dirty="0">
                <a:latin typeface="Calibri"/>
                <a:cs typeface="Calibri"/>
              </a:rPr>
              <a:t> </a:t>
            </a:r>
            <a:r>
              <a:rPr sz="2400" b="1" spc="-5" dirty="0">
                <a:latin typeface="Calibri"/>
                <a:cs typeface="Calibri"/>
              </a:rPr>
              <a:t>actives</a:t>
            </a:r>
            <a:endParaRPr sz="2400" dirty="0">
              <a:latin typeface="Calibri"/>
              <a:cs typeface="Calibri"/>
            </a:endParaRPr>
          </a:p>
          <a:p>
            <a:pPr marL="271780" indent="-259715">
              <a:lnSpc>
                <a:spcPct val="100000"/>
              </a:lnSpc>
              <a:spcBef>
                <a:spcPts val="720"/>
              </a:spcBef>
              <a:buFont typeface="Arial"/>
              <a:buChar char="□"/>
              <a:tabLst>
                <a:tab pos="272415" algn="l"/>
              </a:tabLst>
            </a:pPr>
            <a:r>
              <a:rPr sz="2400" b="1" spc="-5" dirty="0">
                <a:latin typeface="Calibri"/>
                <a:cs typeface="Calibri"/>
              </a:rPr>
              <a:t>Attaques</a:t>
            </a:r>
            <a:r>
              <a:rPr sz="2400" b="1" spc="-45" dirty="0">
                <a:latin typeface="Calibri"/>
                <a:cs typeface="Calibri"/>
              </a:rPr>
              <a:t> </a:t>
            </a:r>
            <a:r>
              <a:rPr sz="2400" b="1" spc="-5" dirty="0">
                <a:latin typeface="Calibri"/>
                <a:cs typeface="Calibri"/>
              </a:rPr>
              <a:t>passives</a:t>
            </a:r>
            <a:endParaRPr sz="2400" dirty="0">
              <a:latin typeface="Calibri"/>
              <a:cs typeface="Calibri"/>
            </a:endParaRPr>
          </a:p>
        </p:txBody>
      </p:sp>
      <p:pic>
        <p:nvPicPr>
          <p:cNvPr id="5" name="object 5"/>
          <p:cNvPicPr/>
          <p:nvPr/>
        </p:nvPicPr>
        <p:blipFill>
          <a:blip r:embed="rId2" cstate="print"/>
          <a:stretch>
            <a:fillRect/>
          </a:stretch>
        </p:blipFill>
        <p:spPr>
          <a:xfrm>
            <a:off x="4761008" y="2590800"/>
            <a:ext cx="6059392" cy="3993142"/>
          </a:xfrm>
          <a:prstGeom prst="rect">
            <a:avLst/>
          </a:prstGeom>
        </p:spPr>
      </p:pic>
      <p:sp>
        <p:nvSpPr>
          <p:cNvPr id="6" name="Espace réservé du numéro de diapositive 5">
            <a:extLst>
              <a:ext uri="{FF2B5EF4-FFF2-40B4-BE49-F238E27FC236}">
                <a16:creationId xmlns:a16="http://schemas.microsoft.com/office/drawing/2014/main" id="{E61DB7B4-4B16-B6DC-A8F4-9089098C6300}"/>
              </a:ext>
            </a:extLst>
          </p:cNvPr>
          <p:cNvSpPr>
            <a:spLocks noGrp="1"/>
          </p:cNvSpPr>
          <p:nvPr>
            <p:ph type="sldNum" sz="quarter" idx="7"/>
          </p:nvPr>
        </p:nvSpPr>
        <p:spPr/>
        <p:txBody>
          <a:bodyPr/>
          <a:lstStyle/>
          <a:p>
            <a:fld id="{B6F15528-21DE-4FAA-801E-634DDDAF4B2B}"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7664" y="639172"/>
            <a:ext cx="1230630" cy="695960"/>
          </a:xfrm>
          <a:prstGeom prst="rect">
            <a:avLst/>
          </a:prstGeom>
        </p:spPr>
        <p:txBody>
          <a:bodyPr vert="horz" wrap="square" lIns="0" tIns="12700" rIns="0" bIns="0" rtlCol="0">
            <a:spAutoFit/>
          </a:bodyPr>
          <a:lstStyle/>
          <a:p>
            <a:pPr marL="12700">
              <a:lnSpc>
                <a:spcPct val="100000"/>
              </a:lnSpc>
              <a:spcBef>
                <a:spcPts val="100"/>
              </a:spcBef>
            </a:pPr>
            <a:r>
              <a:rPr b="0" spc="-10" dirty="0">
                <a:latin typeface="Calibri"/>
                <a:cs typeface="Calibri"/>
              </a:rPr>
              <a:t>PLAN</a:t>
            </a:r>
          </a:p>
        </p:txBody>
      </p:sp>
      <p:sp>
        <p:nvSpPr>
          <p:cNvPr id="4" name="object 4"/>
          <p:cNvSpPr txBox="1"/>
          <p:nvPr/>
        </p:nvSpPr>
        <p:spPr>
          <a:xfrm>
            <a:off x="2621897" y="1892363"/>
            <a:ext cx="7588903" cy="3552254"/>
          </a:xfrm>
          <a:prstGeom prst="rect">
            <a:avLst/>
          </a:prstGeom>
        </p:spPr>
        <p:txBody>
          <a:bodyPr vert="horz" wrap="square" lIns="0" tIns="12700" rIns="0" bIns="0" rtlCol="0">
            <a:spAutoFit/>
          </a:bodyPr>
          <a:lstStyle/>
          <a:p>
            <a:pPr marL="187960" indent="-175895">
              <a:lnSpc>
                <a:spcPct val="100000"/>
              </a:lnSpc>
              <a:spcBef>
                <a:spcPts val="100"/>
              </a:spcBef>
              <a:buFont typeface="Arial MT"/>
              <a:buChar char="•"/>
              <a:tabLst>
                <a:tab pos="188595" algn="l"/>
              </a:tabLst>
            </a:pPr>
            <a:r>
              <a:rPr sz="2800" spc="-5" dirty="0">
                <a:latin typeface="Arial" panose="020B0604020202020204" pitchFamily="34" charset="0"/>
                <a:cs typeface="Arial" panose="020B0604020202020204" pitchFamily="34" charset="0"/>
              </a:rPr>
              <a:t>Evolution</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des</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menaces</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la</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sécurité</a:t>
            </a:r>
            <a:endParaRPr sz="2800" dirty="0">
              <a:latin typeface="Arial" panose="020B0604020202020204" pitchFamily="34" charset="0"/>
              <a:cs typeface="Arial" panose="020B0604020202020204" pitchFamily="34" charset="0"/>
            </a:endParaRPr>
          </a:p>
          <a:p>
            <a:pPr marL="187960" indent="-175895">
              <a:lnSpc>
                <a:spcPct val="100000"/>
              </a:lnSpc>
              <a:spcBef>
                <a:spcPts val="2665"/>
              </a:spcBef>
              <a:buFont typeface="Arial MT"/>
              <a:buChar char="•"/>
              <a:tabLst>
                <a:tab pos="188595" algn="l"/>
              </a:tabLst>
            </a:pPr>
            <a:r>
              <a:rPr lang="fr-FR" sz="2800" spc="-5" dirty="0">
                <a:latin typeface="Arial" panose="020B0604020202020204" pitchFamily="34" charset="0"/>
                <a:cs typeface="Arial" panose="020B0604020202020204" pitchFamily="34" charset="0"/>
              </a:rPr>
              <a:t>Les attaquants informatiques </a:t>
            </a:r>
            <a:endParaRPr sz="2800" dirty="0">
              <a:latin typeface="Arial" panose="020B0604020202020204" pitchFamily="34" charset="0"/>
              <a:cs typeface="Arial" panose="020B0604020202020204" pitchFamily="34" charset="0"/>
            </a:endParaRPr>
          </a:p>
          <a:p>
            <a:pPr marL="187960" indent="-175895">
              <a:lnSpc>
                <a:spcPct val="100000"/>
              </a:lnSpc>
              <a:spcBef>
                <a:spcPts val="2715"/>
              </a:spcBef>
              <a:buFont typeface="Arial MT"/>
              <a:buChar char="•"/>
              <a:tabLst>
                <a:tab pos="188595" algn="l"/>
              </a:tabLst>
            </a:pPr>
            <a:r>
              <a:rPr sz="2800" spc="-5" dirty="0">
                <a:latin typeface="Arial" panose="020B0604020202020204" pitchFamily="34" charset="0"/>
                <a:cs typeface="Arial" panose="020B0604020202020204" pitchFamily="34" charset="0"/>
              </a:rPr>
              <a:t>Types</a:t>
            </a:r>
            <a:r>
              <a:rPr sz="2800" spc="-3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des</a:t>
            </a:r>
            <a:r>
              <a:rPr sz="2800" spc="-25" dirty="0">
                <a:latin typeface="Arial" panose="020B0604020202020204" pitchFamily="34" charset="0"/>
                <a:cs typeface="Arial" panose="020B0604020202020204" pitchFamily="34" charset="0"/>
              </a:rPr>
              <a:t> </a:t>
            </a:r>
            <a:r>
              <a:rPr sz="2800" dirty="0" err="1">
                <a:latin typeface="Arial" panose="020B0604020202020204" pitchFamily="34" charset="0"/>
                <a:cs typeface="Arial" panose="020B0604020202020204" pitchFamily="34" charset="0"/>
              </a:rPr>
              <a:t>attaques</a:t>
            </a:r>
            <a:r>
              <a:rPr sz="2800" spc="-25" dirty="0">
                <a:latin typeface="Arial" panose="020B0604020202020204" pitchFamily="34" charset="0"/>
                <a:cs typeface="Arial" panose="020B0604020202020204" pitchFamily="34" charset="0"/>
              </a:rPr>
              <a:t> </a:t>
            </a:r>
            <a:r>
              <a:rPr sz="2800" spc="-5" dirty="0" err="1">
                <a:latin typeface="Arial" panose="020B0604020202020204" pitchFamily="34" charset="0"/>
                <a:cs typeface="Arial" panose="020B0604020202020204" pitchFamily="34" charset="0"/>
              </a:rPr>
              <a:t>réseau</a:t>
            </a:r>
            <a:r>
              <a:rPr lang="fr-FR" sz="2800" spc="-5" dirty="0">
                <a:latin typeface="Arial" panose="020B0604020202020204" pitchFamily="34" charset="0"/>
                <a:cs typeface="Arial" panose="020B0604020202020204" pitchFamily="34" charset="0"/>
              </a:rPr>
              <a:t>x</a:t>
            </a:r>
            <a:endParaRPr sz="2800" dirty="0">
              <a:latin typeface="Arial" panose="020B0604020202020204" pitchFamily="34" charset="0"/>
              <a:cs typeface="Arial" panose="020B0604020202020204" pitchFamily="34" charset="0"/>
            </a:endParaRPr>
          </a:p>
          <a:p>
            <a:pPr marL="187960" indent="-175895">
              <a:lnSpc>
                <a:spcPct val="100000"/>
              </a:lnSpc>
              <a:spcBef>
                <a:spcPts val="2715"/>
              </a:spcBef>
              <a:buFont typeface="Arial MT"/>
              <a:buChar char="•"/>
              <a:tabLst>
                <a:tab pos="188595" algn="l"/>
              </a:tabLst>
            </a:pPr>
            <a:r>
              <a:rPr sz="2800" spc="-5" dirty="0">
                <a:latin typeface="Arial" panose="020B0604020202020204" pitchFamily="34" charset="0"/>
                <a:cs typeface="Arial" panose="020B0604020202020204" pitchFamily="34" charset="0"/>
              </a:rPr>
              <a:t>Atténuation</a:t>
            </a:r>
            <a:r>
              <a:rPr sz="2800" spc="-35"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des</a:t>
            </a:r>
            <a:r>
              <a:rPr sz="2800" spc="-30" dirty="0">
                <a:latin typeface="Arial" panose="020B0604020202020204" pitchFamily="34" charset="0"/>
                <a:cs typeface="Arial" panose="020B0604020202020204" pitchFamily="34" charset="0"/>
              </a:rPr>
              <a:t> </a:t>
            </a:r>
            <a:r>
              <a:rPr sz="2800" dirty="0">
                <a:latin typeface="Arial" panose="020B0604020202020204" pitchFamily="34" charset="0"/>
                <a:cs typeface="Arial" panose="020B0604020202020204" pitchFamily="34" charset="0"/>
              </a:rPr>
              <a:t>attaques</a:t>
            </a:r>
          </a:p>
          <a:p>
            <a:pPr marL="187960" indent="-175895">
              <a:lnSpc>
                <a:spcPct val="100000"/>
              </a:lnSpc>
              <a:spcBef>
                <a:spcPts val="2715"/>
              </a:spcBef>
              <a:buFont typeface="Arial MT"/>
              <a:buChar char="•"/>
              <a:tabLst>
                <a:tab pos="188595" algn="l"/>
              </a:tabLst>
            </a:pPr>
            <a:r>
              <a:rPr sz="2800" spc="-5" dirty="0">
                <a:latin typeface="Arial" panose="020B0604020202020204" pitchFamily="34" charset="0"/>
                <a:cs typeface="Arial" panose="020B0604020202020204" pitchFamily="34" charset="0"/>
              </a:rPr>
              <a:t>Les</a:t>
            </a:r>
            <a:r>
              <a:rPr sz="2800" spc="-25"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10</a:t>
            </a:r>
            <a:r>
              <a:rPr sz="2800" spc="-25"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bonnes</a:t>
            </a:r>
            <a:r>
              <a:rPr sz="2800" spc="-25"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pratiques</a:t>
            </a:r>
            <a:endParaRPr sz="2800" dirty="0">
              <a:latin typeface="Arial" panose="020B0604020202020204" pitchFamily="34" charset="0"/>
              <a:cs typeface="Arial" panose="020B0604020202020204" pitchFamily="34" charset="0"/>
            </a:endParaRPr>
          </a:p>
        </p:txBody>
      </p:sp>
      <p:sp>
        <p:nvSpPr>
          <p:cNvPr id="5" name="Espace réservé du numéro de diapositive 4">
            <a:extLst>
              <a:ext uri="{FF2B5EF4-FFF2-40B4-BE49-F238E27FC236}">
                <a16:creationId xmlns:a16="http://schemas.microsoft.com/office/drawing/2014/main" id="{9E0F8919-739B-7131-8ABC-60DD16B6BC6C}"/>
              </a:ext>
            </a:extLst>
          </p:cNvPr>
          <p:cNvSpPr>
            <a:spLocks noGrp="1"/>
          </p:cNvSpPr>
          <p:nvPr>
            <p:ph type="sldNum" sz="quarter" idx="7"/>
          </p:nvPr>
        </p:nvSpPr>
        <p:spPr/>
        <p:txBody>
          <a:bodyPr/>
          <a:lstStyle/>
          <a:p>
            <a:fld id="{B6F15528-21DE-4FAA-801E-634DDDAF4B2B}" type="slidenum">
              <a:rPr lang="en-US" smtClean="0"/>
              <a:t>6</a:t>
            </a:fld>
            <a:endParaRPr lang="en-US"/>
          </a:p>
        </p:txBody>
      </p:sp>
      <p:sp>
        <p:nvSpPr>
          <p:cNvPr id="6" name="object 3">
            <a:extLst>
              <a:ext uri="{FF2B5EF4-FFF2-40B4-BE49-F238E27FC236}">
                <a16:creationId xmlns:a16="http://schemas.microsoft.com/office/drawing/2014/main" id="{62393DFB-2873-F541-C6DD-36EF42661B48}"/>
              </a:ext>
            </a:extLst>
          </p:cNvPr>
          <p:cNvSpPr/>
          <p:nvPr/>
        </p:nvSpPr>
        <p:spPr>
          <a:xfrm>
            <a:off x="2621897" y="2590800"/>
            <a:ext cx="6369704" cy="533400"/>
          </a:xfrm>
          <a:custGeom>
            <a:avLst/>
            <a:gdLst/>
            <a:ahLst/>
            <a:cxnLst/>
            <a:rect l="l" t="t" r="r" b="b"/>
            <a:pathLst>
              <a:path w="7848600" h="533400">
                <a:moveTo>
                  <a:pt x="7848599" y="533399"/>
                </a:moveTo>
                <a:lnTo>
                  <a:pt x="0" y="533399"/>
                </a:lnTo>
                <a:lnTo>
                  <a:pt x="0" y="0"/>
                </a:lnTo>
                <a:lnTo>
                  <a:pt x="7848599" y="0"/>
                </a:lnTo>
                <a:lnTo>
                  <a:pt x="7848599" y="533399"/>
                </a:lnTo>
                <a:close/>
              </a:path>
            </a:pathLst>
          </a:custGeom>
          <a:solidFill>
            <a:srgbClr val="FF0000">
              <a:alpha val="34901"/>
            </a:srgbClr>
          </a:solidFill>
        </p:spPr>
        <p:txBody>
          <a:bodyPr wrap="square" lIns="0" tIns="0" rIns="0" bIns="0" rtlCol="0"/>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05491E-EF95-E4A9-B581-B659BD5669CE}"/>
              </a:ext>
            </a:extLst>
          </p:cNvPr>
          <p:cNvSpPr>
            <a:spLocks noGrp="1"/>
          </p:cNvSpPr>
          <p:nvPr>
            <p:ph type="title"/>
          </p:nvPr>
        </p:nvSpPr>
        <p:spPr/>
        <p:txBody>
          <a:bodyPr/>
          <a:lstStyle/>
          <a:p>
            <a:r>
              <a:rPr lang="fr-FR" spc="-10" dirty="0"/>
              <a:t>Hacker</a:t>
            </a:r>
            <a:endParaRPr lang="en-GB" dirty="0"/>
          </a:p>
        </p:txBody>
      </p:sp>
      <p:sp>
        <p:nvSpPr>
          <p:cNvPr id="4" name="Espace réservé du numéro de diapositive 3">
            <a:extLst>
              <a:ext uri="{FF2B5EF4-FFF2-40B4-BE49-F238E27FC236}">
                <a16:creationId xmlns:a16="http://schemas.microsoft.com/office/drawing/2014/main" id="{A1A2642E-362E-63C8-1A22-3C275077A150}"/>
              </a:ext>
            </a:extLst>
          </p:cNvPr>
          <p:cNvSpPr>
            <a:spLocks noGrp="1"/>
          </p:cNvSpPr>
          <p:nvPr>
            <p:ph type="sldNum" sz="quarter" idx="7"/>
          </p:nvPr>
        </p:nvSpPr>
        <p:spPr/>
        <p:txBody>
          <a:bodyPr/>
          <a:lstStyle/>
          <a:p>
            <a:fld id="{B6F15528-21DE-4FAA-801E-634DDDAF4B2B}" type="slidenum">
              <a:rPr lang="en-GB" smtClean="0"/>
              <a:t>7</a:t>
            </a:fld>
            <a:endParaRPr lang="en-GB"/>
          </a:p>
        </p:txBody>
      </p:sp>
      <p:graphicFrame>
        <p:nvGraphicFramePr>
          <p:cNvPr id="5" name="Tableau 4">
            <a:extLst>
              <a:ext uri="{FF2B5EF4-FFF2-40B4-BE49-F238E27FC236}">
                <a16:creationId xmlns:a16="http://schemas.microsoft.com/office/drawing/2014/main" id="{448E5AA0-4A9F-1445-C72E-71688BA9B4D1}"/>
              </a:ext>
            </a:extLst>
          </p:cNvPr>
          <p:cNvGraphicFramePr>
            <a:graphicFrameLocks noGrp="1"/>
          </p:cNvGraphicFramePr>
          <p:nvPr>
            <p:extLst>
              <p:ext uri="{D42A27DB-BD31-4B8C-83A1-F6EECF244321}">
                <p14:modId xmlns:p14="http://schemas.microsoft.com/office/powerpoint/2010/main" val="3835240148"/>
              </p:ext>
            </p:extLst>
          </p:nvPr>
        </p:nvGraphicFramePr>
        <p:xfrm>
          <a:off x="1600200" y="2819400"/>
          <a:ext cx="8397111" cy="3972272"/>
        </p:xfrm>
        <a:graphic>
          <a:graphicData uri="http://schemas.openxmlformats.org/drawingml/2006/table">
            <a:tbl>
              <a:tblPr firstRow="1" bandRow="1">
                <a:tableStyleId>{BC89EF96-8CEA-46FF-86C4-4CE0E7609802}</a:tableStyleId>
              </a:tblPr>
              <a:tblGrid>
                <a:gridCol w="2799037">
                  <a:extLst>
                    <a:ext uri="{9D8B030D-6E8A-4147-A177-3AD203B41FA5}">
                      <a16:colId xmlns:a16="http://schemas.microsoft.com/office/drawing/2014/main" val="3112153022"/>
                    </a:ext>
                  </a:extLst>
                </a:gridCol>
                <a:gridCol w="2799037">
                  <a:extLst>
                    <a:ext uri="{9D8B030D-6E8A-4147-A177-3AD203B41FA5}">
                      <a16:colId xmlns:a16="http://schemas.microsoft.com/office/drawing/2014/main" val="2853986882"/>
                    </a:ext>
                  </a:extLst>
                </a:gridCol>
                <a:gridCol w="2799037">
                  <a:extLst>
                    <a:ext uri="{9D8B030D-6E8A-4147-A177-3AD203B41FA5}">
                      <a16:colId xmlns:a16="http://schemas.microsoft.com/office/drawing/2014/main" val="4208020599"/>
                    </a:ext>
                  </a:extLst>
                </a:gridCol>
              </a:tblGrid>
              <a:tr h="423006">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fr-FR" sz="1800" b="1" spc="-5" dirty="0">
                          <a:solidFill>
                            <a:srgbClr val="0070C0"/>
                          </a:solidFill>
                        </a:rPr>
                        <a:t>White</a:t>
                      </a:r>
                      <a:r>
                        <a:rPr lang="fr-FR" sz="1800" b="1" spc="-30" dirty="0">
                          <a:solidFill>
                            <a:srgbClr val="0070C0"/>
                          </a:solidFill>
                        </a:rPr>
                        <a:t> </a:t>
                      </a:r>
                      <a:r>
                        <a:rPr lang="fr-FR" sz="1800" b="1" spc="-10" dirty="0">
                          <a:solidFill>
                            <a:srgbClr val="0070C0"/>
                          </a:solidFill>
                        </a:rPr>
                        <a:t>Hat</a:t>
                      </a:r>
                      <a:r>
                        <a:rPr lang="fr-FR" sz="1800" b="1" spc="-35" dirty="0">
                          <a:solidFill>
                            <a:srgbClr val="0070C0"/>
                          </a:solidFill>
                        </a:rPr>
                        <a:t> </a:t>
                      </a:r>
                      <a:r>
                        <a:rPr lang="fr-FR" sz="1800" b="1" spc="-5" dirty="0">
                          <a:solidFill>
                            <a:srgbClr val="0070C0"/>
                          </a:solidFill>
                        </a:rPr>
                        <a:t>Hacker</a:t>
                      </a:r>
                      <a:endParaRPr lang="fr-FR" sz="1800" dirty="0">
                        <a:solidFill>
                          <a:srgbClr val="0070C0"/>
                        </a:solidFill>
                        <a:latin typeface="Arial" panose="020B0604020202020204" pitchFamily="34" charset="0"/>
                        <a:cs typeface="Arial" panose="020B0604020202020204" pitchFamily="34" charset="0"/>
                      </a:endParaRPr>
                    </a:p>
                  </a:txBody>
                  <a:tcPr marL="83127" marR="83127"/>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fr-FR" sz="1800" b="1" spc="-10" dirty="0">
                          <a:solidFill>
                            <a:srgbClr val="0070C0"/>
                          </a:solidFill>
                        </a:rPr>
                        <a:t>Black Hat Hacker</a:t>
                      </a:r>
                      <a:endParaRPr lang="fr-FR" sz="1800" b="1" spc="-10" dirty="0">
                        <a:solidFill>
                          <a:srgbClr val="0070C0"/>
                        </a:solidFill>
                        <a:latin typeface="Arial" panose="020B0604020202020204" pitchFamily="34" charset="0"/>
                        <a:cs typeface="Arial" panose="020B0604020202020204" pitchFamily="34" charset="0"/>
                      </a:endParaRPr>
                    </a:p>
                  </a:txBody>
                  <a:tcPr marL="83127" marR="83127"/>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fr-FR" sz="1800" b="1" spc="-10" dirty="0">
                          <a:solidFill>
                            <a:srgbClr val="0070C0"/>
                          </a:solidFill>
                        </a:rPr>
                        <a:t>Gray Hat Hackers</a:t>
                      </a:r>
                      <a:endParaRPr lang="fr-FR" sz="1800" b="1" spc="-10" dirty="0">
                        <a:solidFill>
                          <a:srgbClr val="0070C0"/>
                        </a:solidFill>
                        <a:latin typeface="Arial" panose="020B0604020202020204" pitchFamily="34" charset="0"/>
                        <a:cs typeface="Arial" panose="020B0604020202020204" pitchFamily="34" charset="0"/>
                      </a:endParaRPr>
                    </a:p>
                  </a:txBody>
                  <a:tcPr marL="83127" marR="83127"/>
                </a:tc>
                <a:extLst>
                  <a:ext uri="{0D108BD9-81ED-4DB2-BD59-A6C34878D82A}">
                    <a16:rowId xmlns:a16="http://schemas.microsoft.com/office/drawing/2014/main" val="1765613866"/>
                  </a:ext>
                </a:extLst>
              </a:tr>
              <a:tr h="3549266">
                <a:tc>
                  <a:txBody>
                    <a:bodyPr/>
                    <a:lstStyle/>
                    <a:p>
                      <a:pPr marL="12700" marR="7620" algn="just">
                        <a:lnSpc>
                          <a:spcPct val="90900"/>
                        </a:lnSpc>
                        <a:spcBef>
                          <a:spcPts val="985"/>
                        </a:spcBef>
                      </a:pPr>
                      <a:r>
                        <a:rPr lang="fr-FR" dirty="0"/>
                        <a:t>Individu disposant de compétences avancées en sécurité informatique, qui réalise des tests ou évaluations de systèmes </a:t>
                      </a:r>
                      <a:r>
                        <a:rPr lang="fr-FR" b="1" dirty="0"/>
                        <a:t>avec l’autorisation</a:t>
                      </a:r>
                      <a:r>
                        <a:rPr lang="fr-FR" dirty="0"/>
                        <a:t> du propriétaire, afin d’identifier et corriger des vulnérabilités.</a:t>
                      </a:r>
                      <a:endParaRPr lang="fr-FR" sz="1800" dirty="0"/>
                    </a:p>
                    <a:p>
                      <a:endParaRPr lang="en-GB" dirty="0"/>
                    </a:p>
                  </a:txBody>
                  <a:tcPr marL="83127" marR="83127"/>
                </a:tc>
                <a:tc>
                  <a:txBody>
                    <a:bodyPr/>
                    <a:lstStyle/>
                    <a:p>
                      <a:pPr marL="12700" marR="6985" algn="just">
                        <a:lnSpc>
                          <a:spcPct val="90700"/>
                        </a:lnSpc>
                        <a:spcBef>
                          <a:spcPts val="960"/>
                        </a:spcBef>
                      </a:pPr>
                      <a:r>
                        <a:rPr lang="fr-FR" dirty="0"/>
                        <a:t>Individu qui exploite ses connaissances techniques pour </a:t>
                      </a:r>
                      <a:r>
                        <a:rPr lang="fr-FR" b="1" dirty="0"/>
                        <a:t>pénétrer sans autorisation</a:t>
                      </a:r>
                      <a:r>
                        <a:rPr lang="fr-FR" dirty="0"/>
                        <a:t> des systèmes d’information, avec pour objectif le vol, la perturbation ou la destruction de données ou de services</a:t>
                      </a:r>
                      <a:r>
                        <a:rPr lang="fr-FR" sz="1800" dirty="0"/>
                        <a:t>.</a:t>
                      </a:r>
                    </a:p>
                    <a:p>
                      <a:endParaRPr lang="en-GB" dirty="0"/>
                    </a:p>
                  </a:txBody>
                  <a:tcPr marL="83127" marR="83127"/>
                </a:tc>
                <a:tc>
                  <a:txBody>
                    <a:bodyPr/>
                    <a:lstStyle/>
                    <a:p>
                      <a:pPr marL="12700" marR="5080" algn="just">
                        <a:lnSpc>
                          <a:spcPct val="90700"/>
                        </a:lnSpc>
                        <a:spcBef>
                          <a:spcPts val="1015"/>
                        </a:spcBef>
                      </a:pPr>
                      <a:r>
                        <a:rPr lang="fr-FR" dirty="0"/>
                        <a:t>Individu qui explore et exploite des vulnérabilités </a:t>
                      </a:r>
                      <a:r>
                        <a:rPr lang="fr-FR" b="1" dirty="0"/>
                        <a:t>sans autorisation préalable</a:t>
                      </a:r>
                      <a:r>
                        <a:rPr lang="fr-FR" dirty="0"/>
                        <a:t>, mais sans intention explicite de nuire. Ses actions restent en dehors du cadre légal et éthique, car elles violent les politiques d’accès, même si l’objectif peut être de signaler des failles</a:t>
                      </a:r>
                      <a:r>
                        <a:rPr lang="fr-FR" sz="1800" spc="-5" dirty="0"/>
                        <a:t>.</a:t>
                      </a:r>
                    </a:p>
                    <a:p>
                      <a:endParaRPr lang="en-GB" dirty="0"/>
                    </a:p>
                  </a:txBody>
                  <a:tcPr marL="83127" marR="83127"/>
                </a:tc>
                <a:extLst>
                  <a:ext uri="{0D108BD9-81ED-4DB2-BD59-A6C34878D82A}">
                    <a16:rowId xmlns:a16="http://schemas.microsoft.com/office/drawing/2014/main" val="2121176083"/>
                  </a:ext>
                </a:extLst>
              </a:tr>
            </a:tbl>
          </a:graphicData>
        </a:graphic>
      </p:graphicFrame>
      <p:pic>
        <p:nvPicPr>
          <p:cNvPr id="7" name="Image 6">
            <a:extLst>
              <a:ext uri="{FF2B5EF4-FFF2-40B4-BE49-F238E27FC236}">
                <a16:creationId xmlns:a16="http://schemas.microsoft.com/office/drawing/2014/main" id="{B7AFF0A6-8550-E5B3-EFF0-B70DE945D3D4}"/>
              </a:ext>
            </a:extLst>
          </p:cNvPr>
          <p:cNvPicPr>
            <a:picLocks noChangeAspect="1"/>
          </p:cNvPicPr>
          <p:nvPr/>
        </p:nvPicPr>
        <p:blipFill>
          <a:blip r:embed="rId2"/>
          <a:stretch>
            <a:fillRect/>
          </a:stretch>
        </p:blipFill>
        <p:spPr>
          <a:xfrm>
            <a:off x="1600200" y="2880360"/>
            <a:ext cx="2739729" cy="3901440"/>
          </a:xfrm>
          <a:prstGeom prst="rect">
            <a:avLst/>
          </a:prstGeom>
        </p:spPr>
      </p:pic>
      <p:pic>
        <p:nvPicPr>
          <p:cNvPr id="9" name="Image 8">
            <a:extLst>
              <a:ext uri="{FF2B5EF4-FFF2-40B4-BE49-F238E27FC236}">
                <a16:creationId xmlns:a16="http://schemas.microsoft.com/office/drawing/2014/main" id="{C32D1D46-D1AF-0E41-1DD9-B9BE5148EB09}"/>
              </a:ext>
            </a:extLst>
          </p:cNvPr>
          <p:cNvPicPr>
            <a:picLocks noChangeAspect="1"/>
          </p:cNvPicPr>
          <p:nvPr/>
        </p:nvPicPr>
        <p:blipFill>
          <a:blip r:embed="rId3"/>
          <a:stretch>
            <a:fillRect/>
          </a:stretch>
        </p:blipFill>
        <p:spPr>
          <a:xfrm>
            <a:off x="4366823" y="2871394"/>
            <a:ext cx="2933205" cy="3901439"/>
          </a:xfrm>
          <a:prstGeom prst="rect">
            <a:avLst/>
          </a:prstGeom>
        </p:spPr>
      </p:pic>
      <p:pic>
        <p:nvPicPr>
          <p:cNvPr id="11" name="Image 10">
            <a:extLst>
              <a:ext uri="{FF2B5EF4-FFF2-40B4-BE49-F238E27FC236}">
                <a16:creationId xmlns:a16="http://schemas.microsoft.com/office/drawing/2014/main" id="{32A89BDA-C7D4-F197-6122-E6AAFC1D15C7}"/>
              </a:ext>
            </a:extLst>
          </p:cNvPr>
          <p:cNvPicPr>
            <a:picLocks noChangeAspect="1"/>
          </p:cNvPicPr>
          <p:nvPr/>
        </p:nvPicPr>
        <p:blipFill>
          <a:blip r:embed="rId4"/>
          <a:stretch>
            <a:fillRect/>
          </a:stretch>
        </p:blipFill>
        <p:spPr>
          <a:xfrm>
            <a:off x="7182068" y="2837328"/>
            <a:ext cx="2815244" cy="3883511"/>
          </a:xfrm>
          <a:prstGeom prst="rect">
            <a:avLst/>
          </a:prstGeom>
        </p:spPr>
      </p:pic>
      <p:sp>
        <p:nvSpPr>
          <p:cNvPr id="13" name="ZoneTexte 12">
            <a:extLst>
              <a:ext uri="{FF2B5EF4-FFF2-40B4-BE49-F238E27FC236}">
                <a16:creationId xmlns:a16="http://schemas.microsoft.com/office/drawing/2014/main" id="{BF4ADD4C-3F07-092A-F2B0-B80B99E70D36}"/>
              </a:ext>
            </a:extLst>
          </p:cNvPr>
          <p:cNvSpPr txBox="1"/>
          <p:nvPr/>
        </p:nvSpPr>
        <p:spPr>
          <a:xfrm>
            <a:off x="380938" y="1436638"/>
            <a:ext cx="11430061" cy="1200329"/>
          </a:xfrm>
          <a:prstGeom prst="rect">
            <a:avLst/>
          </a:prstGeom>
          <a:noFill/>
        </p:spPr>
        <p:txBody>
          <a:bodyPr wrap="square">
            <a:spAutoFit/>
          </a:bodyPr>
          <a:lstStyle/>
          <a:p>
            <a:r>
              <a:rPr lang="fr-FR" sz="1800" dirty="0"/>
              <a:t>Un hacker est une personne possédant une expertise en informatique qui cherche à exploiter des systèmes pour obtenir un accès non autorisé, perturber des services ou altérer des données. Selon le </a:t>
            </a:r>
            <a:r>
              <a:rPr lang="fr-FR" sz="1800" b="1" dirty="0"/>
              <a:t>National Institute of Standards and </a:t>
            </a:r>
            <a:r>
              <a:rPr lang="fr-FR" sz="1800" b="1" dirty="0" err="1"/>
              <a:t>Technology</a:t>
            </a:r>
            <a:r>
              <a:rPr lang="fr-FR" sz="1800" b="1" dirty="0"/>
              <a:t> (NIST)</a:t>
            </a:r>
            <a:r>
              <a:rPr lang="fr-FR" sz="1800" dirty="0"/>
              <a:t>, il s’agit d’un individu qui utilise ses compétences techniques pour pénétrer ou manipuler des systèmes d’information sans autorisation [NIST SP 800-12 Rev.1]</a:t>
            </a:r>
            <a:endParaRPr lang="en-GB" dirty="0"/>
          </a:p>
        </p:txBody>
      </p:sp>
    </p:spTree>
    <p:extLst>
      <p:ext uri="{BB962C8B-B14F-4D97-AF65-F5344CB8AC3E}">
        <p14:creationId xmlns:p14="http://schemas.microsoft.com/office/powerpoint/2010/main" val="232356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7"/>
                                        </p:tgtEl>
                                        <p:attrNameLst>
                                          <p:attrName>ppt_x</p:attrName>
                                        </p:attrNameLst>
                                      </p:cBhvr>
                                      <p:tavLst>
                                        <p:tav tm="0">
                                          <p:val>
                                            <p:strVal val="ppt_x"/>
                                          </p:val>
                                        </p:tav>
                                        <p:tav tm="100000">
                                          <p:val>
                                            <p:strVal val="ppt_x"/>
                                          </p:val>
                                        </p:tav>
                                      </p:tavLst>
                                    </p:anim>
                                    <p:anim calcmode="lin" valueType="num">
                                      <p:cBhvr additive="base">
                                        <p:cTn id="7" dur="500"/>
                                        <p:tgtEl>
                                          <p:spTgt spid="7"/>
                                        </p:tgtEl>
                                        <p:attrNameLst>
                                          <p:attrName>ppt_y</p:attrName>
                                        </p:attrNameLst>
                                      </p:cBhvr>
                                      <p:tavLst>
                                        <p:tav tm="0">
                                          <p:val>
                                            <p:strVal val="ppt_y"/>
                                          </p:val>
                                        </p:tav>
                                        <p:tav tm="100000">
                                          <p:val>
                                            <p:strVal val="1+ppt_h/2"/>
                                          </p:val>
                                        </p:tav>
                                      </p:tavLst>
                                    </p:anim>
                                    <p:set>
                                      <p:cBhvr>
                                        <p:cTn id="8" dur="1" fill="hold">
                                          <p:stCondLst>
                                            <p:cond delay="499"/>
                                          </p:stCondLst>
                                        </p:cTn>
                                        <p:tgtEl>
                                          <p:spTgt spid="7"/>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9"/>
                                        </p:tgtEl>
                                        <p:attrNameLst>
                                          <p:attrName>ppt_x</p:attrName>
                                        </p:attrNameLst>
                                      </p:cBhvr>
                                      <p:tavLst>
                                        <p:tav tm="0">
                                          <p:val>
                                            <p:strVal val="ppt_x"/>
                                          </p:val>
                                        </p:tav>
                                        <p:tav tm="100000">
                                          <p:val>
                                            <p:strVal val="ppt_x"/>
                                          </p:val>
                                        </p:tav>
                                      </p:tavLst>
                                    </p:anim>
                                    <p:anim calcmode="lin" valueType="num">
                                      <p:cBhvr additive="base">
                                        <p:cTn id="13" dur="500"/>
                                        <p:tgtEl>
                                          <p:spTgt spid="9"/>
                                        </p:tgtEl>
                                        <p:attrNameLst>
                                          <p:attrName>ppt_y</p:attrName>
                                        </p:attrNameLst>
                                      </p:cBhvr>
                                      <p:tavLst>
                                        <p:tav tm="0">
                                          <p:val>
                                            <p:strVal val="ppt_y"/>
                                          </p:val>
                                        </p:tav>
                                        <p:tav tm="100000">
                                          <p:val>
                                            <p:strVal val="1+ppt_h/2"/>
                                          </p:val>
                                        </p:tav>
                                      </p:tavLst>
                                    </p:anim>
                                    <p:set>
                                      <p:cBhvr>
                                        <p:cTn id="14" dur="1" fill="hold">
                                          <p:stCondLst>
                                            <p:cond delay="499"/>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nodeType="clickEffect">
                                  <p:stCondLst>
                                    <p:cond delay="0"/>
                                  </p:stCondLst>
                                  <p:childTnLst>
                                    <p:anim calcmode="lin" valueType="num">
                                      <p:cBhvr additive="base">
                                        <p:cTn id="18" dur="500"/>
                                        <p:tgtEl>
                                          <p:spTgt spid="11"/>
                                        </p:tgtEl>
                                        <p:attrNameLst>
                                          <p:attrName>ppt_x</p:attrName>
                                        </p:attrNameLst>
                                      </p:cBhvr>
                                      <p:tavLst>
                                        <p:tav tm="0">
                                          <p:val>
                                            <p:strVal val="ppt_x"/>
                                          </p:val>
                                        </p:tav>
                                        <p:tav tm="100000">
                                          <p:val>
                                            <p:strVal val="ppt_x"/>
                                          </p:val>
                                        </p:tav>
                                      </p:tavLst>
                                    </p:anim>
                                    <p:anim calcmode="lin" valueType="num">
                                      <p:cBhvr additive="base">
                                        <p:cTn id="19" dur="500"/>
                                        <p:tgtEl>
                                          <p:spTgt spid="11"/>
                                        </p:tgtEl>
                                        <p:attrNameLst>
                                          <p:attrName>ppt_y</p:attrName>
                                        </p:attrNameLst>
                                      </p:cBhvr>
                                      <p:tavLst>
                                        <p:tav tm="0">
                                          <p:val>
                                            <p:strVal val="ppt_y"/>
                                          </p:val>
                                        </p:tav>
                                        <p:tav tm="100000">
                                          <p:val>
                                            <p:strVal val="1+ppt_h/2"/>
                                          </p:val>
                                        </p:tav>
                                      </p:tavLst>
                                    </p:anim>
                                    <p:set>
                                      <p:cBhvr>
                                        <p:cTn id="20"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5671" y="685776"/>
            <a:ext cx="8470165" cy="689932"/>
          </a:xfrm>
          <a:prstGeom prst="rect">
            <a:avLst/>
          </a:prstGeom>
        </p:spPr>
        <p:txBody>
          <a:bodyPr vert="horz" wrap="square" lIns="0" tIns="12700" rIns="0" bIns="0" rtlCol="0">
            <a:spAutoFit/>
          </a:bodyPr>
          <a:lstStyle/>
          <a:p>
            <a:pPr marL="12700">
              <a:lnSpc>
                <a:spcPct val="100000"/>
              </a:lnSpc>
              <a:spcBef>
                <a:spcPts val="100"/>
              </a:spcBef>
            </a:pPr>
            <a:r>
              <a:rPr lang="fr-FR" spc="-10"/>
              <a:t>Autres types de hackers</a:t>
            </a:r>
            <a:endParaRPr lang="fr-FR" spc="-5" dirty="0"/>
          </a:p>
        </p:txBody>
      </p:sp>
      <p:graphicFrame>
        <p:nvGraphicFramePr>
          <p:cNvPr id="6" name="Diagramme 5">
            <a:extLst>
              <a:ext uri="{FF2B5EF4-FFF2-40B4-BE49-F238E27FC236}">
                <a16:creationId xmlns:a16="http://schemas.microsoft.com/office/drawing/2014/main" id="{C69A2142-968F-71EE-B6CA-C9F9636096E3}"/>
              </a:ext>
            </a:extLst>
          </p:cNvPr>
          <p:cNvGraphicFramePr/>
          <p:nvPr>
            <p:extLst>
              <p:ext uri="{D42A27DB-BD31-4B8C-83A1-F6EECF244321}">
                <p14:modId xmlns:p14="http://schemas.microsoft.com/office/powerpoint/2010/main" val="3127309778"/>
              </p:ext>
            </p:extLst>
          </p:nvPr>
        </p:nvGraphicFramePr>
        <p:xfrm>
          <a:off x="454026" y="1143000"/>
          <a:ext cx="11433174" cy="52420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space réservé du numéro de diapositive 4">
            <a:extLst>
              <a:ext uri="{FF2B5EF4-FFF2-40B4-BE49-F238E27FC236}">
                <a16:creationId xmlns:a16="http://schemas.microsoft.com/office/drawing/2014/main" id="{60AA8465-0C0E-9506-3032-88214FDE3188}"/>
              </a:ext>
            </a:extLst>
          </p:cNvPr>
          <p:cNvSpPr>
            <a:spLocks noGrp="1"/>
          </p:cNvSpPr>
          <p:nvPr>
            <p:ph type="sldNum" sz="quarter" idx="7"/>
          </p:nvPr>
        </p:nvSpPr>
        <p:spPr/>
        <p:txBody>
          <a:bodyPr/>
          <a:lstStyle/>
          <a:p>
            <a:fld id="{B6F15528-21DE-4FAA-801E-634DDDAF4B2B}"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7664" y="639172"/>
            <a:ext cx="1230630" cy="695960"/>
          </a:xfrm>
          <a:prstGeom prst="rect">
            <a:avLst/>
          </a:prstGeom>
        </p:spPr>
        <p:txBody>
          <a:bodyPr vert="horz" wrap="square" lIns="0" tIns="12700" rIns="0" bIns="0" rtlCol="0">
            <a:spAutoFit/>
          </a:bodyPr>
          <a:lstStyle/>
          <a:p>
            <a:pPr marL="12700">
              <a:lnSpc>
                <a:spcPct val="100000"/>
              </a:lnSpc>
              <a:spcBef>
                <a:spcPts val="100"/>
              </a:spcBef>
            </a:pPr>
            <a:r>
              <a:rPr b="0" spc="-10" dirty="0">
                <a:latin typeface="Calibri"/>
                <a:cs typeface="Calibri"/>
              </a:rPr>
              <a:t>PLAN</a:t>
            </a:r>
          </a:p>
        </p:txBody>
      </p:sp>
      <p:sp>
        <p:nvSpPr>
          <p:cNvPr id="3" name="object 3"/>
          <p:cNvSpPr txBox="1"/>
          <p:nvPr/>
        </p:nvSpPr>
        <p:spPr>
          <a:xfrm>
            <a:off x="2621897" y="1892363"/>
            <a:ext cx="7436503" cy="5883662"/>
          </a:xfrm>
          <a:prstGeom prst="rect">
            <a:avLst/>
          </a:prstGeom>
        </p:spPr>
        <p:txBody>
          <a:bodyPr vert="horz" wrap="square" lIns="0" tIns="12700" rIns="0" bIns="0" rtlCol="0">
            <a:spAutoFit/>
          </a:bodyPr>
          <a:lstStyle/>
          <a:p>
            <a:pPr marL="187960" indent="-175895">
              <a:lnSpc>
                <a:spcPct val="100000"/>
              </a:lnSpc>
              <a:spcBef>
                <a:spcPts val="100"/>
              </a:spcBef>
              <a:buFont typeface="Arial MT"/>
              <a:buChar char="•"/>
              <a:tabLst>
                <a:tab pos="188595" algn="l"/>
              </a:tabLst>
            </a:pPr>
            <a:r>
              <a:rPr sz="2800" spc="-5" dirty="0">
                <a:latin typeface="Arial" panose="020B0604020202020204" pitchFamily="34" charset="0"/>
                <a:cs typeface="Arial" panose="020B0604020202020204" pitchFamily="34" charset="0"/>
              </a:rPr>
              <a:t>Evolution</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des</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menaces</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la</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sécurité</a:t>
            </a:r>
            <a:endParaRPr sz="2800" dirty="0">
              <a:latin typeface="Arial" panose="020B0604020202020204" pitchFamily="34" charset="0"/>
              <a:cs typeface="Arial" panose="020B0604020202020204" pitchFamily="34" charset="0"/>
            </a:endParaRPr>
          </a:p>
          <a:p>
            <a:pPr marL="187960" indent="-175895">
              <a:lnSpc>
                <a:spcPct val="100000"/>
              </a:lnSpc>
              <a:spcBef>
                <a:spcPts val="2665"/>
              </a:spcBef>
              <a:buFont typeface="Arial MT"/>
              <a:buChar char="•"/>
              <a:tabLst>
                <a:tab pos="188595" algn="l"/>
              </a:tabLst>
            </a:pPr>
            <a:r>
              <a:rPr sz="2800" spc="-5" dirty="0">
                <a:latin typeface="Arial" panose="020B0604020202020204" pitchFamily="34" charset="0"/>
                <a:cs typeface="Arial" panose="020B0604020202020204" pitchFamily="34" charset="0"/>
              </a:rPr>
              <a:t>Les</a:t>
            </a:r>
            <a:r>
              <a:rPr sz="2800" spc="-35" dirty="0">
                <a:latin typeface="Arial" panose="020B0604020202020204" pitchFamily="34" charset="0"/>
                <a:cs typeface="Arial" panose="020B0604020202020204" pitchFamily="34" charset="0"/>
              </a:rPr>
              <a:t> </a:t>
            </a:r>
            <a:r>
              <a:rPr sz="2800" dirty="0" err="1">
                <a:latin typeface="Arial" panose="020B0604020202020204" pitchFamily="34" charset="0"/>
                <a:cs typeface="Arial" panose="020B0604020202020204" pitchFamily="34" charset="0"/>
              </a:rPr>
              <a:t>attaquants</a:t>
            </a:r>
            <a:r>
              <a:rPr sz="2800" spc="-30" dirty="0">
                <a:latin typeface="Arial" panose="020B0604020202020204" pitchFamily="34" charset="0"/>
                <a:cs typeface="Arial" panose="020B0604020202020204" pitchFamily="34" charset="0"/>
              </a:rPr>
              <a:t> </a:t>
            </a:r>
            <a:r>
              <a:rPr sz="2800" spc="-5" dirty="0" err="1">
                <a:latin typeface="Arial" panose="020B0604020202020204" pitchFamily="34" charset="0"/>
                <a:cs typeface="Arial" panose="020B0604020202020204" pitchFamily="34" charset="0"/>
              </a:rPr>
              <a:t>réseau</a:t>
            </a:r>
            <a:r>
              <a:rPr lang="fr-FR" sz="2800" spc="-5" dirty="0">
                <a:latin typeface="Arial" panose="020B0604020202020204" pitchFamily="34" charset="0"/>
                <a:cs typeface="Arial" panose="020B0604020202020204" pitchFamily="34" charset="0"/>
              </a:rPr>
              <a:t>x</a:t>
            </a:r>
          </a:p>
          <a:p>
            <a:pPr marL="187960" indent="-175895">
              <a:spcBef>
                <a:spcPts val="2665"/>
              </a:spcBef>
              <a:buFont typeface="Arial MT"/>
              <a:buChar char="•"/>
              <a:tabLst>
                <a:tab pos="188595" algn="l"/>
              </a:tabLst>
            </a:pPr>
            <a:r>
              <a:rPr lang="en-US" sz="2800" dirty="0">
                <a:latin typeface="Arial" panose="020B0604020202020204" pitchFamily="34" charset="0"/>
                <a:cs typeface="Arial" panose="020B0604020202020204" pitchFamily="34" charset="0"/>
              </a:rPr>
              <a:t>Types des </a:t>
            </a:r>
            <a:r>
              <a:rPr lang="en-US" sz="2800" dirty="0" err="1">
                <a:latin typeface="Arial" panose="020B0604020202020204" pitchFamily="34" charset="0"/>
                <a:cs typeface="Arial" panose="020B0604020202020204" pitchFamily="34" charset="0"/>
              </a:rPr>
              <a:t>attaques</a:t>
            </a:r>
            <a:r>
              <a:rPr lang="en-US" sz="2800" dirty="0">
                <a:latin typeface="Arial" panose="020B0604020202020204" pitchFamily="34" charset="0"/>
                <a:cs typeface="Arial" panose="020B0604020202020204" pitchFamily="34" charset="0"/>
              </a:rPr>
              <a:t> </a:t>
            </a:r>
            <a:r>
              <a:rPr lang="en-US" sz="2800" dirty="0" err="1">
                <a:latin typeface="Arial" panose="020B0604020202020204" pitchFamily="34" charset="0"/>
                <a:cs typeface="Arial" panose="020B0604020202020204" pitchFamily="34" charset="0"/>
              </a:rPr>
              <a:t>réseaux</a:t>
            </a:r>
            <a:endParaRPr lang="en-US" sz="2800" dirty="0">
              <a:latin typeface="Arial" panose="020B0604020202020204" pitchFamily="34" charset="0"/>
              <a:cs typeface="Arial" panose="020B0604020202020204" pitchFamily="34" charset="0"/>
            </a:endParaRPr>
          </a:p>
          <a:p>
            <a:pPr marL="187960" indent="-175895">
              <a:lnSpc>
                <a:spcPct val="100000"/>
              </a:lnSpc>
              <a:spcBef>
                <a:spcPts val="2665"/>
              </a:spcBef>
              <a:buFont typeface="Arial MT"/>
              <a:buChar char="•"/>
              <a:tabLst>
                <a:tab pos="188595" algn="l"/>
              </a:tabLst>
            </a:pPr>
            <a:r>
              <a:rPr lang="fr-FR" sz="2800" dirty="0">
                <a:latin typeface="Arial" panose="020B0604020202020204" pitchFamily="34" charset="0"/>
                <a:cs typeface="Arial" panose="020B0604020202020204" pitchFamily="34" charset="0"/>
              </a:rPr>
              <a:t>Atténuation des attaques</a:t>
            </a:r>
          </a:p>
          <a:p>
            <a:pPr marL="187960" indent="-175895">
              <a:lnSpc>
                <a:spcPct val="100000"/>
              </a:lnSpc>
              <a:spcBef>
                <a:spcPts val="2665"/>
              </a:spcBef>
              <a:buFont typeface="Arial MT"/>
              <a:buChar char="•"/>
              <a:tabLst>
                <a:tab pos="188595" algn="l"/>
              </a:tabLst>
            </a:pPr>
            <a:r>
              <a:rPr lang="fr-FR" sz="2800" dirty="0">
                <a:latin typeface="Arial" panose="020B0604020202020204" pitchFamily="34" charset="0"/>
                <a:cs typeface="Arial" panose="020B0604020202020204" pitchFamily="34" charset="0"/>
              </a:rPr>
              <a:t>Les 10 bonnes pratiques</a:t>
            </a:r>
          </a:p>
          <a:p>
            <a:pPr marL="187960" indent="-175895">
              <a:spcBef>
                <a:spcPts val="2665"/>
              </a:spcBef>
              <a:buFont typeface="Arial MT"/>
              <a:buChar char="•"/>
              <a:tabLst>
                <a:tab pos="188595" algn="l"/>
              </a:tabLst>
            </a:pPr>
            <a:endParaRPr lang="en-US" sz="2800" dirty="0">
              <a:latin typeface="Calibri"/>
              <a:cs typeface="Calibri"/>
            </a:endParaRPr>
          </a:p>
          <a:p>
            <a:pPr marL="187960" indent="-175895">
              <a:lnSpc>
                <a:spcPct val="100000"/>
              </a:lnSpc>
              <a:spcBef>
                <a:spcPts val="2665"/>
              </a:spcBef>
              <a:buFont typeface="Arial MT"/>
              <a:buChar char="•"/>
              <a:tabLst>
                <a:tab pos="188595" algn="l"/>
              </a:tabLst>
            </a:pPr>
            <a:endParaRPr lang="fr-FR" sz="2800" spc="-5" dirty="0">
              <a:latin typeface="Calibri"/>
              <a:cs typeface="Calibri"/>
            </a:endParaRPr>
          </a:p>
          <a:p>
            <a:pPr marL="187960" indent="-175895">
              <a:lnSpc>
                <a:spcPct val="100000"/>
              </a:lnSpc>
              <a:spcBef>
                <a:spcPts val="2665"/>
              </a:spcBef>
              <a:buFont typeface="Arial MT"/>
              <a:buChar char="•"/>
              <a:tabLst>
                <a:tab pos="188595" algn="l"/>
              </a:tabLst>
            </a:pPr>
            <a:endParaRPr sz="2800" dirty="0">
              <a:latin typeface="Calibri"/>
              <a:cs typeface="Calibri"/>
            </a:endParaRPr>
          </a:p>
        </p:txBody>
      </p:sp>
      <p:sp>
        <p:nvSpPr>
          <p:cNvPr id="6" name="Espace réservé du numéro de diapositive 5">
            <a:extLst>
              <a:ext uri="{FF2B5EF4-FFF2-40B4-BE49-F238E27FC236}">
                <a16:creationId xmlns:a16="http://schemas.microsoft.com/office/drawing/2014/main" id="{E82F91EA-76FA-790C-D612-2F394AFC1B33}"/>
              </a:ext>
            </a:extLst>
          </p:cNvPr>
          <p:cNvSpPr>
            <a:spLocks noGrp="1"/>
          </p:cNvSpPr>
          <p:nvPr>
            <p:ph type="sldNum" sz="quarter" idx="7"/>
          </p:nvPr>
        </p:nvSpPr>
        <p:spPr/>
        <p:txBody>
          <a:bodyPr/>
          <a:lstStyle/>
          <a:p>
            <a:fld id="{B6F15528-21DE-4FAA-801E-634DDDAF4B2B}" type="slidenum">
              <a:rPr lang="en-US" smtClean="0"/>
              <a:t>9</a:t>
            </a:fld>
            <a:endParaRPr lang="en-US"/>
          </a:p>
        </p:txBody>
      </p:sp>
      <p:sp>
        <p:nvSpPr>
          <p:cNvPr id="5" name="object 3">
            <a:extLst>
              <a:ext uri="{FF2B5EF4-FFF2-40B4-BE49-F238E27FC236}">
                <a16:creationId xmlns:a16="http://schemas.microsoft.com/office/drawing/2014/main" id="{F0ADA944-4039-C1CC-CB41-B0C41E682508}"/>
              </a:ext>
            </a:extLst>
          </p:cNvPr>
          <p:cNvSpPr/>
          <p:nvPr/>
        </p:nvSpPr>
        <p:spPr>
          <a:xfrm>
            <a:off x="2621897" y="3429000"/>
            <a:ext cx="6369704" cy="533400"/>
          </a:xfrm>
          <a:custGeom>
            <a:avLst/>
            <a:gdLst/>
            <a:ahLst/>
            <a:cxnLst/>
            <a:rect l="l" t="t" r="r" b="b"/>
            <a:pathLst>
              <a:path w="7848600" h="533400">
                <a:moveTo>
                  <a:pt x="7848599" y="533399"/>
                </a:moveTo>
                <a:lnTo>
                  <a:pt x="0" y="533399"/>
                </a:lnTo>
                <a:lnTo>
                  <a:pt x="0" y="0"/>
                </a:lnTo>
                <a:lnTo>
                  <a:pt x="7848599" y="0"/>
                </a:lnTo>
                <a:lnTo>
                  <a:pt x="7848599" y="533399"/>
                </a:lnTo>
                <a:close/>
              </a:path>
            </a:pathLst>
          </a:custGeom>
          <a:solidFill>
            <a:srgbClr val="FF0000">
              <a:alpha val="34901"/>
            </a:srgbClr>
          </a:solidFill>
        </p:spPr>
        <p:txBody>
          <a:bodyPr wrap="square" lIns="0" tIns="0" rIns="0" bIns="0" rtlCol="0"/>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2138" y="562972"/>
            <a:ext cx="8347662" cy="689932"/>
          </a:xfrm>
          <a:prstGeom prst="rect">
            <a:avLst/>
          </a:prstGeom>
        </p:spPr>
        <p:txBody>
          <a:bodyPr vert="horz" wrap="square" lIns="0" tIns="12700" rIns="0" bIns="0" rtlCol="0">
            <a:spAutoFit/>
          </a:bodyPr>
          <a:lstStyle/>
          <a:p>
            <a:pPr marL="12700">
              <a:lnSpc>
                <a:spcPct val="100000"/>
              </a:lnSpc>
              <a:spcBef>
                <a:spcPts val="100"/>
              </a:spcBef>
            </a:pPr>
            <a:r>
              <a:rPr spc="-5" dirty="0"/>
              <a:t>Types</a:t>
            </a:r>
            <a:r>
              <a:rPr spc="-30" dirty="0"/>
              <a:t> </a:t>
            </a:r>
            <a:r>
              <a:rPr lang="fr-FR" spc="-10" dirty="0"/>
              <a:t>d’attaques </a:t>
            </a:r>
            <a:r>
              <a:rPr spc="-5" dirty="0"/>
              <a:t>réseau</a:t>
            </a:r>
            <a:r>
              <a:rPr lang="fr-FR" spc="-5" dirty="0"/>
              <a:t>x</a:t>
            </a:r>
            <a:endParaRPr spc="-5" dirty="0"/>
          </a:p>
        </p:txBody>
      </p:sp>
      <p:sp>
        <p:nvSpPr>
          <p:cNvPr id="3" name="object 3"/>
          <p:cNvSpPr txBox="1"/>
          <p:nvPr/>
        </p:nvSpPr>
        <p:spPr>
          <a:xfrm>
            <a:off x="779607" y="1547882"/>
            <a:ext cx="10600690" cy="5465855"/>
          </a:xfrm>
          <a:prstGeom prst="rect">
            <a:avLst/>
          </a:prstGeom>
        </p:spPr>
        <p:txBody>
          <a:bodyPr vert="horz" wrap="square" lIns="0" tIns="27940" rIns="0" bIns="0" rtlCol="0">
            <a:spAutoFit/>
          </a:bodyPr>
          <a:lstStyle/>
          <a:p>
            <a:pPr marL="241300" marR="9525" indent="-183515" algn="just">
              <a:lnSpc>
                <a:spcPts val="2850"/>
              </a:lnSpc>
              <a:spcBef>
                <a:spcPts val="220"/>
              </a:spcBef>
              <a:buFont typeface="Arial"/>
              <a:buChar char="•"/>
              <a:tabLst>
                <a:tab pos="241300" algn="l"/>
              </a:tabLst>
            </a:pPr>
            <a:r>
              <a:rPr sz="2400" b="1" u="sng" spc="-5" dirty="0">
                <a:solidFill>
                  <a:srgbClr val="0070C0"/>
                </a:solidFill>
                <a:latin typeface="Arial" panose="020B0604020202020204" pitchFamily="34" charset="0"/>
                <a:cs typeface="Arial" panose="020B0604020202020204" pitchFamily="34" charset="0"/>
              </a:rPr>
              <a:t>Attaques de reconnaissance</a:t>
            </a:r>
            <a:r>
              <a:rPr sz="2400" b="1" spc="-5" dirty="0">
                <a:solidFill>
                  <a:srgbClr val="0070C0"/>
                </a:solidFill>
                <a:latin typeface="Arial" panose="020B0604020202020204" pitchFamily="34" charset="0"/>
                <a:cs typeface="Arial" panose="020B0604020202020204" pitchFamily="34" charset="0"/>
              </a:rPr>
              <a:t> </a:t>
            </a:r>
            <a:r>
              <a:rPr lang="fr-FR" sz="2400" b="1" spc="-5" dirty="0">
                <a:solidFill>
                  <a:srgbClr val="0070C0"/>
                </a:solidFill>
                <a:latin typeface="Arial" panose="020B0604020202020204" pitchFamily="34" charset="0"/>
                <a:cs typeface="Arial" panose="020B0604020202020204" pitchFamily="34" charset="0"/>
              </a:rPr>
              <a:t>:</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Implique la découverte non </a:t>
            </a:r>
            <a:r>
              <a:rPr sz="2400" dirty="0">
                <a:latin typeface="Arial" panose="020B0604020202020204" pitchFamily="34" charset="0"/>
                <a:cs typeface="Arial" panose="020B0604020202020204" pitchFamily="34" charset="0"/>
              </a:rPr>
              <a:t>autorisée </a:t>
            </a:r>
            <a:r>
              <a:rPr sz="2400" spc="-5" dirty="0">
                <a:latin typeface="Arial" panose="020B0604020202020204" pitchFamily="34" charset="0"/>
                <a:cs typeface="Arial" panose="020B0604020202020204" pitchFamily="34" charset="0"/>
              </a:rPr>
              <a:t>de systèmes,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des</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services ou des vulnérabilités.</a:t>
            </a:r>
            <a:endParaRPr sz="2400" dirty="0">
              <a:latin typeface="Arial" panose="020B0604020202020204" pitchFamily="34" charset="0"/>
              <a:cs typeface="Arial" panose="020B0604020202020204" pitchFamily="34" charset="0"/>
            </a:endParaRPr>
          </a:p>
          <a:p>
            <a:pPr marL="241300" marR="5080" indent="-183515" algn="just">
              <a:lnSpc>
                <a:spcPct val="99800"/>
              </a:lnSpc>
              <a:spcBef>
                <a:spcPts val="885"/>
              </a:spcBef>
              <a:buFont typeface="Arial"/>
              <a:buChar char="•"/>
              <a:tabLst>
                <a:tab pos="241300" algn="l"/>
              </a:tabLst>
            </a:pPr>
            <a:r>
              <a:rPr sz="2400" b="1" u="sng" spc="-5" dirty="0">
                <a:solidFill>
                  <a:srgbClr val="0070C0"/>
                </a:solidFill>
                <a:latin typeface="Arial" panose="020B0604020202020204" pitchFamily="34" charset="0"/>
                <a:cs typeface="Arial" panose="020B0604020202020204" pitchFamily="34" charset="0"/>
              </a:rPr>
              <a:t>Attaques </a:t>
            </a:r>
            <a:r>
              <a:rPr sz="2400" b="1" u="sng" spc="-5" dirty="0" err="1">
                <a:solidFill>
                  <a:srgbClr val="0070C0"/>
                </a:solidFill>
                <a:latin typeface="Arial" panose="020B0604020202020204" pitchFamily="34" charset="0"/>
                <a:cs typeface="Arial" panose="020B0604020202020204" pitchFamily="34" charset="0"/>
              </a:rPr>
              <a:t>d’accès</a:t>
            </a:r>
            <a:r>
              <a:rPr sz="2400" b="1" spc="-5" dirty="0">
                <a:solidFill>
                  <a:srgbClr val="0070C0"/>
                </a:solidFill>
                <a:latin typeface="Arial" panose="020B0604020202020204" pitchFamily="34" charset="0"/>
                <a:cs typeface="Arial" panose="020B0604020202020204" pitchFamily="34" charset="0"/>
              </a:rPr>
              <a:t> </a:t>
            </a:r>
            <a:r>
              <a:rPr lang="fr-FR" sz="2400" b="1" spc="-5" dirty="0">
                <a:solidFill>
                  <a:srgbClr val="0070C0"/>
                </a:solidFill>
                <a:latin typeface="Arial" panose="020B0604020202020204" pitchFamily="34" charset="0"/>
                <a:cs typeface="Arial" panose="020B0604020202020204" pitchFamily="34" charset="0"/>
              </a:rPr>
              <a:t>: </a:t>
            </a:r>
            <a:r>
              <a:rPr sz="2400" spc="-5" dirty="0" err="1">
                <a:latin typeface="Arial" panose="020B0604020202020204" pitchFamily="34" charset="0"/>
                <a:cs typeface="Arial" panose="020B0604020202020204" pitchFamily="34" charset="0"/>
              </a:rPr>
              <a:t>Exploite</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les</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vulnérabilités</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connues</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dans</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les</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services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d’authentification, les services FTP et les services Web pour </a:t>
            </a:r>
            <a:r>
              <a:rPr sz="2400" dirty="0">
                <a:latin typeface="Arial" panose="020B0604020202020204" pitchFamily="34" charset="0"/>
                <a:cs typeface="Arial" panose="020B0604020202020204" pitchFamily="34" charset="0"/>
              </a:rPr>
              <a:t>accéder à </a:t>
            </a:r>
            <a:r>
              <a:rPr sz="2400" spc="-5" dirty="0">
                <a:latin typeface="Arial" panose="020B0604020202020204" pitchFamily="34" charset="0"/>
                <a:cs typeface="Arial" panose="020B0604020202020204" pitchFamily="34" charset="0"/>
              </a:rPr>
              <a:t>des comptes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Web,</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des</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bases de</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données confidentielles</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et d’autres</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informations</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sensibles.</a:t>
            </a:r>
            <a:endParaRPr sz="2400" dirty="0">
              <a:latin typeface="Arial" panose="020B0604020202020204" pitchFamily="34" charset="0"/>
              <a:cs typeface="Arial" panose="020B0604020202020204" pitchFamily="34" charset="0"/>
            </a:endParaRPr>
          </a:p>
          <a:p>
            <a:pPr marL="241300" marR="20320" indent="-183515" algn="just">
              <a:lnSpc>
                <a:spcPct val="100699"/>
              </a:lnSpc>
              <a:spcBef>
                <a:spcPts val="950"/>
              </a:spcBef>
              <a:buFont typeface="Arial"/>
              <a:buChar char="•"/>
              <a:tabLst>
                <a:tab pos="241300" algn="l"/>
              </a:tabLst>
            </a:pPr>
            <a:r>
              <a:rPr sz="2400" b="1" u="sng" spc="-5" dirty="0">
                <a:solidFill>
                  <a:srgbClr val="0070C0"/>
                </a:solidFill>
                <a:latin typeface="Arial" panose="020B0604020202020204" pitchFamily="34" charset="0"/>
                <a:cs typeface="Arial" panose="020B0604020202020204" pitchFamily="34" charset="0"/>
              </a:rPr>
              <a:t>Attaques par déni de service (DoS)</a:t>
            </a:r>
            <a:r>
              <a:rPr sz="2400" b="1" spc="-5" dirty="0">
                <a:solidFill>
                  <a:srgbClr val="0070C0"/>
                </a:solidFill>
                <a:latin typeface="Arial" panose="020B0604020202020204" pitchFamily="34" charset="0"/>
                <a:cs typeface="Arial" panose="020B0604020202020204" pitchFamily="34" charset="0"/>
              </a:rPr>
              <a:t> </a:t>
            </a:r>
            <a:r>
              <a:rPr lang="fr-FR" sz="2400" b="1" spc="-5" dirty="0">
                <a:solidFill>
                  <a:srgbClr val="0070C0"/>
                </a:solidFill>
                <a:latin typeface="Arial" panose="020B0604020202020204" pitchFamily="34" charset="0"/>
                <a:cs typeface="Arial" panose="020B0604020202020204" pitchFamily="34" charset="0"/>
              </a:rPr>
              <a:t>:</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Envoie un nombre extrêmement élevé de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demandes</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sur un </a:t>
            </a:r>
            <a:r>
              <a:rPr sz="2400" spc="-5" dirty="0" err="1">
                <a:latin typeface="Arial" panose="020B0604020202020204" pitchFamily="34" charset="0"/>
                <a:cs typeface="Arial" panose="020B0604020202020204" pitchFamily="34" charset="0"/>
              </a:rPr>
              <a:t>réseau</a:t>
            </a:r>
            <a:r>
              <a:rPr sz="2400" spc="-5" dirty="0">
                <a:latin typeface="Arial" panose="020B0604020202020204" pitchFamily="34" charset="0"/>
                <a:cs typeface="Arial" panose="020B0604020202020204" pitchFamily="34" charset="0"/>
              </a:rPr>
              <a:t>.</a:t>
            </a:r>
            <a:endParaRPr lang="fr-FR" sz="2400" spc="-5" dirty="0">
              <a:latin typeface="Arial" panose="020B0604020202020204" pitchFamily="34" charset="0"/>
              <a:cs typeface="Arial" panose="020B0604020202020204" pitchFamily="34" charset="0"/>
            </a:endParaRPr>
          </a:p>
          <a:p>
            <a:pPr marL="241300" marR="20320" indent="-183515" algn="just">
              <a:lnSpc>
                <a:spcPct val="100699"/>
              </a:lnSpc>
              <a:spcBef>
                <a:spcPts val="950"/>
              </a:spcBef>
              <a:buFont typeface="Arial"/>
              <a:buChar char="•"/>
              <a:tabLst>
                <a:tab pos="241300" algn="l"/>
              </a:tabLst>
            </a:pPr>
            <a:r>
              <a:rPr lang="fr-FR" sz="2400" b="1" u="sng" spc="-5" dirty="0">
                <a:solidFill>
                  <a:srgbClr val="0070C0"/>
                </a:solidFill>
                <a:latin typeface="Arial" panose="020B0604020202020204" pitchFamily="34" charset="0"/>
                <a:cs typeface="Arial" panose="020B0604020202020204" pitchFamily="34" charset="0"/>
              </a:rPr>
              <a:t>Attaques sur les systèmes d’exploitation (OS)</a:t>
            </a:r>
            <a:r>
              <a:rPr lang="fr-FR" sz="2400" b="1" spc="-5" dirty="0">
                <a:solidFill>
                  <a:srgbClr val="0070C0"/>
                </a:solidFill>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 Utilise </a:t>
            </a:r>
            <a:r>
              <a:rPr lang="fr-FR" sz="2400" spc="-5" dirty="0">
                <a:latin typeface="Arial" panose="020B0604020202020204" pitchFamily="34" charset="0"/>
                <a:cs typeface="Arial" panose="020B0604020202020204" pitchFamily="34" charset="0"/>
              </a:rPr>
              <a:t>un ensemble de techniques par les cybercriminels pour exploiter les vulnérabilités au sein d'un système d'exploitation. </a:t>
            </a:r>
          </a:p>
          <a:p>
            <a:pPr marL="400685" marR="20320" indent="-342900" algn="just">
              <a:lnSpc>
                <a:spcPct val="100699"/>
              </a:lnSpc>
              <a:spcBef>
                <a:spcPts val="950"/>
              </a:spcBef>
              <a:buFont typeface="Arial" panose="020B0604020202020204" pitchFamily="34" charset="0"/>
              <a:buChar char="•"/>
              <a:tabLst>
                <a:tab pos="241300" algn="l"/>
              </a:tabLst>
            </a:pPr>
            <a:endParaRPr lang="fr-FR" sz="2400" b="1" u="sng" spc="-5" dirty="0">
              <a:solidFill>
                <a:srgbClr val="0070C0"/>
              </a:solidFill>
              <a:latin typeface="Arial" panose="020B0604020202020204" pitchFamily="34" charset="0"/>
              <a:cs typeface="Arial" panose="020B0604020202020204" pitchFamily="34" charset="0"/>
            </a:endParaRPr>
          </a:p>
          <a:p>
            <a:pPr marL="241300" marR="20320" indent="-183515" algn="just">
              <a:lnSpc>
                <a:spcPct val="100699"/>
              </a:lnSpc>
              <a:spcBef>
                <a:spcPts val="950"/>
              </a:spcBef>
              <a:buFont typeface="Arial"/>
              <a:buChar char="•"/>
              <a:tabLst>
                <a:tab pos="241300" algn="l"/>
              </a:tabLst>
            </a:pPr>
            <a:endParaRPr sz="2400" dirty="0">
              <a:latin typeface="Arial" panose="020B060402020202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8CC6D183-8052-816D-F070-27080C24BC0A}"/>
              </a:ext>
            </a:extLst>
          </p:cNvPr>
          <p:cNvSpPr>
            <a:spLocks noGrp="1"/>
          </p:cNvSpPr>
          <p:nvPr>
            <p:ph type="sldNum" sz="quarter" idx="7"/>
          </p:nvPr>
        </p:nvSpPr>
        <p:spPr/>
        <p:txBody>
          <a:bodyPr/>
          <a:lstStyle/>
          <a:p>
            <a:fld id="{B6F15528-21DE-4FAA-801E-634DDDAF4B2B}"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7659" y="639172"/>
            <a:ext cx="7876540" cy="695960"/>
          </a:xfrm>
          <a:prstGeom prst="rect">
            <a:avLst/>
          </a:prstGeom>
        </p:spPr>
        <p:txBody>
          <a:bodyPr vert="horz" wrap="square" lIns="0" tIns="12700" rIns="0" bIns="0" rtlCol="0">
            <a:spAutoFit/>
          </a:bodyPr>
          <a:lstStyle/>
          <a:p>
            <a:pPr marL="12700">
              <a:lnSpc>
                <a:spcPct val="100000"/>
              </a:lnSpc>
              <a:spcBef>
                <a:spcPts val="100"/>
              </a:spcBef>
            </a:pPr>
            <a:r>
              <a:rPr spc="-5" dirty="0"/>
              <a:t>1.</a:t>
            </a:r>
            <a:r>
              <a:rPr spc="-30" dirty="0"/>
              <a:t> </a:t>
            </a:r>
            <a:r>
              <a:rPr spc="-10" dirty="0"/>
              <a:t>Les</a:t>
            </a:r>
            <a:r>
              <a:rPr spc="-30" dirty="0"/>
              <a:t> </a:t>
            </a:r>
            <a:r>
              <a:rPr spc="-10" dirty="0"/>
              <a:t>attaques</a:t>
            </a:r>
            <a:r>
              <a:rPr spc="-30" dirty="0"/>
              <a:t> </a:t>
            </a:r>
            <a:r>
              <a:rPr spc="-5" dirty="0"/>
              <a:t>de</a:t>
            </a:r>
            <a:r>
              <a:rPr spc="-30" dirty="0"/>
              <a:t> </a:t>
            </a:r>
            <a:r>
              <a:rPr spc="-5" dirty="0"/>
              <a:t>reconnaissance</a:t>
            </a:r>
          </a:p>
        </p:txBody>
      </p:sp>
      <p:sp>
        <p:nvSpPr>
          <p:cNvPr id="3" name="object 3"/>
          <p:cNvSpPr txBox="1"/>
          <p:nvPr/>
        </p:nvSpPr>
        <p:spPr>
          <a:xfrm>
            <a:off x="685800" y="1600200"/>
            <a:ext cx="10468610" cy="1488228"/>
          </a:xfrm>
          <a:prstGeom prst="rect">
            <a:avLst/>
          </a:prstGeom>
        </p:spPr>
        <p:txBody>
          <a:bodyPr vert="horz" wrap="square" lIns="0" tIns="10795" rIns="0" bIns="0" rtlCol="0">
            <a:spAutoFit/>
          </a:bodyPr>
          <a:lstStyle/>
          <a:p>
            <a:r>
              <a:rPr lang="fr-FR" sz="2400" dirty="0"/>
              <a:t>La reconnaissance consiste en une </a:t>
            </a:r>
            <a:r>
              <a:rPr lang="fr-FR" sz="2400" b="1" dirty="0"/>
              <a:t>collecte non autorisée d’informations</a:t>
            </a:r>
            <a:r>
              <a:rPr lang="fr-FR" sz="2400" dirty="0"/>
              <a:t> sur des systèmes, services ou vulnérabilités. Elle précède souvent une intrusion ou une attaque (ex. : accès illégal, déni de service).</a:t>
            </a:r>
          </a:p>
          <a:p>
            <a:endParaRPr lang="fr-FR" sz="2400" dirty="0"/>
          </a:p>
        </p:txBody>
      </p:sp>
      <p:sp>
        <p:nvSpPr>
          <p:cNvPr id="4" name="Espace réservé du numéro de diapositive 3">
            <a:extLst>
              <a:ext uri="{FF2B5EF4-FFF2-40B4-BE49-F238E27FC236}">
                <a16:creationId xmlns:a16="http://schemas.microsoft.com/office/drawing/2014/main" id="{07C995B3-BD60-CC69-68ED-F2A266F1A315}"/>
              </a:ext>
            </a:extLst>
          </p:cNvPr>
          <p:cNvSpPr>
            <a:spLocks noGrp="1"/>
          </p:cNvSpPr>
          <p:nvPr>
            <p:ph type="sldNum" sz="quarter" idx="7"/>
          </p:nvPr>
        </p:nvSpPr>
        <p:spPr/>
        <p:txBody>
          <a:bodyPr/>
          <a:lstStyle/>
          <a:p>
            <a:fld id="{B6F15528-21DE-4FAA-801E-634DDDAF4B2B}" type="slidenum">
              <a:rPr lang="en-US" smtClean="0"/>
              <a:t>11</a:t>
            </a:fld>
            <a:endParaRPr lang="en-US"/>
          </a:p>
        </p:txBody>
      </p:sp>
      <p:graphicFrame>
        <p:nvGraphicFramePr>
          <p:cNvPr id="7" name="Diagramme 6">
            <a:extLst>
              <a:ext uri="{FF2B5EF4-FFF2-40B4-BE49-F238E27FC236}">
                <a16:creationId xmlns:a16="http://schemas.microsoft.com/office/drawing/2014/main" id="{16C2AA08-CCC4-EE84-2790-7821F63B9916}"/>
              </a:ext>
            </a:extLst>
          </p:cNvPr>
          <p:cNvGraphicFramePr/>
          <p:nvPr>
            <p:extLst>
              <p:ext uri="{D42A27DB-BD31-4B8C-83A1-F6EECF244321}">
                <p14:modId xmlns:p14="http://schemas.microsoft.com/office/powerpoint/2010/main" val="707115067"/>
              </p:ext>
            </p:extLst>
          </p:nvPr>
        </p:nvGraphicFramePr>
        <p:xfrm>
          <a:off x="2438400" y="3088428"/>
          <a:ext cx="7924799" cy="36324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47324" y="507028"/>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1.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a:solidFill>
                  <a:srgbClr val="C00000"/>
                </a:solidFill>
                <a:latin typeface="Calibri"/>
                <a:cs typeface="Calibri"/>
              </a:rPr>
              <a:t>attaques</a:t>
            </a:r>
            <a:r>
              <a:rPr sz="3600" b="1" spc="-30" dirty="0">
                <a:solidFill>
                  <a:srgbClr val="C00000"/>
                </a:solidFill>
                <a:latin typeface="Calibri"/>
                <a:cs typeface="Calibri"/>
              </a:rPr>
              <a:t> </a:t>
            </a:r>
            <a:r>
              <a:rPr sz="3600" b="1" spc="-5" dirty="0">
                <a:solidFill>
                  <a:srgbClr val="C00000"/>
                </a:solidFill>
                <a:latin typeface="Calibri"/>
                <a:cs typeface="Calibri"/>
              </a:rPr>
              <a:t>de</a:t>
            </a:r>
            <a:r>
              <a:rPr sz="3600" b="1" spc="-35" dirty="0">
                <a:solidFill>
                  <a:srgbClr val="C00000"/>
                </a:solidFill>
                <a:latin typeface="Calibri"/>
                <a:cs typeface="Calibri"/>
              </a:rPr>
              <a:t> </a:t>
            </a:r>
            <a:r>
              <a:rPr sz="3600" b="1" spc="-5" dirty="0">
                <a:solidFill>
                  <a:srgbClr val="C00000"/>
                </a:solidFill>
                <a:latin typeface="Calibri"/>
                <a:cs typeface="Calibri"/>
              </a:rPr>
              <a:t>reconnaissance</a:t>
            </a:r>
            <a:endParaRPr sz="3600" b="1" dirty="0">
              <a:latin typeface="Calibri"/>
              <a:cs typeface="Calibri"/>
            </a:endParaRPr>
          </a:p>
        </p:txBody>
      </p:sp>
      <p:sp>
        <p:nvSpPr>
          <p:cNvPr id="3" name="object 3"/>
          <p:cNvSpPr txBox="1">
            <a:spLocks noGrp="1"/>
          </p:cNvSpPr>
          <p:nvPr>
            <p:ph type="title"/>
          </p:nvPr>
        </p:nvSpPr>
        <p:spPr>
          <a:xfrm>
            <a:off x="1347324" y="990600"/>
            <a:ext cx="6587490" cy="695960"/>
          </a:xfrm>
          <a:prstGeom prst="rect">
            <a:avLst/>
          </a:prstGeom>
        </p:spPr>
        <p:txBody>
          <a:bodyPr vert="horz" wrap="square" lIns="0" tIns="12700" rIns="0" bIns="0" rtlCol="0">
            <a:spAutoFit/>
          </a:bodyPr>
          <a:lstStyle/>
          <a:p>
            <a:pPr marL="12700">
              <a:lnSpc>
                <a:spcPct val="100000"/>
              </a:lnSpc>
              <a:spcBef>
                <a:spcPts val="100"/>
              </a:spcBef>
            </a:pPr>
            <a:r>
              <a:rPr b="0" spc="-10" dirty="0">
                <a:solidFill>
                  <a:srgbClr val="0070C0"/>
                </a:solidFill>
                <a:latin typeface="Calibri"/>
                <a:cs typeface="Calibri"/>
              </a:rPr>
              <a:t>Internet</a:t>
            </a:r>
            <a:r>
              <a:rPr b="0" spc="-50" dirty="0">
                <a:solidFill>
                  <a:srgbClr val="0070C0"/>
                </a:solidFill>
                <a:latin typeface="Calibri"/>
                <a:cs typeface="Calibri"/>
              </a:rPr>
              <a:t> </a:t>
            </a:r>
            <a:r>
              <a:rPr b="0" spc="-10" dirty="0">
                <a:solidFill>
                  <a:srgbClr val="0070C0"/>
                </a:solidFill>
                <a:latin typeface="Calibri"/>
                <a:cs typeface="Calibri"/>
              </a:rPr>
              <a:t>Information</a:t>
            </a:r>
            <a:r>
              <a:rPr b="0" spc="-45" dirty="0">
                <a:solidFill>
                  <a:srgbClr val="0070C0"/>
                </a:solidFill>
                <a:latin typeface="Calibri"/>
                <a:cs typeface="Calibri"/>
              </a:rPr>
              <a:t> </a:t>
            </a:r>
            <a:r>
              <a:rPr b="0" spc="-5" dirty="0">
                <a:solidFill>
                  <a:srgbClr val="0070C0"/>
                </a:solidFill>
                <a:latin typeface="Calibri"/>
                <a:cs typeface="Calibri"/>
              </a:rPr>
              <a:t>Queries</a:t>
            </a:r>
          </a:p>
        </p:txBody>
      </p:sp>
      <p:sp>
        <p:nvSpPr>
          <p:cNvPr id="4" name="object 4"/>
          <p:cNvSpPr txBox="1"/>
          <p:nvPr/>
        </p:nvSpPr>
        <p:spPr>
          <a:xfrm>
            <a:off x="381000" y="1802663"/>
            <a:ext cx="11379853" cy="1603003"/>
          </a:xfrm>
          <a:prstGeom prst="rect">
            <a:avLst/>
          </a:prstGeom>
        </p:spPr>
        <p:txBody>
          <a:bodyPr vert="horz" wrap="square" lIns="0" tIns="63500" rIns="0" bIns="0" rtlCol="0">
            <a:spAutoFit/>
          </a:bodyPr>
          <a:lstStyle/>
          <a:p>
            <a:pPr marL="285750" indent="-285750">
              <a:buFont typeface="Arial" panose="020B0604020202020204" pitchFamily="34" charset="0"/>
              <a:buChar char="•"/>
            </a:pPr>
            <a:r>
              <a:rPr lang="fr-FR" sz="2000" dirty="0"/>
              <a:t>Les requêtes DNS (via des outils comme whois ou </a:t>
            </a:r>
            <a:r>
              <a:rPr lang="fr-FR" sz="2000" dirty="0" err="1"/>
              <a:t>nslookup</a:t>
            </a:r>
            <a:r>
              <a:rPr lang="fr-FR" sz="2000" dirty="0"/>
              <a:t>) permettent d’obtenir des informations publiques mais sensibles sur un domaine, telles que :</a:t>
            </a:r>
          </a:p>
          <a:p>
            <a:pPr marL="742950" lvl="1" indent="-285750">
              <a:buFont typeface="Arial" panose="020B0604020202020204" pitchFamily="34" charset="0"/>
              <a:buChar char="•"/>
            </a:pPr>
            <a:r>
              <a:rPr lang="fr-FR" sz="2000" dirty="0"/>
              <a:t>L’identité du propriétaire du domaine</a:t>
            </a:r>
          </a:p>
          <a:p>
            <a:pPr marL="742950" lvl="1" indent="-285750">
              <a:buFont typeface="Arial" panose="020B0604020202020204" pitchFamily="34" charset="0"/>
              <a:buChar char="•"/>
            </a:pPr>
            <a:r>
              <a:rPr lang="fr-FR" sz="2000" dirty="0"/>
              <a:t>Les adresses IP associées à ce domaine</a:t>
            </a:r>
          </a:p>
          <a:p>
            <a:pPr marL="285750" indent="-285750">
              <a:buFont typeface="Arial" panose="020B0604020202020204" pitchFamily="34" charset="0"/>
              <a:buChar char="•"/>
            </a:pPr>
            <a:r>
              <a:rPr lang="fr-FR" sz="2000" dirty="0"/>
              <a:t>Ces informations sont souvent utilisées comme première étape d’une reconnaissance avant une attaque</a:t>
            </a:r>
          </a:p>
        </p:txBody>
      </p:sp>
      <p:pic>
        <p:nvPicPr>
          <p:cNvPr id="5" name="object 5"/>
          <p:cNvPicPr/>
          <p:nvPr/>
        </p:nvPicPr>
        <p:blipFill>
          <a:blip r:embed="rId2" cstate="print"/>
          <a:stretch>
            <a:fillRect/>
          </a:stretch>
        </p:blipFill>
        <p:spPr>
          <a:xfrm>
            <a:off x="2369128" y="3865452"/>
            <a:ext cx="7592289" cy="2729472"/>
          </a:xfrm>
          <a:prstGeom prst="rect">
            <a:avLst/>
          </a:prstGeom>
        </p:spPr>
      </p:pic>
      <p:sp>
        <p:nvSpPr>
          <p:cNvPr id="6" name="Espace réservé du numéro de diapositive 5">
            <a:extLst>
              <a:ext uri="{FF2B5EF4-FFF2-40B4-BE49-F238E27FC236}">
                <a16:creationId xmlns:a16="http://schemas.microsoft.com/office/drawing/2014/main" id="{E27FA208-0988-805D-7C69-1DA2853AEF76}"/>
              </a:ext>
            </a:extLst>
          </p:cNvPr>
          <p:cNvSpPr>
            <a:spLocks noGrp="1"/>
          </p:cNvSpPr>
          <p:nvPr>
            <p:ph type="sldNum" sz="quarter" idx="7"/>
          </p:nvPr>
        </p:nvSpPr>
        <p:spPr/>
        <p:txBody>
          <a:bodyPr/>
          <a:lstStyle/>
          <a:p>
            <a:fld id="{B6F15528-21DE-4FAA-801E-634DDDAF4B2B}"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58338" y="1056640"/>
            <a:ext cx="3150235" cy="695960"/>
          </a:xfrm>
          <a:prstGeom prst="rect">
            <a:avLst/>
          </a:prstGeom>
        </p:spPr>
        <p:txBody>
          <a:bodyPr vert="horz" wrap="square" lIns="0" tIns="12700" rIns="0" bIns="0" rtlCol="0">
            <a:spAutoFit/>
          </a:bodyPr>
          <a:lstStyle/>
          <a:p>
            <a:pPr marL="12700">
              <a:lnSpc>
                <a:spcPct val="100000"/>
              </a:lnSpc>
              <a:spcBef>
                <a:spcPts val="100"/>
              </a:spcBef>
            </a:pPr>
            <a:r>
              <a:rPr b="0" spc="-10" dirty="0">
                <a:solidFill>
                  <a:srgbClr val="0070C0"/>
                </a:solidFill>
              </a:rPr>
              <a:t>Packet Sniffer</a:t>
            </a:r>
          </a:p>
        </p:txBody>
      </p:sp>
      <p:sp>
        <p:nvSpPr>
          <p:cNvPr id="4" name="object 4"/>
          <p:cNvSpPr txBox="1"/>
          <p:nvPr/>
        </p:nvSpPr>
        <p:spPr>
          <a:xfrm>
            <a:off x="381000" y="1802663"/>
            <a:ext cx="11506200" cy="4523674"/>
          </a:xfrm>
          <a:prstGeom prst="rect">
            <a:avLst/>
          </a:prstGeom>
        </p:spPr>
        <p:txBody>
          <a:bodyPr vert="horz" wrap="square" lIns="0" tIns="63500" rIns="0" bIns="0" rtlCol="0">
            <a:spAutoFit/>
          </a:bodyPr>
          <a:lstStyle/>
          <a:p>
            <a:pPr marL="241300" marR="5080" indent="-175895" algn="just">
              <a:lnSpc>
                <a:spcPts val="3000"/>
              </a:lnSpc>
              <a:spcBef>
                <a:spcPts val="500"/>
              </a:spcBef>
              <a:buFont typeface="Arial MT"/>
              <a:buChar char="•"/>
              <a:tabLst>
                <a:tab pos="241300" algn="l"/>
              </a:tabLst>
            </a:pPr>
            <a:r>
              <a:rPr sz="2800" spc="-5" dirty="0">
                <a:latin typeface="Arial" panose="020B0604020202020204" pitchFamily="34" charset="0"/>
                <a:cs typeface="Arial" panose="020B0604020202020204" pitchFamily="34" charset="0"/>
              </a:rPr>
              <a:t>Un renifleur de paquets est une </a:t>
            </a:r>
            <a:r>
              <a:rPr sz="2800" dirty="0">
                <a:latin typeface="Arial" panose="020B0604020202020204" pitchFamily="34" charset="0"/>
                <a:cs typeface="Arial" panose="020B0604020202020204" pitchFamily="34" charset="0"/>
              </a:rPr>
              <a:t>application </a:t>
            </a:r>
            <a:r>
              <a:rPr sz="2800" spc="-5" dirty="0">
                <a:latin typeface="Arial" panose="020B0604020202020204" pitchFamily="34" charset="0"/>
                <a:cs typeface="Arial" panose="020B0604020202020204" pitchFamily="34" charset="0"/>
              </a:rPr>
              <a:t>logicielle qui utilise une </a:t>
            </a:r>
            <a:r>
              <a:rPr sz="2800" spc="-6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carte réseau pour capturer </a:t>
            </a:r>
            <a:r>
              <a:rPr sz="2800" spc="-10" dirty="0">
                <a:latin typeface="Arial" panose="020B0604020202020204" pitchFamily="34" charset="0"/>
                <a:cs typeface="Arial" panose="020B0604020202020204" pitchFamily="34" charset="0"/>
              </a:rPr>
              <a:t>tous </a:t>
            </a:r>
            <a:r>
              <a:rPr sz="2800" spc="-5" dirty="0">
                <a:latin typeface="Arial" panose="020B0604020202020204" pitchFamily="34" charset="0"/>
                <a:cs typeface="Arial" panose="020B0604020202020204" pitchFamily="34" charset="0"/>
              </a:rPr>
              <a:t>les paquets réseau envoyés sur un </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réseau</a:t>
            </a:r>
            <a:r>
              <a:rPr sz="2800" spc="-1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local.</a:t>
            </a:r>
            <a:endParaRPr sz="2800" dirty="0">
              <a:latin typeface="Arial" panose="020B0604020202020204" pitchFamily="34" charset="0"/>
              <a:cs typeface="Arial" panose="020B0604020202020204" pitchFamily="34" charset="0"/>
            </a:endParaRPr>
          </a:p>
          <a:p>
            <a:pPr>
              <a:lnSpc>
                <a:spcPct val="100000"/>
              </a:lnSpc>
              <a:spcBef>
                <a:spcPts val="55"/>
              </a:spcBef>
              <a:buFont typeface="Arial MT"/>
              <a:buChar char="•"/>
            </a:pPr>
            <a:endParaRPr sz="900" dirty="0">
              <a:latin typeface="Arial" panose="020B0604020202020204" pitchFamily="34" charset="0"/>
              <a:cs typeface="Arial" panose="020B0604020202020204" pitchFamily="34" charset="0"/>
            </a:endParaRPr>
          </a:p>
          <a:p>
            <a:pPr marL="12700" marR="3366135">
              <a:lnSpc>
                <a:spcPct val="124100"/>
              </a:lnSpc>
              <a:tabLst>
                <a:tab pos="241300" algn="l"/>
              </a:tabLst>
            </a:pPr>
            <a:r>
              <a:rPr sz="2800" b="1" u="sng" spc="-5" dirty="0" err="1">
                <a:solidFill>
                  <a:srgbClr val="00B050"/>
                </a:solidFill>
                <a:latin typeface="Arial" panose="020B0604020202020204" pitchFamily="34" charset="0"/>
                <a:cs typeface="Arial" panose="020B0604020202020204" pitchFamily="34" charset="0"/>
              </a:rPr>
              <a:t>Exemples</a:t>
            </a:r>
            <a:endParaRPr lang="fr-FR" sz="2800" spc="-5" dirty="0">
              <a:latin typeface="Arial" panose="020B0604020202020204" pitchFamily="34" charset="0"/>
              <a:cs typeface="Arial" panose="020B0604020202020204" pitchFamily="34" charset="0"/>
            </a:endParaRPr>
          </a:p>
          <a:p>
            <a:pPr marL="12700" marR="3366135">
              <a:lnSpc>
                <a:spcPct val="124100"/>
              </a:lnSpc>
              <a:tabLst>
                <a:tab pos="241300" algn="l"/>
              </a:tabLst>
            </a:pPr>
            <a:r>
              <a:rPr lang="fr-FR" sz="2800" spc="-5" dirty="0">
                <a:latin typeface="Arial" panose="020B0604020202020204" pitchFamily="34" charset="0"/>
                <a:cs typeface="Arial" panose="020B0604020202020204" pitchFamily="34" charset="0"/>
              </a:rPr>
              <a:t> -</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Solarwinds Deep Packet Inspection </a:t>
            </a:r>
            <a:r>
              <a:rPr sz="2800" dirty="0">
                <a:latin typeface="Arial" panose="020B0604020202020204" pitchFamily="34" charset="0"/>
                <a:cs typeface="Arial" panose="020B0604020202020204" pitchFamily="34" charset="0"/>
              </a:rPr>
              <a:t> and </a:t>
            </a:r>
            <a:r>
              <a:rPr sz="2800" spc="-5" dirty="0">
                <a:latin typeface="Arial" panose="020B0604020202020204" pitchFamily="34" charset="0"/>
                <a:cs typeface="Arial" panose="020B0604020202020204" pitchFamily="34" charset="0"/>
              </a:rPr>
              <a:t>Analysis</a:t>
            </a:r>
            <a:endParaRPr lang="fr-FR" sz="2800" spc="-5" dirty="0">
              <a:latin typeface="Arial" panose="020B0604020202020204" pitchFamily="34" charset="0"/>
              <a:cs typeface="Arial" panose="020B0604020202020204" pitchFamily="34" charset="0"/>
            </a:endParaRPr>
          </a:p>
          <a:p>
            <a:pPr marL="469900" marR="3366135" indent="-457200">
              <a:lnSpc>
                <a:spcPct val="124100"/>
              </a:lnSpc>
              <a:buFontTx/>
              <a:buChar char="-"/>
              <a:tabLst>
                <a:tab pos="241300" algn="l"/>
              </a:tabLst>
            </a:pPr>
            <a:r>
              <a:rPr sz="2800" spc="-5" dirty="0">
                <a:latin typeface="Arial" panose="020B0604020202020204" pitchFamily="34" charset="0"/>
                <a:cs typeface="Arial" panose="020B0604020202020204" pitchFamily="34" charset="0"/>
              </a:rPr>
              <a:t>ManageEngine NetFlow Analyzer </a:t>
            </a:r>
            <a:endParaRPr lang="fr-FR" sz="2800" spc="-5" dirty="0">
              <a:latin typeface="Arial" panose="020B0604020202020204" pitchFamily="34" charset="0"/>
              <a:cs typeface="Arial" panose="020B0604020202020204" pitchFamily="34" charset="0"/>
            </a:endParaRPr>
          </a:p>
          <a:p>
            <a:pPr marL="469900" marR="3366135" indent="-457200">
              <a:lnSpc>
                <a:spcPct val="124100"/>
              </a:lnSpc>
              <a:buFontTx/>
              <a:buChar char="-"/>
              <a:tabLst>
                <a:tab pos="241300" algn="l"/>
              </a:tabLst>
            </a:pPr>
            <a:r>
              <a:rPr sz="2800" spc="-5" dirty="0" err="1">
                <a:latin typeface="Arial" panose="020B0604020202020204" pitchFamily="34" charset="0"/>
                <a:cs typeface="Arial" panose="020B0604020202020204" pitchFamily="34" charset="0"/>
              </a:rPr>
              <a:t>Omnipeek</a:t>
            </a:r>
            <a:r>
              <a:rPr sz="2800" spc="-5" dirty="0">
                <a:latin typeface="Arial" panose="020B0604020202020204" pitchFamily="34" charset="0"/>
                <a:cs typeface="Arial" panose="020B0604020202020204" pitchFamily="34" charset="0"/>
              </a:rPr>
              <a:t> Network Protocol Analyzer</a:t>
            </a:r>
            <a:endParaRPr lang="fr-FR" sz="2800" spc="-5" dirty="0">
              <a:latin typeface="Arial" panose="020B0604020202020204" pitchFamily="34" charset="0"/>
              <a:cs typeface="Arial" panose="020B0604020202020204" pitchFamily="34" charset="0"/>
            </a:endParaRPr>
          </a:p>
          <a:p>
            <a:pPr marL="469900" marR="3366135" indent="-457200">
              <a:lnSpc>
                <a:spcPct val="124100"/>
              </a:lnSpc>
              <a:buFontTx/>
              <a:buChar char="-"/>
              <a:tabLst>
                <a:tab pos="241300" algn="l"/>
              </a:tabLst>
            </a:pPr>
            <a:r>
              <a:rPr sz="2800" spc="-5" dirty="0" err="1">
                <a:latin typeface="Arial" panose="020B0604020202020204" pitchFamily="34" charset="0"/>
                <a:cs typeface="Arial" panose="020B0604020202020204" pitchFamily="34" charset="0"/>
              </a:rPr>
              <a:t>tcpdump</a:t>
            </a:r>
            <a:r>
              <a:rPr sz="2800" spc="-5" dirty="0">
                <a:latin typeface="Arial" panose="020B0604020202020204" pitchFamily="34" charset="0"/>
                <a:cs typeface="Arial" panose="020B0604020202020204" pitchFamily="34" charset="0"/>
              </a:rPr>
              <a:t> </a:t>
            </a:r>
            <a:r>
              <a:rPr sz="2800" dirty="0">
                <a:latin typeface="Arial" panose="020B0604020202020204" pitchFamily="34" charset="0"/>
                <a:cs typeface="Arial" panose="020B0604020202020204" pitchFamily="34" charset="0"/>
              </a:rPr>
              <a:t>, </a:t>
            </a:r>
            <a:r>
              <a:rPr sz="2800" spc="-530" dirty="0">
                <a:latin typeface="Arial" panose="020B0604020202020204" pitchFamily="34" charset="0"/>
                <a:cs typeface="Arial" panose="020B0604020202020204" pitchFamily="34" charset="0"/>
              </a:rPr>
              <a:t> </a:t>
            </a:r>
            <a:r>
              <a:rPr sz="2800" spc="-5" dirty="0" err="1">
                <a:latin typeface="Arial" panose="020B0604020202020204" pitchFamily="34" charset="0"/>
                <a:cs typeface="Arial" panose="020B0604020202020204" pitchFamily="34" charset="0"/>
              </a:rPr>
              <a:t>Windump</a:t>
            </a:r>
            <a:r>
              <a:rPr lang="fr-FR" sz="2800" spc="-5" dirty="0">
                <a:latin typeface="Arial" panose="020B0604020202020204" pitchFamily="34" charset="0"/>
                <a:cs typeface="Arial" panose="020B0604020202020204" pitchFamily="34" charset="0"/>
              </a:rPr>
              <a:t> </a:t>
            </a:r>
          </a:p>
          <a:p>
            <a:pPr marL="469900" marR="3366135" indent="-457200">
              <a:lnSpc>
                <a:spcPct val="124100"/>
              </a:lnSpc>
              <a:buFontTx/>
              <a:buChar char="-"/>
              <a:tabLst>
                <a:tab pos="241300" algn="l"/>
              </a:tabLst>
            </a:pPr>
            <a:r>
              <a:rPr sz="2800" spc="-5" dirty="0" err="1">
                <a:latin typeface="Arial" panose="020B0604020202020204" pitchFamily="34" charset="0"/>
                <a:cs typeface="Arial" panose="020B0604020202020204" pitchFamily="34" charset="0"/>
              </a:rPr>
              <a:t>wireshark</a:t>
            </a:r>
            <a:r>
              <a:rPr sz="2800" spc="-5" dirty="0">
                <a:latin typeface="Arial" panose="020B0604020202020204" pitchFamily="34" charset="0"/>
                <a:cs typeface="Arial" panose="020B0604020202020204" pitchFamily="34" charset="0"/>
              </a:rPr>
              <a:t>….</a:t>
            </a:r>
            <a:endParaRPr sz="2400" dirty="0">
              <a:latin typeface="Arial" panose="020B0604020202020204" pitchFamily="34" charset="0"/>
              <a:cs typeface="Arial" panose="020B0604020202020204" pitchFamily="34" charset="0"/>
            </a:endParaRPr>
          </a:p>
        </p:txBody>
      </p:sp>
      <p:pic>
        <p:nvPicPr>
          <p:cNvPr id="5" name="object 5"/>
          <p:cNvPicPr/>
          <p:nvPr/>
        </p:nvPicPr>
        <p:blipFill>
          <a:blip r:embed="rId2" cstate="print"/>
          <a:stretch>
            <a:fillRect/>
          </a:stretch>
        </p:blipFill>
        <p:spPr>
          <a:xfrm>
            <a:off x="8618220" y="2895600"/>
            <a:ext cx="3124200" cy="3197792"/>
          </a:xfrm>
          <a:prstGeom prst="rect">
            <a:avLst/>
          </a:prstGeom>
        </p:spPr>
      </p:pic>
      <p:sp>
        <p:nvSpPr>
          <p:cNvPr id="6" name="Espace réservé du numéro de diapositive 5">
            <a:extLst>
              <a:ext uri="{FF2B5EF4-FFF2-40B4-BE49-F238E27FC236}">
                <a16:creationId xmlns:a16="http://schemas.microsoft.com/office/drawing/2014/main" id="{80BB096C-D395-CDCC-91AB-B14C9A8D3D11}"/>
              </a:ext>
            </a:extLst>
          </p:cNvPr>
          <p:cNvSpPr>
            <a:spLocks noGrp="1"/>
          </p:cNvSpPr>
          <p:nvPr>
            <p:ph type="sldNum" sz="quarter" idx="7"/>
          </p:nvPr>
        </p:nvSpPr>
        <p:spPr/>
        <p:txBody>
          <a:bodyPr/>
          <a:lstStyle/>
          <a:p>
            <a:fld id="{B6F15528-21DE-4FAA-801E-634DDDAF4B2B}" type="slidenum">
              <a:rPr lang="en-US" smtClean="0"/>
              <a:t>13</a:t>
            </a:fld>
            <a:endParaRPr lang="en-US"/>
          </a:p>
        </p:txBody>
      </p:sp>
      <p:sp>
        <p:nvSpPr>
          <p:cNvPr id="7" name="object 2">
            <a:extLst>
              <a:ext uri="{FF2B5EF4-FFF2-40B4-BE49-F238E27FC236}">
                <a16:creationId xmlns:a16="http://schemas.microsoft.com/office/drawing/2014/main" id="{40B28803-D7CF-05EB-BB20-BB7B7E8C351A}"/>
              </a:ext>
            </a:extLst>
          </p:cNvPr>
          <p:cNvSpPr txBox="1"/>
          <p:nvPr/>
        </p:nvSpPr>
        <p:spPr>
          <a:xfrm>
            <a:off x="1347324" y="507028"/>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1.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a:solidFill>
                  <a:srgbClr val="C00000"/>
                </a:solidFill>
                <a:latin typeface="Calibri"/>
                <a:cs typeface="Calibri"/>
              </a:rPr>
              <a:t>attaques</a:t>
            </a:r>
            <a:r>
              <a:rPr sz="3600" b="1" spc="-30" dirty="0">
                <a:solidFill>
                  <a:srgbClr val="C00000"/>
                </a:solidFill>
                <a:latin typeface="Calibri"/>
                <a:cs typeface="Calibri"/>
              </a:rPr>
              <a:t> </a:t>
            </a:r>
            <a:r>
              <a:rPr sz="3600" b="1" spc="-5" dirty="0">
                <a:solidFill>
                  <a:srgbClr val="C00000"/>
                </a:solidFill>
                <a:latin typeface="Calibri"/>
                <a:cs typeface="Calibri"/>
              </a:rPr>
              <a:t>de</a:t>
            </a:r>
            <a:r>
              <a:rPr sz="3600" b="1" spc="-35" dirty="0">
                <a:solidFill>
                  <a:srgbClr val="C00000"/>
                </a:solidFill>
                <a:latin typeface="Calibri"/>
                <a:cs typeface="Calibri"/>
              </a:rPr>
              <a:t> </a:t>
            </a:r>
            <a:r>
              <a:rPr sz="3600" b="1" spc="-5" dirty="0">
                <a:solidFill>
                  <a:srgbClr val="C00000"/>
                </a:solidFill>
                <a:latin typeface="Calibri"/>
                <a:cs typeface="Calibri"/>
              </a:rPr>
              <a:t>reconnaissance</a:t>
            </a:r>
            <a:endParaRPr sz="3600" b="1" dirty="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59907" y="1005252"/>
            <a:ext cx="8357870" cy="574040"/>
          </a:xfrm>
          <a:prstGeom prst="rect">
            <a:avLst/>
          </a:prstGeom>
        </p:spPr>
        <p:txBody>
          <a:bodyPr vert="horz" wrap="square" lIns="0" tIns="12700" rIns="0" bIns="0" rtlCol="0">
            <a:spAutoFit/>
          </a:bodyPr>
          <a:lstStyle/>
          <a:p>
            <a:pPr marL="12700">
              <a:lnSpc>
                <a:spcPct val="100000"/>
              </a:lnSpc>
              <a:spcBef>
                <a:spcPts val="100"/>
              </a:spcBef>
            </a:pPr>
            <a:r>
              <a:rPr sz="3600" b="0" spc="-5" dirty="0">
                <a:solidFill>
                  <a:srgbClr val="0070C0"/>
                </a:solidFill>
                <a:latin typeface="Calibri"/>
                <a:cs typeface="Calibri"/>
              </a:rPr>
              <a:t>Network</a:t>
            </a:r>
            <a:r>
              <a:rPr sz="3600" b="0" spc="-15" dirty="0">
                <a:solidFill>
                  <a:srgbClr val="0070C0"/>
                </a:solidFill>
                <a:latin typeface="Calibri"/>
                <a:cs typeface="Calibri"/>
              </a:rPr>
              <a:t> </a:t>
            </a:r>
            <a:r>
              <a:rPr sz="3600" b="0" spc="-5" dirty="0">
                <a:solidFill>
                  <a:srgbClr val="0070C0"/>
                </a:solidFill>
                <a:latin typeface="Calibri"/>
                <a:cs typeface="Calibri"/>
              </a:rPr>
              <a:t>scan:</a:t>
            </a:r>
            <a:r>
              <a:rPr sz="3600" b="0" spc="-15" dirty="0">
                <a:solidFill>
                  <a:srgbClr val="0070C0"/>
                </a:solidFill>
                <a:latin typeface="Calibri"/>
                <a:cs typeface="Calibri"/>
              </a:rPr>
              <a:t> </a:t>
            </a:r>
            <a:r>
              <a:rPr sz="3600" b="0" spc="-5" dirty="0">
                <a:solidFill>
                  <a:srgbClr val="0070C0"/>
                </a:solidFill>
                <a:latin typeface="Calibri"/>
                <a:cs typeface="Calibri"/>
              </a:rPr>
              <a:t>Ping</a:t>
            </a:r>
            <a:r>
              <a:rPr sz="3600" b="0" spc="-15" dirty="0">
                <a:solidFill>
                  <a:srgbClr val="0070C0"/>
                </a:solidFill>
                <a:latin typeface="Calibri"/>
                <a:cs typeface="Calibri"/>
              </a:rPr>
              <a:t> </a:t>
            </a:r>
            <a:r>
              <a:rPr sz="3600" b="0" spc="-5" dirty="0">
                <a:solidFill>
                  <a:srgbClr val="0070C0"/>
                </a:solidFill>
                <a:latin typeface="Calibri"/>
                <a:cs typeface="Calibri"/>
              </a:rPr>
              <a:t>Sweeps</a:t>
            </a:r>
            <a:r>
              <a:rPr sz="3600" b="0" spc="-15" dirty="0">
                <a:solidFill>
                  <a:srgbClr val="0070C0"/>
                </a:solidFill>
                <a:latin typeface="Calibri"/>
                <a:cs typeface="Calibri"/>
              </a:rPr>
              <a:t> </a:t>
            </a:r>
            <a:r>
              <a:rPr sz="3600" b="0" spc="-5" dirty="0">
                <a:solidFill>
                  <a:srgbClr val="0070C0"/>
                </a:solidFill>
                <a:latin typeface="Calibri"/>
                <a:cs typeface="Calibri"/>
              </a:rPr>
              <a:t>et</a:t>
            </a:r>
            <a:r>
              <a:rPr sz="3600" b="0" spc="-15" dirty="0">
                <a:solidFill>
                  <a:srgbClr val="0070C0"/>
                </a:solidFill>
                <a:latin typeface="Calibri"/>
                <a:cs typeface="Calibri"/>
              </a:rPr>
              <a:t> </a:t>
            </a:r>
            <a:r>
              <a:rPr sz="3600" b="0" spc="-5" dirty="0">
                <a:solidFill>
                  <a:srgbClr val="0070C0"/>
                </a:solidFill>
                <a:latin typeface="Calibri"/>
                <a:cs typeface="Calibri"/>
              </a:rPr>
              <a:t>Port</a:t>
            </a:r>
            <a:r>
              <a:rPr sz="3600" b="0" spc="-10" dirty="0">
                <a:solidFill>
                  <a:srgbClr val="0070C0"/>
                </a:solidFill>
                <a:latin typeface="Calibri"/>
                <a:cs typeface="Calibri"/>
              </a:rPr>
              <a:t> </a:t>
            </a:r>
            <a:r>
              <a:rPr sz="3600" b="0" spc="-5" dirty="0">
                <a:solidFill>
                  <a:srgbClr val="0070C0"/>
                </a:solidFill>
                <a:latin typeface="Calibri"/>
                <a:cs typeface="Calibri"/>
              </a:rPr>
              <a:t>Scans</a:t>
            </a:r>
            <a:r>
              <a:rPr sz="3600" b="0" spc="-15" dirty="0">
                <a:solidFill>
                  <a:srgbClr val="0070C0"/>
                </a:solidFill>
                <a:latin typeface="Calibri"/>
                <a:cs typeface="Calibri"/>
              </a:rPr>
              <a:t> </a:t>
            </a:r>
            <a:r>
              <a:rPr sz="3600" b="0" spc="-5" dirty="0">
                <a:solidFill>
                  <a:srgbClr val="0070C0"/>
                </a:solidFill>
                <a:latin typeface="Calibri"/>
                <a:cs typeface="Calibri"/>
              </a:rPr>
              <a:t>1/2</a:t>
            </a:r>
            <a:endParaRPr sz="3600" dirty="0">
              <a:solidFill>
                <a:srgbClr val="0070C0"/>
              </a:solidFill>
              <a:latin typeface="Calibri"/>
              <a:cs typeface="Calibri"/>
            </a:endParaRPr>
          </a:p>
        </p:txBody>
      </p:sp>
      <p:sp>
        <p:nvSpPr>
          <p:cNvPr id="4" name="object 4"/>
          <p:cNvSpPr txBox="1"/>
          <p:nvPr/>
        </p:nvSpPr>
        <p:spPr>
          <a:xfrm>
            <a:off x="956915" y="1809572"/>
            <a:ext cx="5584825" cy="3639185"/>
          </a:xfrm>
          <a:prstGeom prst="rect">
            <a:avLst/>
          </a:prstGeom>
        </p:spPr>
        <p:txBody>
          <a:bodyPr vert="horz" wrap="square" lIns="0" tIns="50165" rIns="0" bIns="0" rtlCol="0">
            <a:spAutoFit/>
          </a:bodyPr>
          <a:lstStyle/>
          <a:p>
            <a:pPr marL="195580" marR="5080" indent="-183515" algn="just">
              <a:lnSpc>
                <a:spcPts val="2630"/>
              </a:lnSpc>
              <a:spcBef>
                <a:spcPts val="395"/>
              </a:spcBef>
              <a:buFont typeface="Arial MT"/>
              <a:buChar char="•"/>
              <a:tabLst>
                <a:tab pos="196215" algn="l"/>
              </a:tabLst>
            </a:pPr>
            <a:r>
              <a:rPr sz="2400" spc="-5" dirty="0">
                <a:latin typeface="Arial" panose="020B0604020202020204" pitchFamily="34" charset="0"/>
                <a:cs typeface="Arial" panose="020B0604020202020204" pitchFamily="34" charset="0"/>
              </a:rPr>
              <a:t>Un</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balayage</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de</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ping,</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ou</a:t>
            </a:r>
            <a:r>
              <a:rPr sz="2400" spc="53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balayage</a:t>
            </a:r>
            <a:r>
              <a:rPr sz="2400" spc="53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ICMP, </a:t>
            </a:r>
            <a:r>
              <a:rPr sz="2400" spc="-53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est</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utilisé</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pour</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déterminer</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quelle</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plage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d’adresses</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IP</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est</a:t>
            </a:r>
            <a:r>
              <a:rPr sz="2400" dirty="0">
                <a:latin typeface="Arial" panose="020B0604020202020204" pitchFamily="34" charset="0"/>
                <a:cs typeface="Arial" panose="020B0604020202020204" pitchFamily="34" charset="0"/>
              </a:rPr>
              <a:t> affectée</a:t>
            </a:r>
            <a:r>
              <a:rPr sz="2400" spc="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aux</a:t>
            </a:r>
            <a:r>
              <a:rPr sz="2400" spc="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hôtes</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en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temps</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réel.</a:t>
            </a:r>
            <a:endParaRPr sz="2400" dirty="0">
              <a:latin typeface="Arial" panose="020B0604020202020204" pitchFamily="34" charset="0"/>
              <a:cs typeface="Arial" panose="020B0604020202020204" pitchFamily="34" charset="0"/>
            </a:endParaRPr>
          </a:p>
          <a:p>
            <a:pPr>
              <a:lnSpc>
                <a:spcPct val="100000"/>
              </a:lnSpc>
              <a:buFont typeface="Arial MT"/>
              <a:buChar char="•"/>
            </a:pPr>
            <a:endParaRPr sz="2400" dirty="0">
              <a:latin typeface="Arial" panose="020B0604020202020204" pitchFamily="34" charset="0"/>
              <a:cs typeface="Arial" panose="020B0604020202020204" pitchFamily="34" charset="0"/>
            </a:endParaRPr>
          </a:p>
          <a:p>
            <a:pPr marL="195580" marR="8255" indent="-183515" algn="just">
              <a:lnSpc>
                <a:spcPct val="90900"/>
              </a:lnSpc>
              <a:spcBef>
                <a:spcPts val="1614"/>
              </a:spcBef>
              <a:buFont typeface="Arial MT"/>
              <a:buChar char="•"/>
              <a:tabLst>
                <a:tab pos="196215" algn="l"/>
              </a:tabLst>
            </a:pPr>
            <a:r>
              <a:rPr sz="2400" spc="-5" dirty="0">
                <a:latin typeface="Arial" panose="020B0604020202020204" pitchFamily="34" charset="0"/>
                <a:cs typeface="Arial" panose="020B0604020202020204" pitchFamily="34" charset="0"/>
              </a:rPr>
              <a:t>Une </a:t>
            </a:r>
            <a:r>
              <a:rPr sz="2400" dirty="0">
                <a:latin typeface="Arial" panose="020B0604020202020204" pitchFamily="34" charset="0"/>
                <a:cs typeface="Arial" panose="020B0604020202020204" pitchFamily="34" charset="0"/>
              </a:rPr>
              <a:t>analyse </a:t>
            </a:r>
            <a:r>
              <a:rPr sz="2400" spc="-5" dirty="0">
                <a:latin typeface="Arial" panose="020B0604020202020204" pitchFamily="34" charset="0"/>
                <a:cs typeface="Arial" panose="020B0604020202020204" pitchFamily="34" charset="0"/>
              </a:rPr>
              <a:t>de port consiste </a:t>
            </a:r>
            <a:r>
              <a:rPr sz="2400" dirty="0">
                <a:latin typeface="Arial" panose="020B0604020202020204" pitchFamily="34" charset="0"/>
                <a:cs typeface="Arial" panose="020B0604020202020204" pitchFamily="34" charset="0"/>
              </a:rPr>
              <a:t>à </a:t>
            </a:r>
            <a:r>
              <a:rPr sz="2400" spc="-5" dirty="0">
                <a:latin typeface="Arial" panose="020B0604020202020204" pitchFamily="34" charset="0"/>
                <a:cs typeface="Arial" panose="020B0604020202020204" pitchFamily="34" charset="0"/>
              </a:rPr>
              <a:t>envoyer un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message </a:t>
            </a:r>
            <a:r>
              <a:rPr sz="2400" dirty="0">
                <a:latin typeface="Arial" panose="020B0604020202020204" pitchFamily="34" charset="0"/>
                <a:cs typeface="Arial" panose="020B0604020202020204" pitchFamily="34" charset="0"/>
              </a:rPr>
              <a:t>à </a:t>
            </a:r>
            <a:r>
              <a:rPr sz="2400" spc="-5" dirty="0">
                <a:latin typeface="Arial" panose="020B0604020202020204" pitchFamily="34" charset="0"/>
                <a:cs typeface="Arial" panose="020B0604020202020204" pitchFamily="34" charset="0"/>
              </a:rPr>
              <a:t>chaque port, un port </a:t>
            </a:r>
            <a:r>
              <a:rPr sz="2400" dirty="0">
                <a:latin typeface="Arial" panose="020B0604020202020204" pitchFamily="34" charset="0"/>
                <a:cs typeface="Arial" panose="020B0604020202020204" pitchFamily="34" charset="0"/>
              </a:rPr>
              <a:t>à </a:t>
            </a:r>
            <a:r>
              <a:rPr sz="2400" spc="-5" dirty="0">
                <a:latin typeface="Arial" panose="020B0604020202020204" pitchFamily="34" charset="0"/>
                <a:cs typeface="Arial" panose="020B0604020202020204" pitchFamily="34" charset="0"/>
              </a:rPr>
              <a:t>la fois. La </a:t>
            </a:r>
            <a:r>
              <a:rPr sz="2400" spc="-53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réponse reçue indique si le port est utilisé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et peut; par conséquent, être sondé pour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une</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faiblesse.</a:t>
            </a:r>
            <a:endParaRPr sz="2400" dirty="0">
              <a:latin typeface="Arial" panose="020B0604020202020204" pitchFamily="34" charset="0"/>
              <a:cs typeface="Arial" panose="020B0604020202020204" pitchFamily="34" charset="0"/>
            </a:endParaRPr>
          </a:p>
        </p:txBody>
      </p:sp>
      <p:pic>
        <p:nvPicPr>
          <p:cNvPr id="5" name="object 5"/>
          <p:cNvPicPr/>
          <p:nvPr/>
        </p:nvPicPr>
        <p:blipFill>
          <a:blip r:embed="rId2" cstate="print"/>
          <a:stretch>
            <a:fillRect/>
          </a:stretch>
        </p:blipFill>
        <p:spPr>
          <a:xfrm>
            <a:off x="7329086" y="2276200"/>
            <a:ext cx="4177382" cy="3010515"/>
          </a:xfrm>
          <a:prstGeom prst="rect">
            <a:avLst/>
          </a:prstGeom>
        </p:spPr>
      </p:pic>
      <p:sp>
        <p:nvSpPr>
          <p:cNvPr id="6" name="Espace réservé du numéro de diapositive 5">
            <a:extLst>
              <a:ext uri="{FF2B5EF4-FFF2-40B4-BE49-F238E27FC236}">
                <a16:creationId xmlns:a16="http://schemas.microsoft.com/office/drawing/2014/main" id="{1990B543-3CE0-392E-E9E6-C86E3476E974}"/>
              </a:ext>
            </a:extLst>
          </p:cNvPr>
          <p:cNvSpPr>
            <a:spLocks noGrp="1"/>
          </p:cNvSpPr>
          <p:nvPr>
            <p:ph type="sldNum" sz="quarter" idx="7"/>
          </p:nvPr>
        </p:nvSpPr>
        <p:spPr/>
        <p:txBody>
          <a:bodyPr/>
          <a:lstStyle/>
          <a:p>
            <a:fld id="{B6F15528-21DE-4FAA-801E-634DDDAF4B2B}" type="slidenum">
              <a:rPr lang="en-US" smtClean="0"/>
              <a:t>14</a:t>
            </a:fld>
            <a:endParaRPr lang="en-US"/>
          </a:p>
        </p:txBody>
      </p:sp>
      <p:sp>
        <p:nvSpPr>
          <p:cNvPr id="7" name="object 2">
            <a:extLst>
              <a:ext uri="{FF2B5EF4-FFF2-40B4-BE49-F238E27FC236}">
                <a16:creationId xmlns:a16="http://schemas.microsoft.com/office/drawing/2014/main" id="{76008B77-5B2C-00EC-806F-C7DD211D719D}"/>
              </a:ext>
            </a:extLst>
          </p:cNvPr>
          <p:cNvSpPr txBox="1"/>
          <p:nvPr/>
        </p:nvSpPr>
        <p:spPr>
          <a:xfrm>
            <a:off x="1347324" y="507028"/>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1.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a:solidFill>
                  <a:srgbClr val="C00000"/>
                </a:solidFill>
                <a:latin typeface="Calibri"/>
                <a:cs typeface="Calibri"/>
              </a:rPr>
              <a:t>attaques</a:t>
            </a:r>
            <a:r>
              <a:rPr sz="3600" b="1" spc="-30" dirty="0">
                <a:solidFill>
                  <a:srgbClr val="C00000"/>
                </a:solidFill>
                <a:latin typeface="Calibri"/>
                <a:cs typeface="Calibri"/>
              </a:rPr>
              <a:t> </a:t>
            </a:r>
            <a:r>
              <a:rPr sz="3600" b="1" spc="-5" dirty="0">
                <a:solidFill>
                  <a:srgbClr val="C00000"/>
                </a:solidFill>
                <a:latin typeface="Calibri"/>
                <a:cs typeface="Calibri"/>
              </a:rPr>
              <a:t>de</a:t>
            </a:r>
            <a:r>
              <a:rPr sz="3600" b="1" spc="-35" dirty="0">
                <a:solidFill>
                  <a:srgbClr val="C00000"/>
                </a:solidFill>
                <a:latin typeface="Calibri"/>
                <a:cs typeface="Calibri"/>
              </a:rPr>
              <a:t> </a:t>
            </a:r>
            <a:r>
              <a:rPr sz="3600" b="1" spc="-5" dirty="0">
                <a:solidFill>
                  <a:srgbClr val="C00000"/>
                </a:solidFill>
                <a:latin typeface="Calibri"/>
                <a:cs typeface="Calibri"/>
              </a:rPr>
              <a:t>reconnaissance</a:t>
            </a:r>
            <a:endParaRPr sz="3600" b="1" dirty="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47324" y="990600"/>
            <a:ext cx="8357870" cy="574040"/>
          </a:xfrm>
          <a:prstGeom prst="rect">
            <a:avLst/>
          </a:prstGeom>
        </p:spPr>
        <p:txBody>
          <a:bodyPr vert="horz" wrap="square" lIns="0" tIns="12700" rIns="0" bIns="0" rtlCol="0">
            <a:spAutoFit/>
          </a:bodyPr>
          <a:lstStyle/>
          <a:p>
            <a:pPr marL="12700">
              <a:lnSpc>
                <a:spcPct val="100000"/>
              </a:lnSpc>
              <a:spcBef>
                <a:spcPts val="100"/>
              </a:spcBef>
            </a:pPr>
            <a:r>
              <a:rPr sz="3600" b="0" spc="-5" dirty="0">
                <a:solidFill>
                  <a:srgbClr val="0070C0"/>
                </a:solidFill>
                <a:latin typeface="Calibri"/>
                <a:cs typeface="Calibri"/>
              </a:rPr>
              <a:t>Network</a:t>
            </a:r>
            <a:r>
              <a:rPr sz="3600" b="0" spc="-15" dirty="0">
                <a:solidFill>
                  <a:srgbClr val="0070C0"/>
                </a:solidFill>
                <a:latin typeface="Calibri"/>
                <a:cs typeface="Calibri"/>
              </a:rPr>
              <a:t> </a:t>
            </a:r>
            <a:r>
              <a:rPr sz="3600" b="0" spc="-5" dirty="0">
                <a:solidFill>
                  <a:srgbClr val="0070C0"/>
                </a:solidFill>
                <a:latin typeface="Calibri"/>
                <a:cs typeface="Calibri"/>
              </a:rPr>
              <a:t>scan:</a:t>
            </a:r>
            <a:r>
              <a:rPr sz="3600" b="0" spc="-15" dirty="0">
                <a:solidFill>
                  <a:srgbClr val="0070C0"/>
                </a:solidFill>
                <a:latin typeface="Calibri"/>
                <a:cs typeface="Calibri"/>
              </a:rPr>
              <a:t> </a:t>
            </a:r>
            <a:r>
              <a:rPr sz="3600" b="0" spc="-5" dirty="0">
                <a:solidFill>
                  <a:srgbClr val="0070C0"/>
                </a:solidFill>
                <a:latin typeface="Calibri"/>
                <a:cs typeface="Calibri"/>
              </a:rPr>
              <a:t>Ping</a:t>
            </a:r>
            <a:r>
              <a:rPr sz="3600" b="0" spc="-15" dirty="0">
                <a:solidFill>
                  <a:srgbClr val="0070C0"/>
                </a:solidFill>
                <a:latin typeface="Calibri"/>
                <a:cs typeface="Calibri"/>
              </a:rPr>
              <a:t> </a:t>
            </a:r>
            <a:r>
              <a:rPr sz="3600" b="0" spc="-5" dirty="0">
                <a:solidFill>
                  <a:srgbClr val="0070C0"/>
                </a:solidFill>
                <a:latin typeface="Calibri"/>
                <a:cs typeface="Calibri"/>
              </a:rPr>
              <a:t>Sweeps</a:t>
            </a:r>
            <a:r>
              <a:rPr sz="3600" b="0" spc="-15" dirty="0">
                <a:solidFill>
                  <a:srgbClr val="0070C0"/>
                </a:solidFill>
                <a:latin typeface="Calibri"/>
                <a:cs typeface="Calibri"/>
              </a:rPr>
              <a:t> </a:t>
            </a:r>
            <a:r>
              <a:rPr sz="3600" b="0" spc="-5" dirty="0">
                <a:solidFill>
                  <a:srgbClr val="0070C0"/>
                </a:solidFill>
                <a:latin typeface="Calibri"/>
                <a:cs typeface="Calibri"/>
              </a:rPr>
              <a:t>et</a:t>
            </a:r>
            <a:r>
              <a:rPr sz="3600" b="0" spc="-15" dirty="0">
                <a:solidFill>
                  <a:srgbClr val="0070C0"/>
                </a:solidFill>
                <a:latin typeface="Calibri"/>
                <a:cs typeface="Calibri"/>
              </a:rPr>
              <a:t> </a:t>
            </a:r>
            <a:r>
              <a:rPr sz="3600" b="0" spc="-5" dirty="0">
                <a:solidFill>
                  <a:srgbClr val="0070C0"/>
                </a:solidFill>
                <a:latin typeface="Calibri"/>
                <a:cs typeface="Calibri"/>
              </a:rPr>
              <a:t>Port</a:t>
            </a:r>
            <a:r>
              <a:rPr sz="3600" b="0" spc="-10" dirty="0">
                <a:solidFill>
                  <a:srgbClr val="0070C0"/>
                </a:solidFill>
                <a:latin typeface="Calibri"/>
                <a:cs typeface="Calibri"/>
              </a:rPr>
              <a:t> </a:t>
            </a:r>
            <a:r>
              <a:rPr sz="3600" b="0" spc="-5" dirty="0">
                <a:solidFill>
                  <a:srgbClr val="0070C0"/>
                </a:solidFill>
                <a:latin typeface="Calibri"/>
                <a:cs typeface="Calibri"/>
              </a:rPr>
              <a:t>Scans</a:t>
            </a:r>
            <a:r>
              <a:rPr sz="3600" b="0" spc="-15" dirty="0">
                <a:solidFill>
                  <a:srgbClr val="0070C0"/>
                </a:solidFill>
                <a:latin typeface="Calibri"/>
                <a:cs typeface="Calibri"/>
              </a:rPr>
              <a:t> </a:t>
            </a:r>
            <a:r>
              <a:rPr sz="3600" b="0" spc="-5" dirty="0">
                <a:solidFill>
                  <a:srgbClr val="0070C0"/>
                </a:solidFill>
                <a:latin typeface="Calibri"/>
                <a:cs typeface="Calibri"/>
              </a:rPr>
              <a:t>2/2</a:t>
            </a:r>
            <a:endParaRPr sz="3600" dirty="0">
              <a:solidFill>
                <a:srgbClr val="0070C0"/>
              </a:solidFill>
              <a:latin typeface="Calibri"/>
              <a:cs typeface="Calibri"/>
            </a:endParaRPr>
          </a:p>
        </p:txBody>
      </p:sp>
      <p:sp>
        <p:nvSpPr>
          <p:cNvPr id="4" name="object 4"/>
          <p:cNvSpPr txBox="1"/>
          <p:nvPr/>
        </p:nvSpPr>
        <p:spPr>
          <a:xfrm>
            <a:off x="537814" y="1631086"/>
            <a:ext cx="6167786" cy="5003293"/>
          </a:xfrm>
          <a:prstGeom prst="rect">
            <a:avLst/>
          </a:prstGeom>
        </p:spPr>
        <p:txBody>
          <a:bodyPr vert="horz" wrap="square" lIns="0" tIns="80645" rIns="0" bIns="0" rtlCol="0">
            <a:spAutoFit/>
          </a:bodyPr>
          <a:lstStyle/>
          <a:p>
            <a:pPr marL="354965" marR="5080" indent="-342900" algn="just">
              <a:lnSpc>
                <a:spcPts val="2330"/>
              </a:lnSpc>
              <a:spcBef>
                <a:spcPts val="635"/>
              </a:spcBef>
              <a:buFont typeface="Arial" panose="020B0604020202020204" pitchFamily="34" charset="0"/>
              <a:buChar char="•"/>
              <a:tabLst>
                <a:tab pos="196215" algn="l"/>
              </a:tabLst>
            </a:pPr>
            <a:r>
              <a:rPr sz="2400" spc="-5" dirty="0">
                <a:latin typeface="Arial" panose="020B0604020202020204" pitchFamily="34" charset="0"/>
                <a:cs typeface="Arial" panose="020B0604020202020204" pitchFamily="34" charset="0"/>
              </a:rPr>
              <a:t>En</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tant</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qu’outils</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légitimes,</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les</a:t>
            </a:r>
            <a:r>
              <a:rPr sz="2400" spc="530" dirty="0">
                <a:latin typeface="Arial" panose="020B0604020202020204" pitchFamily="34" charset="0"/>
                <a:cs typeface="Arial" panose="020B0604020202020204" pitchFamily="34" charset="0"/>
              </a:rPr>
              <a:t> </a:t>
            </a:r>
            <a:r>
              <a:rPr sz="2400" b="1" dirty="0">
                <a:latin typeface="Arial" panose="020B0604020202020204" pitchFamily="34" charset="0"/>
                <a:cs typeface="Arial" panose="020B0604020202020204" pitchFamily="34" charset="0"/>
              </a:rPr>
              <a:t>applications </a:t>
            </a:r>
            <a:r>
              <a:rPr sz="2400" b="1" spc="-530" dirty="0">
                <a:latin typeface="Arial" panose="020B0604020202020204" pitchFamily="34" charset="0"/>
                <a:cs typeface="Arial" panose="020B0604020202020204" pitchFamily="34" charset="0"/>
              </a:rPr>
              <a:t> </a:t>
            </a:r>
            <a:r>
              <a:rPr sz="2400" b="1" spc="-5" dirty="0">
                <a:latin typeface="Arial" panose="020B0604020202020204" pitchFamily="34" charset="0"/>
                <a:cs typeface="Arial" panose="020B0604020202020204" pitchFamily="34" charset="0"/>
              </a:rPr>
              <a:t>de</a:t>
            </a:r>
            <a:r>
              <a:rPr sz="2400" b="1" dirty="0">
                <a:latin typeface="Arial" panose="020B0604020202020204" pitchFamily="34" charset="0"/>
                <a:cs typeface="Arial" panose="020B0604020202020204" pitchFamily="34" charset="0"/>
              </a:rPr>
              <a:t> </a:t>
            </a:r>
            <a:r>
              <a:rPr sz="2400" b="1" spc="-5" dirty="0">
                <a:latin typeface="Arial" panose="020B0604020202020204" pitchFamily="34" charset="0"/>
                <a:cs typeface="Arial" panose="020B0604020202020204" pitchFamily="34" charset="0"/>
              </a:rPr>
              <a:t>balayage</a:t>
            </a:r>
            <a:r>
              <a:rPr sz="2400" b="1" dirty="0">
                <a:latin typeface="Arial" panose="020B0604020202020204" pitchFamily="34" charset="0"/>
                <a:cs typeface="Arial" panose="020B0604020202020204" pitchFamily="34" charset="0"/>
              </a:rPr>
              <a:t> </a:t>
            </a:r>
            <a:r>
              <a:rPr sz="2400" b="1" spc="-5" dirty="0">
                <a:solidFill>
                  <a:srgbClr val="00B0F0"/>
                </a:solidFill>
                <a:latin typeface="Arial" panose="020B0604020202020204" pitchFamily="34" charset="0"/>
                <a:cs typeface="Arial" panose="020B0604020202020204" pitchFamily="34" charset="0"/>
              </a:rPr>
              <a:t>ping</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et</a:t>
            </a:r>
            <a:r>
              <a:rPr sz="2400" dirty="0">
                <a:latin typeface="Arial" panose="020B0604020202020204" pitchFamily="34" charset="0"/>
                <a:cs typeface="Arial" panose="020B0604020202020204" pitchFamily="34" charset="0"/>
              </a:rPr>
              <a:t> </a:t>
            </a:r>
            <a:r>
              <a:rPr sz="2400" b="1" spc="-5" dirty="0">
                <a:latin typeface="Arial" panose="020B0604020202020204" pitchFamily="34" charset="0"/>
                <a:cs typeface="Arial" panose="020B0604020202020204" pitchFamily="34" charset="0"/>
              </a:rPr>
              <a:t>d’analyse</a:t>
            </a:r>
            <a:r>
              <a:rPr sz="2400" b="1" dirty="0">
                <a:latin typeface="Arial" panose="020B0604020202020204" pitchFamily="34" charset="0"/>
                <a:cs typeface="Arial" panose="020B0604020202020204" pitchFamily="34" charset="0"/>
              </a:rPr>
              <a:t> </a:t>
            </a:r>
            <a:r>
              <a:rPr sz="2400" b="1" spc="-5" dirty="0">
                <a:latin typeface="Arial" panose="020B0604020202020204" pitchFamily="34" charset="0"/>
                <a:cs typeface="Arial" panose="020B0604020202020204" pitchFamily="34" charset="0"/>
              </a:rPr>
              <a:t>de</a:t>
            </a:r>
            <a:r>
              <a:rPr sz="2400" b="1" dirty="0">
                <a:latin typeface="Arial" panose="020B0604020202020204" pitchFamily="34" charset="0"/>
                <a:cs typeface="Arial" panose="020B0604020202020204" pitchFamily="34" charset="0"/>
              </a:rPr>
              <a:t> </a:t>
            </a:r>
            <a:r>
              <a:rPr sz="2400" b="1" spc="-5" dirty="0">
                <a:latin typeface="Arial" panose="020B0604020202020204" pitchFamily="34" charset="0"/>
                <a:cs typeface="Arial" panose="020B0604020202020204" pitchFamily="34" charset="0"/>
              </a:rPr>
              <a:t>port </a:t>
            </a:r>
            <a:r>
              <a:rPr sz="2400" b="1"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exécutent une série de tests contre des hôtes </a:t>
            </a:r>
            <a:r>
              <a:rPr sz="2400" spc="-53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pour</a:t>
            </a:r>
            <a:r>
              <a:rPr sz="2400" spc="-1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identifier</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des</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services</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vulnérables.</a:t>
            </a:r>
            <a:endParaRPr sz="2400" dirty="0">
              <a:latin typeface="Arial" panose="020B0604020202020204" pitchFamily="34" charset="0"/>
              <a:cs typeface="Arial" panose="020B0604020202020204" pitchFamily="34" charset="0"/>
            </a:endParaRPr>
          </a:p>
          <a:p>
            <a:pPr marL="354965" marR="8255" indent="-342900" algn="just">
              <a:lnSpc>
                <a:spcPct val="80300"/>
              </a:lnSpc>
              <a:spcBef>
                <a:spcPts val="5"/>
              </a:spcBef>
              <a:buFont typeface="Arial" panose="020B0604020202020204" pitchFamily="34" charset="0"/>
              <a:buChar char="•"/>
              <a:tabLst>
                <a:tab pos="196215" algn="l"/>
              </a:tabLst>
            </a:pPr>
            <a:r>
              <a:rPr sz="2400" spc="-5" dirty="0">
                <a:latin typeface="Arial" panose="020B0604020202020204" pitchFamily="34" charset="0"/>
                <a:cs typeface="Arial" panose="020B0604020202020204" pitchFamily="34" charset="0"/>
              </a:rPr>
              <a:t>Les</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informations</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sont</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collectées</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en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examinant l’adressage IP et les données des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ports</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TCP et UDP.</a:t>
            </a:r>
            <a:endParaRPr sz="2400" dirty="0">
              <a:latin typeface="Arial" panose="020B0604020202020204" pitchFamily="34" charset="0"/>
              <a:cs typeface="Arial" panose="020B0604020202020204" pitchFamily="34" charset="0"/>
            </a:endParaRPr>
          </a:p>
          <a:p>
            <a:pPr marL="12065" marR="5715" algn="just">
              <a:lnSpc>
                <a:spcPct val="80300"/>
              </a:lnSpc>
              <a:spcBef>
                <a:spcPts val="5"/>
              </a:spcBef>
              <a:tabLst>
                <a:tab pos="196215" algn="l"/>
              </a:tabLst>
            </a:pPr>
            <a:endParaRPr lang="fr-FR" sz="2000" dirty="0">
              <a:latin typeface="Arial" panose="020B0604020202020204" pitchFamily="34" charset="0"/>
              <a:cs typeface="Arial" panose="020B0604020202020204" pitchFamily="34" charset="0"/>
            </a:endParaRPr>
          </a:p>
          <a:p>
            <a:pPr marL="12065" marR="5715" algn="just">
              <a:lnSpc>
                <a:spcPct val="80300"/>
              </a:lnSpc>
              <a:spcBef>
                <a:spcPts val="5"/>
              </a:spcBef>
              <a:tabLst>
                <a:tab pos="196215" algn="l"/>
              </a:tabLst>
            </a:pPr>
            <a:r>
              <a:rPr sz="2400" b="1" spc="-5" dirty="0" err="1">
                <a:solidFill>
                  <a:srgbClr val="00B050"/>
                </a:solidFill>
                <a:latin typeface="Arial" panose="020B0604020202020204" pitchFamily="34" charset="0"/>
                <a:cs typeface="Arial" panose="020B0604020202020204" pitchFamily="34" charset="0"/>
              </a:rPr>
              <a:t>Exemples</a:t>
            </a:r>
            <a:endParaRPr lang="fr-FR" sz="2400" b="1" spc="-5" dirty="0">
              <a:solidFill>
                <a:srgbClr val="00B050"/>
              </a:solidFill>
              <a:latin typeface="Arial" panose="020B0604020202020204" pitchFamily="34" charset="0"/>
              <a:cs typeface="Arial" panose="020B0604020202020204" pitchFamily="34" charset="0"/>
            </a:endParaRPr>
          </a:p>
          <a:p>
            <a:pPr marL="12065" marR="5715" algn="just">
              <a:lnSpc>
                <a:spcPct val="80300"/>
              </a:lnSpc>
              <a:spcBef>
                <a:spcPts val="5"/>
              </a:spcBef>
              <a:tabLst>
                <a:tab pos="196215" algn="l"/>
              </a:tabLst>
            </a:pPr>
            <a:endParaRPr lang="fr-FR" sz="2000" b="1" spc="-5" dirty="0">
              <a:solidFill>
                <a:srgbClr val="00B050"/>
              </a:solidFill>
              <a:latin typeface="Arial" panose="020B0604020202020204" pitchFamily="34" charset="0"/>
              <a:cs typeface="Arial" panose="020B0604020202020204" pitchFamily="34" charset="0"/>
            </a:endParaRPr>
          </a:p>
          <a:p>
            <a:pPr marL="12065" marR="5715" algn="just">
              <a:lnSpc>
                <a:spcPct val="80300"/>
              </a:lnSpc>
              <a:spcBef>
                <a:spcPts val="5"/>
              </a:spcBef>
              <a:tabLst>
                <a:tab pos="196215" algn="l"/>
              </a:tabLst>
            </a:pPr>
            <a:r>
              <a:rPr sz="240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Nessus,</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Nmap,</a:t>
            </a:r>
            <a:r>
              <a:rPr sz="2400" dirty="0">
                <a:latin typeface="Arial" panose="020B0604020202020204" pitchFamily="34" charset="0"/>
                <a:cs typeface="Arial" panose="020B0604020202020204" pitchFamily="34" charset="0"/>
              </a:rPr>
              <a:t> </a:t>
            </a:r>
            <a:endParaRPr lang="fr-FR" sz="2400" dirty="0">
              <a:latin typeface="Arial" panose="020B0604020202020204" pitchFamily="34" charset="0"/>
              <a:cs typeface="Arial" panose="020B0604020202020204" pitchFamily="34" charset="0"/>
            </a:endParaRPr>
          </a:p>
          <a:p>
            <a:pPr marL="12065" marR="5715" algn="just">
              <a:lnSpc>
                <a:spcPct val="80300"/>
              </a:lnSpc>
              <a:spcBef>
                <a:spcPts val="5"/>
              </a:spcBef>
              <a:tabLst>
                <a:tab pos="196215" algn="l"/>
              </a:tabLst>
            </a:pPr>
            <a:r>
              <a:rPr lang="fr-FR" sz="2400" spc="-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SolarWinds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Network Performance Monitor, </a:t>
            </a:r>
            <a:endParaRPr lang="fr-FR" sz="2400" spc="-5" dirty="0">
              <a:latin typeface="Arial" panose="020B0604020202020204" pitchFamily="34" charset="0"/>
              <a:cs typeface="Arial" panose="020B0604020202020204" pitchFamily="34" charset="0"/>
            </a:endParaRPr>
          </a:p>
          <a:p>
            <a:pPr marL="12065" marR="5715" algn="just">
              <a:lnSpc>
                <a:spcPct val="80300"/>
              </a:lnSpc>
              <a:spcBef>
                <a:spcPts val="5"/>
              </a:spcBef>
              <a:tabLst>
                <a:tab pos="196215" algn="l"/>
              </a:tabLst>
            </a:pPr>
            <a:r>
              <a:rPr lang="fr-FR" sz="2400" spc="-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Advanced IP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Scanner</a:t>
            </a:r>
            <a:endParaRPr lang="fr-FR" sz="2400" spc="-5" dirty="0">
              <a:latin typeface="Arial" panose="020B0604020202020204" pitchFamily="34" charset="0"/>
              <a:cs typeface="Arial" panose="020B0604020202020204" pitchFamily="34" charset="0"/>
            </a:endParaRPr>
          </a:p>
          <a:p>
            <a:pPr marL="12065" marR="5715" algn="just">
              <a:lnSpc>
                <a:spcPct val="80300"/>
              </a:lnSpc>
              <a:spcBef>
                <a:spcPts val="5"/>
              </a:spcBef>
              <a:tabLst>
                <a:tab pos="196215" algn="l"/>
              </a:tabLst>
            </a:pPr>
            <a:r>
              <a:rPr sz="2400" spc="-10" dirty="0">
                <a:latin typeface="Arial" panose="020B0604020202020204" pitchFamily="34" charset="0"/>
                <a:cs typeface="Arial" panose="020B0604020202020204" pitchFamily="34" charset="0"/>
              </a:rPr>
              <a:t> </a:t>
            </a:r>
            <a:r>
              <a:rPr lang="fr-FR" sz="2400" spc="-10" dirty="0">
                <a:latin typeface="Arial" panose="020B0604020202020204" pitchFamily="34" charset="0"/>
                <a:cs typeface="Arial" panose="020B0604020202020204" pitchFamily="34" charset="0"/>
              </a:rPr>
              <a:t>- </a:t>
            </a:r>
            <a:r>
              <a:rPr sz="2400" spc="-5" dirty="0" err="1">
                <a:latin typeface="Arial" panose="020B0604020202020204" pitchFamily="34" charset="0"/>
                <a:cs typeface="Arial" panose="020B0604020202020204" pitchFamily="34" charset="0"/>
              </a:rPr>
              <a:t>Acunetix</a:t>
            </a:r>
            <a:r>
              <a:rPr sz="2400" spc="-10" dirty="0">
                <a:latin typeface="Arial" panose="020B0604020202020204" pitchFamily="34" charset="0"/>
                <a:cs typeface="Arial" panose="020B0604020202020204" pitchFamily="34" charset="0"/>
              </a:rPr>
              <a:t> </a:t>
            </a:r>
            <a:endParaRPr lang="fr-FR" sz="2400" spc="-5" dirty="0">
              <a:latin typeface="Arial" panose="020B0604020202020204" pitchFamily="34" charset="0"/>
              <a:cs typeface="Arial" panose="020B0604020202020204" pitchFamily="34" charset="0"/>
            </a:endParaRPr>
          </a:p>
          <a:p>
            <a:pPr marL="354965" marR="5715" indent="-342900" algn="just">
              <a:lnSpc>
                <a:spcPct val="80300"/>
              </a:lnSpc>
              <a:spcBef>
                <a:spcPts val="5"/>
              </a:spcBef>
              <a:buFontTx/>
              <a:buChar char="-"/>
              <a:tabLst>
                <a:tab pos="196215" algn="l"/>
              </a:tabLst>
            </a:pPr>
            <a:r>
              <a:rPr sz="2400" spc="-5" dirty="0">
                <a:latin typeface="Arial" panose="020B0604020202020204" pitchFamily="34" charset="0"/>
                <a:cs typeface="Arial" panose="020B0604020202020204" pitchFamily="34" charset="0"/>
              </a:rPr>
              <a:t>Nagios</a:t>
            </a:r>
            <a:r>
              <a:rPr lang="fr-FR" sz="2400" spc="-5" dirty="0">
                <a:latin typeface="Arial" panose="020B0604020202020204" pitchFamily="34" charset="0"/>
                <a:cs typeface="Arial" panose="020B0604020202020204" pitchFamily="34" charset="0"/>
              </a:rPr>
              <a:t> </a:t>
            </a:r>
          </a:p>
          <a:p>
            <a:pPr marL="354965" marR="5715" indent="-342900" algn="just">
              <a:lnSpc>
                <a:spcPct val="80300"/>
              </a:lnSpc>
              <a:spcBef>
                <a:spcPts val="5"/>
              </a:spcBef>
              <a:buFontTx/>
              <a:buChar char="-"/>
              <a:tabLst>
                <a:tab pos="196215" algn="l"/>
              </a:tabLst>
            </a:pP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Snort</a:t>
            </a:r>
            <a:endParaRPr sz="2400" dirty="0">
              <a:latin typeface="Arial" panose="020B0604020202020204" pitchFamily="34" charset="0"/>
              <a:cs typeface="Arial" panose="020B0604020202020204" pitchFamily="34" charset="0"/>
            </a:endParaRPr>
          </a:p>
        </p:txBody>
      </p:sp>
      <p:pic>
        <p:nvPicPr>
          <p:cNvPr id="5" name="object 5"/>
          <p:cNvPicPr/>
          <p:nvPr/>
        </p:nvPicPr>
        <p:blipFill>
          <a:blip r:embed="rId2" cstate="print"/>
          <a:stretch>
            <a:fillRect/>
          </a:stretch>
        </p:blipFill>
        <p:spPr>
          <a:xfrm>
            <a:off x="7110258" y="2102458"/>
            <a:ext cx="4543928" cy="3246874"/>
          </a:xfrm>
          <a:prstGeom prst="rect">
            <a:avLst/>
          </a:prstGeom>
        </p:spPr>
      </p:pic>
      <p:sp>
        <p:nvSpPr>
          <p:cNvPr id="6" name="Espace réservé du numéro de diapositive 5">
            <a:extLst>
              <a:ext uri="{FF2B5EF4-FFF2-40B4-BE49-F238E27FC236}">
                <a16:creationId xmlns:a16="http://schemas.microsoft.com/office/drawing/2014/main" id="{6BC05E04-F3B5-A6B5-3D30-080BA6C13185}"/>
              </a:ext>
            </a:extLst>
          </p:cNvPr>
          <p:cNvSpPr>
            <a:spLocks noGrp="1"/>
          </p:cNvSpPr>
          <p:nvPr>
            <p:ph type="sldNum" sz="quarter" idx="7"/>
          </p:nvPr>
        </p:nvSpPr>
        <p:spPr/>
        <p:txBody>
          <a:bodyPr/>
          <a:lstStyle/>
          <a:p>
            <a:fld id="{B6F15528-21DE-4FAA-801E-634DDDAF4B2B}" type="slidenum">
              <a:rPr lang="en-US" smtClean="0"/>
              <a:t>15</a:t>
            </a:fld>
            <a:endParaRPr lang="en-US"/>
          </a:p>
        </p:txBody>
      </p:sp>
      <p:sp>
        <p:nvSpPr>
          <p:cNvPr id="7" name="object 2">
            <a:extLst>
              <a:ext uri="{FF2B5EF4-FFF2-40B4-BE49-F238E27FC236}">
                <a16:creationId xmlns:a16="http://schemas.microsoft.com/office/drawing/2014/main" id="{502E3E68-DCC6-53AE-D6AD-4A988BE1E40A}"/>
              </a:ext>
            </a:extLst>
          </p:cNvPr>
          <p:cNvSpPr txBox="1"/>
          <p:nvPr/>
        </p:nvSpPr>
        <p:spPr>
          <a:xfrm>
            <a:off x="1347324" y="507028"/>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1.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a:solidFill>
                  <a:srgbClr val="C00000"/>
                </a:solidFill>
                <a:latin typeface="Calibri"/>
                <a:cs typeface="Calibri"/>
              </a:rPr>
              <a:t>attaques</a:t>
            </a:r>
            <a:r>
              <a:rPr sz="3600" b="1" spc="-30" dirty="0">
                <a:solidFill>
                  <a:srgbClr val="C00000"/>
                </a:solidFill>
                <a:latin typeface="Calibri"/>
                <a:cs typeface="Calibri"/>
              </a:rPr>
              <a:t> </a:t>
            </a:r>
            <a:r>
              <a:rPr sz="3600" b="1" spc="-5" dirty="0">
                <a:solidFill>
                  <a:srgbClr val="C00000"/>
                </a:solidFill>
                <a:latin typeface="Calibri"/>
                <a:cs typeface="Calibri"/>
              </a:rPr>
              <a:t>de</a:t>
            </a:r>
            <a:r>
              <a:rPr sz="3600" b="1" spc="-35" dirty="0">
                <a:solidFill>
                  <a:srgbClr val="C00000"/>
                </a:solidFill>
                <a:latin typeface="Calibri"/>
                <a:cs typeface="Calibri"/>
              </a:rPr>
              <a:t> </a:t>
            </a:r>
            <a:r>
              <a:rPr sz="3600" b="1" spc="-5" dirty="0">
                <a:solidFill>
                  <a:srgbClr val="C00000"/>
                </a:solidFill>
                <a:latin typeface="Calibri"/>
                <a:cs typeface="Calibri"/>
              </a:rPr>
              <a:t>reconnaissance</a:t>
            </a:r>
            <a:endParaRPr sz="3600" b="1" dirty="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7662" y="639172"/>
            <a:ext cx="5297170" cy="695960"/>
          </a:xfrm>
          <a:prstGeom prst="rect">
            <a:avLst/>
          </a:prstGeom>
        </p:spPr>
        <p:txBody>
          <a:bodyPr vert="horz" wrap="square" lIns="0" tIns="12700" rIns="0" bIns="0" rtlCol="0">
            <a:spAutoFit/>
          </a:bodyPr>
          <a:lstStyle/>
          <a:p>
            <a:pPr marL="12700">
              <a:lnSpc>
                <a:spcPct val="100000"/>
              </a:lnSpc>
              <a:spcBef>
                <a:spcPts val="100"/>
              </a:spcBef>
            </a:pPr>
            <a:r>
              <a:rPr spc="-5" dirty="0"/>
              <a:t>2.</a:t>
            </a:r>
            <a:r>
              <a:rPr spc="-40" dirty="0"/>
              <a:t> </a:t>
            </a:r>
            <a:r>
              <a:rPr spc="-10" dirty="0"/>
              <a:t>Les</a:t>
            </a:r>
            <a:r>
              <a:rPr spc="-35" dirty="0"/>
              <a:t> </a:t>
            </a:r>
            <a:r>
              <a:rPr spc="-10" dirty="0"/>
              <a:t>attaques</a:t>
            </a:r>
            <a:r>
              <a:rPr spc="-35" dirty="0"/>
              <a:t> </a:t>
            </a:r>
            <a:r>
              <a:rPr spc="-10" dirty="0"/>
              <a:t>d’accès</a:t>
            </a:r>
          </a:p>
        </p:txBody>
      </p:sp>
      <p:sp>
        <p:nvSpPr>
          <p:cNvPr id="3" name="object 3"/>
          <p:cNvSpPr txBox="1"/>
          <p:nvPr/>
        </p:nvSpPr>
        <p:spPr>
          <a:xfrm>
            <a:off x="1066800" y="1949983"/>
            <a:ext cx="10287000" cy="3039294"/>
          </a:xfrm>
          <a:prstGeom prst="rect">
            <a:avLst/>
          </a:prstGeom>
        </p:spPr>
        <p:txBody>
          <a:bodyPr vert="horz" wrap="square" lIns="0" tIns="93980" rIns="0" bIns="0" rtlCol="0">
            <a:spAutoFit/>
          </a:bodyPr>
          <a:lstStyle/>
          <a:p>
            <a:pPr marL="276860" indent="-175895">
              <a:lnSpc>
                <a:spcPct val="100000"/>
              </a:lnSpc>
              <a:spcBef>
                <a:spcPts val="740"/>
              </a:spcBef>
              <a:buFont typeface="Arial MT"/>
              <a:buChar char="•"/>
              <a:tabLst>
                <a:tab pos="276860" algn="l"/>
              </a:tabLst>
            </a:pPr>
            <a:r>
              <a:rPr sz="2800" spc="-5" dirty="0">
                <a:latin typeface="Arial" panose="020B0604020202020204" pitchFamily="34" charset="0"/>
                <a:cs typeface="Arial" panose="020B0604020202020204" pitchFamily="34" charset="0"/>
              </a:rPr>
              <a:t>Les</a:t>
            </a:r>
            <a:r>
              <a:rPr sz="2800" spc="-15" dirty="0">
                <a:latin typeface="Arial" panose="020B0604020202020204" pitchFamily="34" charset="0"/>
                <a:cs typeface="Arial" panose="020B0604020202020204" pitchFamily="34" charset="0"/>
              </a:rPr>
              <a:t> </a:t>
            </a:r>
            <a:r>
              <a:rPr sz="2800" dirty="0">
                <a:latin typeface="Arial" panose="020B0604020202020204" pitchFamily="34" charset="0"/>
                <a:cs typeface="Arial" panose="020B0604020202020204" pitchFamily="34" charset="0"/>
              </a:rPr>
              <a:t>attaques</a:t>
            </a:r>
            <a:r>
              <a:rPr sz="2800" spc="-15"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d’accès</a:t>
            </a:r>
            <a:r>
              <a:rPr sz="2800" spc="-1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peuvent</a:t>
            </a:r>
            <a:r>
              <a:rPr sz="2800" spc="-15"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être</a:t>
            </a:r>
            <a:r>
              <a:rPr sz="2800" spc="-1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effectuées</a:t>
            </a:r>
            <a:r>
              <a:rPr sz="2800" spc="-15"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a:t>
            </a:r>
            <a:r>
              <a:rPr sz="2800" spc="-1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différentes</a:t>
            </a:r>
            <a:r>
              <a:rPr sz="2800" spc="-15"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manières</a:t>
            </a:r>
            <a:endParaRPr sz="2800" dirty="0">
              <a:latin typeface="Arial" panose="020B0604020202020204" pitchFamily="34" charset="0"/>
              <a:cs typeface="Arial" panose="020B0604020202020204" pitchFamily="34" charset="0"/>
            </a:endParaRPr>
          </a:p>
          <a:p>
            <a:pPr marL="469900" indent="-457200">
              <a:spcBef>
                <a:spcPts val="690"/>
              </a:spcBef>
              <a:buFont typeface="Courier New" panose="02070309020205020404" pitchFamily="49" charset="0"/>
              <a:buChar char="o"/>
              <a:tabLst>
                <a:tab pos="276860" algn="l"/>
              </a:tabLst>
            </a:pPr>
            <a:r>
              <a:rPr lang="en-US" sz="2800" spc="-5" dirty="0">
                <a:solidFill>
                  <a:srgbClr val="0070C0"/>
                </a:solidFill>
                <a:latin typeface="Arial" panose="020B0604020202020204" pitchFamily="34" charset="0"/>
                <a:cs typeface="Arial" panose="020B0604020202020204" pitchFamily="34" charset="0"/>
              </a:rPr>
              <a:t>Password</a:t>
            </a:r>
            <a:r>
              <a:rPr lang="en-US" sz="2800" spc="-30" dirty="0">
                <a:solidFill>
                  <a:srgbClr val="0070C0"/>
                </a:solidFill>
                <a:latin typeface="Arial" panose="020B0604020202020204" pitchFamily="34" charset="0"/>
                <a:cs typeface="Arial" panose="020B0604020202020204" pitchFamily="34" charset="0"/>
              </a:rPr>
              <a:t> </a:t>
            </a:r>
            <a:r>
              <a:rPr lang="en-US" sz="2800" dirty="0">
                <a:solidFill>
                  <a:srgbClr val="0070C0"/>
                </a:solidFill>
                <a:latin typeface="Arial" panose="020B0604020202020204" pitchFamily="34" charset="0"/>
                <a:cs typeface="Arial" panose="020B0604020202020204" pitchFamily="34" charset="0"/>
              </a:rPr>
              <a:t>attacks</a:t>
            </a:r>
            <a:endParaRPr lang="en-US" sz="2800" spc="-5" dirty="0">
              <a:solidFill>
                <a:srgbClr val="0070C0"/>
              </a:solidFill>
              <a:latin typeface="Arial" panose="020B0604020202020204" pitchFamily="34" charset="0"/>
              <a:cs typeface="Arial" panose="020B0604020202020204" pitchFamily="34" charset="0"/>
            </a:endParaRPr>
          </a:p>
          <a:p>
            <a:pPr marL="469900" indent="-457200">
              <a:spcBef>
                <a:spcPts val="690"/>
              </a:spcBef>
              <a:buFont typeface="Courier New" panose="02070309020205020404" pitchFamily="49" charset="0"/>
              <a:buChar char="o"/>
              <a:tabLst>
                <a:tab pos="276860" algn="l"/>
              </a:tabLst>
            </a:pPr>
            <a:r>
              <a:rPr lang="en-US" sz="2800" spc="-5" dirty="0">
                <a:solidFill>
                  <a:srgbClr val="0070C0"/>
                </a:solidFill>
                <a:latin typeface="Arial" panose="020B0604020202020204" pitchFamily="34" charset="0"/>
                <a:cs typeface="Arial" panose="020B0604020202020204" pitchFamily="34" charset="0"/>
              </a:rPr>
              <a:t>Trust</a:t>
            </a:r>
            <a:r>
              <a:rPr lang="en-US" sz="2800" spc="-45" dirty="0">
                <a:solidFill>
                  <a:srgbClr val="0070C0"/>
                </a:solidFill>
                <a:latin typeface="Arial" panose="020B0604020202020204" pitchFamily="34" charset="0"/>
                <a:cs typeface="Arial" panose="020B0604020202020204" pitchFamily="34" charset="0"/>
              </a:rPr>
              <a:t> </a:t>
            </a:r>
            <a:r>
              <a:rPr lang="en-US" sz="2800" spc="-5" dirty="0">
                <a:solidFill>
                  <a:srgbClr val="0070C0"/>
                </a:solidFill>
                <a:latin typeface="Arial" panose="020B0604020202020204" pitchFamily="34" charset="0"/>
                <a:cs typeface="Arial" panose="020B0604020202020204" pitchFamily="34" charset="0"/>
              </a:rPr>
              <a:t>exploitation</a:t>
            </a:r>
            <a:endParaRPr sz="2800" dirty="0">
              <a:solidFill>
                <a:srgbClr val="0070C0"/>
              </a:solidFill>
              <a:latin typeface="Arial" panose="020B0604020202020204" pitchFamily="34" charset="0"/>
              <a:cs typeface="Arial" panose="020B0604020202020204" pitchFamily="34" charset="0"/>
            </a:endParaRPr>
          </a:p>
          <a:p>
            <a:pPr marL="469900" indent="-457200">
              <a:lnSpc>
                <a:spcPct val="100000"/>
              </a:lnSpc>
              <a:spcBef>
                <a:spcPts val="690"/>
              </a:spcBef>
              <a:buFont typeface="Courier New" panose="02070309020205020404" pitchFamily="49" charset="0"/>
              <a:buChar char="o"/>
              <a:tabLst>
                <a:tab pos="276860" algn="l"/>
              </a:tabLst>
            </a:pPr>
            <a:r>
              <a:rPr sz="2800" spc="-5" dirty="0">
                <a:solidFill>
                  <a:srgbClr val="0070C0"/>
                </a:solidFill>
                <a:latin typeface="Arial" panose="020B0604020202020204" pitchFamily="34" charset="0"/>
                <a:cs typeface="Arial" panose="020B0604020202020204" pitchFamily="34" charset="0"/>
              </a:rPr>
              <a:t>Port</a:t>
            </a:r>
            <a:r>
              <a:rPr sz="2800" spc="-45" dirty="0">
                <a:solidFill>
                  <a:srgbClr val="0070C0"/>
                </a:solidFill>
                <a:latin typeface="Arial" panose="020B0604020202020204" pitchFamily="34" charset="0"/>
                <a:cs typeface="Arial" panose="020B0604020202020204" pitchFamily="34" charset="0"/>
              </a:rPr>
              <a:t> </a:t>
            </a:r>
            <a:r>
              <a:rPr sz="2800" spc="-5" dirty="0">
                <a:solidFill>
                  <a:srgbClr val="0070C0"/>
                </a:solidFill>
                <a:latin typeface="Arial" panose="020B0604020202020204" pitchFamily="34" charset="0"/>
                <a:cs typeface="Arial" panose="020B0604020202020204" pitchFamily="34" charset="0"/>
              </a:rPr>
              <a:t>redirection</a:t>
            </a:r>
            <a:endParaRPr sz="2800" dirty="0">
              <a:solidFill>
                <a:srgbClr val="0070C0"/>
              </a:solidFill>
              <a:latin typeface="Arial" panose="020B0604020202020204" pitchFamily="34" charset="0"/>
              <a:cs typeface="Arial" panose="020B0604020202020204" pitchFamily="34" charset="0"/>
            </a:endParaRPr>
          </a:p>
          <a:p>
            <a:pPr marL="469900" indent="-457200">
              <a:lnSpc>
                <a:spcPct val="100000"/>
              </a:lnSpc>
              <a:spcBef>
                <a:spcPts val="690"/>
              </a:spcBef>
              <a:buFont typeface="Courier New" panose="02070309020205020404" pitchFamily="49" charset="0"/>
              <a:buChar char="o"/>
              <a:tabLst>
                <a:tab pos="276860" algn="l"/>
              </a:tabLst>
            </a:pPr>
            <a:r>
              <a:rPr sz="2800" spc="-10" dirty="0">
                <a:solidFill>
                  <a:srgbClr val="0070C0"/>
                </a:solidFill>
                <a:latin typeface="Arial" panose="020B0604020202020204" pitchFamily="34" charset="0"/>
                <a:cs typeface="Arial" panose="020B0604020202020204" pitchFamily="34" charset="0"/>
              </a:rPr>
              <a:t>Man-in-the-middle</a:t>
            </a:r>
            <a:r>
              <a:rPr sz="2800" spc="-50" dirty="0">
                <a:solidFill>
                  <a:srgbClr val="0070C0"/>
                </a:solidFill>
                <a:latin typeface="Arial" panose="020B0604020202020204" pitchFamily="34" charset="0"/>
                <a:cs typeface="Arial" panose="020B0604020202020204" pitchFamily="34" charset="0"/>
              </a:rPr>
              <a:t> </a:t>
            </a:r>
            <a:r>
              <a:rPr sz="2800" dirty="0">
                <a:solidFill>
                  <a:srgbClr val="0070C0"/>
                </a:solidFill>
                <a:latin typeface="Arial" panose="020B0604020202020204" pitchFamily="34" charset="0"/>
                <a:cs typeface="Arial" panose="020B0604020202020204" pitchFamily="34" charset="0"/>
              </a:rPr>
              <a:t>attacks</a:t>
            </a:r>
          </a:p>
        </p:txBody>
      </p:sp>
      <p:sp>
        <p:nvSpPr>
          <p:cNvPr id="4" name="Espace réservé du numéro de diapositive 3">
            <a:extLst>
              <a:ext uri="{FF2B5EF4-FFF2-40B4-BE49-F238E27FC236}">
                <a16:creationId xmlns:a16="http://schemas.microsoft.com/office/drawing/2014/main" id="{A64296FD-34C8-7BAE-E6F2-FD021603E73E}"/>
              </a:ext>
            </a:extLst>
          </p:cNvPr>
          <p:cNvSpPr>
            <a:spLocks noGrp="1"/>
          </p:cNvSpPr>
          <p:nvPr>
            <p:ph type="sldNum" sz="quarter" idx="7"/>
          </p:nvPr>
        </p:nvSpPr>
        <p:spPr/>
        <p:txBody>
          <a:bodyPr/>
          <a:lstStyle/>
          <a:p>
            <a:fld id="{B6F15528-21DE-4FAA-801E-634DDDAF4B2B}"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31730" y="1022375"/>
            <a:ext cx="3941445" cy="654025"/>
          </a:xfrm>
          <a:prstGeom prst="rect">
            <a:avLst/>
          </a:prstGeom>
        </p:spPr>
        <p:txBody>
          <a:bodyPr vert="horz" wrap="square" lIns="0" tIns="12700" rIns="0" bIns="0" rtlCol="0">
            <a:spAutoFit/>
          </a:bodyPr>
          <a:lstStyle/>
          <a:p>
            <a:pPr marL="12700">
              <a:lnSpc>
                <a:spcPts val="5015"/>
              </a:lnSpc>
            </a:pPr>
            <a:r>
              <a:rPr b="0" spc="-10" dirty="0">
                <a:solidFill>
                  <a:srgbClr val="0070C0"/>
                </a:solidFill>
                <a:latin typeface="Calibri"/>
                <a:cs typeface="Calibri"/>
              </a:rPr>
              <a:t>Password</a:t>
            </a:r>
            <a:r>
              <a:rPr b="0" spc="-90" dirty="0">
                <a:solidFill>
                  <a:srgbClr val="0070C0"/>
                </a:solidFill>
                <a:latin typeface="Calibri"/>
                <a:cs typeface="Calibri"/>
              </a:rPr>
              <a:t> </a:t>
            </a:r>
            <a:r>
              <a:rPr b="0" dirty="0">
                <a:solidFill>
                  <a:srgbClr val="0070C0"/>
                </a:solidFill>
                <a:latin typeface="Calibri"/>
                <a:cs typeface="Calibri"/>
              </a:rPr>
              <a:t>attacks</a:t>
            </a:r>
          </a:p>
        </p:txBody>
      </p:sp>
      <p:sp>
        <p:nvSpPr>
          <p:cNvPr id="3" name="object 3"/>
          <p:cNvSpPr txBox="1"/>
          <p:nvPr/>
        </p:nvSpPr>
        <p:spPr>
          <a:xfrm>
            <a:off x="228600" y="2645079"/>
            <a:ext cx="11125200" cy="3908121"/>
          </a:xfrm>
          <a:prstGeom prst="rect">
            <a:avLst/>
          </a:prstGeom>
        </p:spPr>
        <p:txBody>
          <a:bodyPr vert="horz" wrap="square" lIns="0" tIns="50165" rIns="0" bIns="0" rtlCol="0">
            <a:spAutoFit/>
          </a:bodyPr>
          <a:lstStyle/>
          <a:p>
            <a:pPr marL="355600" marR="5080" indent="-342900">
              <a:lnSpc>
                <a:spcPts val="2630"/>
              </a:lnSpc>
              <a:spcBef>
                <a:spcPts val="395"/>
              </a:spcBef>
              <a:buFont typeface="Arial" panose="020B0604020202020204" pitchFamily="34" charset="0"/>
              <a:buChar char="•"/>
            </a:pPr>
            <a:r>
              <a:rPr sz="2400" b="1" spc="-5" dirty="0" err="1">
                <a:latin typeface="Arial" panose="020B0604020202020204" pitchFamily="34" charset="0"/>
                <a:cs typeface="Arial" panose="020B0604020202020204" pitchFamily="34" charset="0"/>
              </a:rPr>
              <a:t>Attaques</a:t>
            </a:r>
            <a:r>
              <a:rPr sz="2400" b="1" spc="-5" dirty="0">
                <a:latin typeface="Arial" panose="020B0604020202020204" pitchFamily="34" charset="0"/>
                <a:cs typeface="Arial" panose="020B0604020202020204" pitchFamily="34" charset="0"/>
              </a:rPr>
              <a:t> par force brute</a:t>
            </a:r>
            <a:r>
              <a:rPr sz="2400" spc="-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 : </a:t>
            </a:r>
            <a:r>
              <a:rPr lang="fr-FR" sz="2200" spc="-5" dirty="0">
                <a:latin typeface="Arial" panose="020B0604020202020204" pitchFamily="34" charset="0"/>
                <a:cs typeface="Arial" panose="020B0604020202020204" pitchFamily="34" charset="0"/>
              </a:rPr>
              <a:t>u</a:t>
            </a:r>
            <a:r>
              <a:rPr sz="2200" spc="-5" dirty="0">
                <a:latin typeface="Arial" panose="020B0604020202020204" pitchFamily="34" charset="0"/>
                <a:cs typeface="Arial" panose="020B0604020202020204" pitchFamily="34" charset="0"/>
              </a:rPr>
              <a:t>ne méthode d’attaque d’accès qui implique un </a:t>
            </a:r>
            <a:r>
              <a:rPr sz="2200" dirty="0">
                <a:latin typeface="Arial" panose="020B0604020202020204" pitchFamily="34" charset="0"/>
                <a:cs typeface="Arial" panose="020B0604020202020204" pitchFamily="34" charset="0"/>
              </a:rPr>
              <a:t> </a:t>
            </a:r>
            <a:r>
              <a:rPr sz="2200" spc="-5" dirty="0">
                <a:latin typeface="Arial" panose="020B0604020202020204" pitchFamily="34" charset="0"/>
                <a:cs typeface="Arial" panose="020B0604020202020204" pitchFamily="34" charset="0"/>
              </a:rPr>
              <a:t>logiciel essayant de découvrir un mot de passe système </a:t>
            </a:r>
            <a:r>
              <a:rPr sz="2200" dirty="0">
                <a:latin typeface="Arial" panose="020B0604020202020204" pitchFamily="34" charset="0"/>
                <a:cs typeface="Arial" panose="020B0604020202020204" pitchFamily="34" charset="0"/>
              </a:rPr>
              <a:t>à </a:t>
            </a:r>
            <a:r>
              <a:rPr sz="2200" spc="-5" dirty="0">
                <a:latin typeface="Arial" panose="020B0604020202020204" pitchFamily="34" charset="0"/>
                <a:cs typeface="Arial" panose="020B0604020202020204" pitchFamily="34" charset="0"/>
              </a:rPr>
              <a:t>l’aide d’un dictionnaire </a:t>
            </a:r>
            <a:r>
              <a:rPr sz="2200" spc="-530" dirty="0">
                <a:latin typeface="Arial" panose="020B0604020202020204" pitchFamily="34" charset="0"/>
                <a:cs typeface="Arial" panose="020B0604020202020204" pitchFamily="34" charset="0"/>
              </a:rPr>
              <a:t> </a:t>
            </a:r>
            <a:r>
              <a:rPr sz="2200" spc="-5" dirty="0">
                <a:latin typeface="Arial" panose="020B0604020202020204" pitchFamily="34" charset="0"/>
                <a:cs typeface="Arial" panose="020B0604020202020204" pitchFamily="34" charset="0"/>
              </a:rPr>
              <a:t>électronique.</a:t>
            </a:r>
            <a:endParaRPr sz="2200" dirty="0">
              <a:latin typeface="Arial" panose="020B0604020202020204" pitchFamily="34" charset="0"/>
              <a:cs typeface="Arial" panose="020B0604020202020204" pitchFamily="34" charset="0"/>
            </a:endParaRPr>
          </a:p>
          <a:p>
            <a:pPr marL="355600" indent="-342900">
              <a:lnSpc>
                <a:spcPct val="100000"/>
              </a:lnSpc>
              <a:spcBef>
                <a:spcPts val="745"/>
              </a:spcBef>
              <a:buFont typeface="Arial" panose="020B0604020202020204" pitchFamily="34" charset="0"/>
              <a:buChar char="•"/>
            </a:pPr>
            <a:r>
              <a:rPr sz="2400" b="1" spc="-5" dirty="0" err="1">
                <a:latin typeface="Arial" panose="020B0604020202020204" pitchFamily="34" charset="0"/>
                <a:cs typeface="Arial" panose="020B0604020202020204" pitchFamily="34" charset="0"/>
              </a:rPr>
              <a:t>Programmes</a:t>
            </a:r>
            <a:r>
              <a:rPr sz="2400" b="1" spc="-15" dirty="0">
                <a:latin typeface="Arial" panose="020B0604020202020204" pitchFamily="34" charset="0"/>
                <a:cs typeface="Arial" panose="020B0604020202020204" pitchFamily="34" charset="0"/>
              </a:rPr>
              <a:t> </a:t>
            </a:r>
            <a:r>
              <a:rPr sz="2400" b="1" spc="-5" dirty="0">
                <a:latin typeface="Arial" panose="020B0604020202020204" pitchFamily="34" charset="0"/>
                <a:cs typeface="Arial" panose="020B0604020202020204" pitchFamily="34" charset="0"/>
              </a:rPr>
              <a:t>de</a:t>
            </a:r>
            <a:r>
              <a:rPr sz="2400" b="1" spc="-15" dirty="0">
                <a:latin typeface="Arial" panose="020B0604020202020204" pitchFamily="34" charset="0"/>
                <a:cs typeface="Arial" panose="020B0604020202020204" pitchFamily="34" charset="0"/>
              </a:rPr>
              <a:t> </a:t>
            </a:r>
            <a:r>
              <a:rPr sz="2400" b="1" spc="-5" dirty="0">
                <a:latin typeface="Arial" panose="020B0604020202020204" pitchFamily="34" charset="0"/>
                <a:cs typeface="Arial" panose="020B0604020202020204" pitchFamily="34" charset="0"/>
              </a:rPr>
              <a:t>cheval</a:t>
            </a:r>
            <a:r>
              <a:rPr sz="2400" b="1" spc="-20" dirty="0">
                <a:latin typeface="Arial" panose="020B0604020202020204" pitchFamily="34" charset="0"/>
                <a:cs typeface="Arial" panose="020B0604020202020204" pitchFamily="34" charset="0"/>
              </a:rPr>
              <a:t> </a:t>
            </a:r>
            <a:r>
              <a:rPr sz="2400" b="1" spc="-5" dirty="0">
                <a:latin typeface="Arial" panose="020B0604020202020204" pitchFamily="34" charset="0"/>
                <a:cs typeface="Arial" panose="020B0604020202020204" pitchFamily="34" charset="0"/>
              </a:rPr>
              <a:t>de</a:t>
            </a:r>
            <a:r>
              <a:rPr sz="2400" b="1" spc="-15" dirty="0">
                <a:latin typeface="Arial" panose="020B0604020202020204" pitchFamily="34" charset="0"/>
                <a:cs typeface="Arial" panose="020B0604020202020204" pitchFamily="34" charset="0"/>
              </a:rPr>
              <a:t> </a:t>
            </a:r>
            <a:r>
              <a:rPr sz="2400" b="1" spc="-5" dirty="0" err="1">
                <a:latin typeface="Arial" panose="020B0604020202020204" pitchFamily="34" charset="0"/>
                <a:cs typeface="Arial" panose="020B0604020202020204" pitchFamily="34" charset="0"/>
              </a:rPr>
              <a:t>Troie</a:t>
            </a:r>
            <a:r>
              <a:rPr lang="fr-FR" sz="2400" b="1" spc="-5" dirty="0">
                <a:latin typeface="Arial" panose="020B0604020202020204" pitchFamily="34" charset="0"/>
                <a:cs typeface="Arial" panose="020B0604020202020204" pitchFamily="34" charset="0"/>
              </a:rPr>
              <a:t> : </a:t>
            </a:r>
            <a:r>
              <a:rPr lang="fr-FR" sz="2200" dirty="0">
                <a:latin typeface="Arial" panose="020B0604020202020204" pitchFamily="34" charset="0"/>
                <a:cs typeface="Arial" panose="020B0604020202020204" pitchFamily="34" charset="0"/>
              </a:rPr>
              <a:t>Logiciels malveillants déguisés en programmes légitimes, utilisés pour capturer les mots de passe des utilisateurs.</a:t>
            </a:r>
            <a:endParaRPr sz="2200" b="1" dirty="0">
              <a:latin typeface="Arial" panose="020B0604020202020204" pitchFamily="34" charset="0"/>
              <a:cs typeface="Arial" panose="020B0604020202020204" pitchFamily="34" charset="0"/>
            </a:endParaRPr>
          </a:p>
          <a:p>
            <a:pPr marL="355600" indent="-342900">
              <a:lnSpc>
                <a:spcPct val="100000"/>
              </a:lnSpc>
              <a:spcBef>
                <a:spcPts val="720"/>
              </a:spcBef>
              <a:buFont typeface="Arial" panose="020B0604020202020204" pitchFamily="34" charset="0"/>
              <a:buChar char="•"/>
            </a:pPr>
            <a:r>
              <a:rPr sz="2400" b="1" spc="-5" dirty="0">
                <a:latin typeface="Arial" panose="020B0604020202020204" pitchFamily="34" charset="0"/>
                <a:cs typeface="Arial" panose="020B0604020202020204" pitchFamily="34" charset="0"/>
              </a:rPr>
              <a:t>Usurpation</a:t>
            </a:r>
            <a:r>
              <a:rPr sz="2400" b="1" spc="-25" dirty="0">
                <a:latin typeface="Arial" panose="020B0604020202020204" pitchFamily="34" charset="0"/>
                <a:cs typeface="Arial" panose="020B0604020202020204" pitchFamily="34" charset="0"/>
              </a:rPr>
              <a:t> </a:t>
            </a:r>
            <a:r>
              <a:rPr sz="2400" b="1" spc="-5" dirty="0" err="1">
                <a:latin typeface="Arial" panose="020B0604020202020204" pitchFamily="34" charset="0"/>
                <a:cs typeface="Arial" panose="020B0604020202020204" pitchFamily="34" charset="0"/>
              </a:rPr>
              <a:t>d’adresse</a:t>
            </a:r>
            <a:r>
              <a:rPr sz="2400" b="1" spc="-25" dirty="0">
                <a:latin typeface="Arial" panose="020B0604020202020204" pitchFamily="34" charset="0"/>
                <a:cs typeface="Arial" panose="020B0604020202020204" pitchFamily="34" charset="0"/>
              </a:rPr>
              <a:t> </a:t>
            </a:r>
            <a:r>
              <a:rPr sz="2400" b="1" spc="-5" dirty="0">
                <a:latin typeface="Arial" panose="020B0604020202020204" pitchFamily="34" charset="0"/>
                <a:cs typeface="Arial" panose="020B0604020202020204" pitchFamily="34" charset="0"/>
              </a:rPr>
              <a:t>IP</a:t>
            </a:r>
            <a:r>
              <a:rPr lang="fr-FR" sz="2400" b="1" spc="-5" dirty="0">
                <a:latin typeface="Arial" panose="020B0604020202020204" pitchFamily="34" charset="0"/>
                <a:cs typeface="Arial" panose="020B0604020202020204" pitchFamily="34" charset="0"/>
              </a:rPr>
              <a:t> : </a:t>
            </a:r>
            <a:r>
              <a:rPr lang="fr-FR" sz="2200" dirty="0">
                <a:latin typeface="Arial" panose="020B0604020202020204" pitchFamily="34" charset="0"/>
                <a:cs typeface="Arial" panose="020B0604020202020204" pitchFamily="34" charset="0"/>
              </a:rPr>
              <a:t>Technique où l’attaquant se fait passer pour une adresse IP légitime pour accéder aux informations protégées.</a:t>
            </a:r>
            <a:endParaRPr sz="2200" b="1" dirty="0">
              <a:latin typeface="Arial" panose="020B0604020202020204" pitchFamily="34" charset="0"/>
              <a:cs typeface="Arial" panose="020B0604020202020204" pitchFamily="34" charset="0"/>
            </a:endParaRPr>
          </a:p>
          <a:p>
            <a:pPr marL="355600" indent="-342900">
              <a:lnSpc>
                <a:spcPct val="100000"/>
              </a:lnSpc>
              <a:spcBef>
                <a:spcPts val="720"/>
              </a:spcBef>
              <a:buFont typeface="Arial" panose="020B0604020202020204" pitchFamily="34" charset="0"/>
              <a:buChar char="•"/>
            </a:pPr>
            <a:r>
              <a:rPr sz="2400" b="1" spc="-5" dirty="0" err="1">
                <a:latin typeface="Arial" panose="020B0604020202020204" pitchFamily="34" charset="0"/>
                <a:cs typeface="Arial" panose="020B0604020202020204" pitchFamily="34" charset="0"/>
              </a:rPr>
              <a:t>Renifleurs</a:t>
            </a:r>
            <a:r>
              <a:rPr sz="2400" b="1" spc="-25" dirty="0">
                <a:latin typeface="Arial" panose="020B0604020202020204" pitchFamily="34" charset="0"/>
                <a:cs typeface="Arial" panose="020B0604020202020204" pitchFamily="34" charset="0"/>
              </a:rPr>
              <a:t> </a:t>
            </a:r>
            <a:r>
              <a:rPr sz="2400" b="1" spc="-5" dirty="0">
                <a:latin typeface="Arial" panose="020B0604020202020204" pitchFamily="34" charset="0"/>
                <a:cs typeface="Arial" panose="020B0604020202020204" pitchFamily="34" charset="0"/>
              </a:rPr>
              <a:t>de</a:t>
            </a:r>
            <a:r>
              <a:rPr sz="2400" b="1" spc="-25" dirty="0">
                <a:latin typeface="Arial" panose="020B0604020202020204" pitchFamily="34" charset="0"/>
                <a:cs typeface="Arial" panose="020B0604020202020204" pitchFamily="34" charset="0"/>
              </a:rPr>
              <a:t> </a:t>
            </a:r>
            <a:r>
              <a:rPr sz="2400" b="1" spc="-5" dirty="0" err="1">
                <a:latin typeface="Arial" panose="020B0604020202020204" pitchFamily="34" charset="0"/>
                <a:cs typeface="Arial" panose="020B0604020202020204" pitchFamily="34" charset="0"/>
              </a:rPr>
              <a:t>paquets</a:t>
            </a:r>
            <a:r>
              <a:rPr lang="fr-FR" sz="2400" b="1" spc="-5" dirty="0">
                <a:latin typeface="Arial" panose="020B0604020202020204" pitchFamily="34" charset="0"/>
                <a:cs typeface="Arial" panose="020B0604020202020204" pitchFamily="34" charset="0"/>
              </a:rPr>
              <a:t> : </a:t>
            </a:r>
            <a:r>
              <a:rPr lang="fr-FR" sz="2200" dirty="0">
                <a:latin typeface="Arial" panose="020B0604020202020204" pitchFamily="34" charset="0"/>
                <a:cs typeface="Arial" panose="020B0604020202020204" pitchFamily="34" charset="0"/>
              </a:rPr>
              <a:t>outils utilisés pour capturer et analyser les données circulant sur un réseau, incluant les mots de passe non cryptés.</a:t>
            </a:r>
            <a:endParaRPr sz="2200" b="1" dirty="0">
              <a:latin typeface="Arial" panose="020B0604020202020204" pitchFamily="34" charset="0"/>
              <a:cs typeface="Arial" panose="020B0604020202020204" pitchFamily="34" charset="0"/>
            </a:endParaRPr>
          </a:p>
          <a:p>
            <a:pPr marL="355600" indent="-342900">
              <a:lnSpc>
                <a:spcPct val="100000"/>
              </a:lnSpc>
              <a:spcBef>
                <a:spcPts val="720"/>
              </a:spcBef>
              <a:buFont typeface="Arial" panose="020B0604020202020204" pitchFamily="34" charset="0"/>
              <a:buChar char="•"/>
            </a:pPr>
            <a:r>
              <a:rPr sz="2400" b="1" spc="-5" dirty="0">
                <a:latin typeface="Arial" panose="020B0604020202020204" pitchFamily="34" charset="0"/>
                <a:cs typeface="Arial" panose="020B0604020202020204" pitchFamily="34" charset="0"/>
              </a:rPr>
              <a:t>Manipulation</a:t>
            </a:r>
            <a:r>
              <a:rPr sz="2400" b="1" spc="-25" dirty="0">
                <a:latin typeface="Arial" panose="020B0604020202020204" pitchFamily="34" charset="0"/>
                <a:cs typeface="Arial" panose="020B0604020202020204" pitchFamily="34" charset="0"/>
              </a:rPr>
              <a:t> </a:t>
            </a:r>
            <a:r>
              <a:rPr sz="2400" b="1" spc="-5" dirty="0">
                <a:latin typeface="Arial" panose="020B0604020202020204" pitchFamily="34" charset="0"/>
                <a:cs typeface="Arial" panose="020B0604020202020204" pitchFamily="34" charset="0"/>
              </a:rPr>
              <a:t>des</a:t>
            </a:r>
            <a:r>
              <a:rPr sz="2400" b="1" spc="-25" dirty="0">
                <a:latin typeface="Arial" panose="020B0604020202020204" pitchFamily="34" charset="0"/>
                <a:cs typeface="Arial" panose="020B0604020202020204" pitchFamily="34" charset="0"/>
              </a:rPr>
              <a:t> </a:t>
            </a:r>
            <a:r>
              <a:rPr sz="2400" b="1" spc="-5" dirty="0" err="1">
                <a:latin typeface="Arial" panose="020B0604020202020204" pitchFamily="34" charset="0"/>
                <a:cs typeface="Arial" panose="020B0604020202020204" pitchFamily="34" charset="0"/>
              </a:rPr>
              <a:t>utilisateurs</a:t>
            </a:r>
            <a:r>
              <a:rPr lang="fr-FR" sz="2400" b="1" spc="-5" dirty="0">
                <a:latin typeface="Arial" panose="020B0604020202020204" pitchFamily="34" charset="0"/>
                <a:cs typeface="Arial" panose="020B0604020202020204" pitchFamily="34" charset="0"/>
              </a:rPr>
              <a:t> : </a:t>
            </a:r>
            <a:r>
              <a:rPr lang="fr-FR" sz="2200" dirty="0">
                <a:latin typeface="Arial" panose="020B0604020202020204" pitchFamily="34" charset="0"/>
                <a:cs typeface="Arial" panose="020B0604020202020204" pitchFamily="34" charset="0"/>
              </a:rPr>
              <a:t>tactique visant à tromper les utilisateurs pour qu'ils révèlent leurs mots de passe ou d’autres informations sensibles.</a:t>
            </a:r>
            <a:endParaRPr sz="2200" b="1" dirty="0">
              <a:latin typeface="Arial" panose="020B0604020202020204" pitchFamily="34" charset="0"/>
              <a:cs typeface="Arial" panose="020B0604020202020204" pitchFamily="34" charset="0"/>
            </a:endParaRPr>
          </a:p>
        </p:txBody>
      </p:sp>
      <p:pic>
        <p:nvPicPr>
          <p:cNvPr id="4" name="object 4"/>
          <p:cNvPicPr/>
          <p:nvPr/>
        </p:nvPicPr>
        <p:blipFill>
          <a:blip r:embed="rId2" cstate="print"/>
          <a:stretch>
            <a:fillRect/>
          </a:stretch>
        </p:blipFill>
        <p:spPr>
          <a:xfrm>
            <a:off x="7239000" y="1143000"/>
            <a:ext cx="4525668" cy="1480584"/>
          </a:xfrm>
          <a:prstGeom prst="rect">
            <a:avLst/>
          </a:prstGeom>
        </p:spPr>
      </p:pic>
      <p:sp>
        <p:nvSpPr>
          <p:cNvPr id="5" name="Espace réservé du numéro de diapositive 4">
            <a:extLst>
              <a:ext uri="{FF2B5EF4-FFF2-40B4-BE49-F238E27FC236}">
                <a16:creationId xmlns:a16="http://schemas.microsoft.com/office/drawing/2014/main" id="{DB223CB0-D743-ECC2-1C88-7D70A16DFCD8}"/>
              </a:ext>
            </a:extLst>
          </p:cNvPr>
          <p:cNvSpPr>
            <a:spLocks noGrp="1"/>
          </p:cNvSpPr>
          <p:nvPr>
            <p:ph type="sldNum" sz="quarter" idx="7"/>
          </p:nvPr>
        </p:nvSpPr>
        <p:spPr/>
        <p:txBody>
          <a:bodyPr/>
          <a:lstStyle/>
          <a:p>
            <a:fld id="{B6F15528-21DE-4FAA-801E-634DDDAF4B2B}" type="slidenum">
              <a:rPr lang="en-US" smtClean="0"/>
              <a:t>17</a:t>
            </a:fld>
            <a:endParaRPr lang="en-US"/>
          </a:p>
        </p:txBody>
      </p:sp>
      <p:sp>
        <p:nvSpPr>
          <p:cNvPr id="6" name="object 2">
            <a:extLst>
              <a:ext uri="{FF2B5EF4-FFF2-40B4-BE49-F238E27FC236}">
                <a16:creationId xmlns:a16="http://schemas.microsoft.com/office/drawing/2014/main" id="{9068E9CB-364F-A4BC-10F1-9EF1B29B0835}"/>
              </a:ext>
            </a:extLst>
          </p:cNvPr>
          <p:cNvSpPr txBox="1"/>
          <p:nvPr/>
        </p:nvSpPr>
        <p:spPr>
          <a:xfrm>
            <a:off x="1347324" y="507028"/>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2.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err="1">
                <a:solidFill>
                  <a:srgbClr val="C00000"/>
                </a:solidFill>
                <a:latin typeface="Calibri"/>
                <a:cs typeface="Calibri"/>
              </a:rPr>
              <a:t>attaques</a:t>
            </a:r>
            <a:r>
              <a:rPr sz="3600" b="1" spc="-30" dirty="0">
                <a:solidFill>
                  <a:srgbClr val="C00000"/>
                </a:solidFill>
                <a:latin typeface="Calibri"/>
                <a:cs typeface="Calibri"/>
              </a:rPr>
              <a:t> </a:t>
            </a:r>
            <a:r>
              <a:rPr sz="3600" b="1" spc="-5" dirty="0">
                <a:solidFill>
                  <a:srgbClr val="C00000"/>
                </a:solidFill>
                <a:latin typeface="Calibri"/>
                <a:cs typeface="Calibri"/>
              </a:rPr>
              <a:t>d</a:t>
            </a:r>
            <a:r>
              <a:rPr lang="fr-FR" sz="3600" b="1" spc="-5" dirty="0">
                <a:solidFill>
                  <a:srgbClr val="C00000"/>
                </a:solidFill>
                <a:latin typeface="Calibri"/>
                <a:cs typeface="Calibri"/>
              </a:rPr>
              <a:t>’accès</a:t>
            </a:r>
            <a:endParaRPr sz="3600" b="1" dirty="0">
              <a:latin typeface="Calibri"/>
              <a:cs typeface="Calibri"/>
            </a:endParaRPr>
          </a:p>
        </p:txBody>
      </p:sp>
      <p:sp>
        <p:nvSpPr>
          <p:cNvPr id="8" name="ZoneTexte 7">
            <a:extLst>
              <a:ext uri="{FF2B5EF4-FFF2-40B4-BE49-F238E27FC236}">
                <a16:creationId xmlns:a16="http://schemas.microsoft.com/office/drawing/2014/main" id="{918E70FA-F436-400C-8711-6802C5800856}"/>
              </a:ext>
            </a:extLst>
          </p:cNvPr>
          <p:cNvSpPr txBox="1"/>
          <p:nvPr/>
        </p:nvSpPr>
        <p:spPr>
          <a:xfrm>
            <a:off x="228600" y="1796537"/>
            <a:ext cx="6934200" cy="759182"/>
          </a:xfrm>
          <a:prstGeom prst="rect">
            <a:avLst/>
          </a:prstGeom>
          <a:noFill/>
        </p:spPr>
        <p:txBody>
          <a:bodyPr wrap="square">
            <a:spAutoFit/>
          </a:bodyPr>
          <a:lstStyle/>
          <a:p>
            <a:pPr marL="12700" marR="5080">
              <a:lnSpc>
                <a:spcPts val="2630"/>
              </a:lnSpc>
              <a:spcBef>
                <a:spcPts val="395"/>
              </a:spcBef>
            </a:pPr>
            <a:r>
              <a:rPr lang="fr-FR" sz="2200" spc="-5" dirty="0">
                <a:latin typeface="Arial" panose="020B0604020202020204" pitchFamily="34" charset="0"/>
                <a:cs typeface="Arial" panose="020B0604020202020204" pitchFamily="34" charset="0"/>
              </a:rPr>
              <a:t>Les pirates informatiques implémentent des </a:t>
            </a:r>
            <a:r>
              <a:rPr lang="fr-FR" sz="2200" dirty="0">
                <a:latin typeface="Arial" panose="020B0604020202020204" pitchFamily="34" charset="0"/>
                <a:cs typeface="Arial" panose="020B0604020202020204" pitchFamily="34" charset="0"/>
              </a:rPr>
              <a:t>attaques </a:t>
            </a:r>
            <a:r>
              <a:rPr lang="fr-FR" sz="2200" spc="-5" dirty="0">
                <a:latin typeface="Arial" panose="020B0604020202020204" pitchFamily="34" charset="0"/>
                <a:cs typeface="Arial" panose="020B0604020202020204" pitchFamily="34" charset="0"/>
              </a:rPr>
              <a:t>par mot de passe </a:t>
            </a:r>
            <a:r>
              <a:rPr lang="fr-FR" sz="2200" dirty="0">
                <a:latin typeface="Arial" panose="020B0604020202020204" pitchFamily="34" charset="0"/>
                <a:cs typeface="Arial" panose="020B0604020202020204" pitchFamily="34" charset="0"/>
              </a:rPr>
              <a:t>à </a:t>
            </a:r>
            <a:r>
              <a:rPr lang="fr-FR" sz="2200" spc="-5" dirty="0">
                <a:latin typeface="Arial" panose="020B0604020202020204" pitchFamily="34" charset="0"/>
                <a:cs typeface="Arial" panose="020B0604020202020204" pitchFamily="34" charset="0"/>
              </a:rPr>
              <a:t>l’aide des </a:t>
            </a:r>
            <a:r>
              <a:rPr lang="fr-FR" sz="2200" spc="-530" dirty="0">
                <a:latin typeface="Arial" panose="020B0604020202020204" pitchFamily="34" charset="0"/>
                <a:cs typeface="Arial" panose="020B0604020202020204" pitchFamily="34" charset="0"/>
              </a:rPr>
              <a:t> </a:t>
            </a:r>
            <a:r>
              <a:rPr lang="fr-FR" sz="2200" spc="-5" dirty="0">
                <a:latin typeface="Arial" panose="020B0604020202020204" pitchFamily="34" charset="0"/>
                <a:cs typeface="Arial" panose="020B0604020202020204" pitchFamily="34" charset="0"/>
              </a:rPr>
              <a:t>éléments</a:t>
            </a:r>
            <a:r>
              <a:rPr lang="fr-FR" sz="2200" spc="-10" dirty="0">
                <a:latin typeface="Arial" panose="020B0604020202020204" pitchFamily="34" charset="0"/>
                <a:cs typeface="Arial" panose="020B0604020202020204" pitchFamily="34" charset="0"/>
              </a:rPr>
              <a:t> </a:t>
            </a:r>
            <a:r>
              <a:rPr lang="fr-FR" sz="2200" spc="-5" dirty="0">
                <a:latin typeface="Arial" panose="020B0604020202020204" pitchFamily="34" charset="0"/>
                <a:cs typeface="Arial" panose="020B0604020202020204" pitchFamily="34" charset="0"/>
              </a:rPr>
              <a:t>suivants </a:t>
            </a:r>
            <a:r>
              <a:rPr lang="fr-FR" sz="2200" dirty="0">
                <a:latin typeface="Arial" panose="020B0604020202020204" pitchFamily="34" charset="0"/>
                <a:cs typeface="Arial" panose="020B0604020202020204" pitchFamily="34"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47324" y="1022375"/>
            <a:ext cx="4142740" cy="654025"/>
          </a:xfrm>
          <a:prstGeom prst="rect">
            <a:avLst/>
          </a:prstGeom>
        </p:spPr>
        <p:txBody>
          <a:bodyPr vert="horz" wrap="square" lIns="0" tIns="12700" rIns="0" bIns="0" rtlCol="0">
            <a:spAutoFit/>
          </a:bodyPr>
          <a:lstStyle/>
          <a:p>
            <a:pPr marL="12700">
              <a:lnSpc>
                <a:spcPts val="5015"/>
              </a:lnSpc>
            </a:pPr>
            <a:r>
              <a:rPr spc="-5" dirty="0">
                <a:solidFill>
                  <a:srgbClr val="0070C0"/>
                </a:solidFill>
              </a:rPr>
              <a:t>Trust</a:t>
            </a:r>
            <a:r>
              <a:rPr spc="-90" dirty="0">
                <a:solidFill>
                  <a:srgbClr val="0070C0"/>
                </a:solidFill>
              </a:rPr>
              <a:t> </a:t>
            </a:r>
            <a:r>
              <a:rPr spc="-5" dirty="0">
                <a:solidFill>
                  <a:srgbClr val="0070C0"/>
                </a:solidFill>
              </a:rPr>
              <a:t>Exploitation</a:t>
            </a:r>
          </a:p>
        </p:txBody>
      </p:sp>
      <p:sp>
        <p:nvSpPr>
          <p:cNvPr id="3" name="object 3"/>
          <p:cNvSpPr txBox="1"/>
          <p:nvPr/>
        </p:nvSpPr>
        <p:spPr>
          <a:xfrm>
            <a:off x="323729" y="1779494"/>
            <a:ext cx="5166335" cy="4436471"/>
          </a:xfrm>
          <a:prstGeom prst="rect">
            <a:avLst/>
          </a:prstGeom>
        </p:spPr>
        <p:txBody>
          <a:bodyPr vert="horz" wrap="square" lIns="0" tIns="50165" rIns="0" bIns="0" rtlCol="0">
            <a:spAutoFit/>
          </a:bodyPr>
          <a:lstStyle/>
          <a:p>
            <a:pPr marL="195580" marR="6985" indent="-183515" algn="just">
              <a:lnSpc>
                <a:spcPts val="2630"/>
              </a:lnSpc>
              <a:spcBef>
                <a:spcPts val="395"/>
              </a:spcBef>
              <a:buFont typeface="Arial MT"/>
              <a:buChar char="•"/>
              <a:tabLst>
                <a:tab pos="196215" algn="l"/>
              </a:tabLst>
            </a:pPr>
            <a:r>
              <a:rPr sz="2400" spc="-5" dirty="0">
                <a:latin typeface="Arial" panose="020B0604020202020204" pitchFamily="34" charset="0"/>
                <a:cs typeface="Arial" panose="020B0604020202020204" pitchFamily="34" charset="0"/>
              </a:rPr>
              <a:t>Trust exploitation fait </a:t>
            </a:r>
            <a:r>
              <a:rPr sz="2400" spc="-5" dirty="0" err="1">
                <a:latin typeface="Arial" panose="020B0604020202020204" pitchFamily="34" charset="0"/>
                <a:cs typeface="Arial" panose="020B0604020202020204" pitchFamily="34" charset="0"/>
              </a:rPr>
              <a:t>référence</a:t>
            </a:r>
            <a:r>
              <a:rPr sz="2400" spc="-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à </a:t>
            </a:r>
            <a:r>
              <a:rPr sz="2400" spc="-53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une personne qui tire parti d’une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relation</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de</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confiance</a:t>
            </a:r>
            <a:r>
              <a:rPr sz="2400" spc="53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au</a:t>
            </a:r>
            <a:r>
              <a:rPr sz="2400" spc="54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sein </a:t>
            </a:r>
            <a:r>
              <a:rPr sz="2400" spc="-53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d’un</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réseau.</a:t>
            </a:r>
            <a:endParaRPr sz="2400" dirty="0">
              <a:latin typeface="Arial" panose="020B0604020202020204" pitchFamily="34" charset="0"/>
              <a:cs typeface="Arial" panose="020B0604020202020204" pitchFamily="34" charset="0"/>
            </a:endParaRPr>
          </a:p>
          <a:p>
            <a:pPr marL="195580" marR="5080" indent="-183515" algn="just">
              <a:lnSpc>
                <a:spcPts val="2600"/>
              </a:lnSpc>
              <a:spcBef>
                <a:spcPts val="1005"/>
              </a:spcBef>
              <a:buFont typeface="Arial MT"/>
              <a:buChar char="•"/>
              <a:tabLst>
                <a:tab pos="196215" algn="l"/>
              </a:tabLst>
            </a:pPr>
            <a:r>
              <a:rPr lang="fr-FR" sz="2400" spc="-5" dirty="0">
                <a:latin typeface="Arial" panose="020B0604020202020204" pitchFamily="34" charset="0"/>
                <a:cs typeface="Arial" panose="020B0604020202020204" pitchFamily="34" charset="0"/>
              </a:rPr>
              <a:t>Un</a:t>
            </a:r>
            <a:r>
              <a:rPr lang="fr-FR" sz="240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exemple</a:t>
            </a:r>
            <a:r>
              <a:rPr lang="fr-FR" sz="240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de</a:t>
            </a:r>
            <a:r>
              <a:rPr lang="fr-FR" sz="240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cas</a:t>
            </a:r>
            <a:r>
              <a:rPr lang="fr-FR" sz="240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où </a:t>
            </a:r>
            <a:r>
              <a:rPr lang="fr-FR" sz="240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l’exploitation</a:t>
            </a:r>
            <a:r>
              <a:rPr lang="fr-FR" sz="2400" spc="50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de</a:t>
            </a:r>
            <a:r>
              <a:rPr lang="fr-FR" sz="2400" spc="50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l’approbation</a:t>
            </a:r>
            <a:r>
              <a:rPr lang="fr-FR" sz="2400" spc="50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a lieu lorsque un qu’un réseau de périmètre est connecté à un réseau d’entreprise</a:t>
            </a:r>
          </a:p>
          <a:p>
            <a:pPr marL="195580" marR="5080" indent="-183515" algn="just">
              <a:lnSpc>
                <a:spcPts val="2600"/>
              </a:lnSpc>
              <a:spcBef>
                <a:spcPts val="1005"/>
              </a:spcBef>
              <a:buFont typeface="Arial MT"/>
              <a:buChar char="•"/>
              <a:tabLst>
                <a:tab pos="196215" algn="l"/>
              </a:tabLst>
            </a:pPr>
            <a:r>
              <a:rPr lang="fr-FR" sz="2400" spc="-5" dirty="0">
                <a:latin typeface="Arial" panose="020B0604020202020204" pitchFamily="34" charset="0"/>
                <a:cs typeface="Arial" panose="020B0604020202020204" pitchFamily="34" charset="0"/>
              </a:rPr>
              <a:t>Un</a:t>
            </a:r>
            <a:r>
              <a:rPr lang="fr-FR" sz="2400" spc="31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pirate</a:t>
            </a:r>
            <a:r>
              <a:rPr lang="fr-FR" sz="2400" spc="31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informatique</a:t>
            </a:r>
            <a:r>
              <a:rPr lang="fr-FR" sz="2400" spc="31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tire</a:t>
            </a:r>
            <a:r>
              <a:rPr lang="fr-FR" sz="2400" spc="30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parti de</a:t>
            </a:r>
            <a:r>
              <a:rPr lang="fr-FR" sz="2400" dirty="0">
                <a:latin typeface="Arial" panose="020B0604020202020204" pitchFamily="34" charset="0"/>
                <a:cs typeface="Arial" panose="020B0604020202020204" pitchFamily="34" charset="0"/>
              </a:rPr>
              <a:t>s	</a:t>
            </a:r>
            <a:r>
              <a:rPr lang="fr-FR" sz="2400" spc="-5" dirty="0">
                <a:latin typeface="Arial" panose="020B0604020202020204" pitchFamily="34" charset="0"/>
                <a:cs typeface="Arial" panose="020B0604020202020204" pitchFamily="34" charset="0"/>
              </a:rPr>
              <a:t>relation</a:t>
            </a:r>
            <a:r>
              <a:rPr lang="fr-FR" sz="2400" dirty="0">
                <a:latin typeface="Arial" panose="020B0604020202020204" pitchFamily="34" charset="0"/>
                <a:cs typeface="Arial" panose="020B0604020202020204" pitchFamily="34" charset="0"/>
              </a:rPr>
              <a:t>s	</a:t>
            </a:r>
            <a:r>
              <a:rPr lang="fr-FR" sz="2400" spc="-5" dirty="0">
                <a:latin typeface="Arial" panose="020B0604020202020204" pitchFamily="34" charset="0"/>
                <a:cs typeface="Arial" panose="020B0604020202020204" pitchFamily="34" charset="0"/>
              </a:rPr>
              <a:t>d</a:t>
            </a:r>
            <a:r>
              <a:rPr lang="fr-FR" sz="2400" dirty="0">
                <a:latin typeface="Arial" panose="020B0604020202020204" pitchFamily="34" charset="0"/>
                <a:cs typeface="Arial" panose="020B0604020202020204" pitchFamily="34" charset="0"/>
              </a:rPr>
              <a:t>e	</a:t>
            </a:r>
            <a:r>
              <a:rPr lang="fr-FR" sz="2400" spc="-5" dirty="0">
                <a:latin typeface="Arial" panose="020B0604020202020204" pitchFamily="34" charset="0"/>
                <a:cs typeface="Arial" panose="020B0604020202020204" pitchFamily="34" charset="0"/>
              </a:rPr>
              <a:t>confiance  existantes.</a:t>
            </a:r>
            <a:endParaRPr lang="fr-FR" sz="2400" dirty="0">
              <a:latin typeface="Arial" panose="020B0604020202020204" pitchFamily="34" charset="0"/>
              <a:cs typeface="Arial" panose="020B0604020202020204" pitchFamily="34" charset="0"/>
            </a:endParaRPr>
          </a:p>
          <a:p>
            <a:pPr marL="12065" marR="5080" algn="just">
              <a:lnSpc>
                <a:spcPts val="2600"/>
              </a:lnSpc>
              <a:spcBef>
                <a:spcPts val="1005"/>
              </a:spcBef>
              <a:tabLst>
                <a:tab pos="196215" algn="l"/>
              </a:tabLst>
            </a:pPr>
            <a:endParaRPr lang="fr-FR" sz="2400" dirty="0">
              <a:latin typeface="Arial" panose="020B0604020202020204" pitchFamily="34" charset="0"/>
              <a:cs typeface="Arial" panose="020B0604020202020204" pitchFamily="34" charset="0"/>
            </a:endParaRPr>
          </a:p>
        </p:txBody>
      </p:sp>
      <p:pic>
        <p:nvPicPr>
          <p:cNvPr id="8" name="object 8"/>
          <p:cNvPicPr/>
          <p:nvPr/>
        </p:nvPicPr>
        <p:blipFill>
          <a:blip r:embed="rId2" cstate="print"/>
          <a:stretch>
            <a:fillRect/>
          </a:stretch>
        </p:blipFill>
        <p:spPr>
          <a:xfrm>
            <a:off x="5806770" y="1637441"/>
            <a:ext cx="5928030" cy="4701090"/>
          </a:xfrm>
          <a:prstGeom prst="rect">
            <a:avLst/>
          </a:prstGeom>
        </p:spPr>
      </p:pic>
      <p:sp>
        <p:nvSpPr>
          <p:cNvPr id="9" name="Espace réservé du numéro de diapositive 8">
            <a:extLst>
              <a:ext uri="{FF2B5EF4-FFF2-40B4-BE49-F238E27FC236}">
                <a16:creationId xmlns:a16="http://schemas.microsoft.com/office/drawing/2014/main" id="{D0FFBBAD-DC43-FA3D-C3CB-5566A964854D}"/>
              </a:ext>
            </a:extLst>
          </p:cNvPr>
          <p:cNvSpPr>
            <a:spLocks noGrp="1"/>
          </p:cNvSpPr>
          <p:nvPr>
            <p:ph type="sldNum" sz="quarter" idx="7"/>
          </p:nvPr>
        </p:nvSpPr>
        <p:spPr/>
        <p:txBody>
          <a:bodyPr/>
          <a:lstStyle/>
          <a:p>
            <a:fld id="{B6F15528-21DE-4FAA-801E-634DDDAF4B2B}" type="slidenum">
              <a:rPr lang="en-US" smtClean="0"/>
              <a:t>18</a:t>
            </a:fld>
            <a:endParaRPr lang="en-US"/>
          </a:p>
        </p:txBody>
      </p:sp>
      <p:sp>
        <p:nvSpPr>
          <p:cNvPr id="10" name="object 2">
            <a:extLst>
              <a:ext uri="{FF2B5EF4-FFF2-40B4-BE49-F238E27FC236}">
                <a16:creationId xmlns:a16="http://schemas.microsoft.com/office/drawing/2014/main" id="{7782BA76-3EB3-0624-7CBA-3750544D09C5}"/>
              </a:ext>
            </a:extLst>
          </p:cNvPr>
          <p:cNvSpPr txBox="1"/>
          <p:nvPr/>
        </p:nvSpPr>
        <p:spPr>
          <a:xfrm>
            <a:off x="1347324" y="507028"/>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2.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err="1">
                <a:solidFill>
                  <a:srgbClr val="C00000"/>
                </a:solidFill>
                <a:latin typeface="Calibri"/>
                <a:cs typeface="Calibri"/>
              </a:rPr>
              <a:t>attaques</a:t>
            </a:r>
            <a:r>
              <a:rPr sz="3600" b="1" spc="-30" dirty="0">
                <a:solidFill>
                  <a:srgbClr val="C00000"/>
                </a:solidFill>
                <a:latin typeface="Calibri"/>
                <a:cs typeface="Calibri"/>
              </a:rPr>
              <a:t> </a:t>
            </a:r>
            <a:r>
              <a:rPr sz="3600" b="1" spc="-5" dirty="0">
                <a:solidFill>
                  <a:srgbClr val="C00000"/>
                </a:solidFill>
                <a:latin typeface="Calibri"/>
                <a:cs typeface="Calibri"/>
              </a:rPr>
              <a:t>d</a:t>
            </a:r>
            <a:r>
              <a:rPr lang="fr-FR" sz="3600" b="1" spc="-5" dirty="0">
                <a:solidFill>
                  <a:srgbClr val="C00000"/>
                </a:solidFill>
                <a:latin typeface="Calibri"/>
                <a:cs typeface="Calibri"/>
              </a:rPr>
              <a:t>’accès</a:t>
            </a:r>
            <a:endParaRPr sz="3600" b="1" dirty="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62913" y="793775"/>
            <a:ext cx="3813175" cy="654025"/>
          </a:xfrm>
          <a:prstGeom prst="rect">
            <a:avLst/>
          </a:prstGeom>
        </p:spPr>
        <p:txBody>
          <a:bodyPr vert="horz" wrap="square" lIns="0" tIns="12700" rIns="0" bIns="0" rtlCol="0">
            <a:spAutoFit/>
          </a:bodyPr>
          <a:lstStyle/>
          <a:p>
            <a:pPr marL="12700">
              <a:lnSpc>
                <a:spcPts val="5015"/>
              </a:lnSpc>
            </a:pPr>
            <a:r>
              <a:rPr spc="-5" dirty="0">
                <a:solidFill>
                  <a:srgbClr val="0070C0"/>
                </a:solidFill>
              </a:rPr>
              <a:t>Port</a:t>
            </a:r>
            <a:r>
              <a:rPr spc="-90" dirty="0">
                <a:solidFill>
                  <a:srgbClr val="0070C0"/>
                </a:solidFill>
              </a:rPr>
              <a:t> </a:t>
            </a:r>
            <a:r>
              <a:rPr spc="-5" dirty="0">
                <a:solidFill>
                  <a:srgbClr val="0070C0"/>
                </a:solidFill>
              </a:rPr>
              <a:t>Redirection</a:t>
            </a:r>
          </a:p>
        </p:txBody>
      </p:sp>
      <p:sp>
        <p:nvSpPr>
          <p:cNvPr id="3" name="object 3"/>
          <p:cNvSpPr txBox="1"/>
          <p:nvPr/>
        </p:nvSpPr>
        <p:spPr>
          <a:xfrm>
            <a:off x="255803" y="1752600"/>
            <a:ext cx="5840197" cy="4517775"/>
          </a:xfrm>
          <a:prstGeom prst="rect">
            <a:avLst/>
          </a:prstGeom>
        </p:spPr>
        <p:txBody>
          <a:bodyPr vert="horz" wrap="square" lIns="0" tIns="12065" rIns="0" bIns="0" rtlCol="0">
            <a:spAutoFit/>
          </a:bodyPr>
          <a:lstStyle/>
          <a:p>
            <a:pPr marL="198755" marR="5080" indent="-186690" algn="just">
              <a:lnSpc>
                <a:spcPct val="110800"/>
              </a:lnSpc>
              <a:spcBef>
                <a:spcPts val="95"/>
              </a:spcBef>
              <a:buFont typeface="Arial MT"/>
              <a:buChar char="•"/>
              <a:tabLst>
                <a:tab pos="199390" algn="l"/>
              </a:tabLst>
            </a:pPr>
            <a:r>
              <a:rPr sz="2200" spc="5" dirty="0">
                <a:latin typeface="Arial" panose="020B0604020202020204" pitchFamily="34" charset="0"/>
                <a:cs typeface="Arial" panose="020B0604020202020204" pitchFamily="34" charset="0"/>
              </a:rPr>
              <a:t>Une attaque de </a:t>
            </a:r>
            <a:r>
              <a:rPr sz="2200" dirty="0">
                <a:latin typeface="Arial" panose="020B0604020202020204" pitchFamily="34" charset="0"/>
                <a:cs typeface="Arial" panose="020B0604020202020204" pitchFamily="34" charset="0"/>
              </a:rPr>
              <a:t>redirection </a:t>
            </a:r>
            <a:r>
              <a:rPr sz="2200" spc="5" dirty="0">
                <a:latin typeface="Arial" panose="020B0604020202020204" pitchFamily="34" charset="0"/>
                <a:cs typeface="Arial" panose="020B0604020202020204" pitchFamily="34" charset="0"/>
              </a:rPr>
              <a:t>de </a:t>
            </a:r>
            <a:r>
              <a:rPr sz="2200" dirty="0">
                <a:latin typeface="Arial" panose="020B0604020202020204" pitchFamily="34" charset="0"/>
                <a:cs typeface="Arial" panose="020B0604020202020204" pitchFamily="34" charset="0"/>
              </a:rPr>
              <a:t>port est </a:t>
            </a:r>
            <a:r>
              <a:rPr sz="2200" spc="5" dirty="0">
                <a:latin typeface="Arial" panose="020B0604020202020204" pitchFamily="34" charset="0"/>
                <a:cs typeface="Arial" panose="020B0604020202020204" pitchFamily="34" charset="0"/>
              </a:rPr>
              <a:t>un </a:t>
            </a:r>
            <a:r>
              <a:rPr sz="2200" spc="10" dirty="0">
                <a:latin typeface="Arial" panose="020B0604020202020204" pitchFamily="34" charset="0"/>
                <a:cs typeface="Arial" panose="020B0604020202020204" pitchFamily="34" charset="0"/>
              </a:rPr>
              <a:t> </a:t>
            </a:r>
            <a:r>
              <a:rPr sz="2200" spc="5" dirty="0">
                <a:latin typeface="Arial" panose="020B0604020202020204" pitchFamily="34" charset="0"/>
                <a:cs typeface="Arial" panose="020B0604020202020204" pitchFamily="34" charset="0"/>
              </a:rPr>
              <a:t>type</a:t>
            </a:r>
            <a:r>
              <a:rPr sz="2200" spc="1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d’attaque</a:t>
            </a:r>
            <a:r>
              <a:rPr sz="2200" spc="50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d’exploitation</a:t>
            </a:r>
            <a:r>
              <a:rPr sz="2200" spc="500" dirty="0">
                <a:latin typeface="Arial" panose="020B0604020202020204" pitchFamily="34" charset="0"/>
                <a:cs typeface="Arial" panose="020B0604020202020204" pitchFamily="34" charset="0"/>
              </a:rPr>
              <a:t> </a:t>
            </a:r>
            <a:r>
              <a:rPr sz="2200" spc="5" dirty="0">
                <a:latin typeface="Arial" panose="020B0604020202020204" pitchFamily="34" charset="0"/>
                <a:cs typeface="Arial" panose="020B0604020202020204" pitchFamily="34" charset="0"/>
              </a:rPr>
              <a:t>de </a:t>
            </a:r>
            <a:r>
              <a:rPr sz="2200" spc="-484"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confiance </a:t>
            </a:r>
            <a:r>
              <a:rPr sz="2200" spc="5" dirty="0">
                <a:latin typeface="Arial" panose="020B0604020202020204" pitchFamily="34" charset="0"/>
                <a:cs typeface="Arial" panose="020B0604020202020204" pitchFamily="34" charset="0"/>
              </a:rPr>
              <a:t>qui </a:t>
            </a:r>
            <a:r>
              <a:rPr sz="2200" dirty="0">
                <a:latin typeface="Arial" panose="020B0604020202020204" pitchFamily="34" charset="0"/>
                <a:cs typeface="Arial" panose="020B0604020202020204" pitchFamily="34" charset="0"/>
              </a:rPr>
              <a:t>utilise </a:t>
            </a:r>
            <a:r>
              <a:rPr sz="2200" spc="5" dirty="0">
                <a:latin typeface="Arial" panose="020B0604020202020204" pitchFamily="34" charset="0"/>
                <a:cs typeface="Arial" panose="020B0604020202020204" pitchFamily="34" charset="0"/>
              </a:rPr>
              <a:t>un hôte compromis </a:t>
            </a:r>
            <a:r>
              <a:rPr sz="2200" spc="10" dirty="0">
                <a:latin typeface="Arial" panose="020B0604020202020204" pitchFamily="34" charset="0"/>
                <a:cs typeface="Arial" panose="020B0604020202020204" pitchFamily="34" charset="0"/>
              </a:rPr>
              <a:t> </a:t>
            </a:r>
            <a:r>
              <a:rPr sz="2200" spc="5" dirty="0">
                <a:latin typeface="Arial" panose="020B0604020202020204" pitchFamily="34" charset="0"/>
                <a:cs typeface="Arial" panose="020B0604020202020204" pitchFamily="34" charset="0"/>
              </a:rPr>
              <a:t>pour</a:t>
            </a:r>
            <a:r>
              <a:rPr sz="2200" spc="12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faire</a:t>
            </a:r>
            <a:r>
              <a:rPr sz="2200" spc="13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passer</a:t>
            </a:r>
            <a:r>
              <a:rPr sz="2200" spc="12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le</a:t>
            </a:r>
            <a:r>
              <a:rPr sz="2200" spc="12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trafic</a:t>
            </a:r>
            <a:r>
              <a:rPr sz="2200" spc="125" dirty="0">
                <a:latin typeface="Arial" panose="020B0604020202020204" pitchFamily="34" charset="0"/>
                <a:cs typeface="Arial" panose="020B0604020202020204" pitchFamily="34" charset="0"/>
              </a:rPr>
              <a:t> </a:t>
            </a:r>
            <a:r>
              <a:rPr sz="2200" spc="5" dirty="0">
                <a:latin typeface="Arial" panose="020B0604020202020204" pitchFamily="34" charset="0"/>
                <a:cs typeface="Arial" panose="020B0604020202020204" pitchFamily="34" charset="0"/>
              </a:rPr>
              <a:t>à</a:t>
            </a:r>
            <a:r>
              <a:rPr sz="2200" spc="12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travers</a:t>
            </a:r>
            <a:r>
              <a:rPr sz="2200" spc="125" dirty="0">
                <a:latin typeface="Arial" panose="020B0604020202020204" pitchFamily="34" charset="0"/>
                <a:cs typeface="Arial" panose="020B0604020202020204" pitchFamily="34" charset="0"/>
              </a:rPr>
              <a:t> </a:t>
            </a:r>
            <a:r>
              <a:rPr sz="2200" spc="5" dirty="0">
                <a:latin typeface="Arial" panose="020B0604020202020204" pitchFamily="34" charset="0"/>
                <a:cs typeface="Arial" panose="020B0604020202020204" pitchFamily="34" charset="0"/>
              </a:rPr>
              <a:t>un</a:t>
            </a:r>
            <a:r>
              <a:rPr lang="fr-FR" sz="2200" spc="5" dirty="0">
                <a:latin typeface="Arial" panose="020B0604020202020204" pitchFamily="34" charset="0"/>
                <a:cs typeface="Arial" panose="020B0604020202020204" pitchFamily="34" charset="0"/>
              </a:rPr>
              <a:t> pare-feu qui aurait autrement bloqué l’accès au réseau à la machine attaquante.</a:t>
            </a:r>
          </a:p>
          <a:p>
            <a:pPr marL="198755" marR="5080" indent="-186690" algn="just">
              <a:lnSpc>
                <a:spcPct val="110800"/>
              </a:lnSpc>
              <a:spcBef>
                <a:spcPts val="95"/>
              </a:spcBef>
              <a:buFont typeface="Arial MT"/>
              <a:buChar char="•"/>
              <a:tabLst>
                <a:tab pos="199390" algn="l"/>
              </a:tabLst>
            </a:pPr>
            <a:r>
              <a:rPr lang="fr-FR" sz="2200" spc="5" dirty="0">
                <a:latin typeface="Arial" panose="020B0604020202020204" pitchFamily="34" charset="0"/>
                <a:cs typeface="Arial" panose="020B0604020202020204" pitchFamily="34" charset="0"/>
              </a:rPr>
              <a:t>La</a:t>
            </a:r>
            <a:r>
              <a:rPr lang="fr-FR" sz="2200" spc="10" dirty="0">
                <a:latin typeface="Arial" panose="020B0604020202020204" pitchFamily="34" charset="0"/>
                <a:cs typeface="Arial" panose="020B0604020202020204" pitchFamily="34" charset="0"/>
              </a:rPr>
              <a:t> </a:t>
            </a:r>
            <a:r>
              <a:rPr lang="fr-FR" sz="2200" dirty="0">
                <a:latin typeface="Arial" panose="020B0604020202020204" pitchFamily="34" charset="0"/>
                <a:cs typeface="Arial" panose="020B0604020202020204" pitchFamily="34" charset="0"/>
              </a:rPr>
              <a:t>redirection</a:t>
            </a:r>
            <a:r>
              <a:rPr lang="fr-FR" sz="2200" spc="5" dirty="0">
                <a:latin typeface="Arial" panose="020B0604020202020204" pitchFamily="34" charset="0"/>
                <a:cs typeface="Arial" panose="020B0604020202020204" pitchFamily="34" charset="0"/>
              </a:rPr>
              <a:t> du</a:t>
            </a:r>
            <a:r>
              <a:rPr lang="fr-FR" sz="2200" spc="10" dirty="0">
                <a:latin typeface="Arial" panose="020B0604020202020204" pitchFamily="34" charset="0"/>
                <a:cs typeface="Arial" panose="020B0604020202020204" pitchFamily="34" charset="0"/>
              </a:rPr>
              <a:t> </a:t>
            </a:r>
            <a:r>
              <a:rPr lang="fr-FR" sz="2200" dirty="0">
                <a:latin typeface="Arial" panose="020B0604020202020204" pitchFamily="34" charset="0"/>
                <a:cs typeface="Arial" panose="020B0604020202020204" pitchFamily="34" charset="0"/>
              </a:rPr>
              <a:t>port</a:t>
            </a:r>
            <a:r>
              <a:rPr lang="fr-FR" sz="2200" spc="5" dirty="0">
                <a:latin typeface="Arial" panose="020B0604020202020204" pitchFamily="34" charset="0"/>
                <a:cs typeface="Arial" panose="020B0604020202020204" pitchFamily="34" charset="0"/>
              </a:rPr>
              <a:t> contourne</a:t>
            </a:r>
            <a:r>
              <a:rPr lang="fr-FR" sz="2200" spc="10" dirty="0">
                <a:latin typeface="Arial" panose="020B0604020202020204" pitchFamily="34" charset="0"/>
                <a:cs typeface="Arial" panose="020B0604020202020204" pitchFamily="34" charset="0"/>
              </a:rPr>
              <a:t> </a:t>
            </a:r>
            <a:r>
              <a:rPr lang="fr-FR" sz="2200" dirty="0">
                <a:latin typeface="Arial" panose="020B0604020202020204" pitchFamily="34" charset="0"/>
                <a:cs typeface="Arial" panose="020B0604020202020204" pitchFamily="34" charset="0"/>
              </a:rPr>
              <a:t>les </a:t>
            </a:r>
            <a:r>
              <a:rPr lang="fr-FR" sz="2200" spc="5" dirty="0">
                <a:latin typeface="Arial" panose="020B0604020202020204" pitchFamily="34" charset="0"/>
                <a:cs typeface="Arial" panose="020B0604020202020204" pitchFamily="34" charset="0"/>
              </a:rPr>
              <a:t> ensembles</a:t>
            </a:r>
            <a:r>
              <a:rPr lang="fr-FR" sz="2200" spc="10" dirty="0">
                <a:latin typeface="Arial" panose="020B0604020202020204" pitchFamily="34" charset="0"/>
                <a:cs typeface="Arial" panose="020B0604020202020204" pitchFamily="34" charset="0"/>
              </a:rPr>
              <a:t> </a:t>
            </a:r>
            <a:r>
              <a:rPr lang="fr-FR" sz="2200" spc="5" dirty="0">
                <a:latin typeface="Arial" panose="020B0604020202020204" pitchFamily="34" charset="0"/>
                <a:cs typeface="Arial" panose="020B0604020202020204" pitchFamily="34" charset="0"/>
              </a:rPr>
              <a:t>des</a:t>
            </a:r>
            <a:r>
              <a:rPr lang="fr-FR" sz="2200" spc="10" dirty="0">
                <a:latin typeface="Arial" panose="020B0604020202020204" pitchFamily="34" charset="0"/>
                <a:cs typeface="Arial" panose="020B0604020202020204" pitchFamily="34" charset="0"/>
              </a:rPr>
              <a:t> </a:t>
            </a:r>
            <a:r>
              <a:rPr lang="fr-FR" sz="2200" dirty="0">
                <a:latin typeface="Arial" panose="020B0604020202020204" pitchFamily="34" charset="0"/>
                <a:cs typeface="Arial" panose="020B0604020202020204" pitchFamily="34" charset="0"/>
              </a:rPr>
              <a:t>règles</a:t>
            </a:r>
            <a:r>
              <a:rPr lang="fr-FR" sz="2200" spc="5" dirty="0">
                <a:latin typeface="Arial" panose="020B0604020202020204" pitchFamily="34" charset="0"/>
                <a:cs typeface="Arial" panose="020B0604020202020204" pitchFamily="34" charset="0"/>
              </a:rPr>
              <a:t> du</a:t>
            </a:r>
            <a:r>
              <a:rPr lang="fr-FR" sz="2200" spc="10" dirty="0">
                <a:latin typeface="Arial" panose="020B0604020202020204" pitchFamily="34" charset="0"/>
                <a:cs typeface="Arial" panose="020B0604020202020204" pitchFamily="34" charset="0"/>
              </a:rPr>
              <a:t> </a:t>
            </a:r>
            <a:r>
              <a:rPr lang="fr-FR" sz="2200" dirty="0">
                <a:latin typeface="Arial" panose="020B0604020202020204" pitchFamily="34" charset="0"/>
                <a:cs typeface="Arial" panose="020B0604020202020204" pitchFamily="34" charset="0"/>
              </a:rPr>
              <a:t>pare-feu</a:t>
            </a:r>
            <a:r>
              <a:rPr lang="fr-FR" sz="2200" spc="5" dirty="0">
                <a:latin typeface="Arial" panose="020B0604020202020204" pitchFamily="34" charset="0"/>
                <a:cs typeface="Arial" panose="020B0604020202020204" pitchFamily="34" charset="0"/>
              </a:rPr>
              <a:t> en </a:t>
            </a:r>
            <a:r>
              <a:rPr lang="fr-FR" sz="2200" spc="-484" dirty="0">
                <a:latin typeface="Arial" panose="020B0604020202020204" pitchFamily="34" charset="0"/>
                <a:cs typeface="Arial" panose="020B0604020202020204" pitchFamily="34" charset="0"/>
              </a:rPr>
              <a:t> </a:t>
            </a:r>
            <a:r>
              <a:rPr lang="fr-FR" sz="2200" dirty="0">
                <a:latin typeface="Arial" panose="020B0604020202020204" pitchFamily="34" charset="0"/>
                <a:cs typeface="Arial" panose="020B0604020202020204" pitchFamily="34" charset="0"/>
              </a:rPr>
              <a:t>utilisant</a:t>
            </a:r>
            <a:r>
              <a:rPr lang="fr-FR" sz="2200" spc="5" dirty="0">
                <a:latin typeface="Arial" panose="020B0604020202020204" pitchFamily="34" charset="0"/>
                <a:cs typeface="Arial" panose="020B0604020202020204" pitchFamily="34" charset="0"/>
              </a:rPr>
              <a:t> </a:t>
            </a:r>
            <a:r>
              <a:rPr lang="fr-FR" sz="2200" dirty="0">
                <a:latin typeface="Arial" panose="020B0604020202020204" pitchFamily="34" charset="0"/>
                <a:cs typeface="Arial" panose="020B0604020202020204" pitchFamily="34" charset="0"/>
              </a:rPr>
              <a:t>l'adresse</a:t>
            </a:r>
            <a:r>
              <a:rPr lang="fr-FR" sz="2200" spc="5" dirty="0">
                <a:latin typeface="Arial" panose="020B0604020202020204" pitchFamily="34" charset="0"/>
                <a:cs typeface="Arial" panose="020B0604020202020204" pitchFamily="34" charset="0"/>
              </a:rPr>
              <a:t> IP</a:t>
            </a:r>
            <a:r>
              <a:rPr lang="fr-FR" sz="2200" spc="10" dirty="0">
                <a:latin typeface="Arial" panose="020B0604020202020204" pitchFamily="34" charset="0"/>
                <a:cs typeface="Arial" panose="020B0604020202020204" pitchFamily="34" charset="0"/>
              </a:rPr>
              <a:t> </a:t>
            </a:r>
            <a:r>
              <a:rPr lang="fr-FR" sz="2200" spc="5" dirty="0">
                <a:latin typeface="Arial" panose="020B0604020202020204" pitchFamily="34" charset="0"/>
                <a:cs typeface="Arial" panose="020B0604020202020204" pitchFamily="34" charset="0"/>
              </a:rPr>
              <a:t>et</a:t>
            </a:r>
            <a:r>
              <a:rPr lang="fr-FR" sz="2200" spc="10" dirty="0">
                <a:latin typeface="Arial" panose="020B0604020202020204" pitchFamily="34" charset="0"/>
                <a:cs typeface="Arial" panose="020B0604020202020204" pitchFamily="34" charset="0"/>
              </a:rPr>
              <a:t> </a:t>
            </a:r>
            <a:r>
              <a:rPr lang="fr-FR" sz="2200" dirty="0">
                <a:latin typeface="Arial" panose="020B0604020202020204" pitchFamily="34" charset="0"/>
                <a:cs typeface="Arial" panose="020B0604020202020204" pitchFamily="34" charset="0"/>
              </a:rPr>
              <a:t>le</a:t>
            </a:r>
            <a:r>
              <a:rPr lang="fr-FR" sz="2200" spc="5" dirty="0">
                <a:latin typeface="Arial" panose="020B0604020202020204" pitchFamily="34" charset="0"/>
                <a:cs typeface="Arial" panose="020B0604020202020204" pitchFamily="34" charset="0"/>
              </a:rPr>
              <a:t> </a:t>
            </a:r>
            <a:r>
              <a:rPr lang="fr-FR" sz="2200" dirty="0">
                <a:latin typeface="Arial" panose="020B0604020202020204" pitchFamily="34" charset="0"/>
                <a:cs typeface="Arial" panose="020B0604020202020204" pitchFamily="34" charset="0"/>
              </a:rPr>
              <a:t>port</a:t>
            </a:r>
            <a:r>
              <a:rPr lang="fr-FR" sz="2200" spc="5" dirty="0">
                <a:latin typeface="Arial" panose="020B0604020202020204" pitchFamily="34" charset="0"/>
                <a:cs typeface="Arial" panose="020B0604020202020204" pitchFamily="34" charset="0"/>
              </a:rPr>
              <a:t> de</a:t>
            </a:r>
            <a:r>
              <a:rPr lang="fr-FR" sz="2200" spc="10" dirty="0">
                <a:latin typeface="Arial" panose="020B0604020202020204" pitchFamily="34" charset="0"/>
                <a:cs typeface="Arial" panose="020B0604020202020204" pitchFamily="34" charset="0"/>
              </a:rPr>
              <a:t> </a:t>
            </a:r>
            <a:r>
              <a:rPr lang="fr-FR" sz="2200" dirty="0">
                <a:latin typeface="Arial" panose="020B0604020202020204" pitchFamily="34" charset="0"/>
                <a:cs typeface="Arial" panose="020B0604020202020204" pitchFamily="34" charset="0"/>
              </a:rPr>
              <a:t>la </a:t>
            </a:r>
            <a:r>
              <a:rPr lang="fr-FR" sz="2200" spc="5" dirty="0">
                <a:latin typeface="Arial" panose="020B0604020202020204" pitchFamily="34" charset="0"/>
                <a:cs typeface="Arial" panose="020B0604020202020204" pitchFamily="34" charset="0"/>
              </a:rPr>
              <a:t> machine</a:t>
            </a:r>
            <a:r>
              <a:rPr lang="fr-FR" sz="2200" spc="10" dirty="0">
                <a:latin typeface="Arial" panose="020B0604020202020204" pitchFamily="34" charset="0"/>
                <a:cs typeface="Arial" panose="020B0604020202020204" pitchFamily="34" charset="0"/>
              </a:rPr>
              <a:t> </a:t>
            </a:r>
            <a:r>
              <a:rPr lang="fr-FR" sz="2200" spc="5" dirty="0">
                <a:latin typeface="Arial" panose="020B0604020202020204" pitchFamily="34" charset="0"/>
                <a:cs typeface="Arial" panose="020B0604020202020204" pitchFamily="34" charset="0"/>
              </a:rPr>
              <a:t>hôte</a:t>
            </a:r>
            <a:r>
              <a:rPr lang="fr-FR" sz="2200" spc="10" dirty="0">
                <a:latin typeface="Arial" panose="020B0604020202020204" pitchFamily="34" charset="0"/>
                <a:cs typeface="Arial" panose="020B0604020202020204" pitchFamily="34" charset="0"/>
              </a:rPr>
              <a:t> </a:t>
            </a:r>
            <a:r>
              <a:rPr lang="fr-FR" sz="2200" spc="5" dirty="0">
                <a:latin typeface="Arial" panose="020B0604020202020204" pitchFamily="34" charset="0"/>
                <a:cs typeface="Arial" panose="020B0604020202020204" pitchFamily="34" charset="0"/>
              </a:rPr>
              <a:t>compromise</a:t>
            </a:r>
            <a:r>
              <a:rPr lang="fr-FR" sz="2200" spc="10" dirty="0">
                <a:latin typeface="Arial" panose="020B0604020202020204" pitchFamily="34" charset="0"/>
                <a:cs typeface="Arial" panose="020B0604020202020204" pitchFamily="34" charset="0"/>
              </a:rPr>
              <a:t> au</a:t>
            </a:r>
            <a:r>
              <a:rPr lang="fr-FR" sz="2200" spc="15" dirty="0">
                <a:latin typeface="Arial" panose="020B0604020202020204" pitchFamily="34" charset="0"/>
                <a:cs typeface="Arial" panose="020B0604020202020204" pitchFamily="34" charset="0"/>
              </a:rPr>
              <a:t> </a:t>
            </a:r>
            <a:r>
              <a:rPr lang="fr-FR" sz="2200" dirty="0">
                <a:latin typeface="Arial" panose="020B0604020202020204" pitchFamily="34" charset="0"/>
                <a:cs typeface="Arial" panose="020B0604020202020204" pitchFamily="34" charset="0"/>
              </a:rPr>
              <a:t>lieu</a:t>
            </a:r>
            <a:r>
              <a:rPr lang="fr-FR" sz="2200" spc="5" dirty="0">
                <a:latin typeface="Arial" panose="020B0604020202020204" pitchFamily="34" charset="0"/>
                <a:cs typeface="Arial" panose="020B0604020202020204" pitchFamily="34" charset="0"/>
              </a:rPr>
              <a:t> de </a:t>
            </a:r>
            <a:r>
              <a:rPr lang="fr-FR" sz="2200" spc="10" dirty="0">
                <a:latin typeface="Arial" panose="020B0604020202020204" pitchFamily="34" charset="0"/>
                <a:cs typeface="Arial" panose="020B0604020202020204" pitchFamily="34" charset="0"/>
              </a:rPr>
              <a:t> </a:t>
            </a:r>
            <a:r>
              <a:rPr lang="fr-FR" sz="2200" dirty="0">
                <a:latin typeface="Arial" panose="020B0604020202020204" pitchFamily="34" charset="0"/>
                <a:cs typeface="Arial" panose="020B0604020202020204" pitchFamily="34" charset="0"/>
              </a:rPr>
              <a:t>l'adresse </a:t>
            </a:r>
            <a:r>
              <a:rPr lang="fr-FR" sz="2200" spc="5" dirty="0">
                <a:latin typeface="Arial" panose="020B0604020202020204" pitchFamily="34" charset="0"/>
                <a:cs typeface="Arial" panose="020B0604020202020204" pitchFamily="34" charset="0"/>
              </a:rPr>
              <a:t>IP et du </a:t>
            </a:r>
            <a:r>
              <a:rPr lang="fr-FR" sz="2200" dirty="0">
                <a:latin typeface="Arial" panose="020B0604020202020204" pitchFamily="34" charset="0"/>
                <a:cs typeface="Arial" panose="020B0604020202020204" pitchFamily="34" charset="0"/>
              </a:rPr>
              <a:t>port </a:t>
            </a:r>
            <a:r>
              <a:rPr lang="fr-FR" sz="2200" spc="5" dirty="0">
                <a:latin typeface="Arial" panose="020B0604020202020204" pitchFamily="34" charset="0"/>
                <a:cs typeface="Arial" panose="020B0604020202020204" pitchFamily="34" charset="0"/>
              </a:rPr>
              <a:t>de </a:t>
            </a:r>
            <a:r>
              <a:rPr lang="fr-FR" sz="2200" dirty="0">
                <a:latin typeface="Arial" panose="020B0604020202020204" pitchFamily="34" charset="0"/>
                <a:cs typeface="Arial" panose="020B0604020202020204" pitchFamily="34" charset="0"/>
              </a:rPr>
              <a:t>la </a:t>
            </a:r>
            <a:r>
              <a:rPr lang="fr-FR" sz="2200" spc="5" dirty="0">
                <a:latin typeface="Arial" panose="020B0604020202020204" pitchFamily="34" charset="0"/>
                <a:cs typeface="Arial" panose="020B0604020202020204" pitchFamily="34" charset="0"/>
              </a:rPr>
              <a:t>machine </a:t>
            </a:r>
            <a:r>
              <a:rPr lang="fr-FR" sz="2200" dirty="0">
                <a:latin typeface="Arial" panose="020B0604020202020204" pitchFamily="34" charset="0"/>
                <a:cs typeface="Arial" panose="020B0604020202020204" pitchFamily="34" charset="0"/>
              </a:rPr>
              <a:t>qui </a:t>
            </a:r>
            <a:r>
              <a:rPr lang="fr-FR" sz="2200" spc="5" dirty="0">
                <a:latin typeface="Arial" panose="020B0604020202020204" pitchFamily="34" charset="0"/>
                <a:cs typeface="Arial" panose="020B0604020202020204" pitchFamily="34" charset="0"/>
              </a:rPr>
              <a:t> </a:t>
            </a:r>
            <a:r>
              <a:rPr lang="fr-FR" sz="2200" dirty="0">
                <a:latin typeface="Arial" panose="020B0604020202020204" pitchFamily="34" charset="0"/>
                <a:cs typeface="Arial" panose="020B0604020202020204" pitchFamily="34" charset="0"/>
              </a:rPr>
              <a:t>réalise</a:t>
            </a:r>
            <a:r>
              <a:rPr lang="fr-FR" sz="2200" spc="-5" dirty="0">
                <a:latin typeface="Arial" panose="020B0604020202020204" pitchFamily="34" charset="0"/>
                <a:cs typeface="Arial" panose="020B0604020202020204" pitchFamily="34" charset="0"/>
              </a:rPr>
              <a:t> </a:t>
            </a:r>
            <a:r>
              <a:rPr lang="fr-FR" sz="2200" dirty="0">
                <a:latin typeface="Arial" panose="020B0604020202020204" pitchFamily="34" charset="0"/>
                <a:cs typeface="Arial" panose="020B0604020202020204" pitchFamily="34" charset="0"/>
              </a:rPr>
              <a:t>l'attaque.</a:t>
            </a:r>
          </a:p>
          <a:p>
            <a:pPr marL="198755" marR="5080" indent="-186690" algn="just">
              <a:lnSpc>
                <a:spcPct val="110800"/>
              </a:lnSpc>
              <a:spcBef>
                <a:spcPts val="95"/>
              </a:spcBef>
              <a:buFont typeface="Arial MT"/>
              <a:buChar char="•"/>
              <a:tabLst>
                <a:tab pos="199390" algn="l"/>
              </a:tabLst>
            </a:pPr>
            <a:endParaRPr sz="2200" dirty="0">
              <a:latin typeface="Arial" panose="020B0604020202020204" pitchFamily="34" charset="0"/>
              <a:cs typeface="Arial" panose="020B0604020202020204" pitchFamily="34" charset="0"/>
            </a:endParaRPr>
          </a:p>
        </p:txBody>
      </p:sp>
      <p:pic>
        <p:nvPicPr>
          <p:cNvPr id="7" name="object 7"/>
          <p:cNvPicPr/>
          <p:nvPr/>
        </p:nvPicPr>
        <p:blipFill>
          <a:blip r:embed="rId2" cstate="print"/>
          <a:stretch>
            <a:fillRect/>
          </a:stretch>
        </p:blipFill>
        <p:spPr>
          <a:xfrm>
            <a:off x="6324601" y="1352550"/>
            <a:ext cx="5611814" cy="4819650"/>
          </a:xfrm>
          <a:prstGeom prst="rect">
            <a:avLst/>
          </a:prstGeom>
        </p:spPr>
      </p:pic>
      <p:sp>
        <p:nvSpPr>
          <p:cNvPr id="8" name="Espace réservé du numéro de diapositive 7">
            <a:extLst>
              <a:ext uri="{FF2B5EF4-FFF2-40B4-BE49-F238E27FC236}">
                <a16:creationId xmlns:a16="http://schemas.microsoft.com/office/drawing/2014/main" id="{6337AD77-55A7-4CE6-4ACB-72F5274A5374}"/>
              </a:ext>
            </a:extLst>
          </p:cNvPr>
          <p:cNvSpPr>
            <a:spLocks noGrp="1"/>
          </p:cNvSpPr>
          <p:nvPr>
            <p:ph type="sldNum" sz="quarter" idx="7"/>
          </p:nvPr>
        </p:nvSpPr>
        <p:spPr/>
        <p:txBody>
          <a:bodyPr/>
          <a:lstStyle/>
          <a:p>
            <a:fld id="{B6F15528-21DE-4FAA-801E-634DDDAF4B2B}" type="slidenum">
              <a:rPr lang="en-US" smtClean="0"/>
              <a:t>19</a:t>
            </a:fld>
            <a:endParaRPr lang="en-US"/>
          </a:p>
        </p:txBody>
      </p:sp>
      <p:sp>
        <p:nvSpPr>
          <p:cNvPr id="9" name="object 2">
            <a:extLst>
              <a:ext uri="{FF2B5EF4-FFF2-40B4-BE49-F238E27FC236}">
                <a16:creationId xmlns:a16="http://schemas.microsoft.com/office/drawing/2014/main" id="{EFE99B03-F4B8-F0A2-EDB7-EDCA6B46513B}"/>
              </a:ext>
            </a:extLst>
          </p:cNvPr>
          <p:cNvSpPr txBox="1"/>
          <p:nvPr/>
        </p:nvSpPr>
        <p:spPr>
          <a:xfrm>
            <a:off x="1347324" y="228600"/>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2.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err="1">
                <a:solidFill>
                  <a:srgbClr val="C00000"/>
                </a:solidFill>
                <a:latin typeface="Calibri"/>
                <a:cs typeface="Calibri"/>
              </a:rPr>
              <a:t>attaques</a:t>
            </a:r>
            <a:r>
              <a:rPr sz="3600" b="1" spc="-30" dirty="0">
                <a:solidFill>
                  <a:srgbClr val="C00000"/>
                </a:solidFill>
                <a:latin typeface="Calibri"/>
                <a:cs typeface="Calibri"/>
              </a:rPr>
              <a:t> </a:t>
            </a:r>
            <a:r>
              <a:rPr sz="3600" b="1" spc="-5" dirty="0">
                <a:solidFill>
                  <a:srgbClr val="C00000"/>
                </a:solidFill>
                <a:latin typeface="Calibri"/>
                <a:cs typeface="Calibri"/>
              </a:rPr>
              <a:t>d</a:t>
            </a:r>
            <a:r>
              <a:rPr lang="fr-FR" sz="3600" b="1" spc="-5" dirty="0">
                <a:solidFill>
                  <a:srgbClr val="C00000"/>
                </a:solidFill>
                <a:latin typeface="Calibri"/>
                <a:cs typeface="Calibri"/>
              </a:rPr>
              <a:t>’accès</a:t>
            </a:r>
            <a:endParaRPr sz="3600" b="1" dirty="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7632" y="1022375"/>
            <a:ext cx="8014970" cy="654025"/>
          </a:xfrm>
          <a:prstGeom prst="rect">
            <a:avLst/>
          </a:prstGeom>
        </p:spPr>
        <p:txBody>
          <a:bodyPr vert="horz" wrap="square" lIns="0" tIns="12700" rIns="0" bIns="0" rtlCol="0">
            <a:spAutoFit/>
          </a:bodyPr>
          <a:lstStyle/>
          <a:p>
            <a:pPr marL="12700">
              <a:lnSpc>
                <a:spcPts val="5015"/>
              </a:lnSpc>
            </a:pPr>
            <a:r>
              <a:rPr b="0" spc="-5" dirty="0">
                <a:solidFill>
                  <a:srgbClr val="0070C0"/>
                </a:solidFill>
                <a:latin typeface="Calibri"/>
                <a:cs typeface="Calibri"/>
              </a:rPr>
              <a:t>Man-in-the-Middle</a:t>
            </a:r>
            <a:r>
              <a:rPr b="0" spc="245" dirty="0">
                <a:solidFill>
                  <a:srgbClr val="0070C0"/>
                </a:solidFill>
                <a:latin typeface="Calibri"/>
                <a:cs typeface="Calibri"/>
              </a:rPr>
              <a:t> </a:t>
            </a:r>
            <a:r>
              <a:rPr b="0" spc="-10" dirty="0">
                <a:solidFill>
                  <a:srgbClr val="0070C0"/>
                </a:solidFill>
                <a:latin typeface="Calibri"/>
                <a:cs typeface="Calibri"/>
              </a:rPr>
              <a:t>Attacks</a:t>
            </a:r>
            <a:r>
              <a:rPr b="0" spc="-45" dirty="0">
                <a:solidFill>
                  <a:srgbClr val="0070C0"/>
                </a:solidFill>
                <a:latin typeface="Calibri"/>
                <a:cs typeface="Calibri"/>
              </a:rPr>
              <a:t> </a:t>
            </a:r>
            <a:r>
              <a:rPr b="0" spc="-5" dirty="0">
                <a:solidFill>
                  <a:srgbClr val="0070C0"/>
                </a:solidFill>
                <a:latin typeface="Calibri"/>
                <a:cs typeface="Calibri"/>
              </a:rPr>
              <a:t>(MITM)</a:t>
            </a:r>
          </a:p>
        </p:txBody>
      </p:sp>
      <p:sp>
        <p:nvSpPr>
          <p:cNvPr id="3" name="object 3"/>
          <p:cNvSpPr txBox="1"/>
          <p:nvPr/>
        </p:nvSpPr>
        <p:spPr>
          <a:xfrm>
            <a:off x="883039" y="1730243"/>
            <a:ext cx="5351145" cy="4486421"/>
          </a:xfrm>
          <a:prstGeom prst="rect">
            <a:avLst/>
          </a:prstGeom>
        </p:spPr>
        <p:txBody>
          <a:bodyPr vert="horz" wrap="square" lIns="0" tIns="70485" rIns="0" bIns="0" rtlCol="0">
            <a:spAutoFit/>
          </a:bodyPr>
          <a:lstStyle/>
          <a:p>
            <a:pPr marL="40640">
              <a:lnSpc>
                <a:spcPct val="100000"/>
              </a:lnSpc>
              <a:spcBef>
                <a:spcPts val="555"/>
              </a:spcBef>
            </a:pPr>
            <a:r>
              <a:rPr sz="2200" b="1" spc="5" dirty="0">
                <a:latin typeface="Arial" panose="020B0604020202020204" pitchFamily="34" charset="0"/>
                <a:cs typeface="Arial" panose="020B0604020202020204" pitchFamily="34" charset="0"/>
              </a:rPr>
              <a:t>Les</a:t>
            </a:r>
            <a:r>
              <a:rPr sz="2200" b="1" spc="-10" dirty="0">
                <a:latin typeface="Arial" panose="020B0604020202020204" pitchFamily="34" charset="0"/>
                <a:cs typeface="Arial" panose="020B0604020202020204" pitchFamily="34" charset="0"/>
              </a:rPr>
              <a:t> </a:t>
            </a:r>
            <a:r>
              <a:rPr sz="2200" b="1" spc="5" dirty="0">
                <a:latin typeface="Arial" panose="020B0604020202020204" pitchFamily="34" charset="0"/>
                <a:cs typeface="Arial" panose="020B0604020202020204" pitchFamily="34" charset="0"/>
              </a:rPr>
              <a:t>attaques</a:t>
            </a:r>
            <a:r>
              <a:rPr sz="2200" b="1" spc="-5" dirty="0">
                <a:latin typeface="Arial" panose="020B0604020202020204" pitchFamily="34" charset="0"/>
                <a:cs typeface="Arial" panose="020B0604020202020204" pitchFamily="34" charset="0"/>
              </a:rPr>
              <a:t> </a:t>
            </a:r>
            <a:r>
              <a:rPr sz="2200" b="1" spc="5" dirty="0">
                <a:latin typeface="Arial" panose="020B0604020202020204" pitchFamily="34" charset="0"/>
                <a:cs typeface="Arial" panose="020B0604020202020204" pitchFamily="34" charset="0"/>
              </a:rPr>
              <a:t>MITM</a:t>
            </a:r>
            <a:r>
              <a:rPr sz="2200" b="1" spc="-5" dirty="0">
                <a:latin typeface="Arial" panose="020B0604020202020204" pitchFamily="34" charset="0"/>
                <a:cs typeface="Arial" panose="020B0604020202020204" pitchFamily="34" charset="0"/>
              </a:rPr>
              <a:t> </a:t>
            </a:r>
            <a:r>
              <a:rPr sz="2200" b="1" spc="5" dirty="0">
                <a:latin typeface="Arial" panose="020B0604020202020204" pitchFamily="34" charset="0"/>
                <a:cs typeface="Arial" panose="020B0604020202020204" pitchFamily="34" charset="0"/>
              </a:rPr>
              <a:t>ont</a:t>
            </a:r>
            <a:r>
              <a:rPr sz="2200" b="1" spc="-10" dirty="0">
                <a:latin typeface="Arial" panose="020B0604020202020204" pitchFamily="34" charset="0"/>
                <a:cs typeface="Arial" panose="020B0604020202020204" pitchFamily="34" charset="0"/>
              </a:rPr>
              <a:t> </a:t>
            </a:r>
            <a:r>
              <a:rPr sz="2200" b="1" spc="5" dirty="0">
                <a:latin typeface="Arial" panose="020B0604020202020204" pitchFamily="34" charset="0"/>
                <a:cs typeface="Arial" panose="020B0604020202020204" pitchFamily="34" charset="0"/>
              </a:rPr>
              <a:t>ces</a:t>
            </a:r>
            <a:r>
              <a:rPr sz="2200" b="1" spc="-5" dirty="0">
                <a:latin typeface="Arial" panose="020B0604020202020204" pitchFamily="34" charset="0"/>
                <a:cs typeface="Arial" panose="020B0604020202020204" pitchFamily="34" charset="0"/>
              </a:rPr>
              <a:t> </a:t>
            </a:r>
            <a:r>
              <a:rPr sz="2200" b="1" spc="5" dirty="0">
                <a:latin typeface="Arial" panose="020B0604020202020204" pitchFamily="34" charset="0"/>
                <a:cs typeface="Arial" panose="020B0604020202020204" pitchFamily="34" charset="0"/>
              </a:rPr>
              <a:t>buts</a:t>
            </a:r>
            <a:r>
              <a:rPr sz="2200" b="1" spc="-5" dirty="0">
                <a:latin typeface="Arial" panose="020B0604020202020204" pitchFamily="34" charset="0"/>
                <a:cs typeface="Arial" panose="020B0604020202020204" pitchFamily="34" charset="0"/>
              </a:rPr>
              <a:t> </a:t>
            </a:r>
            <a:r>
              <a:rPr sz="2200" b="1" spc="5" dirty="0">
                <a:latin typeface="Arial" panose="020B0604020202020204" pitchFamily="34" charset="0"/>
                <a:cs typeface="Arial" panose="020B0604020202020204" pitchFamily="34" charset="0"/>
              </a:rPr>
              <a:t>:</a:t>
            </a:r>
            <a:endParaRPr sz="2200" b="1" dirty="0">
              <a:latin typeface="Arial" panose="020B0604020202020204" pitchFamily="34" charset="0"/>
              <a:cs typeface="Arial" panose="020B0604020202020204" pitchFamily="34" charset="0"/>
            </a:endParaRPr>
          </a:p>
          <a:p>
            <a:pPr marL="354965" indent="-342900">
              <a:lnSpc>
                <a:spcPct val="100000"/>
              </a:lnSpc>
              <a:spcBef>
                <a:spcPts val="459"/>
              </a:spcBef>
              <a:buFont typeface="Courier New" panose="02070309020205020404" pitchFamily="49" charset="0"/>
              <a:buChar char="o"/>
              <a:tabLst>
                <a:tab pos="269875" algn="l"/>
              </a:tabLst>
            </a:pPr>
            <a:r>
              <a:rPr sz="2200" spc="5" dirty="0">
                <a:latin typeface="Arial" panose="020B0604020202020204" pitchFamily="34" charset="0"/>
                <a:cs typeface="Arial" panose="020B0604020202020204" pitchFamily="34" charset="0"/>
              </a:rPr>
              <a:t>Vol</a:t>
            </a:r>
            <a:r>
              <a:rPr sz="2200" spc="-2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d’informations</a:t>
            </a:r>
          </a:p>
          <a:p>
            <a:pPr marL="354965" marR="118110" indent="-342900">
              <a:lnSpc>
                <a:spcPct val="80500"/>
              </a:lnSpc>
              <a:spcBef>
                <a:spcPts val="1025"/>
              </a:spcBef>
              <a:buFont typeface="Courier New" panose="02070309020205020404" pitchFamily="49" charset="0"/>
              <a:buChar char="o"/>
              <a:tabLst>
                <a:tab pos="269875" algn="l"/>
              </a:tabLst>
            </a:pPr>
            <a:r>
              <a:rPr sz="2200" spc="5" dirty="0">
                <a:latin typeface="Arial" panose="020B0604020202020204" pitchFamily="34" charset="0"/>
                <a:cs typeface="Arial" panose="020B0604020202020204" pitchFamily="34" charset="0"/>
              </a:rPr>
              <a:t>Détournement d’une </a:t>
            </a:r>
            <a:r>
              <a:rPr sz="2200" dirty="0">
                <a:latin typeface="Arial" panose="020B0604020202020204" pitchFamily="34" charset="0"/>
                <a:cs typeface="Arial" panose="020B0604020202020204" pitchFamily="34" charset="0"/>
              </a:rPr>
              <a:t>session </a:t>
            </a:r>
            <a:r>
              <a:rPr sz="2200" spc="5" dirty="0">
                <a:latin typeface="Arial" panose="020B0604020202020204" pitchFamily="34" charset="0"/>
                <a:cs typeface="Arial" panose="020B0604020202020204" pitchFamily="34" charset="0"/>
              </a:rPr>
              <a:t>en </a:t>
            </a:r>
            <a:r>
              <a:rPr sz="2200" dirty="0">
                <a:latin typeface="Arial" panose="020B0604020202020204" pitchFamily="34" charset="0"/>
                <a:cs typeface="Arial" panose="020B0604020202020204" pitchFamily="34" charset="0"/>
              </a:rPr>
              <a:t>cours pour </a:t>
            </a:r>
            <a:r>
              <a:rPr sz="2200" spc="-484" dirty="0">
                <a:latin typeface="Arial" panose="020B0604020202020204" pitchFamily="34" charset="0"/>
                <a:cs typeface="Arial" panose="020B0604020202020204" pitchFamily="34" charset="0"/>
              </a:rPr>
              <a:t> </a:t>
            </a:r>
            <a:r>
              <a:rPr sz="2200" spc="5" dirty="0">
                <a:latin typeface="Arial" panose="020B0604020202020204" pitchFamily="34" charset="0"/>
                <a:cs typeface="Arial" panose="020B0604020202020204" pitchFamily="34" charset="0"/>
              </a:rPr>
              <a:t>accéder</a:t>
            </a:r>
            <a:r>
              <a:rPr sz="2200" dirty="0">
                <a:latin typeface="Arial" panose="020B0604020202020204" pitchFamily="34" charset="0"/>
                <a:cs typeface="Arial" panose="020B0604020202020204" pitchFamily="34" charset="0"/>
              </a:rPr>
              <a:t> </a:t>
            </a:r>
            <a:r>
              <a:rPr sz="2200" spc="5" dirty="0">
                <a:latin typeface="Arial" panose="020B0604020202020204" pitchFamily="34" charset="0"/>
                <a:cs typeface="Arial" panose="020B0604020202020204" pitchFamily="34" charset="0"/>
              </a:rPr>
              <a:t>aux </a:t>
            </a:r>
            <a:r>
              <a:rPr sz="2200" dirty="0">
                <a:latin typeface="Arial" panose="020B0604020202020204" pitchFamily="34" charset="0"/>
                <a:cs typeface="Arial" panose="020B0604020202020204" pitchFamily="34" charset="0"/>
              </a:rPr>
              <a:t>ressources </a:t>
            </a:r>
            <a:r>
              <a:rPr sz="2200" spc="5" dirty="0">
                <a:latin typeface="Arial" panose="020B0604020202020204" pitchFamily="34" charset="0"/>
                <a:cs typeface="Arial" panose="020B0604020202020204" pitchFamily="34" charset="0"/>
              </a:rPr>
              <a:t>de </a:t>
            </a:r>
            <a:r>
              <a:rPr sz="2200" dirty="0">
                <a:latin typeface="Arial" panose="020B0604020202020204" pitchFamily="34" charset="0"/>
                <a:cs typeface="Arial" panose="020B0604020202020204" pitchFamily="34" charset="0"/>
              </a:rPr>
              <a:t>votre</a:t>
            </a:r>
            <a:r>
              <a:rPr sz="2200" spc="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réseau </a:t>
            </a:r>
            <a:r>
              <a:rPr sz="2200" spc="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interne</a:t>
            </a:r>
          </a:p>
          <a:p>
            <a:pPr marL="354965" marR="1003300" indent="-342900">
              <a:lnSpc>
                <a:spcPct val="80500"/>
              </a:lnSpc>
              <a:spcBef>
                <a:spcPts val="975"/>
              </a:spcBef>
              <a:buFont typeface="Courier New" panose="02070309020205020404" pitchFamily="49" charset="0"/>
              <a:buChar char="o"/>
              <a:tabLst>
                <a:tab pos="269875" algn="l"/>
              </a:tabLst>
            </a:pPr>
            <a:r>
              <a:rPr sz="2200" dirty="0">
                <a:latin typeface="Arial" panose="020B0604020202020204" pitchFamily="34" charset="0"/>
                <a:cs typeface="Arial" panose="020B0604020202020204" pitchFamily="34" charset="0"/>
              </a:rPr>
              <a:t>Analyse </a:t>
            </a:r>
            <a:r>
              <a:rPr sz="2200" spc="5" dirty="0">
                <a:latin typeface="Arial" panose="020B0604020202020204" pitchFamily="34" charset="0"/>
                <a:cs typeface="Arial" panose="020B0604020202020204" pitchFamily="34" charset="0"/>
              </a:rPr>
              <a:t>du </a:t>
            </a:r>
            <a:r>
              <a:rPr sz="2200" dirty="0">
                <a:latin typeface="Arial" panose="020B0604020202020204" pitchFamily="34" charset="0"/>
                <a:cs typeface="Arial" panose="020B0604020202020204" pitchFamily="34" charset="0"/>
              </a:rPr>
              <a:t>trafic </a:t>
            </a:r>
            <a:r>
              <a:rPr sz="2200" spc="5" dirty="0">
                <a:latin typeface="Arial" panose="020B0604020202020204" pitchFamily="34" charset="0"/>
                <a:cs typeface="Arial" panose="020B0604020202020204" pitchFamily="34" charset="0"/>
              </a:rPr>
              <a:t>pour </a:t>
            </a:r>
            <a:r>
              <a:rPr sz="2200" dirty="0">
                <a:latin typeface="Arial" panose="020B0604020202020204" pitchFamily="34" charset="0"/>
                <a:cs typeface="Arial" panose="020B0604020202020204" pitchFamily="34" charset="0"/>
              </a:rPr>
              <a:t>obtenir des </a:t>
            </a:r>
            <a:r>
              <a:rPr sz="2200" spc="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informations </a:t>
            </a:r>
            <a:r>
              <a:rPr sz="2200" spc="5" dirty="0">
                <a:latin typeface="Arial" panose="020B0604020202020204" pitchFamily="34" charset="0"/>
                <a:cs typeface="Arial" panose="020B0604020202020204" pitchFamily="34" charset="0"/>
              </a:rPr>
              <a:t>sur </a:t>
            </a:r>
            <a:r>
              <a:rPr sz="2200" dirty="0">
                <a:latin typeface="Arial" panose="020B0604020202020204" pitchFamily="34" charset="0"/>
                <a:cs typeface="Arial" panose="020B0604020202020204" pitchFamily="34" charset="0"/>
              </a:rPr>
              <a:t>votre </a:t>
            </a:r>
            <a:r>
              <a:rPr sz="2200" spc="5" dirty="0">
                <a:latin typeface="Arial" panose="020B0604020202020204" pitchFamily="34" charset="0"/>
                <a:cs typeface="Arial" panose="020B0604020202020204" pitchFamily="34" charset="0"/>
              </a:rPr>
              <a:t>réseau et </a:t>
            </a:r>
            <a:r>
              <a:rPr sz="2200" dirty="0">
                <a:latin typeface="Arial" panose="020B0604020202020204" pitchFamily="34" charset="0"/>
                <a:cs typeface="Arial" panose="020B0604020202020204" pitchFamily="34" charset="0"/>
              </a:rPr>
              <a:t>les </a:t>
            </a:r>
            <a:r>
              <a:rPr sz="2200" spc="-484"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utilisateurs</a:t>
            </a:r>
            <a:r>
              <a:rPr sz="2200" spc="-5" dirty="0">
                <a:latin typeface="Arial" panose="020B0604020202020204" pitchFamily="34" charset="0"/>
                <a:cs typeface="Arial" panose="020B0604020202020204" pitchFamily="34" charset="0"/>
              </a:rPr>
              <a:t> </a:t>
            </a:r>
            <a:r>
              <a:rPr sz="2200" spc="5" dirty="0">
                <a:latin typeface="Arial" panose="020B0604020202020204" pitchFamily="34" charset="0"/>
                <a:cs typeface="Arial" panose="020B0604020202020204" pitchFamily="34" charset="0"/>
              </a:rPr>
              <a:t>du</a:t>
            </a:r>
            <a:r>
              <a:rPr sz="2200" dirty="0">
                <a:latin typeface="Arial" panose="020B0604020202020204" pitchFamily="34" charset="0"/>
                <a:cs typeface="Arial" panose="020B0604020202020204" pitchFamily="34" charset="0"/>
              </a:rPr>
              <a:t> réseau</a:t>
            </a:r>
          </a:p>
          <a:p>
            <a:pPr marL="354965" indent="-342900">
              <a:lnSpc>
                <a:spcPct val="100000"/>
              </a:lnSpc>
              <a:spcBef>
                <a:spcPts val="459"/>
              </a:spcBef>
              <a:buFont typeface="Courier New" panose="02070309020205020404" pitchFamily="49" charset="0"/>
              <a:buChar char="o"/>
              <a:tabLst>
                <a:tab pos="269875" algn="l"/>
              </a:tabLst>
            </a:pPr>
            <a:r>
              <a:rPr sz="2200" spc="5" dirty="0">
                <a:latin typeface="Arial" panose="020B0604020202020204" pitchFamily="34" charset="0"/>
                <a:cs typeface="Arial" panose="020B0604020202020204" pitchFamily="34" charset="0"/>
              </a:rPr>
              <a:t>DoS</a:t>
            </a:r>
            <a:endParaRPr sz="2200" dirty="0">
              <a:latin typeface="Arial" panose="020B0604020202020204" pitchFamily="34" charset="0"/>
              <a:cs typeface="Arial" panose="020B0604020202020204" pitchFamily="34" charset="0"/>
            </a:endParaRPr>
          </a:p>
          <a:p>
            <a:pPr marL="354965" indent="-342900">
              <a:lnSpc>
                <a:spcPct val="100000"/>
              </a:lnSpc>
              <a:spcBef>
                <a:spcPts val="509"/>
              </a:spcBef>
              <a:buFont typeface="Courier New" panose="02070309020205020404" pitchFamily="49" charset="0"/>
              <a:buChar char="o"/>
              <a:tabLst>
                <a:tab pos="269875" algn="l"/>
              </a:tabLst>
            </a:pPr>
            <a:r>
              <a:rPr sz="2200" dirty="0">
                <a:latin typeface="Arial" panose="020B0604020202020204" pitchFamily="34" charset="0"/>
                <a:cs typeface="Arial" panose="020B0604020202020204" pitchFamily="34" charset="0"/>
              </a:rPr>
              <a:t>Corruption</a:t>
            </a:r>
            <a:r>
              <a:rPr sz="2200" spc="-5" dirty="0">
                <a:latin typeface="Arial" panose="020B0604020202020204" pitchFamily="34" charset="0"/>
                <a:cs typeface="Arial" panose="020B0604020202020204" pitchFamily="34" charset="0"/>
              </a:rPr>
              <a:t> </a:t>
            </a:r>
            <a:r>
              <a:rPr sz="2200" spc="5" dirty="0">
                <a:latin typeface="Arial" panose="020B0604020202020204" pitchFamily="34" charset="0"/>
                <a:cs typeface="Arial" panose="020B0604020202020204" pitchFamily="34" charset="0"/>
              </a:rPr>
              <a:t>des</a:t>
            </a:r>
            <a:r>
              <a:rPr sz="2200" dirty="0">
                <a:latin typeface="Arial" panose="020B0604020202020204" pitchFamily="34" charset="0"/>
                <a:cs typeface="Arial" panose="020B0604020202020204" pitchFamily="34" charset="0"/>
              </a:rPr>
              <a:t> </a:t>
            </a:r>
            <a:r>
              <a:rPr sz="2200" spc="5" dirty="0">
                <a:latin typeface="Arial" panose="020B0604020202020204" pitchFamily="34" charset="0"/>
                <a:cs typeface="Arial" panose="020B0604020202020204" pitchFamily="34" charset="0"/>
              </a:rPr>
              <a:t>données</a:t>
            </a:r>
            <a:r>
              <a:rPr sz="2200" spc="-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transmises</a:t>
            </a:r>
          </a:p>
          <a:p>
            <a:pPr marL="354965" marR="5080" indent="-342900">
              <a:lnSpc>
                <a:spcPts val="2150"/>
              </a:lnSpc>
              <a:spcBef>
                <a:spcPts val="990"/>
              </a:spcBef>
              <a:buFont typeface="Courier New" panose="02070309020205020404" pitchFamily="49" charset="0"/>
              <a:buChar char="o"/>
              <a:tabLst>
                <a:tab pos="269875" algn="l"/>
              </a:tabLst>
            </a:pPr>
            <a:r>
              <a:rPr sz="2200" dirty="0">
                <a:latin typeface="Arial" panose="020B0604020202020204" pitchFamily="34" charset="0"/>
                <a:cs typeface="Arial" panose="020B0604020202020204" pitchFamily="34" charset="0"/>
              </a:rPr>
              <a:t>Introduction</a:t>
            </a:r>
            <a:r>
              <a:rPr sz="2200" spc="10" dirty="0">
                <a:latin typeface="Arial" panose="020B0604020202020204" pitchFamily="34" charset="0"/>
                <a:cs typeface="Arial" panose="020B0604020202020204" pitchFamily="34" charset="0"/>
              </a:rPr>
              <a:t> </a:t>
            </a:r>
            <a:r>
              <a:rPr sz="2200" spc="5" dirty="0">
                <a:latin typeface="Arial" panose="020B0604020202020204" pitchFamily="34" charset="0"/>
                <a:cs typeface="Arial" panose="020B0604020202020204" pitchFamily="34" charset="0"/>
              </a:rPr>
              <a:t>de</a:t>
            </a:r>
            <a:r>
              <a:rPr sz="2200" spc="1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nouvelles</a:t>
            </a:r>
            <a:r>
              <a:rPr sz="2200" spc="1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informations</a:t>
            </a:r>
            <a:r>
              <a:rPr sz="2200" spc="1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dans </a:t>
            </a:r>
            <a:r>
              <a:rPr sz="2200" spc="-480"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les</a:t>
            </a:r>
            <a:r>
              <a:rPr sz="2200" spc="-5" dirty="0">
                <a:latin typeface="Arial" panose="020B0604020202020204" pitchFamily="34" charset="0"/>
                <a:cs typeface="Arial" panose="020B0604020202020204" pitchFamily="34" charset="0"/>
              </a:rPr>
              <a:t> </a:t>
            </a:r>
            <a:r>
              <a:rPr sz="2200" dirty="0">
                <a:latin typeface="Arial" panose="020B0604020202020204" pitchFamily="34" charset="0"/>
                <a:cs typeface="Arial" panose="020B0604020202020204" pitchFamily="34" charset="0"/>
              </a:rPr>
              <a:t>sessions </a:t>
            </a:r>
            <a:r>
              <a:rPr sz="2200" spc="5" dirty="0">
                <a:latin typeface="Arial" panose="020B0604020202020204" pitchFamily="34" charset="0"/>
                <a:cs typeface="Arial" panose="020B0604020202020204" pitchFamily="34" charset="0"/>
              </a:rPr>
              <a:t>de</a:t>
            </a:r>
            <a:r>
              <a:rPr sz="2200" dirty="0">
                <a:latin typeface="Arial" panose="020B0604020202020204" pitchFamily="34" charset="0"/>
                <a:cs typeface="Arial" panose="020B0604020202020204" pitchFamily="34" charset="0"/>
              </a:rPr>
              <a:t> réseau</a:t>
            </a:r>
          </a:p>
        </p:txBody>
      </p:sp>
      <p:pic>
        <p:nvPicPr>
          <p:cNvPr id="4" name="object 4"/>
          <p:cNvPicPr/>
          <p:nvPr/>
        </p:nvPicPr>
        <p:blipFill>
          <a:blip r:embed="rId2" cstate="print"/>
          <a:stretch>
            <a:fillRect/>
          </a:stretch>
        </p:blipFill>
        <p:spPr>
          <a:xfrm>
            <a:off x="6479438" y="2177715"/>
            <a:ext cx="5574016" cy="4152900"/>
          </a:xfrm>
          <a:prstGeom prst="rect">
            <a:avLst/>
          </a:prstGeom>
        </p:spPr>
      </p:pic>
      <p:sp>
        <p:nvSpPr>
          <p:cNvPr id="5" name="Espace réservé du numéro de diapositive 4">
            <a:extLst>
              <a:ext uri="{FF2B5EF4-FFF2-40B4-BE49-F238E27FC236}">
                <a16:creationId xmlns:a16="http://schemas.microsoft.com/office/drawing/2014/main" id="{AA268494-9158-5A82-A57D-D4F65683DD08}"/>
              </a:ext>
            </a:extLst>
          </p:cNvPr>
          <p:cNvSpPr>
            <a:spLocks noGrp="1"/>
          </p:cNvSpPr>
          <p:nvPr>
            <p:ph type="sldNum" sz="quarter" idx="7"/>
          </p:nvPr>
        </p:nvSpPr>
        <p:spPr/>
        <p:txBody>
          <a:bodyPr/>
          <a:lstStyle/>
          <a:p>
            <a:fld id="{B6F15528-21DE-4FAA-801E-634DDDAF4B2B}" type="slidenum">
              <a:rPr lang="en-US" smtClean="0"/>
              <a:t>20</a:t>
            </a:fld>
            <a:endParaRPr lang="en-US"/>
          </a:p>
        </p:txBody>
      </p:sp>
      <p:sp>
        <p:nvSpPr>
          <p:cNvPr id="6" name="object 2">
            <a:extLst>
              <a:ext uri="{FF2B5EF4-FFF2-40B4-BE49-F238E27FC236}">
                <a16:creationId xmlns:a16="http://schemas.microsoft.com/office/drawing/2014/main" id="{850AB99F-C69C-5F93-DBA3-22944DC15196}"/>
              </a:ext>
            </a:extLst>
          </p:cNvPr>
          <p:cNvSpPr txBox="1"/>
          <p:nvPr/>
        </p:nvSpPr>
        <p:spPr>
          <a:xfrm>
            <a:off x="1347324" y="507028"/>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2.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err="1">
                <a:solidFill>
                  <a:srgbClr val="C00000"/>
                </a:solidFill>
                <a:latin typeface="Calibri"/>
                <a:cs typeface="Calibri"/>
              </a:rPr>
              <a:t>attaques</a:t>
            </a:r>
            <a:r>
              <a:rPr sz="3600" b="1" spc="-30" dirty="0">
                <a:solidFill>
                  <a:srgbClr val="C00000"/>
                </a:solidFill>
                <a:latin typeface="Calibri"/>
                <a:cs typeface="Calibri"/>
              </a:rPr>
              <a:t> </a:t>
            </a:r>
            <a:r>
              <a:rPr sz="3600" b="1" spc="-5" dirty="0">
                <a:solidFill>
                  <a:srgbClr val="C00000"/>
                </a:solidFill>
                <a:latin typeface="Calibri"/>
                <a:cs typeface="Calibri"/>
              </a:rPr>
              <a:t>d</a:t>
            </a:r>
            <a:r>
              <a:rPr lang="fr-FR" sz="3600" b="1" spc="-5" dirty="0">
                <a:solidFill>
                  <a:srgbClr val="C00000"/>
                </a:solidFill>
                <a:latin typeface="Calibri"/>
                <a:cs typeface="Calibri"/>
              </a:rPr>
              <a:t>’accès</a:t>
            </a:r>
            <a:endParaRPr sz="3600" b="1"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1052" y="625104"/>
            <a:ext cx="4526280" cy="695960"/>
          </a:xfrm>
          <a:prstGeom prst="rect">
            <a:avLst/>
          </a:prstGeom>
        </p:spPr>
        <p:txBody>
          <a:bodyPr vert="horz" wrap="square" lIns="0" tIns="12700" rIns="0" bIns="0" rtlCol="0">
            <a:spAutoFit/>
          </a:bodyPr>
          <a:lstStyle/>
          <a:p>
            <a:pPr marL="12700">
              <a:lnSpc>
                <a:spcPct val="100000"/>
              </a:lnSpc>
              <a:spcBef>
                <a:spcPts val="100"/>
              </a:spcBef>
            </a:pPr>
            <a:r>
              <a:rPr spc="-5" dirty="0"/>
              <a:t>3.</a:t>
            </a:r>
            <a:r>
              <a:rPr spc="-40" dirty="0"/>
              <a:t> </a:t>
            </a:r>
            <a:r>
              <a:rPr spc="-10" dirty="0"/>
              <a:t>Les</a:t>
            </a:r>
            <a:r>
              <a:rPr spc="-35" dirty="0"/>
              <a:t> </a:t>
            </a:r>
            <a:r>
              <a:rPr spc="-10" dirty="0"/>
              <a:t>attaques</a:t>
            </a:r>
            <a:r>
              <a:rPr spc="-35" dirty="0"/>
              <a:t> </a:t>
            </a:r>
            <a:r>
              <a:rPr spc="-5" dirty="0"/>
              <a:t>DoS</a:t>
            </a:r>
          </a:p>
        </p:txBody>
      </p:sp>
      <p:sp>
        <p:nvSpPr>
          <p:cNvPr id="3" name="object 3"/>
          <p:cNvSpPr txBox="1"/>
          <p:nvPr/>
        </p:nvSpPr>
        <p:spPr>
          <a:xfrm>
            <a:off x="709265" y="1809572"/>
            <a:ext cx="6628424" cy="2769348"/>
          </a:xfrm>
          <a:prstGeom prst="rect">
            <a:avLst/>
          </a:prstGeom>
        </p:spPr>
        <p:txBody>
          <a:bodyPr vert="horz" wrap="square" lIns="0" tIns="50165" rIns="0" bIns="0" rtlCol="0">
            <a:spAutoFit/>
          </a:bodyPr>
          <a:lstStyle/>
          <a:p>
            <a:pPr marL="195580" marR="5080" indent="-183515" algn="just">
              <a:lnSpc>
                <a:spcPts val="2630"/>
              </a:lnSpc>
              <a:spcBef>
                <a:spcPts val="395"/>
              </a:spcBef>
              <a:buFont typeface="Arial MT"/>
              <a:buChar char="•"/>
              <a:tabLst>
                <a:tab pos="196215" algn="l"/>
              </a:tabLst>
            </a:pPr>
            <a:r>
              <a:rPr lang="fr-FR" sz="2400" dirty="0"/>
              <a:t>Une attaque </a:t>
            </a:r>
            <a:r>
              <a:rPr lang="fr-FR" sz="2400" dirty="0" err="1"/>
              <a:t>DoS</a:t>
            </a:r>
            <a:r>
              <a:rPr lang="fr-FR" sz="2400" dirty="0"/>
              <a:t> vise à rendre un réseau, un hôte ou une application indisponible en surchargeant les ressources jusqu’à provoquer un ralentissement ou un plantage.</a:t>
            </a:r>
          </a:p>
          <a:p>
            <a:pPr marL="195580" marR="5080" indent="-183515" algn="just">
              <a:lnSpc>
                <a:spcPts val="2630"/>
              </a:lnSpc>
              <a:spcBef>
                <a:spcPts val="395"/>
              </a:spcBef>
              <a:buFont typeface="Arial MT"/>
              <a:buChar char="•"/>
              <a:tabLst>
                <a:tab pos="196215" algn="l"/>
              </a:tabLst>
            </a:pPr>
            <a:r>
              <a:rPr lang="fr-FR" sz="2400" dirty="0"/>
              <a:t>La version distribuée, appelée DDoS, utilise plusieurs sources coordonnées, avec des variantes comme le Ping of </a:t>
            </a:r>
            <a:r>
              <a:rPr lang="fr-FR" sz="2400" dirty="0" err="1"/>
              <a:t>Death</a:t>
            </a:r>
            <a:r>
              <a:rPr lang="fr-FR" sz="2400" dirty="0"/>
              <a:t>, le Smurf Attack et le TCP SYN Flood</a:t>
            </a:r>
            <a:endParaRPr sz="2400" dirty="0">
              <a:latin typeface="Arial" panose="020B0604020202020204" pitchFamily="34" charset="0"/>
              <a:cs typeface="Arial" panose="020B0604020202020204" pitchFamily="34" charset="0"/>
            </a:endParaRPr>
          </a:p>
        </p:txBody>
      </p:sp>
      <p:pic>
        <p:nvPicPr>
          <p:cNvPr id="4" name="object 4"/>
          <p:cNvPicPr/>
          <p:nvPr/>
        </p:nvPicPr>
        <p:blipFill>
          <a:blip r:embed="rId2" cstate="print"/>
          <a:stretch>
            <a:fillRect/>
          </a:stretch>
        </p:blipFill>
        <p:spPr>
          <a:xfrm>
            <a:off x="7337689" y="1304511"/>
            <a:ext cx="4701911" cy="2124489"/>
          </a:xfrm>
          <a:prstGeom prst="rect">
            <a:avLst/>
          </a:prstGeom>
        </p:spPr>
      </p:pic>
      <p:sp>
        <p:nvSpPr>
          <p:cNvPr id="5" name="Espace réservé du numéro de diapositive 4">
            <a:extLst>
              <a:ext uri="{FF2B5EF4-FFF2-40B4-BE49-F238E27FC236}">
                <a16:creationId xmlns:a16="http://schemas.microsoft.com/office/drawing/2014/main" id="{AB6E794F-3A40-DD76-1595-9E18177E0984}"/>
              </a:ext>
            </a:extLst>
          </p:cNvPr>
          <p:cNvSpPr>
            <a:spLocks noGrp="1"/>
          </p:cNvSpPr>
          <p:nvPr>
            <p:ph type="sldNum" sz="quarter" idx="7"/>
          </p:nvPr>
        </p:nvSpPr>
        <p:spPr/>
        <p:txBody>
          <a:bodyPr/>
          <a:lstStyle/>
          <a:p>
            <a:fld id="{B6F15528-21DE-4FAA-801E-634DDDAF4B2B}" type="slidenum">
              <a:rPr lang="en-US" smtClean="0"/>
              <a:t>21</a:t>
            </a:fld>
            <a:endParaRPr lang="en-US"/>
          </a:p>
        </p:txBody>
      </p:sp>
      <p:pic>
        <p:nvPicPr>
          <p:cNvPr id="6" name="object 4">
            <a:extLst>
              <a:ext uri="{FF2B5EF4-FFF2-40B4-BE49-F238E27FC236}">
                <a16:creationId xmlns:a16="http://schemas.microsoft.com/office/drawing/2014/main" id="{27A768F5-0B68-8B89-E492-B91AA0D962E2}"/>
              </a:ext>
            </a:extLst>
          </p:cNvPr>
          <p:cNvPicPr/>
          <p:nvPr/>
        </p:nvPicPr>
        <p:blipFill>
          <a:blip r:embed="rId3" cstate="print"/>
          <a:stretch>
            <a:fillRect/>
          </a:stretch>
        </p:blipFill>
        <p:spPr>
          <a:xfrm>
            <a:off x="3099420" y="4385666"/>
            <a:ext cx="3710729" cy="2369332"/>
          </a:xfrm>
          <a:prstGeom prst="rect">
            <a:avLst/>
          </a:prstGeom>
        </p:spPr>
      </p:pic>
      <p:pic>
        <p:nvPicPr>
          <p:cNvPr id="7" name="object 5">
            <a:extLst>
              <a:ext uri="{FF2B5EF4-FFF2-40B4-BE49-F238E27FC236}">
                <a16:creationId xmlns:a16="http://schemas.microsoft.com/office/drawing/2014/main" id="{3A1ED8E8-DFE1-D082-1752-47956DC4AAB4}"/>
              </a:ext>
            </a:extLst>
          </p:cNvPr>
          <p:cNvPicPr/>
          <p:nvPr/>
        </p:nvPicPr>
        <p:blipFill>
          <a:blip r:embed="rId4" cstate="print"/>
          <a:stretch>
            <a:fillRect/>
          </a:stretch>
        </p:blipFill>
        <p:spPr>
          <a:xfrm>
            <a:off x="7471078" y="4426784"/>
            <a:ext cx="3577922" cy="2330172"/>
          </a:xfrm>
          <a:prstGeom prst="rect">
            <a:avLst/>
          </a:prstGeom>
        </p:spPr>
      </p:pic>
      <p:graphicFrame>
        <p:nvGraphicFramePr>
          <p:cNvPr id="11" name="Diagramme 10">
            <a:extLst>
              <a:ext uri="{FF2B5EF4-FFF2-40B4-BE49-F238E27FC236}">
                <a16:creationId xmlns:a16="http://schemas.microsoft.com/office/drawing/2014/main" id="{E1E94840-6F7C-B701-7E1F-80A232B84FA9}"/>
              </a:ext>
            </a:extLst>
          </p:cNvPr>
          <p:cNvGraphicFramePr/>
          <p:nvPr>
            <p:extLst>
              <p:ext uri="{D42A27DB-BD31-4B8C-83A1-F6EECF244321}">
                <p14:modId xmlns:p14="http://schemas.microsoft.com/office/powerpoint/2010/main" val="801815554"/>
              </p:ext>
            </p:extLst>
          </p:nvPr>
        </p:nvGraphicFramePr>
        <p:xfrm>
          <a:off x="2261828" y="4342692"/>
          <a:ext cx="8782690" cy="207492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par>
                          <p:cTn id="9" fill="hold">
                            <p:stCondLst>
                              <p:cond delay="0"/>
                            </p:stCondLst>
                            <p:childTnLst>
                              <p:par>
                                <p:cTn id="10" presetID="10"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12875" y="904240"/>
            <a:ext cx="3082925" cy="695960"/>
          </a:xfrm>
          <a:prstGeom prst="rect">
            <a:avLst/>
          </a:prstGeom>
        </p:spPr>
        <p:txBody>
          <a:bodyPr vert="horz" wrap="square" lIns="0" tIns="12700" rIns="0" bIns="0" rtlCol="0">
            <a:spAutoFit/>
          </a:bodyPr>
          <a:lstStyle/>
          <a:p>
            <a:pPr marL="12700">
              <a:lnSpc>
                <a:spcPct val="100000"/>
              </a:lnSpc>
              <a:spcBef>
                <a:spcPts val="100"/>
              </a:spcBef>
            </a:pPr>
            <a:r>
              <a:rPr b="0" spc="-10" dirty="0">
                <a:solidFill>
                  <a:srgbClr val="0070C0"/>
                </a:solidFill>
                <a:latin typeface="Calibri"/>
                <a:cs typeface="Calibri"/>
              </a:rPr>
              <a:t>Ping</a:t>
            </a:r>
            <a:r>
              <a:rPr b="0" spc="-50" dirty="0">
                <a:solidFill>
                  <a:srgbClr val="0070C0"/>
                </a:solidFill>
                <a:latin typeface="Calibri"/>
                <a:cs typeface="Calibri"/>
              </a:rPr>
              <a:t> </a:t>
            </a:r>
            <a:r>
              <a:rPr b="0" spc="-5" dirty="0">
                <a:solidFill>
                  <a:srgbClr val="0070C0"/>
                </a:solidFill>
                <a:latin typeface="Calibri"/>
                <a:cs typeface="Calibri"/>
              </a:rPr>
              <a:t>of</a:t>
            </a:r>
            <a:r>
              <a:rPr b="0" spc="-45" dirty="0">
                <a:solidFill>
                  <a:srgbClr val="0070C0"/>
                </a:solidFill>
                <a:latin typeface="Calibri"/>
                <a:cs typeface="Calibri"/>
              </a:rPr>
              <a:t> </a:t>
            </a:r>
            <a:r>
              <a:rPr b="0" spc="-5" dirty="0">
                <a:solidFill>
                  <a:srgbClr val="0070C0"/>
                </a:solidFill>
                <a:latin typeface="Calibri"/>
                <a:cs typeface="Calibri"/>
              </a:rPr>
              <a:t>Death</a:t>
            </a:r>
          </a:p>
        </p:txBody>
      </p:sp>
      <p:sp>
        <p:nvSpPr>
          <p:cNvPr id="4" name="object 4"/>
          <p:cNvSpPr txBox="1"/>
          <p:nvPr/>
        </p:nvSpPr>
        <p:spPr>
          <a:xfrm>
            <a:off x="964547" y="1993163"/>
            <a:ext cx="10298430" cy="3004820"/>
          </a:xfrm>
          <a:prstGeom prst="rect">
            <a:avLst/>
          </a:prstGeom>
        </p:spPr>
        <p:txBody>
          <a:bodyPr vert="horz" wrap="square" lIns="0" tIns="63500" rIns="0" bIns="0" rtlCol="0">
            <a:spAutoFit/>
          </a:bodyPr>
          <a:lstStyle/>
          <a:p>
            <a:pPr marL="187960" marR="5715" indent="-175895" algn="just">
              <a:lnSpc>
                <a:spcPts val="3000"/>
              </a:lnSpc>
              <a:spcBef>
                <a:spcPts val="500"/>
              </a:spcBef>
              <a:buFont typeface="Arial MT"/>
              <a:buChar char="•"/>
              <a:tabLst>
                <a:tab pos="188595" algn="l"/>
              </a:tabLst>
            </a:pPr>
            <a:r>
              <a:rPr sz="2800" spc="-5" dirty="0">
                <a:latin typeface="Arial" panose="020B0604020202020204" pitchFamily="34" charset="0"/>
                <a:cs typeface="Arial" panose="020B0604020202020204" pitchFamily="34" charset="0"/>
              </a:rPr>
              <a:t>Attaque</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qui</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envoie</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une</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demande</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d’écho</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dans</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un</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paquet</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IP</a:t>
            </a:r>
            <a:r>
              <a:rPr sz="2800" spc="6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plus </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grand que la </a:t>
            </a:r>
            <a:r>
              <a:rPr sz="2800" spc="-10" dirty="0">
                <a:latin typeface="Arial" panose="020B0604020202020204" pitchFamily="34" charset="0"/>
                <a:cs typeface="Arial" panose="020B0604020202020204" pitchFamily="34" charset="0"/>
              </a:rPr>
              <a:t>taille </a:t>
            </a:r>
            <a:r>
              <a:rPr sz="2800" spc="-5" dirty="0">
                <a:latin typeface="Arial" panose="020B0604020202020204" pitchFamily="34" charset="0"/>
                <a:cs typeface="Arial" panose="020B0604020202020204" pitchFamily="34" charset="0"/>
              </a:rPr>
              <a:t>de paquet maximum de 65.535 octets. L’envoi d’un </a:t>
            </a:r>
            <a:r>
              <a:rPr sz="2800" spc="-6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ping</a:t>
            </a:r>
            <a:r>
              <a:rPr sz="2800" spc="-1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 cette </a:t>
            </a:r>
            <a:r>
              <a:rPr sz="2800" spc="-10" dirty="0">
                <a:latin typeface="Arial" panose="020B0604020202020204" pitchFamily="34" charset="0"/>
                <a:cs typeface="Arial" panose="020B0604020202020204" pitchFamily="34" charset="0"/>
              </a:rPr>
              <a:t>taille</a:t>
            </a:r>
            <a:r>
              <a:rPr sz="2800" spc="-15"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peut planter l’ordinateur cible.</a:t>
            </a:r>
            <a:endParaRPr sz="2800" dirty="0">
              <a:latin typeface="Arial" panose="020B0604020202020204" pitchFamily="34" charset="0"/>
              <a:cs typeface="Arial" panose="020B0604020202020204" pitchFamily="34" charset="0"/>
            </a:endParaRPr>
          </a:p>
          <a:p>
            <a:pPr>
              <a:lnSpc>
                <a:spcPct val="100000"/>
              </a:lnSpc>
              <a:spcBef>
                <a:spcPts val="40"/>
              </a:spcBef>
              <a:buFont typeface="Arial MT"/>
              <a:buChar char="•"/>
            </a:pPr>
            <a:endParaRPr sz="4050" dirty="0">
              <a:latin typeface="Arial" panose="020B0604020202020204" pitchFamily="34" charset="0"/>
              <a:cs typeface="Arial" panose="020B0604020202020204" pitchFamily="34" charset="0"/>
            </a:endParaRPr>
          </a:p>
          <a:p>
            <a:pPr marL="187960" marR="5080" indent="-175895" algn="just">
              <a:lnSpc>
                <a:spcPct val="90000"/>
              </a:lnSpc>
              <a:buFont typeface="Arial MT"/>
              <a:buChar char="•"/>
              <a:tabLst>
                <a:tab pos="188595" algn="l"/>
              </a:tabLst>
            </a:pPr>
            <a:r>
              <a:rPr sz="2800" spc="-5" dirty="0">
                <a:latin typeface="Arial" panose="020B0604020202020204" pitchFamily="34" charset="0"/>
                <a:cs typeface="Arial" panose="020B0604020202020204" pitchFamily="34" charset="0"/>
              </a:rPr>
              <a:t>Une</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variante</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cette</a:t>
            </a:r>
            <a:r>
              <a:rPr sz="2800" dirty="0">
                <a:latin typeface="Arial" panose="020B0604020202020204" pitchFamily="34" charset="0"/>
                <a:cs typeface="Arial" panose="020B0604020202020204" pitchFamily="34" charset="0"/>
              </a:rPr>
              <a:t> attaque</a:t>
            </a:r>
            <a:r>
              <a:rPr sz="2800" spc="5"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consiste</a:t>
            </a:r>
            <a:r>
              <a:rPr sz="2800" dirty="0">
                <a:latin typeface="Arial" panose="020B0604020202020204" pitchFamily="34" charset="0"/>
                <a:cs typeface="Arial" panose="020B0604020202020204" pitchFamily="34" charset="0"/>
              </a:rPr>
              <a:t> à</a:t>
            </a:r>
            <a:r>
              <a:rPr sz="2800" spc="5"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planter</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un</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système</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en </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envoyant</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des</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fragments</a:t>
            </a:r>
            <a:r>
              <a:rPr sz="2800" dirty="0">
                <a:latin typeface="Arial" panose="020B0604020202020204" pitchFamily="34" charset="0"/>
                <a:cs typeface="Arial" panose="020B0604020202020204" pitchFamily="34" charset="0"/>
              </a:rPr>
              <a:t> </a:t>
            </a:r>
            <a:r>
              <a:rPr sz="2800" spc="-10" dirty="0">
                <a:latin typeface="Arial" panose="020B0604020202020204" pitchFamily="34" charset="0"/>
                <a:cs typeface="Arial" panose="020B0604020202020204" pitchFamily="34" charset="0"/>
              </a:rPr>
              <a:t>ICMP,</a:t>
            </a:r>
            <a:r>
              <a:rPr sz="2800" spc="-5" dirty="0">
                <a:latin typeface="Arial" panose="020B0604020202020204" pitchFamily="34" charset="0"/>
                <a:cs typeface="Arial" panose="020B0604020202020204" pitchFamily="34" charset="0"/>
              </a:rPr>
              <a:t> ce</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qui</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remplit</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les</a:t>
            </a:r>
            <a:r>
              <a:rPr sz="2800" dirty="0">
                <a:latin typeface="Arial" panose="020B0604020202020204" pitchFamily="34" charset="0"/>
                <a:cs typeface="Arial" panose="020B0604020202020204" pitchFamily="34" charset="0"/>
              </a:rPr>
              <a:t> </a:t>
            </a:r>
            <a:r>
              <a:rPr sz="2800" spc="-10" dirty="0">
                <a:latin typeface="Arial" panose="020B0604020202020204" pitchFamily="34" charset="0"/>
                <a:cs typeface="Arial" panose="020B0604020202020204" pitchFamily="34" charset="0"/>
              </a:rPr>
              <a:t>tampons</a:t>
            </a:r>
            <a:r>
              <a:rPr sz="2800" spc="-5" dirty="0">
                <a:latin typeface="Arial" panose="020B0604020202020204" pitchFamily="34" charset="0"/>
                <a:cs typeface="Arial" panose="020B0604020202020204" pitchFamily="34" charset="0"/>
              </a:rPr>
              <a:t> de </a:t>
            </a:r>
            <a:r>
              <a:rPr sz="280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réassemblage</a:t>
            </a:r>
            <a:r>
              <a:rPr sz="2800" spc="-1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de la victime.</a:t>
            </a:r>
            <a:endParaRPr sz="2800" dirty="0">
              <a:latin typeface="Arial" panose="020B0604020202020204" pitchFamily="34" charset="0"/>
              <a:cs typeface="Arial" panose="020B0604020202020204" pitchFamily="34" charset="0"/>
            </a:endParaRPr>
          </a:p>
        </p:txBody>
      </p:sp>
      <p:sp>
        <p:nvSpPr>
          <p:cNvPr id="5" name="Espace réservé du numéro de diapositive 4">
            <a:extLst>
              <a:ext uri="{FF2B5EF4-FFF2-40B4-BE49-F238E27FC236}">
                <a16:creationId xmlns:a16="http://schemas.microsoft.com/office/drawing/2014/main" id="{F4B286AE-7F17-EF09-24AC-A9061728AFFD}"/>
              </a:ext>
            </a:extLst>
          </p:cNvPr>
          <p:cNvSpPr>
            <a:spLocks noGrp="1"/>
          </p:cNvSpPr>
          <p:nvPr>
            <p:ph type="sldNum" sz="quarter" idx="7"/>
          </p:nvPr>
        </p:nvSpPr>
        <p:spPr/>
        <p:txBody>
          <a:bodyPr/>
          <a:lstStyle/>
          <a:p>
            <a:fld id="{B6F15528-21DE-4FAA-801E-634DDDAF4B2B}" type="slidenum">
              <a:rPr lang="en-US" smtClean="0"/>
              <a:t>22</a:t>
            </a:fld>
            <a:endParaRPr lang="en-US"/>
          </a:p>
        </p:txBody>
      </p:sp>
      <p:sp>
        <p:nvSpPr>
          <p:cNvPr id="6" name="object 2">
            <a:extLst>
              <a:ext uri="{FF2B5EF4-FFF2-40B4-BE49-F238E27FC236}">
                <a16:creationId xmlns:a16="http://schemas.microsoft.com/office/drawing/2014/main" id="{D68FF4BF-0297-5AED-90D2-CF6ACFDC0530}"/>
              </a:ext>
            </a:extLst>
          </p:cNvPr>
          <p:cNvSpPr txBox="1"/>
          <p:nvPr/>
        </p:nvSpPr>
        <p:spPr>
          <a:xfrm>
            <a:off x="1219200" y="304800"/>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3.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err="1">
                <a:solidFill>
                  <a:srgbClr val="C00000"/>
                </a:solidFill>
                <a:latin typeface="Calibri"/>
                <a:cs typeface="Calibri"/>
              </a:rPr>
              <a:t>attaques</a:t>
            </a:r>
            <a:r>
              <a:rPr sz="3600" b="1" spc="-30" dirty="0">
                <a:solidFill>
                  <a:srgbClr val="C00000"/>
                </a:solidFill>
                <a:latin typeface="Calibri"/>
                <a:cs typeface="Calibri"/>
              </a:rPr>
              <a:t> </a:t>
            </a:r>
            <a:r>
              <a:rPr lang="fr-FR" sz="3600" b="1" spc="-5" dirty="0" err="1">
                <a:solidFill>
                  <a:srgbClr val="C00000"/>
                </a:solidFill>
                <a:latin typeface="Calibri"/>
                <a:cs typeface="Calibri"/>
              </a:rPr>
              <a:t>DoS</a:t>
            </a:r>
            <a:endParaRPr sz="3600" b="1" dirty="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71600" y="869975"/>
            <a:ext cx="2964815" cy="654025"/>
          </a:xfrm>
          <a:prstGeom prst="rect">
            <a:avLst/>
          </a:prstGeom>
        </p:spPr>
        <p:txBody>
          <a:bodyPr vert="horz" wrap="square" lIns="0" tIns="12700" rIns="0" bIns="0" rtlCol="0">
            <a:spAutoFit/>
          </a:bodyPr>
          <a:lstStyle/>
          <a:p>
            <a:pPr marL="12700">
              <a:lnSpc>
                <a:spcPts val="5015"/>
              </a:lnSpc>
            </a:pPr>
            <a:r>
              <a:rPr b="0" spc="-5" dirty="0">
                <a:solidFill>
                  <a:srgbClr val="0070C0"/>
                </a:solidFill>
                <a:latin typeface="Calibri"/>
                <a:cs typeface="Calibri"/>
              </a:rPr>
              <a:t>Smurf</a:t>
            </a:r>
            <a:r>
              <a:rPr b="0" spc="-90" dirty="0">
                <a:solidFill>
                  <a:srgbClr val="0070C0"/>
                </a:solidFill>
                <a:latin typeface="Calibri"/>
                <a:cs typeface="Calibri"/>
              </a:rPr>
              <a:t> </a:t>
            </a:r>
            <a:r>
              <a:rPr b="0" spc="-5" dirty="0">
                <a:solidFill>
                  <a:srgbClr val="0070C0"/>
                </a:solidFill>
                <a:latin typeface="Calibri"/>
                <a:cs typeface="Calibri"/>
              </a:rPr>
              <a:t>Attack</a:t>
            </a:r>
          </a:p>
        </p:txBody>
      </p:sp>
      <p:sp>
        <p:nvSpPr>
          <p:cNvPr id="3" name="object 3"/>
          <p:cNvSpPr txBox="1"/>
          <p:nvPr/>
        </p:nvSpPr>
        <p:spPr>
          <a:xfrm>
            <a:off x="304801" y="1809572"/>
            <a:ext cx="5215860" cy="4183325"/>
          </a:xfrm>
          <a:prstGeom prst="rect">
            <a:avLst/>
          </a:prstGeom>
        </p:spPr>
        <p:txBody>
          <a:bodyPr vert="horz" wrap="square" lIns="0" tIns="50165" rIns="0" bIns="0" rtlCol="0">
            <a:spAutoFit/>
          </a:bodyPr>
          <a:lstStyle/>
          <a:p>
            <a:pPr marL="195580" marR="5080" indent="-183515" algn="just">
              <a:lnSpc>
                <a:spcPts val="2630"/>
              </a:lnSpc>
              <a:spcBef>
                <a:spcPts val="395"/>
              </a:spcBef>
              <a:buFont typeface="Arial MT"/>
              <a:buChar char="•"/>
              <a:tabLst>
                <a:tab pos="196215" algn="l"/>
              </a:tabLst>
            </a:pPr>
            <a:r>
              <a:rPr sz="2400" spc="-5" dirty="0">
                <a:latin typeface="Arial" panose="020B0604020202020204" pitchFamily="34" charset="0"/>
                <a:cs typeface="Arial" panose="020B0604020202020204" pitchFamily="34" charset="0"/>
              </a:rPr>
              <a:t>Une </a:t>
            </a:r>
            <a:r>
              <a:rPr sz="2400" b="1" dirty="0">
                <a:latin typeface="Arial" panose="020B0604020202020204" pitchFamily="34" charset="0"/>
                <a:cs typeface="Arial" panose="020B0604020202020204" pitchFamily="34" charset="0"/>
              </a:rPr>
              <a:t>attaque </a:t>
            </a:r>
            <a:r>
              <a:rPr sz="2400" b="1" spc="-5" dirty="0">
                <a:latin typeface="Arial" panose="020B0604020202020204" pitchFamily="34" charset="0"/>
                <a:cs typeface="Arial" panose="020B0604020202020204" pitchFamily="34" charset="0"/>
              </a:rPr>
              <a:t>smurf est une </a:t>
            </a:r>
            <a:r>
              <a:rPr sz="2400" b="1" dirty="0">
                <a:latin typeface="Arial" panose="020B0604020202020204" pitchFamily="34" charset="0"/>
                <a:cs typeface="Arial" panose="020B0604020202020204" pitchFamily="34" charset="0"/>
              </a:rPr>
              <a:t>attaque </a:t>
            </a:r>
            <a:r>
              <a:rPr sz="2400" b="1" spc="-535" dirty="0">
                <a:latin typeface="Arial" panose="020B0604020202020204" pitchFamily="34" charset="0"/>
                <a:cs typeface="Arial" panose="020B0604020202020204" pitchFamily="34" charset="0"/>
              </a:rPr>
              <a:t> </a:t>
            </a:r>
            <a:r>
              <a:rPr sz="2400" b="1" spc="-5" dirty="0">
                <a:latin typeface="Arial" panose="020B0604020202020204" pitchFamily="34" charset="0"/>
                <a:cs typeface="Arial" panose="020B0604020202020204" pitchFamily="34" charset="0"/>
              </a:rPr>
              <a:t>DDoS</a:t>
            </a:r>
            <a:r>
              <a:rPr sz="2400" b="1"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dans</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laquelle</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un</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grand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nombre de paquets ICMP </a:t>
            </a:r>
            <a:r>
              <a:rPr sz="2400" dirty="0">
                <a:latin typeface="Arial" panose="020B0604020202020204" pitchFamily="34" charset="0"/>
                <a:cs typeface="Arial" panose="020B0604020202020204" pitchFamily="34" charset="0"/>
              </a:rPr>
              <a:t>avec </a:t>
            </a:r>
            <a:r>
              <a:rPr sz="2400" spc="-5" dirty="0">
                <a:latin typeface="Arial" panose="020B0604020202020204" pitchFamily="34" charset="0"/>
                <a:cs typeface="Arial" panose="020B0604020202020204" pitchFamily="34" charset="0"/>
              </a:rPr>
              <a:t>l’IP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source</a:t>
            </a:r>
            <a:r>
              <a:rPr sz="2400" spc="509"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usurpée</a:t>
            </a:r>
            <a:r>
              <a:rPr sz="2400" spc="509"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de</a:t>
            </a:r>
            <a:r>
              <a:rPr sz="2400" spc="509"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la</a:t>
            </a:r>
            <a:r>
              <a:rPr sz="2400" spc="509"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victime </a:t>
            </a:r>
            <a:r>
              <a:rPr sz="2400" spc="-53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prévue sont diffusés sur un réseau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informatique.</a:t>
            </a:r>
            <a:endParaRPr sz="2400" dirty="0">
              <a:latin typeface="Arial" panose="020B0604020202020204" pitchFamily="34" charset="0"/>
              <a:cs typeface="Arial" panose="020B0604020202020204" pitchFamily="34" charset="0"/>
            </a:endParaRPr>
          </a:p>
          <a:p>
            <a:pPr marL="195580" marR="6350" indent="-183515" algn="just">
              <a:lnSpc>
                <a:spcPct val="91000"/>
              </a:lnSpc>
              <a:spcBef>
                <a:spcPts val="935"/>
              </a:spcBef>
              <a:buFont typeface="Arial MT"/>
              <a:buChar char="•"/>
              <a:tabLst>
                <a:tab pos="196215" algn="l"/>
              </a:tabLst>
            </a:pPr>
            <a:r>
              <a:rPr sz="2400" spc="-5" dirty="0">
                <a:latin typeface="Arial" panose="020B0604020202020204" pitchFamily="34" charset="0"/>
                <a:cs typeface="Arial" panose="020B0604020202020204" pitchFamily="34" charset="0"/>
              </a:rPr>
              <a:t>Cette</a:t>
            </a:r>
            <a:r>
              <a:rPr sz="2400" dirty="0">
                <a:latin typeface="Arial" panose="020B0604020202020204" pitchFamily="34" charset="0"/>
                <a:cs typeface="Arial" panose="020B0604020202020204" pitchFamily="34" charset="0"/>
              </a:rPr>
              <a:t> attaque</a:t>
            </a:r>
            <a:r>
              <a:rPr sz="2400" spc="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envoie</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un</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grand </a:t>
            </a:r>
            <a:r>
              <a:rPr sz="2400" spc="-53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nombre de demandes d’ICMP </a:t>
            </a:r>
            <a:r>
              <a:rPr sz="2400" dirty="0">
                <a:latin typeface="Arial" panose="020B0604020202020204" pitchFamily="34" charset="0"/>
                <a:cs typeface="Arial" panose="020B0604020202020204" pitchFamily="34" charset="0"/>
              </a:rPr>
              <a:t>aux </a:t>
            </a:r>
            <a:r>
              <a:rPr sz="2400" spc="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adresses</a:t>
            </a:r>
            <a:r>
              <a:rPr sz="2400" spc="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de</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diffusion</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dirigées, </a:t>
            </a:r>
            <a:r>
              <a:rPr sz="2400" spc="-53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toutes</a:t>
            </a:r>
            <a:r>
              <a:rPr sz="2400" spc="50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avec</a:t>
            </a:r>
            <a:r>
              <a:rPr sz="2400" spc="509"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des</a:t>
            </a:r>
            <a:r>
              <a:rPr sz="2400" spc="509"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adresses</a:t>
            </a:r>
            <a:r>
              <a:rPr sz="2400" spc="509"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sources </a:t>
            </a:r>
            <a:r>
              <a:rPr sz="2400" spc="-53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usurpées sur le même réseau que </a:t>
            </a:r>
            <a:r>
              <a:rPr sz="240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la</a:t>
            </a:r>
            <a:r>
              <a:rPr sz="2400" spc="-1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diffusion</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dirigée</a:t>
            </a:r>
            <a:r>
              <a:rPr sz="2400" spc="-1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respective.</a:t>
            </a:r>
            <a:endParaRPr sz="2400" dirty="0">
              <a:latin typeface="Arial" panose="020B0604020202020204" pitchFamily="34" charset="0"/>
              <a:cs typeface="Arial" panose="020B0604020202020204" pitchFamily="34" charset="0"/>
            </a:endParaRPr>
          </a:p>
        </p:txBody>
      </p:sp>
      <p:pic>
        <p:nvPicPr>
          <p:cNvPr id="4" name="object 4"/>
          <p:cNvPicPr/>
          <p:nvPr/>
        </p:nvPicPr>
        <p:blipFill>
          <a:blip r:embed="rId2" cstate="print"/>
          <a:stretch>
            <a:fillRect/>
          </a:stretch>
        </p:blipFill>
        <p:spPr>
          <a:xfrm>
            <a:off x="6137939" y="1317380"/>
            <a:ext cx="5215860" cy="4859582"/>
          </a:xfrm>
          <a:prstGeom prst="rect">
            <a:avLst/>
          </a:prstGeom>
        </p:spPr>
      </p:pic>
      <p:sp>
        <p:nvSpPr>
          <p:cNvPr id="5" name="Espace réservé du numéro de diapositive 4">
            <a:extLst>
              <a:ext uri="{FF2B5EF4-FFF2-40B4-BE49-F238E27FC236}">
                <a16:creationId xmlns:a16="http://schemas.microsoft.com/office/drawing/2014/main" id="{650A5608-60E4-0EA1-D651-BF61397786AE}"/>
              </a:ext>
            </a:extLst>
          </p:cNvPr>
          <p:cNvSpPr>
            <a:spLocks noGrp="1"/>
          </p:cNvSpPr>
          <p:nvPr>
            <p:ph type="sldNum" sz="quarter" idx="7"/>
          </p:nvPr>
        </p:nvSpPr>
        <p:spPr/>
        <p:txBody>
          <a:bodyPr/>
          <a:lstStyle/>
          <a:p>
            <a:fld id="{B6F15528-21DE-4FAA-801E-634DDDAF4B2B}" type="slidenum">
              <a:rPr lang="en-US" smtClean="0"/>
              <a:t>23</a:t>
            </a:fld>
            <a:endParaRPr lang="en-US"/>
          </a:p>
        </p:txBody>
      </p:sp>
      <p:sp>
        <p:nvSpPr>
          <p:cNvPr id="6" name="object 2">
            <a:extLst>
              <a:ext uri="{FF2B5EF4-FFF2-40B4-BE49-F238E27FC236}">
                <a16:creationId xmlns:a16="http://schemas.microsoft.com/office/drawing/2014/main" id="{6C46C5DF-1D49-16CD-F252-AB7EE26A0550}"/>
              </a:ext>
            </a:extLst>
          </p:cNvPr>
          <p:cNvSpPr txBox="1"/>
          <p:nvPr/>
        </p:nvSpPr>
        <p:spPr>
          <a:xfrm>
            <a:off x="1219200" y="304800"/>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3.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err="1">
                <a:solidFill>
                  <a:srgbClr val="C00000"/>
                </a:solidFill>
                <a:latin typeface="Calibri"/>
                <a:cs typeface="Calibri"/>
              </a:rPr>
              <a:t>attaques</a:t>
            </a:r>
            <a:r>
              <a:rPr sz="3600" b="1" spc="-30" dirty="0">
                <a:solidFill>
                  <a:srgbClr val="C00000"/>
                </a:solidFill>
                <a:latin typeface="Calibri"/>
                <a:cs typeface="Calibri"/>
              </a:rPr>
              <a:t> </a:t>
            </a:r>
            <a:r>
              <a:rPr lang="fr-FR" sz="3600" b="1" spc="-5" dirty="0" err="1">
                <a:solidFill>
                  <a:srgbClr val="C00000"/>
                </a:solidFill>
                <a:latin typeface="Calibri"/>
                <a:cs typeface="Calibri"/>
              </a:rPr>
              <a:t>DoS</a:t>
            </a:r>
            <a:endParaRPr sz="3600" b="1" dirty="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19184" y="1022375"/>
            <a:ext cx="3798570" cy="654025"/>
          </a:xfrm>
          <a:prstGeom prst="rect">
            <a:avLst/>
          </a:prstGeom>
        </p:spPr>
        <p:txBody>
          <a:bodyPr vert="horz" wrap="square" lIns="0" tIns="12700" rIns="0" bIns="0" rtlCol="0">
            <a:spAutoFit/>
          </a:bodyPr>
          <a:lstStyle/>
          <a:p>
            <a:pPr marL="12700">
              <a:lnSpc>
                <a:spcPts val="5015"/>
              </a:lnSpc>
            </a:pPr>
            <a:r>
              <a:rPr b="0" spc="-5" dirty="0">
                <a:solidFill>
                  <a:srgbClr val="0070C0"/>
                </a:solidFill>
                <a:latin typeface="Calibri"/>
                <a:cs typeface="Calibri"/>
              </a:rPr>
              <a:t>Syn</a:t>
            </a:r>
            <a:r>
              <a:rPr b="0" spc="-50" dirty="0">
                <a:solidFill>
                  <a:srgbClr val="0070C0"/>
                </a:solidFill>
                <a:latin typeface="Calibri"/>
                <a:cs typeface="Calibri"/>
              </a:rPr>
              <a:t> </a:t>
            </a:r>
            <a:r>
              <a:rPr b="0" spc="-5" dirty="0">
                <a:solidFill>
                  <a:srgbClr val="0070C0"/>
                </a:solidFill>
                <a:latin typeface="Calibri"/>
                <a:cs typeface="Calibri"/>
              </a:rPr>
              <a:t>Flood</a:t>
            </a:r>
            <a:r>
              <a:rPr b="0" spc="-45" dirty="0">
                <a:solidFill>
                  <a:srgbClr val="0070C0"/>
                </a:solidFill>
                <a:latin typeface="Calibri"/>
                <a:cs typeface="Calibri"/>
              </a:rPr>
              <a:t> </a:t>
            </a:r>
            <a:r>
              <a:rPr b="0" spc="-5" dirty="0">
                <a:solidFill>
                  <a:srgbClr val="0070C0"/>
                </a:solidFill>
                <a:latin typeface="Calibri"/>
                <a:cs typeface="Calibri"/>
              </a:rPr>
              <a:t>Attack</a:t>
            </a:r>
          </a:p>
        </p:txBody>
      </p:sp>
      <p:sp>
        <p:nvSpPr>
          <p:cNvPr id="3" name="object 3"/>
          <p:cNvSpPr txBox="1">
            <a:spLocks noGrp="1"/>
          </p:cNvSpPr>
          <p:nvPr>
            <p:ph type="body" idx="1"/>
          </p:nvPr>
        </p:nvSpPr>
        <p:spPr>
          <a:prstGeom prst="rect">
            <a:avLst/>
          </a:prstGeom>
        </p:spPr>
        <p:txBody>
          <a:bodyPr vert="horz" wrap="square" lIns="0" tIns="80645" rIns="0" bIns="0" rtlCol="0">
            <a:spAutoFit/>
          </a:bodyPr>
          <a:lstStyle/>
          <a:p>
            <a:pPr marL="195580" marR="5715" indent="-183515" algn="just">
              <a:lnSpc>
                <a:spcPts val="2330"/>
              </a:lnSpc>
              <a:spcBef>
                <a:spcPts val="635"/>
              </a:spcBef>
              <a:buFont typeface="Arial MT"/>
              <a:buChar char="•"/>
              <a:tabLst>
                <a:tab pos="196215" algn="l"/>
              </a:tabLst>
            </a:pPr>
            <a:r>
              <a:rPr spc="-5" dirty="0"/>
              <a:t>Une Syn flood est envoyée, souvent </a:t>
            </a:r>
            <a:r>
              <a:rPr dirty="0"/>
              <a:t>avec </a:t>
            </a:r>
            <a:r>
              <a:rPr spc="-5" dirty="0"/>
              <a:t>une </a:t>
            </a:r>
            <a:r>
              <a:rPr dirty="0"/>
              <a:t> adresse</a:t>
            </a:r>
            <a:r>
              <a:rPr spc="-10" dirty="0"/>
              <a:t> </a:t>
            </a:r>
            <a:r>
              <a:rPr spc="-5" dirty="0"/>
              <a:t>forgée</a:t>
            </a:r>
            <a:r>
              <a:rPr spc="-10" dirty="0"/>
              <a:t> </a:t>
            </a:r>
            <a:r>
              <a:rPr spc="-5" dirty="0"/>
              <a:t>d’expéditeur.</a:t>
            </a:r>
          </a:p>
          <a:p>
            <a:pPr marL="195580" marR="5080" indent="-183515" algn="just">
              <a:lnSpc>
                <a:spcPct val="80300"/>
              </a:lnSpc>
              <a:spcBef>
                <a:spcPts val="1019"/>
              </a:spcBef>
              <a:buFont typeface="Arial MT"/>
              <a:buChar char="•"/>
              <a:tabLst>
                <a:tab pos="196215" algn="l"/>
              </a:tabLst>
            </a:pPr>
            <a:r>
              <a:rPr spc="-5" dirty="0"/>
              <a:t>Chaque</a:t>
            </a:r>
            <a:r>
              <a:rPr dirty="0"/>
              <a:t> </a:t>
            </a:r>
            <a:r>
              <a:rPr spc="-5" dirty="0"/>
              <a:t>paquet</a:t>
            </a:r>
            <a:r>
              <a:rPr dirty="0"/>
              <a:t> </a:t>
            </a:r>
            <a:r>
              <a:rPr spc="-5" dirty="0"/>
              <a:t>est</a:t>
            </a:r>
            <a:r>
              <a:rPr dirty="0"/>
              <a:t> </a:t>
            </a:r>
            <a:r>
              <a:rPr spc="-5" dirty="0"/>
              <a:t>manipulé</a:t>
            </a:r>
            <a:r>
              <a:rPr dirty="0"/>
              <a:t> </a:t>
            </a:r>
            <a:r>
              <a:rPr spc="-5" dirty="0"/>
              <a:t>comme</a:t>
            </a:r>
            <a:r>
              <a:rPr dirty="0"/>
              <a:t> </a:t>
            </a:r>
            <a:r>
              <a:rPr spc="-5" dirty="0"/>
              <a:t>une </a:t>
            </a:r>
            <a:r>
              <a:rPr dirty="0"/>
              <a:t> </a:t>
            </a:r>
            <a:r>
              <a:rPr spc="-5" dirty="0"/>
              <a:t>demande</a:t>
            </a:r>
            <a:r>
              <a:rPr dirty="0"/>
              <a:t> </a:t>
            </a:r>
            <a:r>
              <a:rPr spc="-5" dirty="0"/>
              <a:t>de</a:t>
            </a:r>
            <a:r>
              <a:rPr dirty="0"/>
              <a:t> </a:t>
            </a:r>
            <a:r>
              <a:rPr spc="-5" dirty="0"/>
              <a:t>connexion,</a:t>
            </a:r>
            <a:r>
              <a:rPr dirty="0"/>
              <a:t> </a:t>
            </a:r>
            <a:r>
              <a:rPr spc="-5" dirty="0"/>
              <a:t>faisant</a:t>
            </a:r>
            <a:r>
              <a:rPr dirty="0"/>
              <a:t> </a:t>
            </a:r>
            <a:r>
              <a:rPr spc="-5" dirty="0"/>
              <a:t>engendrer</a:t>
            </a:r>
            <a:r>
              <a:rPr dirty="0"/>
              <a:t> </a:t>
            </a:r>
            <a:r>
              <a:rPr spc="-5" dirty="0"/>
              <a:t>le </a:t>
            </a:r>
            <a:r>
              <a:rPr dirty="0"/>
              <a:t> </a:t>
            </a:r>
            <a:r>
              <a:rPr spc="-5" dirty="0"/>
              <a:t>serveur</a:t>
            </a:r>
            <a:r>
              <a:rPr spc="445" dirty="0"/>
              <a:t> </a:t>
            </a:r>
            <a:r>
              <a:rPr spc="-5" dirty="0"/>
              <a:t>une</a:t>
            </a:r>
            <a:r>
              <a:rPr spc="440" dirty="0"/>
              <a:t> </a:t>
            </a:r>
            <a:r>
              <a:rPr spc="-5" dirty="0"/>
              <a:t>connexion</a:t>
            </a:r>
            <a:r>
              <a:rPr spc="440" dirty="0"/>
              <a:t> </a:t>
            </a:r>
            <a:r>
              <a:rPr spc="-5" dirty="0"/>
              <a:t>semi-ouverte</a:t>
            </a:r>
            <a:r>
              <a:rPr spc="445" dirty="0"/>
              <a:t> </a:t>
            </a:r>
            <a:r>
              <a:rPr spc="-5" dirty="0"/>
              <a:t>en</a:t>
            </a:r>
          </a:p>
        </p:txBody>
      </p:sp>
      <p:sp>
        <p:nvSpPr>
          <p:cNvPr id="4" name="object 4"/>
          <p:cNvSpPr txBox="1"/>
          <p:nvPr/>
        </p:nvSpPr>
        <p:spPr>
          <a:xfrm>
            <a:off x="930275" y="3380511"/>
            <a:ext cx="2665095" cy="391160"/>
          </a:xfrm>
          <a:prstGeom prst="rect">
            <a:avLst/>
          </a:prstGeom>
        </p:spPr>
        <p:txBody>
          <a:bodyPr vert="horz" wrap="square" lIns="0" tIns="12700" rIns="0" bIns="0" rtlCol="0">
            <a:spAutoFit/>
          </a:bodyPr>
          <a:lstStyle/>
          <a:p>
            <a:pPr marL="12700">
              <a:lnSpc>
                <a:spcPct val="100000"/>
              </a:lnSpc>
              <a:spcBef>
                <a:spcPts val="100"/>
              </a:spcBef>
              <a:tabLst>
                <a:tab pos="2331720" algn="l"/>
              </a:tabLst>
            </a:pPr>
            <a:r>
              <a:rPr sz="2400" spc="-5" dirty="0">
                <a:latin typeface="Calibri"/>
                <a:cs typeface="Calibri"/>
              </a:rPr>
              <a:t>renvoyan</a:t>
            </a:r>
            <a:r>
              <a:rPr sz="2400" dirty="0">
                <a:latin typeface="Calibri"/>
                <a:cs typeface="Calibri"/>
              </a:rPr>
              <a:t>t	</a:t>
            </a:r>
            <a:r>
              <a:rPr sz="2400" spc="-5" dirty="0">
                <a:latin typeface="Calibri"/>
                <a:cs typeface="Calibri"/>
              </a:rPr>
              <a:t>un</a:t>
            </a:r>
            <a:endParaRPr sz="2400">
              <a:latin typeface="Calibri"/>
              <a:cs typeface="Calibri"/>
            </a:endParaRPr>
          </a:p>
        </p:txBody>
      </p:sp>
      <p:sp>
        <p:nvSpPr>
          <p:cNvPr id="5" name="object 5"/>
          <p:cNvSpPr txBox="1"/>
          <p:nvPr/>
        </p:nvSpPr>
        <p:spPr>
          <a:xfrm>
            <a:off x="4629451" y="3380511"/>
            <a:ext cx="2300605" cy="391160"/>
          </a:xfrm>
          <a:prstGeom prst="rect">
            <a:avLst/>
          </a:prstGeom>
        </p:spPr>
        <p:txBody>
          <a:bodyPr vert="horz" wrap="square" lIns="0" tIns="12700" rIns="0" bIns="0" rtlCol="0">
            <a:spAutoFit/>
          </a:bodyPr>
          <a:lstStyle/>
          <a:p>
            <a:pPr marL="12700">
              <a:lnSpc>
                <a:spcPct val="100000"/>
              </a:lnSpc>
              <a:spcBef>
                <a:spcPts val="100"/>
              </a:spcBef>
              <a:tabLst>
                <a:tab pos="1951355" algn="l"/>
              </a:tabLst>
            </a:pPr>
            <a:r>
              <a:rPr sz="2400" spc="-5" dirty="0">
                <a:latin typeface="Calibri"/>
                <a:cs typeface="Calibri"/>
              </a:rPr>
              <a:t>paque</a:t>
            </a:r>
            <a:r>
              <a:rPr sz="2400" dirty="0">
                <a:latin typeface="Calibri"/>
                <a:cs typeface="Calibri"/>
              </a:rPr>
              <a:t>t	</a:t>
            </a:r>
            <a:r>
              <a:rPr sz="2400" spc="-5" dirty="0">
                <a:latin typeface="Calibri"/>
                <a:cs typeface="Calibri"/>
              </a:rPr>
              <a:t>DE</a:t>
            </a:r>
            <a:endParaRPr sz="2400" dirty="0">
              <a:latin typeface="Calibri"/>
              <a:cs typeface="Calibri"/>
            </a:endParaRPr>
          </a:p>
        </p:txBody>
      </p:sp>
      <p:sp>
        <p:nvSpPr>
          <p:cNvPr id="6" name="object 6"/>
          <p:cNvSpPr txBox="1"/>
          <p:nvPr/>
        </p:nvSpPr>
        <p:spPr>
          <a:xfrm>
            <a:off x="747365" y="3675786"/>
            <a:ext cx="6179820" cy="2705735"/>
          </a:xfrm>
          <a:prstGeom prst="rect">
            <a:avLst/>
          </a:prstGeom>
        </p:spPr>
        <p:txBody>
          <a:bodyPr vert="horz" wrap="square" lIns="0" tIns="80645" rIns="0" bIns="0" rtlCol="0">
            <a:spAutoFit/>
          </a:bodyPr>
          <a:lstStyle/>
          <a:p>
            <a:pPr marL="195580" marR="5080" algn="just">
              <a:lnSpc>
                <a:spcPts val="2330"/>
              </a:lnSpc>
              <a:spcBef>
                <a:spcPts val="635"/>
              </a:spcBef>
            </a:pPr>
            <a:r>
              <a:rPr sz="2400" spc="-5" dirty="0">
                <a:latin typeface="Calibri"/>
                <a:cs typeface="Calibri"/>
              </a:rPr>
              <a:t>SYNCHRONISATION-ACK de TCP et en </a:t>
            </a:r>
            <a:r>
              <a:rPr sz="2400" dirty="0">
                <a:latin typeface="Calibri"/>
                <a:cs typeface="Calibri"/>
              </a:rPr>
              <a:t>attendant </a:t>
            </a:r>
            <a:r>
              <a:rPr sz="2400" spc="-530" dirty="0">
                <a:latin typeface="Calibri"/>
                <a:cs typeface="Calibri"/>
              </a:rPr>
              <a:t> </a:t>
            </a:r>
            <a:r>
              <a:rPr sz="2400" spc="-5" dirty="0">
                <a:latin typeface="Calibri"/>
                <a:cs typeface="Calibri"/>
              </a:rPr>
              <a:t>un</a:t>
            </a:r>
            <a:r>
              <a:rPr sz="2400" spc="509" dirty="0">
                <a:latin typeface="Calibri"/>
                <a:cs typeface="Calibri"/>
              </a:rPr>
              <a:t> </a:t>
            </a:r>
            <a:r>
              <a:rPr sz="2400" spc="-5" dirty="0">
                <a:latin typeface="Calibri"/>
                <a:cs typeface="Calibri"/>
              </a:rPr>
              <a:t>paquet</a:t>
            </a:r>
            <a:r>
              <a:rPr sz="2400" spc="509" dirty="0">
                <a:latin typeface="Calibri"/>
                <a:cs typeface="Calibri"/>
              </a:rPr>
              <a:t> </a:t>
            </a:r>
            <a:r>
              <a:rPr sz="2400" spc="-5" dirty="0">
                <a:latin typeface="Calibri"/>
                <a:cs typeface="Calibri"/>
              </a:rPr>
              <a:t>en</a:t>
            </a:r>
            <a:r>
              <a:rPr sz="2400" spc="509" dirty="0">
                <a:latin typeface="Calibri"/>
                <a:cs typeface="Calibri"/>
              </a:rPr>
              <a:t> </a:t>
            </a:r>
            <a:r>
              <a:rPr sz="2400" spc="-5" dirty="0">
                <a:latin typeface="Calibri"/>
                <a:cs typeface="Calibri"/>
              </a:rPr>
              <a:t>réponse</a:t>
            </a:r>
            <a:r>
              <a:rPr sz="2400" spc="509" dirty="0">
                <a:latin typeface="Calibri"/>
                <a:cs typeface="Calibri"/>
              </a:rPr>
              <a:t> </a:t>
            </a:r>
            <a:r>
              <a:rPr sz="2400" spc="-5" dirty="0">
                <a:latin typeface="Calibri"/>
                <a:cs typeface="Calibri"/>
              </a:rPr>
              <a:t>de</a:t>
            </a:r>
            <a:r>
              <a:rPr sz="2400" spc="509" dirty="0">
                <a:latin typeface="Calibri"/>
                <a:cs typeface="Calibri"/>
              </a:rPr>
              <a:t> </a:t>
            </a:r>
            <a:r>
              <a:rPr sz="2400" spc="-5" dirty="0">
                <a:latin typeface="Calibri"/>
                <a:cs typeface="Calibri"/>
              </a:rPr>
              <a:t>l’adresse </a:t>
            </a:r>
            <a:r>
              <a:rPr sz="2400" spc="-535" dirty="0">
                <a:latin typeface="Calibri"/>
                <a:cs typeface="Calibri"/>
              </a:rPr>
              <a:t> </a:t>
            </a:r>
            <a:r>
              <a:rPr sz="2400" spc="-5" dirty="0">
                <a:latin typeface="Calibri"/>
                <a:cs typeface="Calibri"/>
              </a:rPr>
              <a:t>d’expéditeur.</a:t>
            </a:r>
            <a:endParaRPr sz="2400" dirty="0">
              <a:latin typeface="Calibri"/>
              <a:cs typeface="Calibri"/>
            </a:endParaRPr>
          </a:p>
          <a:p>
            <a:pPr marL="195580" marR="6985" indent="-183515" algn="just">
              <a:lnSpc>
                <a:spcPct val="79900"/>
              </a:lnSpc>
              <a:spcBef>
                <a:spcPts val="1025"/>
              </a:spcBef>
              <a:buFont typeface="Arial MT"/>
              <a:buChar char="•"/>
              <a:tabLst>
                <a:tab pos="196215" algn="l"/>
              </a:tabLst>
            </a:pPr>
            <a:r>
              <a:rPr sz="2400" spc="-5" dirty="0">
                <a:latin typeface="Calibri"/>
                <a:cs typeface="Calibri"/>
              </a:rPr>
              <a:t>Cependant, parce que l’adresse de l’expéditeur </a:t>
            </a:r>
            <a:r>
              <a:rPr sz="2400" dirty="0">
                <a:latin typeface="Calibri"/>
                <a:cs typeface="Calibri"/>
              </a:rPr>
              <a:t> </a:t>
            </a:r>
            <a:r>
              <a:rPr sz="2400" spc="-5" dirty="0">
                <a:latin typeface="Calibri"/>
                <a:cs typeface="Calibri"/>
              </a:rPr>
              <a:t>est</a:t>
            </a:r>
            <a:r>
              <a:rPr sz="2400" spc="-10" dirty="0">
                <a:latin typeface="Calibri"/>
                <a:cs typeface="Calibri"/>
              </a:rPr>
              <a:t> </a:t>
            </a:r>
            <a:r>
              <a:rPr sz="2400" spc="-5" dirty="0">
                <a:latin typeface="Calibri"/>
                <a:cs typeface="Calibri"/>
              </a:rPr>
              <a:t>falsifiée,</a:t>
            </a:r>
            <a:r>
              <a:rPr sz="2400" spc="-10" dirty="0">
                <a:latin typeface="Calibri"/>
                <a:cs typeface="Calibri"/>
              </a:rPr>
              <a:t> </a:t>
            </a:r>
            <a:r>
              <a:rPr sz="2400" spc="-5" dirty="0">
                <a:latin typeface="Calibri"/>
                <a:cs typeface="Calibri"/>
              </a:rPr>
              <a:t>la réponse</a:t>
            </a:r>
            <a:r>
              <a:rPr sz="2400" spc="-10" dirty="0">
                <a:latin typeface="Calibri"/>
                <a:cs typeface="Calibri"/>
              </a:rPr>
              <a:t> </a:t>
            </a:r>
            <a:r>
              <a:rPr sz="2400" spc="-5" dirty="0">
                <a:latin typeface="Calibri"/>
                <a:cs typeface="Calibri"/>
              </a:rPr>
              <a:t>ne</a:t>
            </a:r>
            <a:r>
              <a:rPr sz="2400" spc="-10" dirty="0">
                <a:latin typeface="Calibri"/>
                <a:cs typeface="Calibri"/>
              </a:rPr>
              <a:t> </a:t>
            </a:r>
            <a:r>
              <a:rPr sz="2400" spc="-5" dirty="0">
                <a:latin typeface="Calibri"/>
                <a:cs typeface="Calibri"/>
              </a:rPr>
              <a:t>vient jamais.</a:t>
            </a:r>
            <a:endParaRPr sz="2400" dirty="0">
              <a:latin typeface="Calibri"/>
              <a:cs typeface="Calibri"/>
            </a:endParaRPr>
          </a:p>
          <a:p>
            <a:pPr marL="195580" marR="5080" indent="-183515" algn="just">
              <a:lnSpc>
                <a:spcPct val="80300"/>
              </a:lnSpc>
              <a:spcBef>
                <a:spcPts val="1015"/>
              </a:spcBef>
              <a:buFont typeface="Arial MT"/>
              <a:buChar char="•"/>
              <a:tabLst>
                <a:tab pos="196215" algn="l"/>
              </a:tabLst>
            </a:pPr>
            <a:r>
              <a:rPr sz="2400" spc="-5" dirty="0">
                <a:latin typeface="Calibri"/>
                <a:cs typeface="Calibri"/>
              </a:rPr>
              <a:t>Ces</a:t>
            </a:r>
            <a:r>
              <a:rPr sz="2400" dirty="0">
                <a:latin typeface="Calibri"/>
                <a:cs typeface="Calibri"/>
              </a:rPr>
              <a:t> </a:t>
            </a:r>
            <a:r>
              <a:rPr sz="2400" spc="-5" dirty="0">
                <a:latin typeface="Calibri"/>
                <a:cs typeface="Calibri"/>
              </a:rPr>
              <a:t>connexions</a:t>
            </a:r>
            <a:r>
              <a:rPr sz="2400" dirty="0">
                <a:latin typeface="Calibri"/>
                <a:cs typeface="Calibri"/>
              </a:rPr>
              <a:t> </a:t>
            </a:r>
            <a:r>
              <a:rPr sz="2400" spc="-5" dirty="0">
                <a:latin typeface="Calibri"/>
                <a:cs typeface="Calibri"/>
              </a:rPr>
              <a:t>semi-ouvertes</a:t>
            </a:r>
            <a:r>
              <a:rPr sz="2400" dirty="0">
                <a:latin typeface="Calibri"/>
                <a:cs typeface="Calibri"/>
              </a:rPr>
              <a:t> </a:t>
            </a:r>
            <a:r>
              <a:rPr sz="2400" spc="-5" dirty="0">
                <a:latin typeface="Calibri"/>
                <a:cs typeface="Calibri"/>
              </a:rPr>
              <a:t>saturent</a:t>
            </a:r>
            <a:r>
              <a:rPr sz="2400" dirty="0">
                <a:latin typeface="Calibri"/>
                <a:cs typeface="Calibri"/>
              </a:rPr>
              <a:t> </a:t>
            </a:r>
            <a:r>
              <a:rPr sz="2400" spc="-5" dirty="0">
                <a:latin typeface="Calibri"/>
                <a:cs typeface="Calibri"/>
              </a:rPr>
              <a:t>le </a:t>
            </a:r>
            <a:r>
              <a:rPr sz="2400" spc="-530" dirty="0">
                <a:latin typeface="Calibri"/>
                <a:cs typeface="Calibri"/>
              </a:rPr>
              <a:t> </a:t>
            </a:r>
            <a:r>
              <a:rPr sz="2400" spc="-5" dirty="0">
                <a:latin typeface="Calibri"/>
                <a:cs typeface="Calibri"/>
              </a:rPr>
              <a:t>nombre</a:t>
            </a:r>
            <a:r>
              <a:rPr sz="2400" dirty="0">
                <a:latin typeface="Calibri"/>
                <a:cs typeface="Calibri"/>
              </a:rPr>
              <a:t> </a:t>
            </a:r>
            <a:r>
              <a:rPr sz="2400" spc="-5" dirty="0">
                <a:latin typeface="Calibri"/>
                <a:cs typeface="Calibri"/>
              </a:rPr>
              <a:t>de</a:t>
            </a:r>
            <a:r>
              <a:rPr sz="2400" dirty="0">
                <a:latin typeface="Calibri"/>
                <a:cs typeface="Calibri"/>
              </a:rPr>
              <a:t> </a:t>
            </a:r>
            <a:r>
              <a:rPr sz="2400" spc="-5" dirty="0">
                <a:latin typeface="Calibri"/>
                <a:cs typeface="Calibri"/>
              </a:rPr>
              <a:t>connexions</a:t>
            </a:r>
            <a:r>
              <a:rPr sz="2400" dirty="0">
                <a:latin typeface="Calibri"/>
                <a:cs typeface="Calibri"/>
              </a:rPr>
              <a:t> </a:t>
            </a:r>
            <a:r>
              <a:rPr sz="2400" spc="-5" dirty="0">
                <a:latin typeface="Calibri"/>
                <a:cs typeface="Calibri"/>
              </a:rPr>
              <a:t>disponibles</a:t>
            </a:r>
            <a:r>
              <a:rPr sz="2400" dirty="0">
                <a:latin typeface="Calibri"/>
                <a:cs typeface="Calibri"/>
              </a:rPr>
              <a:t> </a:t>
            </a:r>
            <a:r>
              <a:rPr sz="2400" spc="-5" dirty="0">
                <a:latin typeface="Calibri"/>
                <a:cs typeface="Calibri"/>
              </a:rPr>
              <a:t>que</a:t>
            </a:r>
            <a:r>
              <a:rPr sz="2400" dirty="0">
                <a:latin typeface="Calibri"/>
                <a:cs typeface="Calibri"/>
              </a:rPr>
              <a:t> </a:t>
            </a:r>
            <a:r>
              <a:rPr sz="2400" spc="-5" dirty="0">
                <a:latin typeface="Calibri"/>
                <a:cs typeface="Calibri"/>
              </a:rPr>
              <a:t>le </a:t>
            </a:r>
            <a:r>
              <a:rPr sz="2400" dirty="0">
                <a:latin typeface="Calibri"/>
                <a:cs typeface="Calibri"/>
              </a:rPr>
              <a:t> </a:t>
            </a:r>
            <a:r>
              <a:rPr sz="2400" spc="-5" dirty="0">
                <a:latin typeface="Calibri"/>
                <a:cs typeface="Calibri"/>
              </a:rPr>
              <a:t>serveur</a:t>
            </a:r>
            <a:r>
              <a:rPr sz="2400" spc="-10" dirty="0">
                <a:latin typeface="Calibri"/>
                <a:cs typeface="Calibri"/>
              </a:rPr>
              <a:t> </a:t>
            </a:r>
            <a:r>
              <a:rPr sz="2400" spc="-5" dirty="0">
                <a:latin typeface="Calibri"/>
                <a:cs typeface="Calibri"/>
              </a:rPr>
              <a:t>est en</a:t>
            </a:r>
            <a:r>
              <a:rPr sz="2400" spc="-10" dirty="0">
                <a:latin typeface="Calibri"/>
                <a:cs typeface="Calibri"/>
              </a:rPr>
              <a:t> </a:t>
            </a:r>
            <a:r>
              <a:rPr sz="2400" spc="-5" dirty="0">
                <a:latin typeface="Calibri"/>
                <a:cs typeface="Calibri"/>
              </a:rPr>
              <a:t>mesure d’établir</a:t>
            </a:r>
            <a:endParaRPr sz="2400" dirty="0">
              <a:latin typeface="Calibri"/>
              <a:cs typeface="Calibri"/>
            </a:endParaRPr>
          </a:p>
        </p:txBody>
      </p:sp>
      <p:pic>
        <p:nvPicPr>
          <p:cNvPr id="7" name="object 7"/>
          <p:cNvPicPr/>
          <p:nvPr/>
        </p:nvPicPr>
        <p:blipFill>
          <a:blip r:embed="rId2" cstate="print"/>
          <a:stretch>
            <a:fillRect/>
          </a:stretch>
        </p:blipFill>
        <p:spPr>
          <a:xfrm>
            <a:off x="7218218" y="1246492"/>
            <a:ext cx="4752109" cy="4930470"/>
          </a:xfrm>
          <a:prstGeom prst="rect">
            <a:avLst/>
          </a:prstGeom>
        </p:spPr>
      </p:pic>
      <p:sp>
        <p:nvSpPr>
          <p:cNvPr id="8" name="Espace réservé du numéro de diapositive 7">
            <a:extLst>
              <a:ext uri="{FF2B5EF4-FFF2-40B4-BE49-F238E27FC236}">
                <a16:creationId xmlns:a16="http://schemas.microsoft.com/office/drawing/2014/main" id="{156ED60B-F0C7-267C-E505-1FC8CF3CAC53}"/>
              </a:ext>
            </a:extLst>
          </p:cNvPr>
          <p:cNvSpPr>
            <a:spLocks noGrp="1"/>
          </p:cNvSpPr>
          <p:nvPr>
            <p:ph type="sldNum" sz="quarter" idx="7"/>
          </p:nvPr>
        </p:nvSpPr>
        <p:spPr/>
        <p:txBody>
          <a:bodyPr/>
          <a:lstStyle/>
          <a:p>
            <a:fld id="{B6F15528-21DE-4FAA-801E-634DDDAF4B2B}" type="slidenum">
              <a:rPr lang="en-US" smtClean="0"/>
              <a:t>24</a:t>
            </a:fld>
            <a:endParaRPr lang="en-US"/>
          </a:p>
        </p:txBody>
      </p:sp>
      <p:sp>
        <p:nvSpPr>
          <p:cNvPr id="9" name="object 2">
            <a:extLst>
              <a:ext uri="{FF2B5EF4-FFF2-40B4-BE49-F238E27FC236}">
                <a16:creationId xmlns:a16="http://schemas.microsoft.com/office/drawing/2014/main" id="{131FA642-404B-36C6-37FE-64DF4B022963}"/>
              </a:ext>
            </a:extLst>
          </p:cNvPr>
          <p:cNvSpPr txBox="1"/>
          <p:nvPr/>
        </p:nvSpPr>
        <p:spPr>
          <a:xfrm>
            <a:off x="1219200" y="304800"/>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3.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err="1">
                <a:solidFill>
                  <a:srgbClr val="C00000"/>
                </a:solidFill>
                <a:latin typeface="Calibri"/>
                <a:cs typeface="Calibri"/>
              </a:rPr>
              <a:t>attaques</a:t>
            </a:r>
            <a:r>
              <a:rPr sz="3600" b="1" spc="-30" dirty="0">
                <a:solidFill>
                  <a:srgbClr val="C00000"/>
                </a:solidFill>
                <a:latin typeface="Calibri"/>
                <a:cs typeface="Calibri"/>
              </a:rPr>
              <a:t> </a:t>
            </a:r>
            <a:r>
              <a:rPr lang="fr-FR" sz="3600" b="1" spc="-5" dirty="0" err="1">
                <a:solidFill>
                  <a:srgbClr val="C00000"/>
                </a:solidFill>
                <a:latin typeface="Calibri"/>
                <a:cs typeface="Calibri"/>
              </a:rPr>
              <a:t>DoS</a:t>
            </a:r>
            <a:endParaRPr sz="3600" b="1" dirty="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59862" y="980440"/>
            <a:ext cx="6163310" cy="695960"/>
          </a:xfrm>
          <a:prstGeom prst="rect">
            <a:avLst/>
          </a:prstGeom>
        </p:spPr>
        <p:txBody>
          <a:bodyPr vert="horz" wrap="square" lIns="0" tIns="12700" rIns="0" bIns="0" rtlCol="0">
            <a:spAutoFit/>
          </a:bodyPr>
          <a:lstStyle/>
          <a:p>
            <a:pPr marL="12700">
              <a:lnSpc>
                <a:spcPct val="100000"/>
              </a:lnSpc>
              <a:spcBef>
                <a:spcPts val="100"/>
              </a:spcBef>
            </a:pPr>
            <a:r>
              <a:rPr b="0" spc="-5" dirty="0">
                <a:latin typeface="Calibri"/>
                <a:cs typeface="Calibri"/>
              </a:rPr>
              <a:t>Les</a:t>
            </a:r>
            <a:r>
              <a:rPr b="0" spc="-25" dirty="0">
                <a:latin typeface="Calibri"/>
                <a:cs typeface="Calibri"/>
              </a:rPr>
              <a:t> </a:t>
            </a:r>
            <a:r>
              <a:rPr b="0" spc="-10" dirty="0">
                <a:latin typeface="Calibri"/>
                <a:cs typeface="Calibri"/>
              </a:rPr>
              <a:t>types</a:t>
            </a:r>
            <a:r>
              <a:rPr b="0" spc="-30" dirty="0">
                <a:latin typeface="Calibri"/>
                <a:cs typeface="Calibri"/>
              </a:rPr>
              <a:t> </a:t>
            </a:r>
            <a:r>
              <a:rPr b="0" spc="-5" dirty="0">
                <a:latin typeface="Calibri"/>
                <a:cs typeface="Calibri"/>
              </a:rPr>
              <a:t>des</a:t>
            </a:r>
            <a:r>
              <a:rPr b="0" spc="-25" dirty="0">
                <a:latin typeface="Calibri"/>
                <a:cs typeface="Calibri"/>
              </a:rPr>
              <a:t> </a:t>
            </a:r>
            <a:r>
              <a:rPr b="0" dirty="0" err="1">
                <a:latin typeface="Calibri"/>
                <a:cs typeface="Calibri"/>
              </a:rPr>
              <a:t>attaques</a:t>
            </a:r>
            <a:r>
              <a:rPr b="0" spc="-25" dirty="0">
                <a:latin typeface="Calibri"/>
                <a:cs typeface="Calibri"/>
              </a:rPr>
              <a:t> </a:t>
            </a:r>
            <a:r>
              <a:rPr lang="fr-FR" b="0" spc="-5" dirty="0"/>
              <a:t>O</a:t>
            </a:r>
            <a:r>
              <a:rPr b="0" spc="-5" dirty="0">
                <a:latin typeface="Calibri"/>
                <a:cs typeface="Calibri"/>
              </a:rPr>
              <a:t>S</a:t>
            </a:r>
          </a:p>
        </p:txBody>
      </p:sp>
      <p:sp>
        <p:nvSpPr>
          <p:cNvPr id="4" name="object 4"/>
          <p:cNvSpPr txBox="1"/>
          <p:nvPr/>
        </p:nvSpPr>
        <p:spPr>
          <a:xfrm>
            <a:off x="1371600" y="2026183"/>
            <a:ext cx="8782690" cy="4003660"/>
          </a:xfrm>
          <a:prstGeom prst="rect">
            <a:avLst/>
          </a:prstGeom>
        </p:spPr>
        <p:txBody>
          <a:bodyPr vert="horz" wrap="square" lIns="0" tIns="93980" rIns="0" bIns="0" rtlCol="0">
            <a:spAutoFit/>
          </a:bodyPr>
          <a:lstStyle/>
          <a:p>
            <a:pPr marL="276860" indent="-175895">
              <a:lnSpc>
                <a:spcPct val="100000"/>
              </a:lnSpc>
              <a:spcBef>
                <a:spcPts val="740"/>
              </a:spcBef>
              <a:buFont typeface="Arial MT"/>
              <a:buChar char="•"/>
              <a:tabLst>
                <a:tab pos="276860" algn="l"/>
              </a:tabLst>
            </a:pPr>
            <a:r>
              <a:rPr sz="2800" spc="-5" dirty="0">
                <a:latin typeface="Arial" panose="020B0604020202020204" pitchFamily="34" charset="0"/>
                <a:cs typeface="Arial" panose="020B0604020202020204" pitchFamily="34" charset="0"/>
              </a:rPr>
              <a:t>Les</a:t>
            </a:r>
            <a:r>
              <a:rPr sz="2800" spc="-20" dirty="0">
                <a:latin typeface="Arial" panose="020B0604020202020204" pitchFamily="34" charset="0"/>
                <a:cs typeface="Arial" panose="020B0604020202020204" pitchFamily="34" charset="0"/>
              </a:rPr>
              <a:t> </a:t>
            </a:r>
            <a:r>
              <a:rPr sz="2800" spc="-10" dirty="0">
                <a:latin typeface="Arial" panose="020B0604020202020204" pitchFamily="34" charset="0"/>
                <a:cs typeface="Arial" panose="020B0604020202020204" pitchFamily="34" charset="0"/>
              </a:rPr>
              <a:t>types</a:t>
            </a:r>
            <a:r>
              <a:rPr sz="2800" spc="-25" dirty="0">
                <a:latin typeface="Arial" panose="020B0604020202020204" pitchFamily="34" charset="0"/>
                <a:cs typeface="Arial" panose="020B0604020202020204" pitchFamily="34" charset="0"/>
              </a:rPr>
              <a:t> </a:t>
            </a:r>
            <a:r>
              <a:rPr sz="2800" spc="-5" dirty="0" err="1">
                <a:latin typeface="Arial" panose="020B0604020202020204" pitchFamily="34" charset="0"/>
                <a:cs typeface="Arial" panose="020B0604020202020204" pitchFamily="34" charset="0"/>
              </a:rPr>
              <a:t>d’attaques</a:t>
            </a:r>
            <a:r>
              <a:rPr sz="2800" spc="-15" dirty="0">
                <a:latin typeface="Arial" panose="020B0604020202020204" pitchFamily="34" charset="0"/>
                <a:cs typeface="Arial" panose="020B0604020202020204" pitchFamily="34" charset="0"/>
              </a:rPr>
              <a:t> </a:t>
            </a:r>
            <a:r>
              <a:rPr lang="fr-FR" sz="2800" spc="-5" dirty="0">
                <a:latin typeface="Arial" panose="020B0604020202020204" pitchFamily="34" charset="0"/>
                <a:cs typeface="Arial" panose="020B0604020202020204" pitchFamily="34" charset="0"/>
              </a:rPr>
              <a:t>OS</a:t>
            </a:r>
            <a:r>
              <a:rPr sz="2800" spc="-20" dirty="0">
                <a:latin typeface="Arial" panose="020B0604020202020204" pitchFamily="34" charset="0"/>
                <a:cs typeface="Arial" panose="020B0604020202020204" pitchFamily="34" charset="0"/>
              </a:rPr>
              <a:t> </a:t>
            </a:r>
            <a:r>
              <a:rPr sz="2800" spc="-5" dirty="0">
                <a:latin typeface="Arial" panose="020B0604020202020204" pitchFamily="34" charset="0"/>
                <a:cs typeface="Arial" panose="020B0604020202020204" pitchFamily="34" charset="0"/>
              </a:rPr>
              <a:t>incluent</a:t>
            </a:r>
            <a:r>
              <a:rPr sz="2800" spc="-20" dirty="0">
                <a:latin typeface="Arial" panose="020B0604020202020204" pitchFamily="34" charset="0"/>
                <a:cs typeface="Arial" panose="020B0604020202020204" pitchFamily="34" charset="0"/>
              </a:rPr>
              <a:t> </a:t>
            </a:r>
            <a:r>
              <a:rPr sz="2800" dirty="0">
                <a:latin typeface="Arial" panose="020B0604020202020204" pitchFamily="34" charset="0"/>
                <a:cs typeface="Arial" panose="020B0604020202020204" pitchFamily="34" charset="0"/>
              </a:rPr>
              <a:t>:</a:t>
            </a:r>
          </a:p>
          <a:p>
            <a:pPr marL="469900" indent="-457200">
              <a:lnSpc>
                <a:spcPct val="100000"/>
              </a:lnSpc>
              <a:spcBef>
                <a:spcPts val="640"/>
              </a:spcBef>
              <a:buFont typeface="Courier New" panose="02070309020205020404" pitchFamily="49" charset="0"/>
              <a:buChar char="o"/>
              <a:tabLst>
                <a:tab pos="276860" algn="l"/>
              </a:tabLst>
            </a:pPr>
            <a:r>
              <a:rPr lang="fr-FR" sz="2800" b="1" spc="-5" dirty="0">
                <a:solidFill>
                  <a:srgbClr val="0070C0"/>
                </a:solidFill>
                <a:latin typeface="Arial" panose="020B0604020202020204" pitchFamily="34" charset="0"/>
                <a:cs typeface="Arial" panose="020B0604020202020204" pitchFamily="34" charset="0"/>
              </a:rPr>
              <a:t> Attaques par Débordement de Mémoire Tampon (Buffer </a:t>
            </a:r>
            <a:r>
              <a:rPr lang="fr-FR" sz="2800" b="1" spc="-5" dirty="0" err="1">
                <a:solidFill>
                  <a:srgbClr val="0070C0"/>
                </a:solidFill>
                <a:latin typeface="Arial" panose="020B0604020202020204" pitchFamily="34" charset="0"/>
                <a:cs typeface="Arial" panose="020B0604020202020204" pitchFamily="34" charset="0"/>
              </a:rPr>
              <a:t>Overflow</a:t>
            </a:r>
            <a:r>
              <a:rPr lang="fr-FR" sz="2800" b="1" spc="-5" dirty="0">
                <a:solidFill>
                  <a:srgbClr val="0070C0"/>
                </a:solidFill>
                <a:latin typeface="Arial" panose="020B0604020202020204" pitchFamily="34" charset="0"/>
                <a:cs typeface="Arial" panose="020B0604020202020204" pitchFamily="34" charset="0"/>
              </a:rPr>
              <a:t>)</a:t>
            </a:r>
          </a:p>
          <a:p>
            <a:pPr marL="469900" indent="-457200">
              <a:lnSpc>
                <a:spcPct val="100000"/>
              </a:lnSpc>
              <a:spcBef>
                <a:spcPts val="640"/>
              </a:spcBef>
              <a:buFont typeface="Courier New" panose="02070309020205020404" pitchFamily="49" charset="0"/>
              <a:buChar char="o"/>
              <a:tabLst>
                <a:tab pos="276860" algn="l"/>
              </a:tabLst>
            </a:pPr>
            <a:r>
              <a:rPr lang="fr-FR" sz="2800" b="1" dirty="0">
                <a:solidFill>
                  <a:srgbClr val="0070C0"/>
                </a:solidFill>
                <a:latin typeface="Arial" panose="020B0604020202020204" pitchFamily="34" charset="0"/>
                <a:cs typeface="Arial" panose="020B0604020202020204" pitchFamily="34" charset="0"/>
              </a:rPr>
              <a:t> Attaques par Escalade de Privilèges</a:t>
            </a:r>
          </a:p>
          <a:p>
            <a:pPr marL="469900" indent="-457200">
              <a:lnSpc>
                <a:spcPct val="100000"/>
              </a:lnSpc>
              <a:spcBef>
                <a:spcPts val="640"/>
              </a:spcBef>
              <a:buFont typeface="Courier New" panose="02070309020205020404" pitchFamily="49" charset="0"/>
              <a:buChar char="o"/>
              <a:tabLst>
                <a:tab pos="276860" algn="l"/>
              </a:tabLst>
            </a:pPr>
            <a:r>
              <a:rPr lang="en-US" sz="2800" b="1" spc="-5" dirty="0" err="1">
                <a:solidFill>
                  <a:srgbClr val="0070C0"/>
                </a:solidFill>
                <a:latin typeface="Arial" panose="020B0604020202020204" pitchFamily="34" charset="0"/>
                <a:cs typeface="Arial" panose="020B0604020202020204" pitchFamily="34" charset="0"/>
              </a:rPr>
              <a:t>Attaques</a:t>
            </a:r>
            <a:r>
              <a:rPr lang="en-US" sz="2800" b="1" spc="-5" dirty="0">
                <a:solidFill>
                  <a:srgbClr val="0070C0"/>
                </a:solidFill>
                <a:latin typeface="Arial" panose="020B0604020202020204" pitchFamily="34" charset="0"/>
                <a:cs typeface="Arial" panose="020B0604020202020204" pitchFamily="34" charset="0"/>
              </a:rPr>
              <a:t> par Rootkits</a:t>
            </a:r>
            <a:endParaRPr lang="fr-FR" sz="2800" b="1" spc="-5" dirty="0">
              <a:solidFill>
                <a:srgbClr val="0070C0"/>
              </a:solidFill>
              <a:latin typeface="Arial" panose="020B0604020202020204" pitchFamily="34" charset="0"/>
              <a:cs typeface="Arial" panose="020B0604020202020204" pitchFamily="34" charset="0"/>
            </a:endParaRPr>
          </a:p>
          <a:p>
            <a:pPr marL="469900" indent="-457200">
              <a:lnSpc>
                <a:spcPct val="100000"/>
              </a:lnSpc>
              <a:spcBef>
                <a:spcPts val="640"/>
              </a:spcBef>
              <a:buFont typeface="Courier New" panose="02070309020205020404" pitchFamily="49" charset="0"/>
              <a:buChar char="o"/>
              <a:tabLst>
                <a:tab pos="276860" algn="l"/>
              </a:tabLst>
            </a:pPr>
            <a:r>
              <a:rPr lang="en-US" sz="2800" b="1" spc="-5" dirty="0" err="1">
                <a:solidFill>
                  <a:srgbClr val="0070C0"/>
                </a:solidFill>
                <a:latin typeface="Arial" panose="020B0604020202020204" pitchFamily="34" charset="0"/>
                <a:cs typeface="Arial" panose="020B0604020202020204" pitchFamily="34" charset="0"/>
              </a:rPr>
              <a:t>Attaques</a:t>
            </a:r>
            <a:r>
              <a:rPr lang="en-US" sz="2800" b="1" spc="-5" dirty="0">
                <a:solidFill>
                  <a:srgbClr val="0070C0"/>
                </a:solidFill>
                <a:latin typeface="Arial" panose="020B0604020202020204" pitchFamily="34" charset="0"/>
                <a:cs typeface="Arial" panose="020B0604020202020204" pitchFamily="34" charset="0"/>
              </a:rPr>
              <a:t> de Malware</a:t>
            </a:r>
            <a:endParaRPr lang="fr-FR" sz="2800" b="1" spc="-5" dirty="0">
              <a:solidFill>
                <a:srgbClr val="0070C0"/>
              </a:solidFill>
              <a:latin typeface="Arial" panose="020B0604020202020204" pitchFamily="34" charset="0"/>
              <a:cs typeface="Arial" panose="020B0604020202020204" pitchFamily="34" charset="0"/>
            </a:endParaRPr>
          </a:p>
          <a:p>
            <a:pPr marL="469900" indent="-457200">
              <a:lnSpc>
                <a:spcPct val="100000"/>
              </a:lnSpc>
              <a:spcBef>
                <a:spcPts val="640"/>
              </a:spcBef>
              <a:buFont typeface="Courier New" panose="02070309020205020404" pitchFamily="49" charset="0"/>
              <a:buChar char="o"/>
              <a:tabLst>
                <a:tab pos="276860" algn="l"/>
              </a:tabLst>
            </a:pPr>
            <a:r>
              <a:rPr lang="en-US" sz="2800" b="1" spc="-5" dirty="0" err="1">
                <a:solidFill>
                  <a:srgbClr val="0070C0"/>
                </a:solidFill>
                <a:latin typeface="Arial" panose="020B0604020202020204" pitchFamily="34" charset="0"/>
                <a:cs typeface="Arial" panose="020B0604020202020204" pitchFamily="34" charset="0"/>
              </a:rPr>
              <a:t>Attaques</a:t>
            </a:r>
            <a:r>
              <a:rPr lang="en-US" sz="2800" b="1" spc="-5" dirty="0">
                <a:solidFill>
                  <a:srgbClr val="0070C0"/>
                </a:solidFill>
                <a:latin typeface="Arial" panose="020B0604020202020204" pitchFamily="34" charset="0"/>
                <a:cs typeface="Arial" panose="020B0604020202020204" pitchFamily="34" charset="0"/>
              </a:rPr>
              <a:t> Zero-Day</a:t>
            </a:r>
            <a:endParaRPr lang="fr-FR" sz="2800" b="1" spc="-5" dirty="0">
              <a:solidFill>
                <a:srgbClr val="0070C0"/>
              </a:solidFill>
              <a:latin typeface="Arial" panose="020B0604020202020204" pitchFamily="34" charset="0"/>
              <a:cs typeface="Arial" panose="020B0604020202020204" pitchFamily="34" charset="0"/>
            </a:endParaRPr>
          </a:p>
          <a:p>
            <a:pPr marL="276860" indent="-264160">
              <a:lnSpc>
                <a:spcPct val="100000"/>
              </a:lnSpc>
              <a:spcBef>
                <a:spcPts val="640"/>
              </a:spcBef>
              <a:buFont typeface="Lucida Sans Unicode"/>
              <a:buChar char="□"/>
              <a:tabLst>
                <a:tab pos="276860" algn="l"/>
              </a:tabLst>
            </a:pPr>
            <a:endParaRPr sz="2800" b="1" dirty="0">
              <a:solidFill>
                <a:srgbClr val="0070C0"/>
              </a:solidFill>
              <a:latin typeface="Arial" panose="020B0604020202020204" pitchFamily="34" charset="0"/>
              <a:cs typeface="Arial" panose="020B0604020202020204" pitchFamily="34" charset="0"/>
            </a:endParaRPr>
          </a:p>
        </p:txBody>
      </p:sp>
      <p:sp>
        <p:nvSpPr>
          <p:cNvPr id="5" name="Espace réservé du numéro de diapositive 4">
            <a:extLst>
              <a:ext uri="{FF2B5EF4-FFF2-40B4-BE49-F238E27FC236}">
                <a16:creationId xmlns:a16="http://schemas.microsoft.com/office/drawing/2014/main" id="{FF8EBEC3-44D8-3881-7A7C-570CAE5C50A8}"/>
              </a:ext>
            </a:extLst>
          </p:cNvPr>
          <p:cNvSpPr>
            <a:spLocks noGrp="1"/>
          </p:cNvSpPr>
          <p:nvPr>
            <p:ph type="sldNum" sz="quarter" idx="7"/>
          </p:nvPr>
        </p:nvSpPr>
        <p:spPr/>
        <p:txBody>
          <a:bodyPr/>
          <a:lstStyle/>
          <a:p>
            <a:fld id="{B6F15528-21DE-4FAA-801E-634DDDAF4B2B}" type="slidenum">
              <a:rPr lang="en-US" smtClean="0"/>
              <a:t>25</a:t>
            </a:fld>
            <a:endParaRPr lang="en-US"/>
          </a:p>
        </p:txBody>
      </p:sp>
      <p:sp>
        <p:nvSpPr>
          <p:cNvPr id="6" name="object 2">
            <a:extLst>
              <a:ext uri="{FF2B5EF4-FFF2-40B4-BE49-F238E27FC236}">
                <a16:creationId xmlns:a16="http://schemas.microsoft.com/office/drawing/2014/main" id="{5ADAAC23-3939-DA4B-4951-0CA2C2B8C0DC}"/>
              </a:ext>
            </a:extLst>
          </p:cNvPr>
          <p:cNvSpPr txBox="1"/>
          <p:nvPr/>
        </p:nvSpPr>
        <p:spPr>
          <a:xfrm>
            <a:off x="1219200" y="304800"/>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4.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err="1">
                <a:solidFill>
                  <a:srgbClr val="C00000"/>
                </a:solidFill>
                <a:latin typeface="Calibri"/>
                <a:cs typeface="Calibri"/>
              </a:rPr>
              <a:t>attaques</a:t>
            </a:r>
            <a:r>
              <a:rPr sz="3600" b="1" spc="-30" dirty="0">
                <a:solidFill>
                  <a:srgbClr val="C00000"/>
                </a:solidFill>
                <a:latin typeface="Calibri"/>
                <a:cs typeface="Calibri"/>
              </a:rPr>
              <a:t> </a:t>
            </a:r>
            <a:r>
              <a:rPr lang="fr-FR" sz="3600" b="1" spc="-5" dirty="0">
                <a:solidFill>
                  <a:srgbClr val="C00000"/>
                </a:solidFill>
                <a:latin typeface="Calibri"/>
                <a:cs typeface="Calibri"/>
              </a:rPr>
              <a:t>OS</a:t>
            </a:r>
          </a:p>
        </p:txBody>
      </p:sp>
    </p:spTree>
    <p:extLst>
      <p:ext uri="{BB962C8B-B14F-4D97-AF65-F5344CB8AC3E}">
        <p14:creationId xmlns:p14="http://schemas.microsoft.com/office/powerpoint/2010/main" val="14349449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12875" y="904240"/>
            <a:ext cx="9850102" cy="1243930"/>
          </a:xfrm>
          <a:prstGeom prst="rect">
            <a:avLst/>
          </a:prstGeom>
        </p:spPr>
        <p:txBody>
          <a:bodyPr vert="horz" wrap="square" lIns="0" tIns="12700" rIns="0" bIns="0" rtlCol="0">
            <a:spAutoFit/>
          </a:bodyPr>
          <a:lstStyle/>
          <a:p>
            <a:pPr marL="12700">
              <a:lnSpc>
                <a:spcPct val="100000"/>
              </a:lnSpc>
              <a:spcBef>
                <a:spcPts val="100"/>
              </a:spcBef>
            </a:pPr>
            <a:r>
              <a:rPr lang="fr-FR" sz="4000" b="0" spc="-10" dirty="0">
                <a:solidFill>
                  <a:srgbClr val="0070C0"/>
                </a:solidFill>
              </a:rPr>
              <a:t>Attaques par Débordement de Mémoire Tampon (Buffer </a:t>
            </a:r>
            <a:r>
              <a:rPr lang="fr-FR" sz="4000" b="0" spc="-10" dirty="0" err="1">
                <a:solidFill>
                  <a:srgbClr val="0070C0"/>
                </a:solidFill>
              </a:rPr>
              <a:t>Overflow</a:t>
            </a:r>
            <a:r>
              <a:rPr lang="fr-FR" sz="4000" b="0" spc="-10" dirty="0">
                <a:solidFill>
                  <a:srgbClr val="0070C0"/>
                </a:solidFill>
              </a:rPr>
              <a:t>)</a:t>
            </a:r>
            <a:endParaRPr sz="4000" b="0" spc="-10" dirty="0">
              <a:solidFill>
                <a:srgbClr val="0070C0"/>
              </a:solidFill>
            </a:endParaRPr>
          </a:p>
        </p:txBody>
      </p:sp>
      <p:sp>
        <p:nvSpPr>
          <p:cNvPr id="4" name="object 4"/>
          <p:cNvSpPr txBox="1"/>
          <p:nvPr/>
        </p:nvSpPr>
        <p:spPr>
          <a:xfrm>
            <a:off x="838200" y="2252980"/>
            <a:ext cx="10298430" cy="1218282"/>
          </a:xfrm>
          <a:prstGeom prst="rect">
            <a:avLst/>
          </a:prstGeom>
        </p:spPr>
        <p:txBody>
          <a:bodyPr vert="horz" wrap="square" lIns="0" tIns="63500" rIns="0" bIns="0" rtlCol="0">
            <a:spAutoFit/>
          </a:bodyPr>
          <a:lstStyle/>
          <a:p>
            <a:pPr marL="187960" marR="5715" indent="-175895" algn="just">
              <a:lnSpc>
                <a:spcPts val="3000"/>
              </a:lnSpc>
              <a:spcBef>
                <a:spcPts val="500"/>
              </a:spcBef>
              <a:buFont typeface="Arial MT"/>
              <a:buChar char="•"/>
              <a:tabLst>
                <a:tab pos="188595" algn="l"/>
              </a:tabLst>
            </a:pPr>
            <a:r>
              <a:rPr lang="fr-FR" sz="2800" spc="-5" dirty="0">
                <a:latin typeface="Arial" panose="020B0604020202020204" pitchFamily="34" charset="0"/>
                <a:cs typeface="Arial" panose="020B0604020202020204" pitchFamily="34" charset="0"/>
              </a:rPr>
              <a:t> E</a:t>
            </a:r>
            <a:r>
              <a:rPr lang="fr-FR" sz="2800" dirty="0"/>
              <a:t>xploite les vulnérabilités de certains programmes qui acceptent des entrées non vérifiées, provoquant un débordement de mémoire et permettant l'exécution de code malveillant.</a:t>
            </a:r>
            <a:endParaRPr sz="2800" dirty="0">
              <a:latin typeface="Arial" panose="020B0604020202020204" pitchFamily="34" charset="0"/>
              <a:cs typeface="Arial" panose="020B0604020202020204" pitchFamily="34" charset="0"/>
            </a:endParaRPr>
          </a:p>
        </p:txBody>
      </p:sp>
      <p:sp>
        <p:nvSpPr>
          <p:cNvPr id="5" name="Espace réservé du numéro de diapositive 4">
            <a:extLst>
              <a:ext uri="{FF2B5EF4-FFF2-40B4-BE49-F238E27FC236}">
                <a16:creationId xmlns:a16="http://schemas.microsoft.com/office/drawing/2014/main" id="{F4B286AE-7F17-EF09-24AC-A9061728AFFD}"/>
              </a:ext>
            </a:extLst>
          </p:cNvPr>
          <p:cNvSpPr>
            <a:spLocks noGrp="1"/>
          </p:cNvSpPr>
          <p:nvPr>
            <p:ph type="sldNum" sz="quarter" idx="7"/>
          </p:nvPr>
        </p:nvSpPr>
        <p:spPr/>
        <p:txBody>
          <a:bodyPr/>
          <a:lstStyle/>
          <a:p>
            <a:fld id="{B6F15528-21DE-4FAA-801E-634DDDAF4B2B}" type="slidenum">
              <a:rPr lang="en-US" smtClean="0"/>
              <a:t>26</a:t>
            </a:fld>
            <a:endParaRPr lang="en-US"/>
          </a:p>
        </p:txBody>
      </p:sp>
      <p:sp>
        <p:nvSpPr>
          <p:cNvPr id="6" name="object 2">
            <a:extLst>
              <a:ext uri="{FF2B5EF4-FFF2-40B4-BE49-F238E27FC236}">
                <a16:creationId xmlns:a16="http://schemas.microsoft.com/office/drawing/2014/main" id="{D68FF4BF-0297-5AED-90D2-CF6ACFDC0530}"/>
              </a:ext>
            </a:extLst>
          </p:cNvPr>
          <p:cNvSpPr txBox="1"/>
          <p:nvPr/>
        </p:nvSpPr>
        <p:spPr>
          <a:xfrm>
            <a:off x="1219200" y="304800"/>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4.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err="1">
                <a:solidFill>
                  <a:srgbClr val="C00000"/>
                </a:solidFill>
                <a:latin typeface="Calibri"/>
                <a:cs typeface="Calibri"/>
              </a:rPr>
              <a:t>attaques</a:t>
            </a:r>
            <a:r>
              <a:rPr sz="3600" b="1" spc="-30" dirty="0">
                <a:solidFill>
                  <a:srgbClr val="C00000"/>
                </a:solidFill>
                <a:latin typeface="Calibri"/>
                <a:cs typeface="Calibri"/>
              </a:rPr>
              <a:t> </a:t>
            </a:r>
            <a:r>
              <a:rPr lang="fr-FR" sz="3600" b="1" spc="-5" dirty="0">
                <a:solidFill>
                  <a:srgbClr val="C00000"/>
                </a:solidFill>
                <a:latin typeface="Calibri"/>
                <a:cs typeface="Calibri"/>
              </a:rPr>
              <a:t>OS</a:t>
            </a:r>
            <a:endParaRPr sz="3600" b="1" dirty="0">
              <a:latin typeface="Calibri"/>
              <a:cs typeface="Calibri"/>
            </a:endParaRPr>
          </a:p>
        </p:txBody>
      </p:sp>
      <p:pic>
        <p:nvPicPr>
          <p:cNvPr id="7" name="Image 6">
            <a:extLst>
              <a:ext uri="{FF2B5EF4-FFF2-40B4-BE49-F238E27FC236}">
                <a16:creationId xmlns:a16="http://schemas.microsoft.com/office/drawing/2014/main" id="{C8A0979E-3A1A-40DD-5F16-9F9A6C2F8E5A}"/>
              </a:ext>
            </a:extLst>
          </p:cNvPr>
          <p:cNvPicPr>
            <a:picLocks noChangeAspect="1"/>
          </p:cNvPicPr>
          <p:nvPr/>
        </p:nvPicPr>
        <p:blipFill rotWithShape="1">
          <a:blip r:embed="rId3"/>
          <a:srcRect l="35625" t="24432" r="10000" b="6979"/>
          <a:stretch/>
        </p:blipFill>
        <p:spPr>
          <a:xfrm>
            <a:off x="3771900" y="3712923"/>
            <a:ext cx="4648200" cy="2969750"/>
          </a:xfrm>
          <a:prstGeom prst="rect">
            <a:avLst/>
          </a:prstGeom>
        </p:spPr>
      </p:pic>
    </p:spTree>
    <p:extLst>
      <p:ext uri="{BB962C8B-B14F-4D97-AF65-F5344CB8AC3E}">
        <p14:creationId xmlns:p14="http://schemas.microsoft.com/office/powerpoint/2010/main" val="155223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12875" y="904240"/>
            <a:ext cx="9850102" cy="628377"/>
          </a:xfrm>
          <a:prstGeom prst="rect">
            <a:avLst/>
          </a:prstGeom>
        </p:spPr>
        <p:txBody>
          <a:bodyPr vert="horz" wrap="square" lIns="0" tIns="12700" rIns="0" bIns="0" rtlCol="0">
            <a:spAutoFit/>
          </a:bodyPr>
          <a:lstStyle/>
          <a:p>
            <a:pPr marL="12700">
              <a:lnSpc>
                <a:spcPct val="100000"/>
              </a:lnSpc>
              <a:spcBef>
                <a:spcPts val="100"/>
              </a:spcBef>
            </a:pPr>
            <a:r>
              <a:rPr lang="fr-FR" sz="4000" b="0" spc="-10" dirty="0">
                <a:solidFill>
                  <a:srgbClr val="0070C0"/>
                </a:solidFill>
              </a:rPr>
              <a:t>Attaques Rootkits</a:t>
            </a:r>
            <a:endParaRPr sz="4000" b="0" spc="-10" dirty="0">
              <a:solidFill>
                <a:srgbClr val="0070C0"/>
              </a:solidFill>
            </a:endParaRPr>
          </a:p>
        </p:txBody>
      </p:sp>
      <p:sp>
        <p:nvSpPr>
          <p:cNvPr id="4" name="object 4"/>
          <p:cNvSpPr txBox="1"/>
          <p:nvPr/>
        </p:nvSpPr>
        <p:spPr>
          <a:xfrm>
            <a:off x="685800" y="1905000"/>
            <a:ext cx="10298430" cy="1282402"/>
          </a:xfrm>
          <a:prstGeom prst="rect">
            <a:avLst/>
          </a:prstGeom>
        </p:spPr>
        <p:txBody>
          <a:bodyPr vert="horz" wrap="square" lIns="0" tIns="63500" rIns="0" bIns="0" rtlCol="0">
            <a:spAutoFit/>
          </a:bodyPr>
          <a:lstStyle/>
          <a:p>
            <a:pPr marL="187960" marR="5715" indent="-175895" algn="just">
              <a:lnSpc>
                <a:spcPts val="3000"/>
              </a:lnSpc>
              <a:spcBef>
                <a:spcPts val="500"/>
              </a:spcBef>
              <a:buFont typeface="Arial MT"/>
              <a:buChar char="•"/>
              <a:tabLst>
                <a:tab pos="188595" algn="l"/>
              </a:tabLst>
            </a:pPr>
            <a:r>
              <a:rPr lang="fr-FR" sz="2800" dirty="0"/>
              <a:t> Ces attaques visent à installer des logiciels malveillants de manière discrète en prenant le contrôle total du système d'exploitation,</a:t>
            </a:r>
          </a:p>
          <a:p>
            <a:pPr marL="187960" marR="5715" indent="-175895" algn="just">
              <a:lnSpc>
                <a:spcPts val="3000"/>
              </a:lnSpc>
              <a:spcBef>
                <a:spcPts val="500"/>
              </a:spcBef>
              <a:buFont typeface="Arial MT"/>
              <a:buChar char="•"/>
              <a:tabLst>
                <a:tab pos="188595" algn="l"/>
              </a:tabLst>
            </a:pPr>
            <a:r>
              <a:rPr lang="fr-FR" sz="2800" dirty="0"/>
              <a:t> Souvent difficile à détecter.</a:t>
            </a:r>
            <a:endParaRPr sz="2800" dirty="0">
              <a:latin typeface="Arial" panose="020B0604020202020204" pitchFamily="34" charset="0"/>
              <a:cs typeface="Arial" panose="020B0604020202020204" pitchFamily="34" charset="0"/>
            </a:endParaRPr>
          </a:p>
        </p:txBody>
      </p:sp>
      <p:sp>
        <p:nvSpPr>
          <p:cNvPr id="5" name="Espace réservé du numéro de diapositive 4">
            <a:extLst>
              <a:ext uri="{FF2B5EF4-FFF2-40B4-BE49-F238E27FC236}">
                <a16:creationId xmlns:a16="http://schemas.microsoft.com/office/drawing/2014/main" id="{F4B286AE-7F17-EF09-24AC-A9061728AFFD}"/>
              </a:ext>
            </a:extLst>
          </p:cNvPr>
          <p:cNvSpPr>
            <a:spLocks noGrp="1"/>
          </p:cNvSpPr>
          <p:nvPr>
            <p:ph type="sldNum" sz="quarter" idx="7"/>
          </p:nvPr>
        </p:nvSpPr>
        <p:spPr/>
        <p:txBody>
          <a:bodyPr/>
          <a:lstStyle/>
          <a:p>
            <a:fld id="{B6F15528-21DE-4FAA-801E-634DDDAF4B2B}" type="slidenum">
              <a:rPr lang="en-US" smtClean="0"/>
              <a:t>27</a:t>
            </a:fld>
            <a:endParaRPr lang="en-US"/>
          </a:p>
        </p:txBody>
      </p:sp>
      <p:sp>
        <p:nvSpPr>
          <p:cNvPr id="6" name="object 2">
            <a:extLst>
              <a:ext uri="{FF2B5EF4-FFF2-40B4-BE49-F238E27FC236}">
                <a16:creationId xmlns:a16="http://schemas.microsoft.com/office/drawing/2014/main" id="{D68FF4BF-0297-5AED-90D2-CF6ACFDC0530}"/>
              </a:ext>
            </a:extLst>
          </p:cNvPr>
          <p:cNvSpPr txBox="1"/>
          <p:nvPr/>
        </p:nvSpPr>
        <p:spPr>
          <a:xfrm>
            <a:off x="1219200" y="304800"/>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4.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err="1">
                <a:solidFill>
                  <a:srgbClr val="C00000"/>
                </a:solidFill>
                <a:latin typeface="Calibri"/>
                <a:cs typeface="Calibri"/>
              </a:rPr>
              <a:t>attaques</a:t>
            </a:r>
            <a:r>
              <a:rPr sz="3600" b="1" spc="-30" dirty="0">
                <a:solidFill>
                  <a:srgbClr val="C00000"/>
                </a:solidFill>
                <a:latin typeface="Calibri"/>
                <a:cs typeface="Calibri"/>
              </a:rPr>
              <a:t> </a:t>
            </a:r>
            <a:r>
              <a:rPr lang="fr-FR" sz="3600" b="1" spc="-5" dirty="0">
                <a:solidFill>
                  <a:srgbClr val="C00000"/>
                </a:solidFill>
                <a:latin typeface="Calibri"/>
                <a:cs typeface="Calibri"/>
              </a:rPr>
              <a:t>OS</a:t>
            </a:r>
            <a:endParaRPr sz="3600" b="1" dirty="0">
              <a:latin typeface="Calibri"/>
              <a:cs typeface="Calibri"/>
            </a:endParaRPr>
          </a:p>
        </p:txBody>
      </p:sp>
      <p:pic>
        <p:nvPicPr>
          <p:cNvPr id="7170" name="Picture 2" descr="What is a Rootkit? Definition, Types ...">
            <a:extLst>
              <a:ext uri="{FF2B5EF4-FFF2-40B4-BE49-F238E27FC236}">
                <a16:creationId xmlns:a16="http://schemas.microsoft.com/office/drawing/2014/main" id="{F03D00B9-AFCC-F385-5CE1-B97EBC5634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3429001"/>
            <a:ext cx="3876675" cy="2872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41354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12875" y="904240"/>
            <a:ext cx="9850102" cy="628377"/>
          </a:xfrm>
          <a:prstGeom prst="rect">
            <a:avLst/>
          </a:prstGeom>
        </p:spPr>
        <p:txBody>
          <a:bodyPr vert="horz" wrap="square" lIns="0" tIns="12700" rIns="0" bIns="0" rtlCol="0">
            <a:spAutoFit/>
          </a:bodyPr>
          <a:lstStyle/>
          <a:p>
            <a:pPr marL="12700">
              <a:lnSpc>
                <a:spcPct val="100000"/>
              </a:lnSpc>
              <a:spcBef>
                <a:spcPts val="100"/>
              </a:spcBef>
            </a:pPr>
            <a:r>
              <a:rPr lang="fr-FR" sz="4000" b="0" spc="-10" dirty="0">
                <a:solidFill>
                  <a:srgbClr val="0070C0"/>
                </a:solidFill>
              </a:rPr>
              <a:t>Attaques de Malware</a:t>
            </a:r>
            <a:endParaRPr sz="4000" b="0" spc="-10" dirty="0">
              <a:solidFill>
                <a:srgbClr val="0070C0"/>
              </a:solidFill>
            </a:endParaRPr>
          </a:p>
        </p:txBody>
      </p:sp>
      <p:sp>
        <p:nvSpPr>
          <p:cNvPr id="4" name="object 4"/>
          <p:cNvSpPr txBox="1"/>
          <p:nvPr/>
        </p:nvSpPr>
        <p:spPr>
          <a:xfrm>
            <a:off x="838200" y="1749797"/>
            <a:ext cx="10298430" cy="1667123"/>
          </a:xfrm>
          <a:prstGeom prst="rect">
            <a:avLst/>
          </a:prstGeom>
        </p:spPr>
        <p:txBody>
          <a:bodyPr vert="horz" wrap="square" lIns="0" tIns="63500" rIns="0" bIns="0" rtlCol="0">
            <a:spAutoFit/>
          </a:bodyPr>
          <a:lstStyle/>
          <a:p>
            <a:pPr marL="187960" marR="5715" indent="-175895" algn="just">
              <a:lnSpc>
                <a:spcPts val="3000"/>
              </a:lnSpc>
              <a:spcBef>
                <a:spcPts val="500"/>
              </a:spcBef>
              <a:buFont typeface="Arial MT"/>
              <a:buChar char="•"/>
              <a:tabLst>
                <a:tab pos="188595" algn="l"/>
              </a:tabLst>
            </a:pPr>
            <a:r>
              <a:rPr lang="fr-FR" sz="2800" dirty="0"/>
              <a:t> Inclut une vaste gamme d'attaques telles que : les virus, les vers et les chevaux de Troie</a:t>
            </a:r>
          </a:p>
          <a:p>
            <a:pPr marL="187960" marR="5715" indent="-175895" algn="just">
              <a:lnSpc>
                <a:spcPts val="3000"/>
              </a:lnSpc>
              <a:spcBef>
                <a:spcPts val="500"/>
              </a:spcBef>
              <a:buFont typeface="Arial MT"/>
              <a:buChar char="•"/>
              <a:tabLst>
                <a:tab pos="188595" algn="l"/>
              </a:tabLst>
            </a:pPr>
            <a:r>
              <a:rPr lang="fr-FR" sz="2800" dirty="0"/>
              <a:t>visant à infecter le système d'exploitation pour voler des données, perturber le système ou fournir un accès à distance non autorisé.</a:t>
            </a:r>
            <a:endParaRPr sz="2800" dirty="0">
              <a:latin typeface="Arial" panose="020B0604020202020204" pitchFamily="34" charset="0"/>
              <a:cs typeface="Arial" panose="020B0604020202020204" pitchFamily="34" charset="0"/>
            </a:endParaRPr>
          </a:p>
        </p:txBody>
      </p:sp>
      <p:sp>
        <p:nvSpPr>
          <p:cNvPr id="5" name="Espace réservé du numéro de diapositive 4">
            <a:extLst>
              <a:ext uri="{FF2B5EF4-FFF2-40B4-BE49-F238E27FC236}">
                <a16:creationId xmlns:a16="http://schemas.microsoft.com/office/drawing/2014/main" id="{F4B286AE-7F17-EF09-24AC-A9061728AFFD}"/>
              </a:ext>
            </a:extLst>
          </p:cNvPr>
          <p:cNvSpPr>
            <a:spLocks noGrp="1"/>
          </p:cNvSpPr>
          <p:nvPr>
            <p:ph type="sldNum" sz="quarter" idx="7"/>
          </p:nvPr>
        </p:nvSpPr>
        <p:spPr/>
        <p:txBody>
          <a:bodyPr/>
          <a:lstStyle/>
          <a:p>
            <a:fld id="{B6F15528-21DE-4FAA-801E-634DDDAF4B2B}" type="slidenum">
              <a:rPr lang="en-US" smtClean="0"/>
              <a:t>28</a:t>
            </a:fld>
            <a:endParaRPr lang="en-US"/>
          </a:p>
        </p:txBody>
      </p:sp>
      <p:sp>
        <p:nvSpPr>
          <p:cNvPr id="6" name="object 2">
            <a:extLst>
              <a:ext uri="{FF2B5EF4-FFF2-40B4-BE49-F238E27FC236}">
                <a16:creationId xmlns:a16="http://schemas.microsoft.com/office/drawing/2014/main" id="{D68FF4BF-0297-5AED-90D2-CF6ACFDC0530}"/>
              </a:ext>
            </a:extLst>
          </p:cNvPr>
          <p:cNvSpPr txBox="1"/>
          <p:nvPr/>
        </p:nvSpPr>
        <p:spPr>
          <a:xfrm>
            <a:off x="1219200" y="304800"/>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4.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err="1">
                <a:solidFill>
                  <a:srgbClr val="C00000"/>
                </a:solidFill>
                <a:latin typeface="Calibri"/>
                <a:cs typeface="Calibri"/>
              </a:rPr>
              <a:t>attaques</a:t>
            </a:r>
            <a:r>
              <a:rPr sz="3600" b="1" spc="-30" dirty="0">
                <a:solidFill>
                  <a:srgbClr val="C00000"/>
                </a:solidFill>
                <a:latin typeface="Calibri"/>
                <a:cs typeface="Calibri"/>
              </a:rPr>
              <a:t> </a:t>
            </a:r>
            <a:r>
              <a:rPr lang="fr-FR" sz="3600" b="1" spc="-5" dirty="0">
                <a:solidFill>
                  <a:srgbClr val="C00000"/>
                </a:solidFill>
                <a:latin typeface="Calibri"/>
                <a:cs typeface="Calibri"/>
              </a:rPr>
              <a:t>OS</a:t>
            </a:r>
            <a:endParaRPr sz="3600" b="1" dirty="0">
              <a:latin typeface="Calibri"/>
              <a:cs typeface="Calibri"/>
            </a:endParaRPr>
          </a:p>
        </p:txBody>
      </p:sp>
      <p:pic>
        <p:nvPicPr>
          <p:cNvPr id="5122" name="Picture 2" descr="Qu'est-ce qu'un malware et comment ...">
            <a:extLst>
              <a:ext uri="{FF2B5EF4-FFF2-40B4-BE49-F238E27FC236}">
                <a16:creationId xmlns:a16="http://schemas.microsoft.com/office/drawing/2014/main" id="{7E11AEF2-7A81-234F-C091-7F6BAF180F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7640" y="3810000"/>
            <a:ext cx="48006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65401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12875" y="904240"/>
            <a:ext cx="9850102" cy="628377"/>
          </a:xfrm>
          <a:prstGeom prst="rect">
            <a:avLst/>
          </a:prstGeom>
        </p:spPr>
        <p:txBody>
          <a:bodyPr vert="horz" wrap="square" lIns="0" tIns="12700" rIns="0" bIns="0" rtlCol="0">
            <a:spAutoFit/>
          </a:bodyPr>
          <a:lstStyle/>
          <a:p>
            <a:pPr marL="12700">
              <a:lnSpc>
                <a:spcPct val="100000"/>
              </a:lnSpc>
              <a:spcBef>
                <a:spcPts val="100"/>
              </a:spcBef>
            </a:pPr>
            <a:r>
              <a:rPr lang="fr-FR" sz="4000" b="0" spc="-10" dirty="0">
                <a:solidFill>
                  <a:srgbClr val="0070C0"/>
                </a:solidFill>
              </a:rPr>
              <a:t>Attaques </a:t>
            </a:r>
            <a:r>
              <a:rPr lang="fr-FR" sz="4000" b="0" spc="-10" dirty="0" err="1">
                <a:solidFill>
                  <a:srgbClr val="0070C0"/>
                </a:solidFill>
              </a:rPr>
              <a:t>Zero</a:t>
            </a:r>
            <a:r>
              <a:rPr lang="fr-FR" sz="4000" b="0" spc="-10" dirty="0">
                <a:solidFill>
                  <a:srgbClr val="0070C0"/>
                </a:solidFill>
              </a:rPr>
              <a:t> Day</a:t>
            </a:r>
            <a:endParaRPr sz="4000" b="0" spc="-10" dirty="0">
              <a:solidFill>
                <a:srgbClr val="0070C0"/>
              </a:solidFill>
            </a:endParaRPr>
          </a:p>
        </p:txBody>
      </p:sp>
      <p:sp>
        <p:nvSpPr>
          <p:cNvPr id="4" name="object 4"/>
          <p:cNvSpPr txBox="1"/>
          <p:nvPr/>
        </p:nvSpPr>
        <p:spPr>
          <a:xfrm>
            <a:off x="762000" y="1905000"/>
            <a:ext cx="10298430" cy="1987724"/>
          </a:xfrm>
          <a:prstGeom prst="rect">
            <a:avLst/>
          </a:prstGeom>
        </p:spPr>
        <p:txBody>
          <a:bodyPr vert="horz" wrap="square" lIns="0" tIns="63500" rIns="0" bIns="0" rtlCol="0">
            <a:spAutoFit/>
          </a:bodyPr>
          <a:lstStyle/>
          <a:p>
            <a:pPr marL="187960" marR="5715" indent="-175895" algn="just">
              <a:lnSpc>
                <a:spcPts val="3000"/>
              </a:lnSpc>
              <a:spcBef>
                <a:spcPts val="500"/>
              </a:spcBef>
              <a:buFont typeface="Arial MT"/>
              <a:buChar char="•"/>
              <a:tabLst>
                <a:tab pos="188595" algn="l"/>
              </a:tabLst>
            </a:pPr>
            <a:r>
              <a:rPr lang="fr-FR" sz="2800" dirty="0"/>
              <a:t> Les attaques </a:t>
            </a:r>
            <a:r>
              <a:rPr lang="fr-FR" sz="2800" dirty="0" err="1"/>
              <a:t>Zero</a:t>
            </a:r>
            <a:r>
              <a:rPr lang="fr-FR" sz="2800" dirty="0"/>
              <a:t>-Day exploitent les vulnérabilités non corrigées ou inconnues dans les systèmes d'exploitation avant que les développeurs ne puissent fournir un correctif. Elles sont particulièrement dangereuses car aucune solution de sécurité n'est disponible au moment de l'attaque.</a:t>
            </a:r>
            <a:endParaRPr sz="2800" dirty="0">
              <a:latin typeface="Arial" panose="020B0604020202020204" pitchFamily="34" charset="0"/>
              <a:cs typeface="Arial" panose="020B0604020202020204" pitchFamily="34" charset="0"/>
            </a:endParaRPr>
          </a:p>
        </p:txBody>
      </p:sp>
      <p:sp>
        <p:nvSpPr>
          <p:cNvPr id="5" name="Espace réservé du numéro de diapositive 4">
            <a:extLst>
              <a:ext uri="{FF2B5EF4-FFF2-40B4-BE49-F238E27FC236}">
                <a16:creationId xmlns:a16="http://schemas.microsoft.com/office/drawing/2014/main" id="{F4B286AE-7F17-EF09-24AC-A9061728AFFD}"/>
              </a:ext>
            </a:extLst>
          </p:cNvPr>
          <p:cNvSpPr>
            <a:spLocks noGrp="1"/>
          </p:cNvSpPr>
          <p:nvPr>
            <p:ph type="sldNum" sz="quarter" idx="7"/>
          </p:nvPr>
        </p:nvSpPr>
        <p:spPr/>
        <p:txBody>
          <a:bodyPr/>
          <a:lstStyle/>
          <a:p>
            <a:fld id="{B6F15528-21DE-4FAA-801E-634DDDAF4B2B}" type="slidenum">
              <a:rPr lang="en-US" smtClean="0"/>
              <a:t>29</a:t>
            </a:fld>
            <a:endParaRPr lang="en-US"/>
          </a:p>
        </p:txBody>
      </p:sp>
      <p:sp>
        <p:nvSpPr>
          <p:cNvPr id="6" name="object 2">
            <a:extLst>
              <a:ext uri="{FF2B5EF4-FFF2-40B4-BE49-F238E27FC236}">
                <a16:creationId xmlns:a16="http://schemas.microsoft.com/office/drawing/2014/main" id="{D68FF4BF-0297-5AED-90D2-CF6ACFDC0530}"/>
              </a:ext>
            </a:extLst>
          </p:cNvPr>
          <p:cNvSpPr txBox="1"/>
          <p:nvPr/>
        </p:nvSpPr>
        <p:spPr>
          <a:xfrm>
            <a:off x="1219200" y="304800"/>
            <a:ext cx="8614093" cy="566822"/>
          </a:xfrm>
          <a:prstGeom prst="rect">
            <a:avLst/>
          </a:prstGeom>
        </p:spPr>
        <p:txBody>
          <a:bodyPr vert="horz" wrap="square" lIns="0" tIns="12700" rIns="0" bIns="0" rtlCol="0">
            <a:spAutoFit/>
          </a:bodyPr>
          <a:lstStyle/>
          <a:p>
            <a:pPr marL="12700">
              <a:lnSpc>
                <a:spcPct val="100000"/>
              </a:lnSpc>
              <a:spcBef>
                <a:spcPts val="100"/>
              </a:spcBef>
            </a:pPr>
            <a:r>
              <a:rPr lang="fr-FR" sz="3600" b="1" spc="-5" dirty="0">
                <a:solidFill>
                  <a:srgbClr val="C00000"/>
                </a:solidFill>
                <a:latin typeface="Calibri"/>
                <a:cs typeface="Calibri"/>
              </a:rPr>
              <a:t>4. </a:t>
            </a:r>
            <a:r>
              <a:rPr sz="3600" b="1" spc="-5" dirty="0">
                <a:solidFill>
                  <a:srgbClr val="C00000"/>
                </a:solidFill>
                <a:latin typeface="Calibri"/>
                <a:cs typeface="Calibri"/>
              </a:rPr>
              <a:t>Les</a:t>
            </a:r>
            <a:r>
              <a:rPr sz="3600" b="1" spc="-35" dirty="0">
                <a:solidFill>
                  <a:srgbClr val="C00000"/>
                </a:solidFill>
                <a:latin typeface="Calibri"/>
                <a:cs typeface="Calibri"/>
              </a:rPr>
              <a:t> </a:t>
            </a:r>
            <a:r>
              <a:rPr sz="3600" b="1" dirty="0" err="1">
                <a:solidFill>
                  <a:srgbClr val="C00000"/>
                </a:solidFill>
                <a:latin typeface="Calibri"/>
                <a:cs typeface="Calibri"/>
              </a:rPr>
              <a:t>attaques</a:t>
            </a:r>
            <a:r>
              <a:rPr sz="3600" b="1" spc="-30" dirty="0">
                <a:solidFill>
                  <a:srgbClr val="C00000"/>
                </a:solidFill>
                <a:latin typeface="Calibri"/>
                <a:cs typeface="Calibri"/>
              </a:rPr>
              <a:t> </a:t>
            </a:r>
            <a:r>
              <a:rPr lang="fr-FR" sz="3600" b="1" spc="-5" dirty="0">
                <a:solidFill>
                  <a:srgbClr val="C00000"/>
                </a:solidFill>
                <a:latin typeface="Calibri"/>
                <a:cs typeface="Calibri"/>
              </a:rPr>
              <a:t>OS</a:t>
            </a:r>
            <a:endParaRPr sz="3600" b="1" dirty="0">
              <a:latin typeface="Calibri"/>
              <a:cs typeface="Calibri"/>
            </a:endParaRPr>
          </a:p>
        </p:txBody>
      </p:sp>
      <p:pic>
        <p:nvPicPr>
          <p:cNvPr id="3074" name="Picture 2">
            <a:extLst>
              <a:ext uri="{FF2B5EF4-FFF2-40B4-BE49-F238E27FC236}">
                <a16:creationId xmlns:a16="http://schemas.microsoft.com/office/drawing/2014/main" id="{449089EF-B7BB-93FF-A1F4-5D9B430656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592740"/>
            <a:ext cx="4860603" cy="2893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50543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7664" y="639172"/>
            <a:ext cx="1230630" cy="695960"/>
          </a:xfrm>
          <a:prstGeom prst="rect">
            <a:avLst/>
          </a:prstGeom>
        </p:spPr>
        <p:txBody>
          <a:bodyPr vert="horz" wrap="square" lIns="0" tIns="12700" rIns="0" bIns="0" rtlCol="0">
            <a:spAutoFit/>
          </a:bodyPr>
          <a:lstStyle/>
          <a:p>
            <a:pPr marL="12700">
              <a:lnSpc>
                <a:spcPct val="100000"/>
              </a:lnSpc>
              <a:spcBef>
                <a:spcPts val="100"/>
              </a:spcBef>
            </a:pPr>
            <a:r>
              <a:rPr b="0" spc="-10" dirty="0">
                <a:latin typeface="Calibri"/>
                <a:cs typeface="Calibri"/>
              </a:rPr>
              <a:t>PLAN</a:t>
            </a:r>
          </a:p>
        </p:txBody>
      </p:sp>
      <p:sp>
        <p:nvSpPr>
          <p:cNvPr id="3" name="object 3"/>
          <p:cNvSpPr txBox="1"/>
          <p:nvPr/>
        </p:nvSpPr>
        <p:spPr>
          <a:xfrm>
            <a:off x="2621897" y="1892363"/>
            <a:ext cx="5517515" cy="1988820"/>
          </a:xfrm>
          <a:prstGeom prst="rect">
            <a:avLst/>
          </a:prstGeom>
        </p:spPr>
        <p:txBody>
          <a:bodyPr vert="horz" wrap="square" lIns="0" tIns="12700" rIns="0" bIns="0" rtlCol="0">
            <a:spAutoFit/>
          </a:bodyPr>
          <a:lstStyle/>
          <a:p>
            <a:pPr marL="187960" indent="-175895">
              <a:lnSpc>
                <a:spcPct val="100000"/>
              </a:lnSpc>
              <a:spcBef>
                <a:spcPts val="100"/>
              </a:spcBef>
              <a:buFont typeface="Arial MT"/>
              <a:buChar char="•"/>
              <a:tabLst>
                <a:tab pos="188595" algn="l"/>
              </a:tabLst>
            </a:pPr>
            <a:r>
              <a:rPr sz="2800" spc="-5" dirty="0">
                <a:latin typeface="Calibri"/>
                <a:cs typeface="Calibri"/>
              </a:rPr>
              <a:t>Evolution</a:t>
            </a:r>
            <a:r>
              <a:rPr sz="2800" spc="-20" dirty="0">
                <a:latin typeface="Calibri"/>
                <a:cs typeface="Calibri"/>
              </a:rPr>
              <a:t> </a:t>
            </a:r>
            <a:r>
              <a:rPr sz="2800" spc="-5" dirty="0">
                <a:latin typeface="Calibri"/>
                <a:cs typeface="Calibri"/>
              </a:rPr>
              <a:t>des</a:t>
            </a:r>
            <a:r>
              <a:rPr sz="2800" spc="-20" dirty="0">
                <a:latin typeface="Calibri"/>
                <a:cs typeface="Calibri"/>
              </a:rPr>
              <a:t> </a:t>
            </a:r>
            <a:r>
              <a:rPr sz="2800" spc="-5" dirty="0">
                <a:latin typeface="Calibri"/>
                <a:cs typeface="Calibri"/>
              </a:rPr>
              <a:t>menaces</a:t>
            </a:r>
            <a:r>
              <a:rPr sz="2800" spc="-20" dirty="0">
                <a:latin typeface="Calibri"/>
                <a:cs typeface="Calibri"/>
              </a:rPr>
              <a:t> </a:t>
            </a:r>
            <a:r>
              <a:rPr sz="2800" spc="-5" dirty="0">
                <a:latin typeface="Calibri"/>
                <a:cs typeface="Calibri"/>
              </a:rPr>
              <a:t>de</a:t>
            </a:r>
            <a:r>
              <a:rPr sz="2800" spc="-20" dirty="0">
                <a:latin typeface="Calibri"/>
                <a:cs typeface="Calibri"/>
              </a:rPr>
              <a:t> </a:t>
            </a:r>
            <a:r>
              <a:rPr sz="2800" spc="-5" dirty="0">
                <a:latin typeface="Calibri"/>
                <a:cs typeface="Calibri"/>
              </a:rPr>
              <a:t>la</a:t>
            </a:r>
            <a:r>
              <a:rPr sz="2800" spc="-20" dirty="0">
                <a:latin typeface="Calibri"/>
                <a:cs typeface="Calibri"/>
              </a:rPr>
              <a:t> </a:t>
            </a:r>
            <a:r>
              <a:rPr sz="2800" spc="-5" dirty="0">
                <a:latin typeface="Calibri"/>
                <a:cs typeface="Calibri"/>
              </a:rPr>
              <a:t>sécurité</a:t>
            </a:r>
            <a:endParaRPr sz="2800">
              <a:latin typeface="Calibri"/>
              <a:cs typeface="Calibri"/>
            </a:endParaRPr>
          </a:p>
          <a:p>
            <a:pPr marL="187960" indent="-175895">
              <a:lnSpc>
                <a:spcPct val="100000"/>
              </a:lnSpc>
              <a:spcBef>
                <a:spcPts val="2665"/>
              </a:spcBef>
              <a:buFont typeface="Arial MT"/>
              <a:buChar char="•"/>
              <a:tabLst>
                <a:tab pos="188595" algn="l"/>
              </a:tabLst>
            </a:pPr>
            <a:r>
              <a:rPr sz="2800" spc="-5" dirty="0">
                <a:latin typeface="Calibri"/>
                <a:cs typeface="Calibri"/>
              </a:rPr>
              <a:t>Les</a:t>
            </a:r>
            <a:r>
              <a:rPr sz="2800" spc="-35" dirty="0">
                <a:latin typeface="Calibri"/>
                <a:cs typeface="Calibri"/>
              </a:rPr>
              <a:t> </a:t>
            </a:r>
            <a:r>
              <a:rPr sz="2800" dirty="0">
                <a:latin typeface="Calibri"/>
                <a:cs typeface="Calibri"/>
              </a:rPr>
              <a:t>attaquants</a:t>
            </a:r>
            <a:r>
              <a:rPr sz="2800" spc="-30" dirty="0">
                <a:latin typeface="Calibri"/>
                <a:cs typeface="Calibri"/>
              </a:rPr>
              <a:t> </a:t>
            </a:r>
            <a:r>
              <a:rPr sz="2800" spc="-5" dirty="0">
                <a:latin typeface="Calibri"/>
                <a:cs typeface="Calibri"/>
              </a:rPr>
              <a:t>réseau</a:t>
            </a:r>
            <a:endParaRPr sz="2800">
              <a:latin typeface="Calibri"/>
              <a:cs typeface="Calibri"/>
            </a:endParaRPr>
          </a:p>
          <a:p>
            <a:pPr marL="187960" indent="-175895">
              <a:lnSpc>
                <a:spcPct val="100000"/>
              </a:lnSpc>
              <a:spcBef>
                <a:spcPts val="2715"/>
              </a:spcBef>
              <a:buFont typeface="Arial MT"/>
              <a:buChar char="•"/>
              <a:tabLst>
                <a:tab pos="188595" algn="l"/>
              </a:tabLst>
            </a:pPr>
            <a:r>
              <a:rPr sz="2800" spc="-5" dirty="0">
                <a:latin typeface="Calibri"/>
                <a:cs typeface="Calibri"/>
              </a:rPr>
              <a:t>Types</a:t>
            </a:r>
            <a:r>
              <a:rPr sz="2800" spc="-30" dirty="0">
                <a:latin typeface="Calibri"/>
                <a:cs typeface="Calibri"/>
              </a:rPr>
              <a:t> </a:t>
            </a:r>
            <a:r>
              <a:rPr sz="2800" spc="-5" dirty="0">
                <a:latin typeface="Calibri"/>
                <a:cs typeface="Calibri"/>
              </a:rPr>
              <a:t>des</a:t>
            </a:r>
            <a:r>
              <a:rPr sz="2800" spc="-25" dirty="0">
                <a:latin typeface="Calibri"/>
                <a:cs typeface="Calibri"/>
              </a:rPr>
              <a:t> </a:t>
            </a:r>
            <a:r>
              <a:rPr sz="2800" dirty="0">
                <a:latin typeface="Calibri"/>
                <a:cs typeface="Calibri"/>
              </a:rPr>
              <a:t>attaques</a:t>
            </a:r>
            <a:r>
              <a:rPr sz="2800" spc="-25" dirty="0">
                <a:latin typeface="Calibri"/>
                <a:cs typeface="Calibri"/>
              </a:rPr>
              <a:t> </a:t>
            </a:r>
            <a:r>
              <a:rPr sz="2800" spc="-5" dirty="0">
                <a:latin typeface="Calibri"/>
                <a:cs typeface="Calibri"/>
              </a:rPr>
              <a:t>réseau</a:t>
            </a:r>
            <a:endParaRPr sz="2800">
              <a:latin typeface="Calibri"/>
              <a:cs typeface="Calibri"/>
            </a:endParaRPr>
          </a:p>
        </p:txBody>
      </p:sp>
      <p:sp>
        <p:nvSpPr>
          <p:cNvPr id="4" name="object 4"/>
          <p:cNvSpPr txBox="1"/>
          <p:nvPr/>
        </p:nvSpPr>
        <p:spPr>
          <a:xfrm>
            <a:off x="2171700" y="4191000"/>
            <a:ext cx="7848600" cy="533400"/>
          </a:xfrm>
          <a:prstGeom prst="rect">
            <a:avLst/>
          </a:prstGeom>
          <a:noFill/>
          <a:ln>
            <a:noFill/>
          </a:ln>
        </p:spPr>
        <p:txBody>
          <a:bodyPr vert="horz" wrap="square" lIns="0" tIns="0" rIns="0" bIns="0" rtlCol="0">
            <a:spAutoFit/>
          </a:bodyPr>
          <a:lstStyle/>
          <a:p>
            <a:pPr marL="638175" indent="-175895">
              <a:lnSpc>
                <a:spcPts val="2880"/>
              </a:lnSpc>
              <a:buFont typeface="Arial MT"/>
              <a:buChar char="•"/>
              <a:tabLst>
                <a:tab pos="638175" algn="l"/>
              </a:tabLst>
            </a:pPr>
            <a:r>
              <a:rPr sz="2800" spc="-5" dirty="0">
                <a:latin typeface="Calibri"/>
                <a:cs typeface="Calibri"/>
              </a:rPr>
              <a:t>Atténuation</a:t>
            </a:r>
            <a:r>
              <a:rPr sz="2800" spc="-35" dirty="0">
                <a:latin typeface="Calibri"/>
                <a:cs typeface="Calibri"/>
              </a:rPr>
              <a:t> </a:t>
            </a:r>
            <a:r>
              <a:rPr sz="2800" spc="-5" dirty="0">
                <a:latin typeface="Calibri"/>
                <a:cs typeface="Calibri"/>
              </a:rPr>
              <a:t>des</a:t>
            </a:r>
            <a:r>
              <a:rPr sz="2800" spc="-30" dirty="0">
                <a:latin typeface="Calibri"/>
                <a:cs typeface="Calibri"/>
              </a:rPr>
              <a:t> </a:t>
            </a:r>
            <a:r>
              <a:rPr sz="2800" dirty="0">
                <a:latin typeface="Calibri"/>
                <a:cs typeface="Calibri"/>
              </a:rPr>
              <a:t>attaques</a:t>
            </a:r>
            <a:endParaRPr sz="2800">
              <a:latin typeface="Calibri"/>
              <a:cs typeface="Calibri"/>
            </a:endParaRPr>
          </a:p>
        </p:txBody>
      </p:sp>
      <p:sp>
        <p:nvSpPr>
          <p:cNvPr id="5" name="object 5"/>
          <p:cNvSpPr txBox="1"/>
          <p:nvPr/>
        </p:nvSpPr>
        <p:spPr>
          <a:xfrm>
            <a:off x="2621897" y="4972113"/>
            <a:ext cx="3697604" cy="452120"/>
          </a:xfrm>
          <a:prstGeom prst="rect">
            <a:avLst/>
          </a:prstGeom>
        </p:spPr>
        <p:txBody>
          <a:bodyPr vert="horz" wrap="square" lIns="0" tIns="12700" rIns="0" bIns="0" rtlCol="0">
            <a:spAutoFit/>
          </a:bodyPr>
          <a:lstStyle/>
          <a:p>
            <a:pPr marL="187960" indent="-175895">
              <a:lnSpc>
                <a:spcPct val="100000"/>
              </a:lnSpc>
              <a:spcBef>
                <a:spcPts val="100"/>
              </a:spcBef>
              <a:buFont typeface="Arial MT"/>
              <a:buChar char="•"/>
              <a:tabLst>
                <a:tab pos="188595" algn="l"/>
              </a:tabLst>
            </a:pPr>
            <a:r>
              <a:rPr sz="2800" spc="-5" dirty="0">
                <a:latin typeface="Calibri"/>
                <a:cs typeface="Calibri"/>
              </a:rPr>
              <a:t>Les</a:t>
            </a:r>
            <a:r>
              <a:rPr sz="2800" spc="-35" dirty="0">
                <a:latin typeface="Calibri"/>
                <a:cs typeface="Calibri"/>
              </a:rPr>
              <a:t> </a:t>
            </a:r>
            <a:r>
              <a:rPr sz="2800" spc="-5" dirty="0">
                <a:latin typeface="Calibri"/>
                <a:cs typeface="Calibri"/>
              </a:rPr>
              <a:t>10</a:t>
            </a:r>
            <a:r>
              <a:rPr sz="2800" spc="-30" dirty="0">
                <a:latin typeface="Calibri"/>
                <a:cs typeface="Calibri"/>
              </a:rPr>
              <a:t> </a:t>
            </a:r>
            <a:r>
              <a:rPr sz="2800" spc="-5" dirty="0">
                <a:latin typeface="Calibri"/>
                <a:cs typeface="Calibri"/>
              </a:rPr>
              <a:t>bonnes</a:t>
            </a:r>
            <a:r>
              <a:rPr sz="2800" spc="-30" dirty="0">
                <a:latin typeface="Calibri"/>
                <a:cs typeface="Calibri"/>
              </a:rPr>
              <a:t> </a:t>
            </a:r>
            <a:r>
              <a:rPr sz="2800" spc="-5" dirty="0">
                <a:latin typeface="Calibri"/>
                <a:cs typeface="Calibri"/>
              </a:rPr>
              <a:t>pratiques</a:t>
            </a:r>
            <a:endParaRPr sz="2800">
              <a:latin typeface="Calibri"/>
              <a:cs typeface="Calibri"/>
            </a:endParaRPr>
          </a:p>
        </p:txBody>
      </p:sp>
      <p:sp>
        <p:nvSpPr>
          <p:cNvPr id="6" name="Espace réservé du numéro de diapositive 5">
            <a:extLst>
              <a:ext uri="{FF2B5EF4-FFF2-40B4-BE49-F238E27FC236}">
                <a16:creationId xmlns:a16="http://schemas.microsoft.com/office/drawing/2014/main" id="{CA00B9FA-1BA1-4386-7A9D-B0DC6D3876CC}"/>
              </a:ext>
            </a:extLst>
          </p:cNvPr>
          <p:cNvSpPr>
            <a:spLocks noGrp="1"/>
          </p:cNvSpPr>
          <p:nvPr>
            <p:ph type="sldNum" sz="quarter" idx="7"/>
          </p:nvPr>
        </p:nvSpPr>
        <p:spPr/>
        <p:txBody>
          <a:bodyPr/>
          <a:lstStyle/>
          <a:p>
            <a:fld id="{B6F15528-21DE-4FAA-801E-634DDDAF4B2B}" type="slidenum">
              <a:rPr lang="en-US" smtClean="0"/>
              <a:t>30</a:t>
            </a:fld>
            <a:endParaRPr lang="en-US"/>
          </a:p>
        </p:txBody>
      </p:sp>
      <p:sp>
        <p:nvSpPr>
          <p:cNvPr id="7" name="object 3">
            <a:extLst>
              <a:ext uri="{FF2B5EF4-FFF2-40B4-BE49-F238E27FC236}">
                <a16:creationId xmlns:a16="http://schemas.microsoft.com/office/drawing/2014/main" id="{3C5EED3F-E309-3C64-E7E7-A58C0C9AC4FB}"/>
              </a:ext>
            </a:extLst>
          </p:cNvPr>
          <p:cNvSpPr/>
          <p:nvPr/>
        </p:nvSpPr>
        <p:spPr>
          <a:xfrm>
            <a:off x="2590800" y="4114800"/>
            <a:ext cx="6369704" cy="533400"/>
          </a:xfrm>
          <a:custGeom>
            <a:avLst/>
            <a:gdLst/>
            <a:ahLst/>
            <a:cxnLst/>
            <a:rect l="l" t="t" r="r" b="b"/>
            <a:pathLst>
              <a:path w="7848600" h="533400">
                <a:moveTo>
                  <a:pt x="7848599" y="533399"/>
                </a:moveTo>
                <a:lnTo>
                  <a:pt x="0" y="533399"/>
                </a:lnTo>
                <a:lnTo>
                  <a:pt x="0" y="0"/>
                </a:lnTo>
                <a:lnTo>
                  <a:pt x="7848599" y="0"/>
                </a:lnTo>
                <a:lnTo>
                  <a:pt x="7848599" y="533399"/>
                </a:lnTo>
                <a:close/>
              </a:path>
            </a:pathLst>
          </a:custGeom>
          <a:solidFill>
            <a:srgbClr val="FF0000">
              <a:alpha val="34901"/>
            </a:srgbClr>
          </a:solidFill>
        </p:spPr>
        <p:txBody>
          <a:bodyPr wrap="square" lIns="0" tIns="0" rIns="0" bIns="0" rtlCol="0"/>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BCFE73-9A50-5F06-3CB7-A3C2269F7C1D}"/>
              </a:ext>
            </a:extLst>
          </p:cNvPr>
          <p:cNvSpPr>
            <a:spLocks noGrp="1"/>
          </p:cNvSpPr>
          <p:nvPr>
            <p:ph type="title"/>
          </p:nvPr>
        </p:nvSpPr>
        <p:spPr/>
        <p:txBody>
          <a:bodyPr/>
          <a:lstStyle/>
          <a:p>
            <a:r>
              <a:rPr lang="fr-FR" dirty="0"/>
              <a:t>Atténuation des attaques</a:t>
            </a:r>
            <a:endParaRPr lang="en-GB" dirty="0"/>
          </a:p>
        </p:txBody>
      </p:sp>
      <p:graphicFrame>
        <p:nvGraphicFramePr>
          <p:cNvPr id="6" name="Diagramme 5">
            <a:extLst>
              <a:ext uri="{FF2B5EF4-FFF2-40B4-BE49-F238E27FC236}">
                <a16:creationId xmlns:a16="http://schemas.microsoft.com/office/drawing/2014/main" id="{9825046B-B255-D72F-EA24-3DF42AE8D49D}"/>
              </a:ext>
            </a:extLst>
          </p:cNvPr>
          <p:cNvGraphicFramePr/>
          <p:nvPr>
            <p:extLst>
              <p:ext uri="{D42A27DB-BD31-4B8C-83A1-F6EECF244321}">
                <p14:modId xmlns:p14="http://schemas.microsoft.com/office/powerpoint/2010/main" val="3282601405"/>
              </p:ext>
            </p:extLst>
          </p:nvPr>
        </p:nvGraphicFramePr>
        <p:xfrm>
          <a:off x="366365" y="1314953"/>
          <a:ext cx="11292235" cy="53626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Espace réservé du numéro de diapositive 3">
            <a:extLst>
              <a:ext uri="{FF2B5EF4-FFF2-40B4-BE49-F238E27FC236}">
                <a16:creationId xmlns:a16="http://schemas.microsoft.com/office/drawing/2014/main" id="{6D87F90A-532D-6A6A-C78D-02310244DE47}"/>
              </a:ext>
            </a:extLst>
          </p:cNvPr>
          <p:cNvSpPr>
            <a:spLocks noGrp="1"/>
          </p:cNvSpPr>
          <p:nvPr>
            <p:ph type="sldNum" sz="quarter" idx="7"/>
          </p:nvPr>
        </p:nvSpPr>
        <p:spPr/>
        <p:txBody>
          <a:bodyPr/>
          <a:lstStyle/>
          <a:p>
            <a:fld id="{B6F15528-21DE-4FAA-801E-634DDDAF4B2B}" type="slidenum">
              <a:rPr lang="en-GB" smtClean="0"/>
              <a:t>31</a:t>
            </a:fld>
            <a:endParaRPr lang="en-GB"/>
          </a:p>
        </p:txBody>
      </p:sp>
    </p:spTree>
    <p:extLst>
      <p:ext uri="{BB962C8B-B14F-4D97-AF65-F5344CB8AC3E}">
        <p14:creationId xmlns:p14="http://schemas.microsoft.com/office/powerpoint/2010/main" val="1871694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graphicEl>
                                              <a:dgm id="{F5A83156-A425-4C88-89A4-57FCCC7D7BBE}"/>
                                            </p:graphicEl>
                                          </p:spTgt>
                                        </p:tgtEl>
                                        <p:attrNameLst>
                                          <p:attrName>style.visibility</p:attrName>
                                        </p:attrNameLst>
                                      </p:cBhvr>
                                      <p:to>
                                        <p:strVal val="visible"/>
                                      </p:to>
                                    </p:set>
                                    <p:animEffect transition="in" filter="wipe(up)">
                                      <p:cBhvr>
                                        <p:cTn id="7" dur="500"/>
                                        <p:tgtEl>
                                          <p:spTgt spid="6">
                                            <p:graphicEl>
                                              <a:dgm id="{F5A83156-A425-4C88-89A4-57FCCC7D7BBE}"/>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graphicEl>
                                              <a:dgm id="{A746604B-502D-428C-A100-D20E12369537}"/>
                                            </p:graphicEl>
                                          </p:spTgt>
                                        </p:tgtEl>
                                        <p:attrNameLst>
                                          <p:attrName>style.visibility</p:attrName>
                                        </p:attrNameLst>
                                      </p:cBhvr>
                                      <p:to>
                                        <p:strVal val="visible"/>
                                      </p:to>
                                    </p:set>
                                    <p:animEffect transition="in" filter="wipe(up)">
                                      <p:cBhvr>
                                        <p:cTn id="12" dur="500"/>
                                        <p:tgtEl>
                                          <p:spTgt spid="6">
                                            <p:graphicEl>
                                              <a:dgm id="{A746604B-502D-428C-A100-D20E12369537}"/>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graphicEl>
                                              <a:dgm id="{E27EE1EE-2C60-4470-80B6-26C04E8C6E21}"/>
                                            </p:graphicEl>
                                          </p:spTgt>
                                        </p:tgtEl>
                                        <p:attrNameLst>
                                          <p:attrName>style.visibility</p:attrName>
                                        </p:attrNameLst>
                                      </p:cBhvr>
                                      <p:to>
                                        <p:strVal val="visible"/>
                                      </p:to>
                                    </p:set>
                                    <p:animEffect transition="in" filter="wipe(up)">
                                      <p:cBhvr>
                                        <p:cTn id="17" dur="500"/>
                                        <p:tgtEl>
                                          <p:spTgt spid="6">
                                            <p:graphicEl>
                                              <a:dgm id="{E27EE1EE-2C60-4470-80B6-26C04E8C6E21}"/>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
                                            <p:graphicEl>
                                              <a:dgm id="{47254A19-35D4-4F03-B433-FC46148B90A3}"/>
                                            </p:graphicEl>
                                          </p:spTgt>
                                        </p:tgtEl>
                                        <p:attrNameLst>
                                          <p:attrName>style.visibility</p:attrName>
                                        </p:attrNameLst>
                                      </p:cBhvr>
                                      <p:to>
                                        <p:strVal val="visible"/>
                                      </p:to>
                                    </p:set>
                                    <p:animEffect transition="in" filter="wipe(up)">
                                      <p:cBhvr>
                                        <p:cTn id="22" dur="500"/>
                                        <p:tgtEl>
                                          <p:spTgt spid="6">
                                            <p:graphicEl>
                                              <a:dgm id="{47254A19-35D4-4F03-B433-FC46148B90A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17664" y="639172"/>
            <a:ext cx="1230630" cy="695960"/>
          </a:xfrm>
          <a:prstGeom prst="rect">
            <a:avLst/>
          </a:prstGeom>
        </p:spPr>
        <p:txBody>
          <a:bodyPr vert="horz" wrap="square" lIns="0" tIns="12700" rIns="0" bIns="0" rtlCol="0">
            <a:spAutoFit/>
          </a:bodyPr>
          <a:lstStyle/>
          <a:p>
            <a:pPr marL="12700">
              <a:lnSpc>
                <a:spcPct val="100000"/>
              </a:lnSpc>
              <a:spcBef>
                <a:spcPts val="100"/>
              </a:spcBef>
            </a:pPr>
            <a:r>
              <a:rPr b="0" spc="-10" dirty="0">
                <a:latin typeface="Calibri"/>
                <a:cs typeface="Calibri"/>
              </a:rPr>
              <a:t>PLAN</a:t>
            </a:r>
          </a:p>
        </p:txBody>
      </p:sp>
      <p:sp>
        <p:nvSpPr>
          <p:cNvPr id="4" name="object 4"/>
          <p:cNvSpPr txBox="1"/>
          <p:nvPr/>
        </p:nvSpPr>
        <p:spPr>
          <a:xfrm>
            <a:off x="2621897" y="1892363"/>
            <a:ext cx="5517515" cy="3531870"/>
          </a:xfrm>
          <a:prstGeom prst="rect">
            <a:avLst/>
          </a:prstGeom>
        </p:spPr>
        <p:txBody>
          <a:bodyPr vert="horz" wrap="square" lIns="0" tIns="12700" rIns="0" bIns="0" rtlCol="0">
            <a:spAutoFit/>
          </a:bodyPr>
          <a:lstStyle/>
          <a:p>
            <a:pPr marL="187960" indent="-175895">
              <a:lnSpc>
                <a:spcPct val="100000"/>
              </a:lnSpc>
              <a:spcBef>
                <a:spcPts val="100"/>
              </a:spcBef>
              <a:buFont typeface="Arial MT"/>
              <a:buChar char="•"/>
              <a:tabLst>
                <a:tab pos="188595" algn="l"/>
              </a:tabLst>
            </a:pPr>
            <a:r>
              <a:rPr sz="2800" spc="-5" dirty="0">
                <a:latin typeface="Calibri"/>
                <a:cs typeface="Calibri"/>
              </a:rPr>
              <a:t>Evolution</a:t>
            </a:r>
            <a:r>
              <a:rPr sz="2800" spc="-20" dirty="0">
                <a:latin typeface="Calibri"/>
                <a:cs typeface="Calibri"/>
              </a:rPr>
              <a:t> </a:t>
            </a:r>
            <a:r>
              <a:rPr sz="2800" spc="-5" dirty="0">
                <a:latin typeface="Calibri"/>
                <a:cs typeface="Calibri"/>
              </a:rPr>
              <a:t>des</a:t>
            </a:r>
            <a:r>
              <a:rPr sz="2800" spc="-20" dirty="0">
                <a:latin typeface="Calibri"/>
                <a:cs typeface="Calibri"/>
              </a:rPr>
              <a:t> </a:t>
            </a:r>
            <a:r>
              <a:rPr sz="2800" spc="-5" dirty="0">
                <a:latin typeface="Calibri"/>
                <a:cs typeface="Calibri"/>
              </a:rPr>
              <a:t>menaces</a:t>
            </a:r>
            <a:r>
              <a:rPr sz="2800" spc="-20" dirty="0">
                <a:latin typeface="Calibri"/>
                <a:cs typeface="Calibri"/>
              </a:rPr>
              <a:t> </a:t>
            </a:r>
            <a:r>
              <a:rPr sz="2800" spc="-5" dirty="0">
                <a:latin typeface="Calibri"/>
                <a:cs typeface="Calibri"/>
              </a:rPr>
              <a:t>de</a:t>
            </a:r>
            <a:r>
              <a:rPr sz="2800" spc="-20" dirty="0">
                <a:latin typeface="Calibri"/>
                <a:cs typeface="Calibri"/>
              </a:rPr>
              <a:t> </a:t>
            </a:r>
            <a:r>
              <a:rPr sz="2800" spc="-5" dirty="0">
                <a:latin typeface="Calibri"/>
                <a:cs typeface="Calibri"/>
              </a:rPr>
              <a:t>la</a:t>
            </a:r>
            <a:r>
              <a:rPr sz="2800" spc="-20" dirty="0">
                <a:latin typeface="Calibri"/>
                <a:cs typeface="Calibri"/>
              </a:rPr>
              <a:t> </a:t>
            </a:r>
            <a:r>
              <a:rPr sz="2800" spc="-5" dirty="0">
                <a:latin typeface="Calibri"/>
                <a:cs typeface="Calibri"/>
              </a:rPr>
              <a:t>sécurité</a:t>
            </a:r>
            <a:endParaRPr sz="2800" dirty="0">
              <a:latin typeface="Calibri"/>
              <a:cs typeface="Calibri"/>
            </a:endParaRPr>
          </a:p>
          <a:p>
            <a:pPr marL="187960" indent="-175895">
              <a:lnSpc>
                <a:spcPct val="100000"/>
              </a:lnSpc>
              <a:spcBef>
                <a:spcPts val="2665"/>
              </a:spcBef>
              <a:buFont typeface="Arial MT"/>
              <a:buChar char="•"/>
              <a:tabLst>
                <a:tab pos="188595" algn="l"/>
              </a:tabLst>
            </a:pPr>
            <a:r>
              <a:rPr sz="2800" spc="-5" dirty="0">
                <a:latin typeface="Calibri"/>
                <a:cs typeface="Calibri"/>
              </a:rPr>
              <a:t>Les</a:t>
            </a:r>
            <a:r>
              <a:rPr sz="2800" spc="-35" dirty="0">
                <a:latin typeface="Calibri"/>
                <a:cs typeface="Calibri"/>
              </a:rPr>
              <a:t> </a:t>
            </a:r>
            <a:r>
              <a:rPr sz="2800" dirty="0">
                <a:latin typeface="Calibri"/>
                <a:cs typeface="Calibri"/>
              </a:rPr>
              <a:t>attaquants</a:t>
            </a:r>
            <a:r>
              <a:rPr sz="2800" spc="-30" dirty="0">
                <a:latin typeface="Calibri"/>
                <a:cs typeface="Calibri"/>
              </a:rPr>
              <a:t> </a:t>
            </a:r>
            <a:r>
              <a:rPr sz="2800" spc="-5" dirty="0">
                <a:latin typeface="Calibri"/>
                <a:cs typeface="Calibri"/>
              </a:rPr>
              <a:t>réseau</a:t>
            </a:r>
            <a:endParaRPr sz="2800" dirty="0">
              <a:latin typeface="Calibri"/>
              <a:cs typeface="Calibri"/>
            </a:endParaRPr>
          </a:p>
          <a:p>
            <a:pPr marL="187960" indent="-175895">
              <a:lnSpc>
                <a:spcPct val="100000"/>
              </a:lnSpc>
              <a:spcBef>
                <a:spcPts val="2715"/>
              </a:spcBef>
              <a:buFont typeface="Arial MT"/>
              <a:buChar char="•"/>
              <a:tabLst>
                <a:tab pos="188595" algn="l"/>
              </a:tabLst>
            </a:pPr>
            <a:r>
              <a:rPr sz="2800" spc="-5" dirty="0">
                <a:latin typeface="Calibri"/>
                <a:cs typeface="Calibri"/>
              </a:rPr>
              <a:t>Types</a:t>
            </a:r>
            <a:r>
              <a:rPr sz="2800" spc="-30" dirty="0">
                <a:latin typeface="Calibri"/>
                <a:cs typeface="Calibri"/>
              </a:rPr>
              <a:t> </a:t>
            </a:r>
            <a:r>
              <a:rPr sz="2800" spc="-5" dirty="0">
                <a:latin typeface="Calibri"/>
                <a:cs typeface="Calibri"/>
              </a:rPr>
              <a:t>des</a:t>
            </a:r>
            <a:r>
              <a:rPr sz="2800" spc="-25" dirty="0">
                <a:latin typeface="Calibri"/>
                <a:cs typeface="Calibri"/>
              </a:rPr>
              <a:t> </a:t>
            </a:r>
            <a:r>
              <a:rPr sz="2800" dirty="0">
                <a:latin typeface="Calibri"/>
                <a:cs typeface="Calibri"/>
              </a:rPr>
              <a:t>attaques</a:t>
            </a:r>
            <a:r>
              <a:rPr sz="2800" spc="-25" dirty="0">
                <a:latin typeface="Calibri"/>
                <a:cs typeface="Calibri"/>
              </a:rPr>
              <a:t> </a:t>
            </a:r>
            <a:r>
              <a:rPr sz="2800" spc="-5" dirty="0">
                <a:latin typeface="Calibri"/>
                <a:cs typeface="Calibri"/>
              </a:rPr>
              <a:t>réseau</a:t>
            </a:r>
            <a:endParaRPr sz="2800" dirty="0">
              <a:latin typeface="Calibri"/>
              <a:cs typeface="Calibri"/>
            </a:endParaRPr>
          </a:p>
          <a:p>
            <a:pPr marL="187960" indent="-175895">
              <a:lnSpc>
                <a:spcPct val="100000"/>
              </a:lnSpc>
              <a:spcBef>
                <a:spcPts val="2715"/>
              </a:spcBef>
              <a:buFont typeface="Arial MT"/>
              <a:buChar char="•"/>
              <a:tabLst>
                <a:tab pos="188595" algn="l"/>
              </a:tabLst>
            </a:pPr>
            <a:r>
              <a:rPr sz="2800" spc="-5" dirty="0">
                <a:latin typeface="Calibri"/>
                <a:cs typeface="Calibri"/>
              </a:rPr>
              <a:t>Atténuation</a:t>
            </a:r>
            <a:r>
              <a:rPr sz="2800" spc="-35" dirty="0">
                <a:latin typeface="Calibri"/>
                <a:cs typeface="Calibri"/>
              </a:rPr>
              <a:t> </a:t>
            </a:r>
            <a:r>
              <a:rPr sz="2800" spc="-5" dirty="0">
                <a:latin typeface="Calibri"/>
                <a:cs typeface="Calibri"/>
              </a:rPr>
              <a:t>des</a:t>
            </a:r>
            <a:r>
              <a:rPr sz="2800" spc="-30" dirty="0">
                <a:latin typeface="Calibri"/>
                <a:cs typeface="Calibri"/>
              </a:rPr>
              <a:t> </a:t>
            </a:r>
            <a:r>
              <a:rPr sz="2800" dirty="0">
                <a:latin typeface="Calibri"/>
                <a:cs typeface="Calibri"/>
              </a:rPr>
              <a:t>attaques</a:t>
            </a:r>
          </a:p>
          <a:p>
            <a:pPr marL="187960" indent="-175895">
              <a:lnSpc>
                <a:spcPct val="100000"/>
              </a:lnSpc>
              <a:spcBef>
                <a:spcPts val="2715"/>
              </a:spcBef>
              <a:buFont typeface="Arial MT"/>
              <a:buChar char="•"/>
              <a:tabLst>
                <a:tab pos="188595" algn="l"/>
              </a:tabLst>
            </a:pPr>
            <a:r>
              <a:rPr sz="2800" spc="-5" dirty="0">
                <a:latin typeface="Calibri"/>
                <a:cs typeface="Calibri"/>
              </a:rPr>
              <a:t>Les</a:t>
            </a:r>
            <a:r>
              <a:rPr sz="2800" spc="-25" dirty="0">
                <a:latin typeface="Calibri"/>
                <a:cs typeface="Calibri"/>
              </a:rPr>
              <a:t> </a:t>
            </a:r>
            <a:r>
              <a:rPr sz="2800" spc="-5" dirty="0">
                <a:latin typeface="Calibri"/>
                <a:cs typeface="Calibri"/>
              </a:rPr>
              <a:t>10</a:t>
            </a:r>
            <a:r>
              <a:rPr sz="2800" spc="-25" dirty="0">
                <a:latin typeface="Calibri"/>
                <a:cs typeface="Calibri"/>
              </a:rPr>
              <a:t> </a:t>
            </a:r>
            <a:r>
              <a:rPr sz="2800" spc="-5" dirty="0">
                <a:latin typeface="Calibri"/>
                <a:cs typeface="Calibri"/>
              </a:rPr>
              <a:t>bonnes</a:t>
            </a:r>
            <a:r>
              <a:rPr sz="2800" spc="-25" dirty="0">
                <a:latin typeface="Calibri"/>
                <a:cs typeface="Calibri"/>
              </a:rPr>
              <a:t> </a:t>
            </a:r>
            <a:r>
              <a:rPr sz="2800" spc="-5" dirty="0">
                <a:latin typeface="Calibri"/>
                <a:cs typeface="Calibri"/>
              </a:rPr>
              <a:t>pratiques</a:t>
            </a:r>
            <a:endParaRPr sz="2800" dirty="0">
              <a:latin typeface="Calibri"/>
              <a:cs typeface="Calibri"/>
            </a:endParaRPr>
          </a:p>
        </p:txBody>
      </p:sp>
      <p:sp>
        <p:nvSpPr>
          <p:cNvPr id="5" name="Espace réservé du numéro de diapositive 4">
            <a:extLst>
              <a:ext uri="{FF2B5EF4-FFF2-40B4-BE49-F238E27FC236}">
                <a16:creationId xmlns:a16="http://schemas.microsoft.com/office/drawing/2014/main" id="{AC061904-19ED-BDB8-0E1B-4F55034204A0}"/>
              </a:ext>
            </a:extLst>
          </p:cNvPr>
          <p:cNvSpPr>
            <a:spLocks noGrp="1"/>
          </p:cNvSpPr>
          <p:nvPr>
            <p:ph type="sldNum" sz="quarter" idx="7"/>
          </p:nvPr>
        </p:nvSpPr>
        <p:spPr/>
        <p:txBody>
          <a:bodyPr/>
          <a:lstStyle/>
          <a:p>
            <a:fld id="{B6F15528-21DE-4FAA-801E-634DDDAF4B2B}" type="slidenum">
              <a:rPr lang="en-US" smtClean="0"/>
              <a:t>32</a:t>
            </a:fld>
            <a:endParaRPr lang="en-US"/>
          </a:p>
        </p:txBody>
      </p:sp>
      <p:sp>
        <p:nvSpPr>
          <p:cNvPr id="6" name="object 3">
            <a:extLst>
              <a:ext uri="{FF2B5EF4-FFF2-40B4-BE49-F238E27FC236}">
                <a16:creationId xmlns:a16="http://schemas.microsoft.com/office/drawing/2014/main" id="{E9708E65-6CD8-1A3E-B574-D688C3064D7E}"/>
              </a:ext>
            </a:extLst>
          </p:cNvPr>
          <p:cNvSpPr/>
          <p:nvPr/>
        </p:nvSpPr>
        <p:spPr>
          <a:xfrm>
            <a:off x="2590800" y="4953000"/>
            <a:ext cx="6369704" cy="533400"/>
          </a:xfrm>
          <a:custGeom>
            <a:avLst/>
            <a:gdLst/>
            <a:ahLst/>
            <a:cxnLst/>
            <a:rect l="l" t="t" r="r" b="b"/>
            <a:pathLst>
              <a:path w="7848600" h="533400">
                <a:moveTo>
                  <a:pt x="7848599" y="533399"/>
                </a:moveTo>
                <a:lnTo>
                  <a:pt x="0" y="533399"/>
                </a:lnTo>
                <a:lnTo>
                  <a:pt x="0" y="0"/>
                </a:lnTo>
                <a:lnTo>
                  <a:pt x="7848599" y="0"/>
                </a:lnTo>
                <a:lnTo>
                  <a:pt x="7848599" y="533399"/>
                </a:lnTo>
                <a:close/>
              </a:path>
            </a:pathLst>
          </a:custGeom>
          <a:solidFill>
            <a:srgbClr val="FF0000">
              <a:alpha val="34901"/>
            </a:srgbClr>
          </a:solidFill>
        </p:spPr>
        <p:txBody>
          <a:bodyPr wrap="square" lIns="0" tIns="0" rIns="0" bIns="0" rtlCol="0"/>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59840" y="599440"/>
            <a:ext cx="5521960" cy="695960"/>
          </a:xfrm>
          <a:prstGeom prst="rect">
            <a:avLst/>
          </a:prstGeom>
        </p:spPr>
        <p:txBody>
          <a:bodyPr vert="horz" wrap="square" lIns="0" tIns="12700" rIns="0" bIns="0" rtlCol="0">
            <a:spAutoFit/>
          </a:bodyPr>
          <a:lstStyle/>
          <a:p>
            <a:pPr marL="12700">
              <a:lnSpc>
                <a:spcPct val="100000"/>
              </a:lnSpc>
              <a:spcBef>
                <a:spcPts val="100"/>
              </a:spcBef>
            </a:pPr>
            <a:r>
              <a:rPr b="0" spc="-5" dirty="0">
                <a:latin typeface="Calibri"/>
                <a:cs typeface="Calibri"/>
              </a:rPr>
              <a:t>Les</a:t>
            </a:r>
            <a:r>
              <a:rPr b="0" spc="-35" dirty="0">
                <a:latin typeface="Calibri"/>
                <a:cs typeface="Calibri"/>
              </a:rPr>
              <a:t> </a:t>
            </a:r>
            <a:r>
              <a:rPr b="0" spc="-5" dirty="0">
                <a:latin typeface="Calibri"/>
                <a:cs typeface="Calibri"/>
              </a:rPr>
              <a:t>10</a:t>
            </a:r>
            <a:r>
              <a:rPr b="0" spc="-40" dirty="0">
                <a:latin typeface="Calibri"/>
                <a:cs typeface="Calibri"/>
              </a:rPr>
              <a:t> </a:t>
            </a:r>
            <a:r>
              <a:rPr b="0" spc="-5" dirty="0">
                <a:latin typeface="Calibri"/>
                <a:cs typeface="Calibri"/>
              </a:rPr>
              <a:t>bonnes</a:t>
            </a:r>
            <a:r>
              <a:rPr b="0" spc="-35" dirty="0">
                <a:latin typeface="Calibri"/>
                <a:cs typeface="Calibri"/>
              </a:rPr>
              <a:t> </a:t>
            </a:r>
            <a:r>
              <a:rPr b="0" spc="-5" dirty="0">
                <a:latin typeface="Calibri"/>
                <a:cs typeface="Calibri"/>
              </a:rPr>
              <a:t>pratiques</a:t>
            </a:r>
          </a:p>
        </p:txBody>
      </p:sp>
      <p:sp>
        <p:nvSpPr>
          <p:cNvPr id="3" name="object 3"/>
          <p:cNvSpPr txBox="1"/>
          <p:nvPr/>
        </p:nvSpPr>
        <p:spPr>
          <a:xfrm>
            <a:off x="3048000" y="5274776"/>
            <a:ext cx="11963400" cy="789960"/>
          </a:xfrm>
          <a:prstGeom prst="rect">
            <a:avLst/>
          </a:prstGeom>
        </p:spPr>
        <p:txBody>
          <a:bodyPr vert="horz" wrap="square" lIns="0" tIns="12700" rIns="0" bIns="0" rtlCol="0">
            <a:spAutoFit/>
          </a:bodyPr>
          <a:lstStyle/>
          <a:p>
            <a:pPr marL="12700" algn="just">
              <a:lnSpc>
                <a:spcPct val="100000"/>
              </a:lnSpc>
              <a:spcBef>
                <a:spcPts val="310"/>
              </a:spcBef>
              <a:tabLst>
                <a:tab pos="396240" algn="l"/>
              </a:tabLst>
            </a:pPr>
            <a:r>
              <a:rPr lang="fr-FR" sz="2400" spc="-5" dirty="0">
                <a:latin typeface="Arial" panose="020B0604020202020204" pitchFamily="34" charset="0"/>
                <a:cs typeface="Arial" panose="020B0604020202020204" pitchFamily="34" charset="0"/>
              </a:rPr>
              <a:t>.</a:t>
            </a:r>
            <a:endParaRPr lang="fr-FR" sz="2400" dirty="0">
              <a:latin typeface="Arial" panose="020B0604020202020204" pitchFamily="34" charset="0"/>
              <a:cs typeface="Arial" panose="020B0604020202020204" pitchFamily="34" charset="0"/>
            </a:endParaRPr>
          </a:p>
          <a:p>
            <a:pPr marL="12065">
              <a:lnSpc>
                <a:spcPct val="100000"/>
              </a:lnSpc>
              <a:spcBef>
                <a:spcPts val="280"/>
              </a:spcBef>
              <a:tabLst>
                <a:tab pos="270510" algn="l"/>
              </a:tabLst>
            </a:pPr>
            <a:endParaRPr sz="2400" dirty="0">
              <a:latin typeface="Arial" panose="020B0604020202020204" pitchFamily="34" charset="0"/>
              <a:cs typeface="Arial" panose="020B0604020202020204" pitchFamily="34" charset="0"/>
            </a:endParaRPr>
          </a:p>
        </p:txBody>
      </p:sp>
      <p:sp>
        <p:nvSpPr>
          <p:cNvPr id="4" name="Espace réservé du numéro de diapositive 3">
            <a:extLst>
              <a:ext uri="{FF2B5EF4-FFF2-40B4-BE49-F238E27FC236}">
                <a16:creationId xmlns:a16="http://schemas.microsoft.com/office/drawing/2014/main" id="{12E026DF-A212-B376-2C3E-043567BC2C41}"/>
              </a:ext>
            </a:extLst>
          </p:cNvPr>
          <p:cNvSpPr>
            <a:spLocks noGrp="1"/>
          </p:cNvSpPr>
          <p:nvPr>
            <p:ph type="sldNum" sz="quarter" idx="7"/>
          </p:nvPr>
        </p:nvSpPr>
        <p:spPr/>
        <p:txBody>
          <a:bodyPr/>
          <a:lstStyle/>
          <a:p>
            <a:fld id="{B6F15528-21DE-4FAA-801E-634DDDAF4B2B}" type="slidenum">
              <a:rPr lang="en-US" smtClean="0"/>
              <a:t>33</a:t>
            </a:fld>
            <a:endParaRPr lang="en-US"/>
          </a:p>
        </p:txBody>
      </p:sp>
      <p:sp>
        <p:nvSpPr>
          <p:cNvPr id="5" name="ZoneTexte 4">
            <a:extLst>
              <a:ext uri="{FF2B5EF4-FFF2-40B4-BE49-F238E27FC236}">
                <a16:creationId xmlns:a16="http://schemas.microsoft.com/office/drawing/2014/main" id="{DB73F5EE-0894-56B2-8D7F-AE8F4BB9A73C}"/>
              </a:ext>
            </a:extLst>
          </p:cNvPr>
          <p:cNvSpPr txBox="1"/>
          <p:nvPr/>
        </p:nvSpPr>
        <p:spPr>
          <a:xfrm>
            <a:off x="304800" y="1277242"/>
            <a:ext cx="11582400" cy="5262979"/>
          </a:xfrm>
          <a:prstGeom prst="rect">
            <a:avLst/>
          </a:prstGeom>
          <a:noFill/>
        </p:spPr>
        <p:txBody>
          <a:bodyPr wrap="square" rtlCol="0">
            <a:spAutoFit/>
          </a:bodyPr>
          <a:lstStyle/>
          <a:p>
            <a:r>
              <a:rPr lang="fr-FR" sz="2400" b="1" dirty="0">
                <a:latin typeface="Arial" panose="020B0604020202020204" pitchFamily="34" charset="0"/>
                <a:cs typeface="Arial" panose="020B0604020202020204" pitchFamily="34" charset="0"/>
              </a:rPr>
              <a:t>1-</a:t>
            </a:r>
            <a:r>
              <a:rPr lang="fr-FR" sz="2400" dirty="0">
                <a:latin typeface="Arial" panose="020B0604020202020204" pitchFamily="34" charset="0"/>
                <a:cs typeface="Arial" panose="020B0604020202020204" pitchFamily="34" charset="0"/>
              </a:rPr>
              <a:t> Gardez les</a:t>
            </a:r>
            <a:r>
              <a:rPr lang="fr-FR" sz="2400" spc="1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correctifs</a:t>
            </a:r>
            <a:r>
              <a:rPr lang="fr-FR" sz="2400" spc="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(patches)</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à</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jour</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en</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les</a:t>
            </a:r>
            <a:r>
              <a:rPr lang="fr-FR" sz="2400" spc="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installant</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chaque semaine</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ou</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tous</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les</a:t>
            </a:r>
            <a:r>
              <a:rPr lang="fr-FR" sz="2400" spc="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jours,</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si</a:t>
            </a:r>
            <a:r>
              <a:rPr lang="fr-FR" sz="2400" spc="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possible, </a:t>
            </a:r>
          </a:p>
          <a:p>
            <a:r>
              <a:rPr lang="fr-FR" sz="2400" b="1" spc="-5" dirty="0">
                <a:latin typeface="Arial" panose="020B0604020202020204" pitchFamily="34" charset="0"/>
                <a:cs typeface="Arial" panose="020B0604020202020204" pitchFamily="34" charset="0"/>
              </a:rPr>
              <a:t>2-</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Arrêtez</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les </a:t>
            </a:r>
            <a:r>
              <a:rPr lang="fr-FR" sz="2400" spc="-5" dirty="0">
                <a:latin typeface="Arial" panose="020B0604020202020204" pitchFamily="34" charset="0"/>
                <a:cs typeface="Arial" panose="020B0604020202020204" pitchFamily="34" charset="0"/>
              </a:rPr>
              <a:t>services</a:t>
            </a:r>
            <a:r>
              <a:rPr lang="fr-FR" sz="2400" dirty="0">
                <a:latin typeface="Arial" panose="020B0604020202020204" pitchFamily="34" charset="0"/>
                <a:cs typeface="Arial" panose="020B0604020202020204" pitchFamily="34" charset="0"/>
              </a:rPr>
              <a:t> et</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les ports </a:t>
            </a:r>
            <a:r>
              <a:rPr lang="fr-FR" sz="2400" spc="-5" dirty="0">
                <a:latin typeface="Arial" panose="020B0604020202020204" pitchFamily="34" charset="0"/>
                <a:cs typeface="Arial" panose="020B0604020202020204" pitchFamily="34" charset="0"/>
              </a:rPr>
              <a:t>inutiles.</a:t>
            </a:r>
          </a:p>
          <a:p>
            <a:r>
              <a:rPr lang="fr-FR" sz="2400" b="1" spc="-5" dirty="0">
                <a:latin typeface="Arial" panose="020B0604020202020204" pitchFamily="34" charset="0"/>
                <a:cs typeface="Arial" panose="020B0604020202020204" pitchFamily="34" charset="0"/>
              </a:rPr>
              <a:t>3-</a:t>
            </a:r>
            <a:r>
              <a:rPr lang="fr-FR" sz="2400" spc="-5" dirty="0">
                <a:latin typeface="Arial" panose="020B0604020202020204" pitchFamily="34" charset="0"/>
                <a:cs typeface="Arial" panose="020B0604020202020204" pitchFamily="34" charset="0"/>
              </a:rPr>
              <a:t> Utilisez des mots de passe forts et changez- les souvent</a:t>
            </a:r>
          </a:p>
          <a:p>
            <a:r>
              <a:rPr lang="fr-FR" sz="2400" b="1" spc="-5" dirty="0">
                <a:latin typeface="Arial" panose="020B0604020202020204" pitchFamily="34" charset="0"/>
                <a:cs typeface="Arial" panose="020B0604020202020204" pitchFamily="34" charset="0"/>
              </a:rPr>
              <a:t>4-</a:t>
            </a:r>
            <a:r>
              <a:rPr lang="fr-FR" sz="2400" spc="-5" dirty="0">
                <a:latin typeface="Arial" panose="020B0604020202020204" pitchFamily="34" charset="0"/>
                <a:cs typeface="Arial" panose="020B0604020202020204" pitchFamily="34" charset="0"/>
              </a:rPr>
              <a:t> Contrôlez</a:t>
            </a:r>
            <a:r>
              <a:rPr lang="fr-FR" sz="240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l’accès</a:t>
            </a:r>
            <a:r>
              <a:rPr lang="fr-FR" sz="2400" dirty="0">
                <a:latin typeface="Arial" panose="020B0604020202020204" pitchFamily="34" charset="0"/>
                <a:cs typeface="Arial" panose="020B0604020202020204" pitchFamily="34" charset="0"/>
              </a:rPr>
              <a:t> physique aux</a:t>
            </a:r>
            <a:r>
              <a:rPr lang="fr-FR" sz="2400" spc="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systèmes.</a:t>
            </a:r>
          </a:p>
          <a:p>
            <a:r>
              <a:rPr lang="fr-FR" sz="2400" b="1" spc="-5" dirty="0">
                <a:latin typeface="Arial" panose="020B0604020202020204" pitchFamily="34" charset="0"/>
                <a:cs typeface="Arial" panose="020B0604020202020204" pitchFamily="34" charset="0"/>
              </a:rPr>
              <a:t>5-</a:t>
            </a:r>
            <a:r>
              <a:rPr lang="fr-FR" sz="2400" spc="-5" dirty="0">
                <a:latin typeface="Arial" panose="020B0604020202020204" pitchFamily="34" charset="0"/>
                <a:cs typeface="Arial" panose="020B0604020202020204" pitchFamily="34" charset="0"/>
              </a:rPr>
              <a:t> Évitez </a:t>
            </a:r>
            <a:r>
              <a:rPr lang="fr-FR" sz="2400" dirty="0">
                <a:latin typeface="Arial" panose="020B0604020202020204" pitchFamily="34" charset="0"/>
                <a:cs typeface="Arial" panose="020B0604020202020204" pitchFamily="34" charset="0"/>
              </a:rPr>
              <a:t>les entrées</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de page</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Web</a:t>
            </a:r>
            <a:r>
              <a:rPr lang="fr-FR" sz="2400" spc="-5" dirty="0">
                <a:latin typeface="Arial" panose="020B0604020202020204" pitchFamily="34" charset="0"/>
                <a:cs typeface="Arial" panose="020B0604020202020204" pitchFamily="34" charset="0"/>
              </a:rPr>
              <a:t> inutiles</a:t>
            </a:r>
          </a:p>
          <a:p>
            <a:r>
              <a:rPr lang="fr-FR" sz="2400" b="1" spc="-5" dirty="0">
                <a:latin typeface="Arial" panose="020B0604020202020204" pitchFamily="34" charset="0"/>
                <a:cs typeface="Arial" panose="020B0604020202020204" pitchFamily="34" charset="0"/>
              </a:rPr>
              <a:t>6-</a:t>
            </a:r>
            <a:r>
              <a:rPr lang="fr-FR" sz="2400" spc="-5" dirty="0">
                <a:latin typeface="Arial" panose="020B0604020202020204" pitchFamily="34" charset="0"/>
                <a:cs typeface="Arial" panose="020B0604020202020204" pitchFamily="34" charset="0"/>
              </a:rPr>
              <a:t> Effectuez</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des</a:t>
            </a:r>
            <a:r>
              <a:rPr lang="fr-FR" sz="2400" spc="1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sauvegardes</a:t>
            </a:r>
            <a:r>
              <a:rPr lang="fr-FR" sz="2400" spc="1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et</a:t>
            </a:r>
            <a:r>
              <a:rPr lang="fr-FR" sz="2400" spc="1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testez</a:t>
            </a:r>
            <a:r>
              <a:rPr lang="fr-FR" sz="2400" spc="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régulièrement</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les</a:t>
            </a:r>
            <a:r>
              <a:rPr lang="fr-FR" sz="2400" spc="1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fichiers</a:t>
            </a:r>
            <a:r>
              <a:rPr lang="fr-FR" sz="2400" spc="1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sauvegardés.</a:t>
            </a:r>
          </a:p>
          <a:p>
            <a:r>
              <a:rPr lang="fr-FR" sz="2400" b="1" spc="-5" dirty="0">
                <a:latin typeface="Arial" panose="020B0604020202020204" pitchFamily="34" charset="0"/>
                <a:cs typeface="Arial" panose="020B0604020202020204" pitchFamily="34" charset="0"/>
              </a:rPr>
              <a:t>7-</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Éduquez</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les</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employés</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sur</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les</a:t>
            </a:r>
            <a:r>
              <a:rPr lang="fr-FR" sz="2400" spc="1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risques</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de</a:t>
            </a:r>
            <a:r>
              <a:rPr lang="fr-FR" sz="2400" spc="1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l’ingénierie</a:t>
            </a:r>
            <a:r>
              <a:rPr lang="fr-FR" sz="2400" spc="1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sociale</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et</a:t>
            </a:r>
            <a:r>
              <a:rPr lang="fr-FR" sz="2400" spc="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élaborer</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des</a:t>
            </a:r>
            <a:r>
              <a:rPr lang="fr-FR" sz="2400" spc="1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stratégies</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pour</a:t>
            </a:r>
            <a:r>
              <a:rPr lang="fr-FR" sz="2400" spc="1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valider </a:t>
            </a:r>
            <a:r>
              <a:rPr lang="fr-FR" sz="2400" spc="-42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les </a:t>
            </a:r>
            <a:r>
              <a:rPr lang="fr-FR" sz="2400" spc="-5" dirty="0">
                <a:latin typeface="Arial" panose="020B0604020202020204" pitchFamily="34" charset="0"/>
                <a:cs typeface="Arial" panose="020B0604020202020204" pitchFamily="34" charset="0"/>
              </a:rPr>
              <a:t>identités</a:t>
            </a:r>
            <a:r>
              <a:rPr lang="fr-FR" sz="2400" dirty="0">
                <a:latin typeface="Arial" panose="020B0604020202020204" pitchFamily="34" charset="0"/>
                <a:cs typeface="Arial" panose="020B0604020202020204" pitchFamily="34" charset="0"/>
              </a:rPr>
              <a:t> par </a:t>
            </a:r>
            <a:r>
              <a:rPr lang="fr-FR" sz="2400" spc="-5" dirty="0">
                <a:latin typeface="Arial" panose="020B0604020202020204" pitchFamily="34" charset="0"/>
                <a:cs typeface="Arial" panose="020B0604020202020204" pitchFamily="34" charset="0"/>
              </a:rPr>
              <a:t>téléphone, </a:t>
            </a:r>
            <a:r>
              <a:rPr lang="fr-FR" sz="2400" dirty="0">
                <a:latin typeface="Arial" panose="020B0604020202020204" pitchFamily="34" charset="0"/>
                <a:cs typeface="Arial" panose="020B0604020202020204" pitchFamily="34" charset="0"/>
              </a:rPr>
              <a:t>par </a:t>
            </a:r>
            <a:r>
              <a:rPr lang="fr-FR" sz="2400" spc="-5" dirty="0">
                <a:latin typeface="Arial" panose="020B0604020202020204" pitchFamily="34" charset="0"/>
                <a:cs typeface="Arial" panose="020B0604020202020204" pitchFamily="34" charset="0"/>
              </a:rPr>
              <a:t>courriel</a:t>
            </a:r>
            <a:r>
              <a:rPr lang="fr-FR" sz="2400" dirty="0">
                <a:latin typeface="Arial" panose="020B0604020202020204" pitchFamily="34" charset="0"/>
                <a:cs typeface="Arial" panose="020B0604020202020204" pitchFamily="34" charset="0"/>
              </a:rPr>
              <a:t> ou en</a:t>
            </a:r>
            <a:r>
              <a:rPr lang="fr-FR" sz="2400" spc="-5" dirty="0">
                <a:latin typeface="Arial" panose="020B0604020202020204" pitchFamily="34" charset="0"/>
                <a:cs typeface="Arial" panose="020B0604020202020204" pitchFamily="34" charset="0"/>
              </a:rPr>
              <a:t> personne.</a:t>
            </a:r>
            <a:endParaRPr lang="fr-FR" sz="2400" dirty="0">
              <a:latin typeface="Arial" panose="020B0604020202020204" pitchFamily="34" charset="0"/>
              <a:cs typeface="Arial" panose="020B0604020202020204" pitchFamily="34" charset="0"/>
            </a:endParaRPr>
          </a:p>
          <a:p>
            <a:r>
              <a:rPr lang="fr-FR" sz="2400" b="1" spc="-5" dirty="0">
                <a:latin typeface="Arial" panose="020B0604020202020204" pitchFamily="34" charset="0"/>
                <a:cs typeface="Arial" panose="020B0604020202020204" pitchFamily="34" charset="0"/>
              </a:rPr>
              <a:t>8-</a:t>
            </a:r>
            <a:r>
              <a:rPr lang="fr-FR" sz="2400" spc="-5" dirty="0">
                <a:latin typeface="Arial" panose="020B0604020202020204" pitchFamily="34" charset="0"/>
                <a:cs typeface="Arial" panose="020B0604020202020204" pitchFamily="34" charset="0"/>
              </a:rPr>
              <a:t> Chiffrez</a:t>
            </a:r>
            <a:r>
              <a:rPr lang="fr-FR" sz="2400" dirty="0">
                <a:latin typeface="Arial" panose="020B0604020202020204" pitchFamily="34" charset="0"/>
                <a:cs typeface="Arial" panose="020B0604020202020204" pitchFamily="34" charset="0"/>
              </a:rPr>
              <a:t> et</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protégez par mot</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de passe les données </a:t>
            </a:r>
            <a:r>
              <a:rPr lang="fr-FR" sz="2400" spc="-5" dirty="0">
                <a:latin typeface="Arial" panose="020B0604020202020204" pitchFamily="34" charset="0"/>
                <a:cs typeface="Arial" panose="020B0604020202020204" pitchFamily="34" charset="0"/>
              </a:rPr>
              <a:t>sensibles.</a:t>
            </a:r>
          </a:p>
          <a:p>
            <a:r>
              <a:rPr lang="fr-FR" sz="2400" b="1" spc="-5" dirty="0">
                <a:latin typeface="Arial" panose="020B0604020202020204" pitchFamily="34" charset="0"/>
                <a:cs typeface="Arial" panose="020B0604020202020204" pitchFamily="34" charset="0"/>
              </a:rPr>
              <a:t>9-</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Mettez en œuvre du</a:t>
            </a:r>
            <a:r>
              <a:rPr lang="fr-FR" sz="2400" spc="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matériel</a:t>
            </a:r>
            <a:r>
              <a:rPr lang="fr-FR" sz="2400" dirty="0">
                <a:latin typeface="Arial" panose="020B0604020202020204" pitchFamily="34" charset="0"/>
                <a:cs typeface="Arial" panose="020B0604020202020204" pitchFamily="34" charset="0"/>
              </a:rPr>
              <a:t> et des</a:t>
            </a:r>
            <a:r>
              <a:rPr lang="fr-FR" sz="2400" spc="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logiciels</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de</a:t>
            </a:r>
            <a:r>
              <a:rPr lang="fr-FR" sz="2400" spc="1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sécurité</a:t>
            </a:r>
            <a:r>
              <a:rPr lang="fr-FR" sz="2400" spc="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tels</a:t>
            </a:r>
            <a:r>
              <a:rPr lang="fr-FR" sz="2400" dirty="0">
                <a:latin typeface="Arial" panose="020B0604020202020204" pitchFamily="34" charset="0"/>
                <a:cs typeface="Arial" panose="020B0604020202020204" pitchFamily="34" charset="0"/>
              </a:rPr>
              <a:t> que</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des</a:t>
            </a:r>
            <a:r>
              <a:rPr lang="fr-FR" sz="2400" spc="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pares-feux,</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des</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systèmes</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de </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prévention</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des</a:t>
            </a:r>
            <a:r>
              <a:rPr lang="fr-FR" sz="2400" spc="1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intrusions</a:t>
            </a:r>
            <a:r>
              <a:rPr lang="fr-FR" sz="2400" spc="1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(IPS),</a:t>
            </a:r>
            <a:r>
              <a:rPr lang="fr-FR" sz="2400" spc="1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des</a:t>
            </a:r>
            <a:r>
              <a:rPr lang="fr-FR" sz="2400" spc="1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périphériques</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de</a:t>
            </a:r>
            <a:r>
              <a:rPr lang="fr-FR" sz="2400" spc="1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réseau</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privé</a:t>
            </a:r>
            <a:r>
              <a:rPr lang="fr-FR" sz="2400" spc="1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virtuel</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(VPN),</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des</a:t>
            </a:r>
            <a:r>
              <a:rPr lang="fr-FR" sz="2400" spc="10"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logiciels</a:t>
            </a:r>
            <a:r>
              <a:rPr lang="fr-FR" sz="2400" spc="1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antivirus </a:t>
            </a:r>
            <a:r>
              <a:rPr lang="fr-FR" sz="2400" spc="-43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et</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le </a:t>
            </a:r>
            <a:r>
              <a:rPr lang="fr-FR" sz="2400" spc="-5" dirty="0">
                <a:latin typeface="Arial" panose="020B0604020202020204" pitchFamily="34" charset="0"/>
                <a:cs typeface="Arial" panose="020B0604020202020204" pitchFamily="34" charset="0"/>
              </a:rPr>
              <a:t>filtrage</a:t>
            </a:r>
            <a:r>
              <a:rPr lang="fr-FR" sz="2400" dirty="0">
                <a:latin typeface="Arial" panose="020B0604020202020204" pitchFamily="34" charset="0"/>
                <a:cs typeface="Arial" panose="020B0604020202020204" pitchFamily="34" charset="0"/>
              </a:rPr>
              <a:t> de </a:t>
            </a:r>
            <a:r>
              <a:rPr lang="fr-FR" sz="2400" spc="-5" dirty="0">
                <a:latin typeface="Arial" panose="020B0604020202020204" pitchFamily="34" charset="0"/>
                <a:cs typeface="Arial" panose="020B0604020202020204" pitchFamily="34" charset="0"/>
              </a:rPr>
              <a:t>contenu.</a:t>
            </a:r>
          </a:p>
          <a:p>
            <a:r>
              <a:rPr lang="fr-FR" sz="2400" b="1" spc="-5" dirty="0">
                <a:latin typeface="Arial" panose="020B0604020202020204" pitchFamily="34" charset="0"/>
                <a:cs typeface="Arial" panose="020B0604020202020204" pitchFamily="34" charset="0"/>
              </a:rPr>
              <a:t>10-</a:t>
            </a:r>
            <a:r>
              <a:rPr lang="fr-FR" sz="2400" spc="-5" dirty="0">
                <a:latin typeface="Arial" panose="020B0604020202020204" pitchFamily="34" charset="0"/>
                <a:cs typeface="Arial" panose="020B0604020202020204" pitchFamily="34" charset="0"/>
              </a:rPr>
              <a:t> Élaborez</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une</a:t>
            </a:r>
            <a:r>
              <a:rPr lang="fr-FR" sz="2400" spc="1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politique</a:t>
            </a:r>
            <a:r>
              <a:rPr lang="fr-FR" sz="2400" spc="10"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de</a:t>
            </a:r>
            <a:r>
              <a:rPr lang="fr-FR" sz="2400" spc="1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sécurité</a:t>
            </a:r>
            <a:r>
              <a:rPr lang="fr-FR" sz="2400" spc="1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écrite</a:t>
            </a:r>
            <a:r>
              <a:rPr lang="fr-FR" sz="2400" spc="5" dirty="0">
                <a:latin typeface="Arial" panose="020B0604020202020204" pitchFamily="34" charset="0"/>
                <a:cs typeface="Arial" panose="020B0604020202020204" pitchFamily="34" charset="0"/>
              </a:rPr>
              <a:t> </a:t>
            </a:r>
            <a:r>
              <a:rPr lang="fr-FR" sz="2400" dirty="0">
                <a:latin typeface="Arial" panose="020B0604020202020204" pitchFamily="34" charset="0"/>
                <a:cs typeface="Arial" panose="020B0604020202020204" pitchFamily="34" charset="0"/>
              </a:rPr>
              <a:t>pour</a:t>
            </a:r>
            <a:r>
              <a:rPr lang="fr-FR" sz="2400" spc="15" dirty="0">
                <a:latin typeface="Arial" panose="020B0604020202020204" pitchFamily="34" charset="0"/>
                <a:cs typeface="Arial" panose="020B0604020202020204" pitchFamily="34" charset="0"/>
              </a:rPr>
              <a:t> </a:t>
            </a:r>
            <a:r>
              <a:rPr lang="fr-FR" sz="2400" spc="-5" dirty="0">
                <a:latin typeface="Arial" panose="020B0604020202020204" pitchFamily="34" charset="0"/>
                <a:cs typeface="Arial" panose="020B0604020202020204" pitchFamily="34" charset="0"/>
              </a:rPr>
              <a:t>l’entreprise.</a:t>
            </a:r>
            <a:endParaRPr lang="fr-FR" sz="2400" dirty="0">
              <a:latin typeface="Arial" panose="020B0604020202020204" pitchFamily="34" charset="0"/>
              <a:cs typeface="Arial" panose="020B0604020202020204" pitchFamily="34" charset="0"/>
            </a:endParaRPr>
          </a:p>
        </p:txBody>
      </p:sp>
      <p:pic>
        <p:nvPicPr>
          <p:cNvPr id="6146" name="Picture 2" descr="Comment réagir en cas de cyberattaque ...">
            <a:extLst>
              <a:ext uri="{FF2B5EF4-FFF2-40B4-BE49-F238E27FC236}">
                <a16:creationId xmlns:a16="http://schemas.microsoft.com/office/drawing/2014/main" id="{1BCE1C3E-0567-A53E-E642-C88EE0148F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8240" y="2123485"/>
            <a:ext cx="2962275" cy="10007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14288" y="2645653"/>
            <a:ext cx="3305175" cy="830580"/>
          </a:xfrm>
          <a:prstGeom prst="rect">
            <a:avLst/>
          </a:prstGeom>
        </p:spPr>
        <p:txBody>
          <a:bodyPr vert="horz" wrap="square" lIns="0" tIns="16510" rIns="0" bIns="0" rtlCol="0">
            <a:spAutoFit/>
          </a:bodyPr>
          <a:lstStyle/>
          <a:p>
            <a:pPr marL="12700">
              <a:lnSpc>
                <a:spcPct val="100000"/>
              </a:lnSpc>
              <a:spcBef>
                <a:spcPts val="130"/>
              </a:spcBef>
            </a:pPr>
            <a:r>
              <a:rPr sz="5250" dirty="0"/>
              <a:t>Fin</a:t>
            </a:r>
            <a:r>
              <a:rPr sz="5250" spc="-70" dirty="0"/>
              <a:t> </a:t>
            </a:r>
            <a:r>
              <a:rPr sz="5250" spc="5" dirty="0"/>
              <a:t>chapitre</a:t>
            </a:r>
            <a:endParaRPr sz="5250"/>
          </a:p>
        </p:txBody>
      </p:sp>
      <p:sp>
        <p:nvSpPr>
          <p:cNvPr id="3" name="Espace réservé du numéro de diapositive 2">
            <a:extLst>
              <a:ext uri="{FF2B5EF4-FFF2-40B4-BE49-F238E27FC236}">
                <a16:creationId xmlns:a16="http://schemas.microsoft.com/office/drawing/2014/main" id="{08E09F8D-AC29-2F0E-BAC5-0AE64806E0DB}"/>
              </a:ext>
            </a:extLst>
          </p:cNvPr>
          <p:cNvSpPr>
            <a:spLocks noGrp="1"/>
          </p:cNvSpPr>
          <p:nvPr>
            <p:ph type="sldNum" sz="quarter" idx="7"/>
          </p:nvPr>
        </p:nvSpPr>
        <p:spPr/>
        <p:txBody>
          <a:bodyPr/>
          <a:lstStyle/>
          <a:p>
            <a:fld id="{B6F15528-21DE-4FAA-801E-634DDDAF4B2B}" type="slidenum">
              <a:rPr lang="en-US" smtClean="0"/>
              <a:t>34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7896</TotalTime>
  <Words>2792</Words>
  <Application>Microsoft Office PowerPoint</Application>
  <PresentationFormat>Grand écran</PresentationFormat>
  <Paragraphs>273</Paragraphs>
  <Slides>34</Slides>
  <Notes>4</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34</vt:i4>
      </vt:variant>
    </vt:vector>
  </HeadingPairs>
  <TitlesOfParts>
    <vt:vector size="44" baseType="lpstr">
      <vt:lpstr>Arial</vt:lpstr>
      <vt:lpstr>Arial MT</vt:lpstr>
      <vt:lpstr>Calibri</vt:lpstr>
      <vt:lpstr>Courier New</vt:lpstr>
      <vt:lpstr>gotham</vt:lpstr>
      <vt:lpstr>Gotham Narrow</vt:lpstr>
      <vt:lpstr>Lucida Sans Unicode</vt:lpstr>
      <vt:lpstr>Times New Roman</vt:lpstr>
      <vt:lpstr>Wingdings</vt:lpstr>
      <vt:lpstr>Office Theme</vt:lpstr>
      <vt:lpstr>      Chapitre 2 Les principales  attaques informatiques</vt:lpstr>
      <vt:lpstr>Objectifs</vt:lpstr>
      <vt:lpstr>PLAN</vt:lpstr>
      <vt:lpstr>Évolution des menaces de la cybersécurité 1/2</vt:lpstr>
      <vt:lpstr>Évolution des menaces de la cybersécurité 2/2</vt:lpstr>
      <vt:lpstr>PLAN</vt:lpstr>
      <vt:lpstr>Hacker</vt:lpstr>
      <vt:lpstr>Autres types de hackers</vt:lpstr>
      <vt:lpstr>PLAN</vt:lpstr>
      <vt:lpstr>Types d’attaques réseaux</vt:lpstr>
      <vt:lpstr>1. Les attaques de reconnaissance</vt:lpstr>
      <vt:lpstr>Internet Information Queries</vt:lpstr>
      <vt:lpstr>Packet Sniffer</vt:lpstr>
      <vt:lpstr>Network scan: Ping Sweeps et Port Scans 1/2</vt:lpstr>
      <vt:lpstr>Network scan: Ping Sweeps et Port Scans 2/2</vt:lpstr>
      <vt:lpstr>2. Les attaques d’accès</vt:lpstr>
      <vt:lpstr>Password attacks</vt:lpstr>
      <vt:lpstr>Trust Exploitation</vt:lpstr>
      <vt:lpstr>Port Redirection</vt:lpstr>
      <vt:lpstr>Man-in-the-Middle Attacks (MITM)</vt:lpstr>
      <vt:lpstr>3. Les attaques DoS</vt:lpstr>
      <vt:lpstr>Ping of Death</vt:lpstr>
      <vt:lpstr>Smurf Attack</vt:lpstr>
      <vt:lpstr>Syn Flood Attack</vt:lpstr>
      <vt:lpstr>Les types des attaques OS</vt:lpstr>
      <vt:lpstr>Attaques par Débordement de Mémoire Tampon (Buffer Overflow)</vt:lpstr>
      <vt:lpstr>Attaques Rootkits</vt:lpstr>
      <vt:lpstr>Attaques de Malware</vt:lpstr>
      <vt:lpstr>Attaques Zero Day</vt:lpstr>
      <vt:lpstr>PLAN</vt:lpstr>
      <vt:lpstr>Atténuation des attaques</vt:lpstr>
      <vt:lpstr>PLAN</vt:lpstr>
      <vt:lpstr>Les 10 bonnes pratiques</vt:lpstr>
      <vt:lpstr>Fin chapitre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Chapitre 2: Les principales  attaques réseau</dc:title>
  <dc:creator>Asus</dc:creator>
  <cp:lastModifiedBy>ksentini amel</cp:lastModifiedBy>
  <cp:revision>33</cp:revision>
  <dcterms:created xsi:type="dcterms:W3CDTF">2023-09-18T14:00:13Z</dcterms:created>
  <dcterms:modified xsi:type="dcterms:W3CDTF">2025-09-14T11:25:49Z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