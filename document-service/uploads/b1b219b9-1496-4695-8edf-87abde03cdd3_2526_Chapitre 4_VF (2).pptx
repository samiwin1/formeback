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40"/>
  </p:notesMasterIdLst>
  <p:sldIdLst>
    <p:sldId id="256" r:id="rId5"/>
    <p:sldId id="257" r:id="rId6"/>
    <p:sldId id="348" r:id="rId7"/>
    <p:sldId id="327" r:id="rId8"/>
    <p:sldId id="326" r:id="rId9"/>
    <p:sldId id="264" r:id="rId10"/>
    <p:sldId id="265" r:id="rId11"/>
    <p:sldId id="330" r:id="rId12"/>
    <p:sldId id="331" r:id="rId13"/>
    <p:sldId id="333" r:id="rId14"/>
    <p:sldId id="273" r:id="rId15"/>
    <p:sldId id="329" r:id="rId16"/>
    <p:sldId id="347" r:id="rId17"/>
    <p:sldId id="325" r:id="rId18"/>
    <p:sldId id="271" r:id="rId19"/>
    <p:sldId id="266" r:id="rId20"/>
    <p:sldId id="335" r:id="rId21"/>
    <p:sldId id="336" r:id="rId22"/>
    <p:sldId id="337" r:id="rId23"/>
    <p:sldId id="338" r:id="rId24"/>
    <p:sldId id="339" r:id="rId25"/>
    <p:sldId id="340" r:id="rId26"/>
    <p:sldId id="341" r:id="rId27"/>
    <p:sldId id="342" r:id="rId28"/>
    <p:sldId id="343" r:id="rId29"/>
    <p:sldId id="344" r:id="rId30"/>
    <p:sldId id="350" r:id="rId31"/>
    <p:sldId id="267" r:id="rId32"/>
    <p:sldId id="268" r:id="rId33"/>
    <p:sldId id="269" r:id="rId34"/>
    <p:sldId id="272" r:id="rId35"/>
    <p:sldId id="274" r:id="rId36"/>
    <p:sldId id="351" r:id="rId37"/>
    <p:sldId id="352" r:id="rId38"/>
    <p:sldId id="353" r:id="rId39"/>
  </p:sldIdLst>
  <p:sldSz cx="12192000" cy="6858000"/>
  <p:notesSz cx="12192000" cy="6858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825" autoAdjust="0"/>
  </p:normalViewPr>
  <p:slideViewPr>
    <p:cSldViewPr>
      <p:cViewPr varScale="1">
        <p:scale>
          <a:sx n="76" d="100"/>
          <a:sy n="76" d="100"/>
        </p:scale>
        <p:origin x="113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E448B3-0EA3-460B-90F9-01F370485AEE}" type="datetimeFigureOut">
              <a:rPr lang="fr-FR" smtClean="0"/>
              <a:t>26/09/2025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168107-5EF1-4256-BAC8-8F0F494DCE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467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 dirty="0">
                <a:solidFill>
                  <a:srgbClr val="223654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Dans les noms composés avec trait d’union, la marque du pluriel est toujours présente sur le second élément uniquement, lorsque le composé est formé à l’origine soit d’une forme verbale et d’un nom (exemple : </a:t>
            </a:r>
            <a:r>
              <a:rPr lang="fr-FR" b="0" i="1" dirty="0">
                <a:solidFill>
                  <a:srgbClr val="223654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un essuie-main</a:t>
            </a:r>
            <a:r>
              <a:rPr lang="fr-FR" b="0" i="0" dirty="0">
                <a:solidFill>
                  <a:srgbClr val="223654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, </a:t>
            </a:r>
            <a:r>
              <a:rPr lang="fr-FR" b="0" i="1" dirty="0">
                <a:solidFill>
                  <a:srgbClr val="223654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des essuie-mains</a:t>
            </a:r>
            <a:r>
              <a:rPr lang="fr-FR" b="0" i="0" dirty="0">
                <a:solidFill>
                  <a:srgbClr val="223654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), soit d’une préposition et d’un nom (exemple : </a:t>
            </a:r>
            <a:r>
              <a:rPr lang="fr-FR" b="0" i="1" dirty="0">
                <a:solidFill>
                  <a:srgbClr val="223654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un après-midi</a:t>
            </a:r>
            <a:r>
              <a:rPr lang="fr-FR" b="0" i="0" dirty="0">
                <a:solidFill>
                  <a:srgbClr val="223654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, </a:t>
            </a:r>
            <a:r>
              <a:rPr lang="fr-FR" b="0" i="1" dirty="0">
                <a:solidFill>
                  <a:srgbClr val="223654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des après-midis</a:t>
            </a:r>
            <a:r>
              <a:rPr lang="fr-FR" b="0" i="0" dirty="0">
                <a:solidFill>
                  <a:srgbClr val="223654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).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68107-5EF1-4256-BAC8-8F0F494DCE94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7589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68107-5EF1-4256-BAC8-8F0F494DCE94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5544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fr-FR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Filtrage de paquets (sans état)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Fonctionnement :</a:t>
            </a:r>
            <a:r>
              <a:rPr lang="fr-FR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 </a:t>
            </a:r>
          </a:p>
          <a:p>
            <a:pPr algn="l" fontAlgn="ctr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Ce type de pare-feu examine les en-têtes de chaque paquet de données pour s'assurer qu'il correspond à des règles prédéfinies. </a:t>
            </a:r>
            <a:endParaRPr lang="fr-FR" b="0" i="0" dirty="0">
              <a:solidFill>
                <a:srgbClr val="0B57D0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Critères de filtrage :</a:t>
            </a:r>
            <a:r>
              <a:rPr lang="fr-FR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 </a:t>
            </a:r>
          </a:p>
          <a:p>
            <a:pPr algn="l" fontAlgn="ctr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Il se base sur l'adresse IP source/destination, le numéro de port et le protocole (TCP, UDP, etc.). </a:t>
            </a:r>
            <a:endParaRPr lang="fr-FR" b="0" i="0" dirty="0">
              <a:solidFill>
                <a:srgbClr val="0B57D0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Avantages :</a:t>
            </a:r>
            <a:r>
              <a:rPr lang="fr-FR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Très rapide et fluide, il réduit les risques de goulets d'étranglement dans le trafic réseau. 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68107-5EF1-4256-BAC8-8F0F494DCE94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3248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43989" y="235077"/>
            <a:ext cx="9304020" cy="1064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43989" y="235077"/>
            <a:ext cx="3647440" cy="1064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2340" y="1153338"/>
            <a:ext cx="7933690" cy="3364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07597" y="6448297"/>
            <a:ext cx="268604" cy="2165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1553845"/>
            <a:ext cx="10417237" cy="177426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334010" algn="ctr">
              <a:lnSpc>
                <a:spcPct val="150000"/>
              </a:lnSpc>
              <a:spcBef>
                <a:spcPts val="105"/>
              </a:spcBef>
            </a:pPr>
            <a:r>
              <a:rPr lang="fr-FR" sz="4400" b="1" spc="-5" dirty="0">
                <a:latin typeface="Calibri"/>
                <a:cs typeface="Calibri"/>
              </a:rPr>
              <a:t>Les </a:t>
            </a:r>
            <a:r>
              <a:rPr lang="fr-FR" sz="4400" b="1" spc="-5" dirty="0" err="1">
                <a:latin typeface="Calibri"/>
                <a:cs typeface="Calibri"/>
              </a:rPr>
              <a:t>pare-feux</a:t>
            </a:r>
            <a:r>
              <a:rPr lang="fr-FR" sz="4400" b="1" spc="-5" dirty="0">
                <a:latin typeface="Calibri"/>
                <a:cs typeface="Calibri"/>
              </a:rPr>
              <a:t> </a:t>
            </a:r>
            <a:br>
              <a:rPr lang="fr-FR" sz="4400" b="1" spc="-5" dirty="0">
                <a:latin typeface="Calibri"/>
                <a:cs typeface="Calibri"/>
              </a:rPr>
            </a:br>
            <a:r>
              <a:rPr lang="fr-FR" sz="3600" b="1" spc="-5" dirty="0">
                <a:latin typeface="Calibri"/>
                <a:cs typeface="Calibri"/>
              </a:rPr>
              <a:t>(Firewalls)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14600" y="3529887"/>
            <a:ext cx="6539358" cy="1113155"/>
          </a:xfrm>
          <a:prstGeom prst="rect">
            <a:avLst/>
          </a:prstGeom>
        </p:spPr>
        <p:txBody>
          <a:bodyPr vert="horz" wrap="square" lIns="0" tIns="2139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85"/>
              </a:spcBef>
            </a:pPr>
            <a:r>
              <a:rPr sz="2900" dirty="0">
                <a:latin typeface="Times New Roman"/>
                <a:cs typeface="Times New Roman"/>
              </a:rPr>
              <a:t>Module:</a:t>
            </a:r>
            <a:r>
              <a:rPr sz="2900" spc="-5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Sécurité</a:t>
            </a:r>
            <a:r>
              <a:rPr sz="2900" spc="-50" dirty="0">
                <a:latin typeface="Times New Roman"/>
                <a:cs typeface="Times New Roman"/>
              </a:rPr>
              <a:t> </a:t>
            </a:r>
            <a:r>
              <a:rPr sz="2900" spc="-5" dirty="0">
                <a:latin typeface="Times New Roman"/>
                <a:cs typeface="Times New Roman"/>
              </a:rPr>
              <a:t>Informatique</a:t>
            </a:r>
            <a:endParaRPr sz="29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95"/>
              </a:spcBef>
            </a:pPr>
            <a:r>
              <a:rPr sz="2000" dirty="0">
                <a:latin typeface="Times New Roman"/>
                <a:cs typeface="Times New Roman"/>
              </a:rPr>
              <a:t>202</a:t>
            </a:r>
            <a:r>
              <a:rPr lang="fr-FR" sz="2000" dirty="0">
                <a:latin typeface="Times New Roman"/>
                <a:cs typeface="Times New Roman"/>
              </a:rPr>
              <a:t>5</a:t>
            </a:r>
            <a:r>
              <a:rPr sz="2000" dirty="0">
                <a:latin typeface="Times New Roman"/>
                <a:cs typeface="Times New Roman"/>
              </a:rPr>
              <a:t>/202</a:t>
            </a:r>
            <a:r>
              <a:rPr lang="fr-FR" sz="2000" dirty="0">
                <a:latin typeface="Times New Roman"/>
                <a:cs typeface="Times New Roman"/>
              </a:rPr>
              <a:t>6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9417" y="562483"/>
            <a:ext cx="19989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Times New Roman"/>
                <a:cs typeface="Times New Roman"/>
              </a:rPr>
              <a:t>Objectifs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22914" y="6393281"/>
            <a:ext cx="1282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878787"/>
                </a:solidFill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8533" y="1691385"/>
            <a:ext cx="11118850" cy="4469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Après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avoir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suivi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ce </a:t>
            </a:r>
            <a:r>
              <a:rPr sz="1800" b="1" dirty="0">
                <a:latin typeface="Calibri"/>
                <a:cs typeface="Calibri"/>
              </a:rPr>
              <a:t>chapitre,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vous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serez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capables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de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50" dirty="0">
              <a:latin typeface="Calibri"/>
              <a:cs typeface="Calibri"/>
            </a:endParaRPr>
          </a:p>
          <a:p>
            <a:pPr marL="342900" lvl="0" indent="-342900" rtl="0">
              <a:lnSpc>
                <a:spcPct val="116000"/>
              </a:lnSpc>
              <a:spcBef>
                <a:spcPts val="1200"/>
              </a:spcBef>
              <a:spcAft>
                <a:spcPts val="1200"/>
              </a:spcAft>
              <a:buFont typeface="Symbol" panose="05050102010706020507" pitchFamily="18" charset="2"/>
              <a:buChar char=""/>
            </a:pP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Comprendre le fonctionnement des </a:t>
            </a:r>
            <a:r>
              <a:rPr lang="fr-FR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pare-feux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et leur rôle dans la sécurisation d’un réseau</a:t>
            </a:r>
          </a:p>
          <a:p>
            <a:pPr marL="342900" lvl="0" indent="-342900">
              <a:lnSpc>
                <a:spcPct val="116000"/>
              </a:lnSpc>
              <a:spcBef>
                <a:spcPts val="1200"/>
              </a:spcBef>
              <a:spcAft>
                <a:spcPts val="1200"/>
              </a:spcAft>
              <a:buFont typeface="Symbol" panose="05050102010706020507" pitchFamily="18" charset="2"/>
              <a:buChar char=""/>
            </a:pP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Identifier les différents équipements de sécurité et la nécessité d’introduire des firewalls dans une architecture réseau</a:t>
            </a:r>
          </a:p>
          <a:p>
            <a:pPr marL="342900" lvl="0" indent="-342900">
              <a:lnSpc>
                <a:spcPct val="116000"/>
              </a:lnSpc>
              <a:spcBef>
                <a:spcPts val="1200"/>
              </a:spcBef>
              <a:spcAft>
                <a:spcPts val="1200"/>
              </a:spcAft>
              <a:buFont typeface="Symbol" panose="05050102010706020507" pitchFamily="18" charset="2"/>
              <a:buChar char=""/>
            </a:pP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Comprendre les deux types de politiques de sécurité</a:t>
            </a:r>
            <a:endParaRPr lang="fr-FR" sz="18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6000"/>
              </a:lnSpc>
              <a:spcBef>
                <a:spcPts val="1200"/>
              </a:spcBef>
              <a:spcAft>
                <a:spcPts val="1200"/>
              </a:spcAft>
              <a:buFont typeface="Symbol" panose="05050102010706020507" pitchFamily="18" charset="2"/>
              <a:buChar char=""/>
            </a:pP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Classifier les firewalls selo</a:t>
            </a: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les types de déploiement et de filtrage</a:t>
            </a:r>
          </a:p>
          <a:p>
            <a:pPr marL="342900" lvl="0" indent="-342900">
              <a:lnSpc>
                <a:spcPct val="116000"/>
              </a:lnSpc>
              <a:spcBef>
                <a:spcPts val="1200"/>
              </a:spcBef>
              <a:spcAft>
                <a:spcPts val="1200"/>
              </a:spcAft>
              <a:buFont typeface="Symbol" panose="05050102010706020507" pitchFamily="18" charset="2"/>
              <a:buChar char=""/>
            </a:pPr>
            <a:r>
              <a:rPr lang="fr-FR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Comparer les différents types de firewalls et leurs usages dans un environnement sécurisé</a:t>
            </a:r>
          </a:p>
          <a:p>
            <a:pPr marL="342900" lvl="0" indent="-342900">
              <a:lnSpc>
                <a:spcPct val="116000"/>
              </a:lnSpc>
              <a:spcBef>
                <a:spcPts val="1200"/>
              </a:spcBef>
              <a:spcAft>
                <a:spcPts val="1200"/>
              </a:spcAft>
              <a:buFont typeface="Symbol" panose="05050102010706020507" pitchFamily="18" charset="2"/>
              <a:buChar char=""/>
            </a:pPr>
            <a:r>
              <a:rPr lang="fr-FR" dirty="0"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Mettre en place une politique de sécurité d’un firewall logiciel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2ACA1-6EB4-7FD9-2273-9407CA952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8E3371A-99AF-6A2D-9BD4-331A7E2D3B88}"/>
              </a:ext>
            </a:extLst>
          </p:cNvPr>
          <p:cNvSpPr txBox="1"/>
          <p:nvPr/>
        </p:nvSpPr>
        <p:spPr>
          <a:xfrm>
            <a:off x="1981200" y="1915744"/>
            <a:ext cx="8622665" cy="62914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latin typeface="Calibri"/>
                <a:cs typeface="Calibri"/>
              </a:rPr>
              <a:t>Présentation et mode de fonctionnement </a:t>
            </a:r>
          </a:p>
          <a:p>
            <a:pPr marL="342900" indent="-34290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endParaRPr lang="fr-FR" sz="2400" dirty="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latin typeface="Calibri"/>
                <a:cs typeface="Calibri"/>
              </a:rPr>
              <a:t>Classification et types de firewalls</a:t>
            </a:r>
          </a:p>
          <a:p>
            <a:pPr marL="342900" indent="-342900">
              <a:spcBef>
                <a:spcPts val="30"/>
              </a:spcBef>
              <a:buFont typeface="Arial" panose="020B0604020202020204" pitchFamily="34" charset="0"/>
              <a:buChar char="•"/>
            </a:pPr>
            <a:endParaRPr lang="fr-FR" sz="2400" dirty="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latin typeface="Calibri"/>
                <a:cs typeface="Calibri"/>
              </a:rPr>
              <a:t>Politique de sécurité et règles de filtrage</a:t>
            </a:r>
          </a:p>
          <a:p>
            <a:pPr marL="342900" indent="-34290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endParaRPr lang="fr-FR" sz="2400" dirty="0">
              <a:latin typeface="Calibri"/>
              <a:cs typeface="Calibri"/>
            </a:endParaRPr>
          </a:p>
          <a:p>
            <a:pPr marL="342900" indent="-342900">
              <a:spcBef>
                <a:spcPts val="3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latin typeface="Calibri"/>
                <a:cs typeface="Calibri"/>
              </a:rPr>
              <a:t>Topologies réseaux des firewalls  </a:t>
            </a:r>
          </a:p>
          <a:p>
            <a:pPr marL="342900" indent="-342900">
              <a:spcBef>
                <a:spcPts val="30"/>
              </a:spcBef>
              <a:buFont typeface="Arial" panose="020B0604020202020204" pitchFamily="34" charset="0"/>
              <a:buChar char="•"/>
            </a:pPr>
            <a:endParaRPr lang="fr-FR" sz="2400" dirty="0">
              <a:latin typeface="Calibri"/>
              <a:cs typeface="Calibri"/>
            </a:endParaRPr>
          </a:p>
          <a:p>
            <a:pPr marL="342900" indent="-342900">
              <a:spcBef>
                <a:spcPts val="3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latin typeface="Calibri"/>
                <a:cs typeface="Calibri"/>
              </a:rPr>
              <a:t>Pratique: Mise en place d’un firewall logiciel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r>
              <a:rPr lang="fr-FR" sz="2400" dirty="0">
                <a:latin typeface="Calibri"/>
                <a:cs typeface="Calibri"/>
              </a:rPr>
              <a:t> 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fr-FR" sz="2400" dirty="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0"/>
              </a:spcBef>
              <a:buFontTx/>
              <a:buChar char="-"/>
            </a:pPr>
            <a:endParaRPr lang="fr-FR"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fr-FR"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fr-FR"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fr-FR"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fr-FR"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9B27E98-894E-32FC-72BD-F8454CA96616}"/>
              </a:ext>
            </a:extLst>
          </p:cNvPr>
          <p:cNvSpPr txBox="1"/>
          <p:nvPr/>
        </p:nvSpPr>
        <p:spPr>
          <a:xfrm>
            <a:off x="11129009" y="6400596"/>
            <a:ext cx="12255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878787"/>
                </a:solidFill>
                <a:latin typeface="Calibri"/>
                <a:cs typeface="Calibri"/>
              </a:rPr>
              <a:t>3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E5980512-FB14-9094-E4D9-FE6130278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762000"/>
            <a:ext cx="3647440" cy="553998"/>
          </a:xfrm>
        </p:spPr>
        <p:txBody>
          <a:bodyPr/>
          <a:lstStyle/>
          <a:p>
            <a:r>
              <a:rPr lang="fr-FR" sz="3600" b="1" dirty="0"/>
              <a:t>Plan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611032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1EFD6-5133-9057-345E-210ABF0D9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BB6C8A5-23AB-EFB9-D14C-8E2CDFE690A1}"/>
              </a:ext>
            </a:extLst>
          </p:cNvPr>
          <p:cNvSpPr txBox="1"/>
          <p:nvPr/>
        </p:nvSpPr>
        <p:spPr>
          <a:xfrm>
            <a:off x="1981200" y="1915744"/>
            <a:ext cx="8622665" cy="77687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r>
              <a:rPr lang="fr-FR" sz="2800" dirty="0">
                <a:latin typeface="Calibri"/>
                <a:cs typeface="Calibri"/>
              </a:rPr>
              <a:t>Présentation et mode de fonctionnement </a:t>
            </a:r>
          </a:p>
          <a:p>
            <a:pPr marL="342900" indent="-34290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endParaRPr lang="fr-FR" sz="2800" dirty="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r>
              <a:rPr lang="fr-FR" sz="2800" dirty="0">
                <a:latin typeface="Calibri"/>
                <a:cs typeface="Calibri"/>
              </a:rPr>
              <a:t>Classification et types de firewalls</a:t>
            </a:r>
          </a:p>
          <a:p>
            <a:pPr marL="342900" indent="-342900">
              <a:spcBef>
                <a:spcPts val="30"/>
              </a:spcBef>
              <a:buFont typeface="Arial" panose="020B0604020202020204" pitchFamily="34" charset="0"/>
              <a:buChar char="•"/>
            </a:pPr>
            <a:endParaRPr lang="fr-FR" sz="2800" dirty="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r>
              <a:rPr lang="fr-FR" sz="2800" dirty="0">
                <a:latin typeface="Calibri"/>
                <a:cs typeface="Calibri"/>
              </a:rPr>
              <a:t>Politique de sécurité et règles de filtrage</a:t>
            </a:r>
          </a:p>
          <a:p>
            <a:pPr marL="342900" indent="-34290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endParaRPr lang="fr-FR" sz="2800" dirty="0">
              <a:latin typeface="Calibri"/>
              <a:cs typeface="Calibri"/>
            </a:endParaRPr>
          </a:p>
          <a:p>
            <a:pPr marL="342900" indent="-342900">
              <a:spcBef>
                <a:spcPts val="30"/>
              </a:spcBef>
              <a:buFont typeface="Arial" panose="020B0604020202020204" pitchFamily="34" charset="0"/>
              <a:buChar char="•"/>
            </a:pPr>
            <a:r>
              <a:rPr lang="fr-FR" sz="2800" dirty="0">
                <a:latin typeface="Calibri"/>
                <a:cs typeface="Calibri"/>
              </a:rPr>
              <a:t>Topologies réseaux des firewalls  </a:t>
            </a:r>
          </a:p>
          <a:p>
            <a:pPr>
              <a:spcBef>
                <a:spcPts val="30"/>
              </a:spcBef>
            </a:pPr>
            <a:endParaRPr lang="fr-FR" sz="2800" dirty="0">
              <a:latin typeface="Calibri"/>
              <a:cs typeface="Calibri"/>
            </a:endParaRPr>
          </a:p>
          <a:p>
            <a:pPr marL="342900" indent="-342900">
              <a:spcBef>
                <a:spcPts val="30"/>
              </a:spcBef>
              <a:buFont typeface="Arial" panose="020B0604020202020204" pitchFamily="34" charset="0"/>
              <a:buChar char="•"/>
            </a:pPr>
            <a:r>
              <a:rPr lang="fr-FR" sz="2800" dirty="0">
                <a:latin typeface="Calibri"/>
                <a:cs typeface="Calibri"/>
              </a:rPr>
              <a:t>Pratique: Mise en place d’un firewall logiciel</a:t>
            </a:r>
          </a:p>
          <a:p>
            <a:pPr marL="342900" indent="-342900">
              <a:spcBef>
                <a:spcPts val="30"/>
              </a:spcBef>
              <a:buFont typeface="Arial" panose="020B0604020202020204" pitchFamily="34" charset="0"/>
              <a:buChar char="•"/>
            </a:pPr>
            <a:endParaRPr lang="fr-FR"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r>
              <a:rPr lang="fr-FR" sz="2800" dirty="0">
                <a:latin typeface="Calibri"/>
                <a:cs typeface="Calibri"/>
              </a:rPr>
              <a:t> 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fr-FR" sz="2800" dirty="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0"/>
              </a:spcBef>
              <a:buFontTx/>
              <a:buChar char="-"/>
            </a:pPr>
            <a:endParaRPr lang="fr-FR"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fr-FR"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fr-FR"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fr-FR"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fr-FR"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95E947D-FF20-1579-A745-DB5249291BB9}"/>
              </a:ext>
            </a:extLst>
          </p:cNvPr>
          <p:cNvSpPr txBox="1"/>
          <p:nvPr/>
        </p:nvSpPr>
        <p:spPr>
          <a:xfrm>
            <a:off x="11129009" y="6400596"/>
            <a:ext cx="12255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878787"/>
                </a:solidFill>
                <a:latin typeface="Calibri"/>
                <a:cs typeface="Calibri"/>
              </a:rPr>
              <a:t>3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45BD28-BB1C-A39C-A54E-E474489942B8}"/>
              </a:ext>
            </a:extLst>
          </p:cNvPr>
          <p:cNvSpPr/>
          <p:nvPr/>
        </p:nvSpPr>
        <p:spPr>
          <a:xfrm>
            <a:off x="1828800" y="1915744"/>
            <a:ext cx="6553200" cy="395656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FB13A5DA-7DF9-BD9C-0A5A-BDF60169D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65166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4BE55C-2337-DD9C-8CE0-8DCF46DBF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750333"/>
            <a:ext cx="6629400" cy="1107996"/>
          </a:xfrm>
        </p:spPr>
        <p:txBody>
          <a:bodyPr/>
          <a:lstStyle/>
          <a:p>
            <a:r>
              <a:rPr lang="fr-FR" sz="3600" b="1" dirty="0"/>
              <a:t>Présentation générale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ACDFAE-D819-1559-DFF2-5C0485CFB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5970" y="1675684"/>
            <a:ext cx="11040060" cy="3508653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Nous avons besoin de mettre en place une série de contremesures de protection afin d’assurer une sécurité optimale de notre Système d’information (défense en profondeur).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Le firewall est un mécanisme technique, présent dans toute chaîne de sécurité.</a:t>
            </a:r>
          </a:p>
          <a:p>
            <a:pPr>
              <a:lnSpc>
                <a:spcPct val="150000"/>
              </a:lnSpc>
            </a:pPr>
            <a:endParaRPr lang="fr-FR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Qu’est-ce qu’un firewall et comment fonctionne-t-il?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Quels sont les différents types et les modes de fonctionnement des firewalls ?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Comment mettre en place les règles de filtrage ?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62119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3989" y="235077"/>
            <a:ext cx="8004811" cy="10586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Les</a:t>
            </a:r>
            <a:r>
              <a:rPr spc="-20" dirty="0"/>
              <a:t> </a:t>
            </a:r>
            <a:r>
              <a:rPr spc="-5" dirty="0"/>
              <a:t>Firewalls</a:t>
            </a:r>
          </a:p>
          <a:p>
            <a:pPr marL="21590">
              <a:lnSpc>
                <a:spcPct val="100000"/>
              </a:lnSpc>
              <a:spcBef>
                <a:spcPts val="25"/>
              </a:spcBef>
            </a:pPr>
            <a:r>
              <a:rPr lang="fr-FR" sz="4000" b="1" spc="-5" dirty="0">
                <a:latin typeface="Times New Roman"/>
                <a:cs typeface="Times New Roman"/>
              </a:rPr>
              <a:t>Présentation générale 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8371" y="1358145"/>
            <a:ext cx="11254029" cy="3038652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5"/>
              </a:spcBef>
              <a:buSzPct val="90000"/>
              <a:buChar char="▪"/>
              <a:tabLst>
                <a:tab pos="354965" algn="l"/>
                <a:tab pos="355600" algn="l"/>
              </a:tabLst>
            </a:pPr>
            <a:r>
              <a:rPr lang="fr-FR" sz="2400" dirty="0">
                <a:cs typeface="Calibri"/>
              </a:rPr>
              <a:t>Un pare-feu (de l’anglais firewall) est une contremesure technique permettant d’appliquer la politique de sécurité.</a:t>
            </a:r>
          </a:p>
          <a:p>
            <a:pPr marL="355600" indent="-342900">
              <a:lnSpc>
                <a:spcPct val="100000"/>
              </a:lnSpc>
              <a:spcBef>
                <a:spcPts val="815"/>
              </a:spcBef>
              <a:buSzPct val="90000"/>
              <a:buChar char="▪"/>
              <a:tabLst>
                <a:tab pos="354965" algn="l"/>
                <a:tab pos="355600" algn="l"/>
              </a:tabLst>
            </a:pPr>
            <a:r>
              <a:rPr lang="fr-FR" sz="2400" dirty="0">
                <a:latin typeface="Calibri"/>
                <a:cs typeface="Calibri"/>
              </a:rPr>
              <a:t>La tâche principale est de filtrer  le trafic entre des zones, de confiance différente. </a:t>
            </a:r>
          </a:p>
          <a:p>
            <a:pPr marL="355600" indent="-342900">
              <a:lnSpc>
                <a:spcPct val="100000"/>
              </a:lnSpc>
              <a:spcBef>
                <a:spcPts val="815"/>
              </a:spcBef>
              <a:buSzPct val="90000"/>
              <a:buChar char="▪"/>
              <a:tabLst>
                <a:tab pos="354965" algn="l"/>
                <a:tab pos="355600" algn="l"/>
              </a:tabLst>
            </a:pPr>
            <a:r>
              <a:rPr lang="fr-FR" sz="2400" dirty="0">
                <a:latin typeface="Calibri"/>
                <a:cs typeface="Calibri"/>
              </a:rPr>
              <a:t>Généralement, les zones de confiance incluent Internet (confiance minimale) et un réseau interne (confiance plus importante).</a:t>
            </a:r>
          </a:p>
          <a:p>
            <a:pPr marL="355600" indent="-342900">
              <a:spcBef>
                <a:spcPts val="815"/>
              </a:spcBef>
              <a:buSzPct val="90000"/>
              <a:buFontTx/>
              <a:buChar char="▪"/>
              <a:tabLst>
                <a:tab pos="354965" algn="l"/>
                <a:tab pos="355600" algn="l"/>
              </a:tabLst>
            </a:pPr>
            <a:r>
              <a:rPr lang="fr-FR" sz="2400" spc="-5" dirty="0">
                <a:latin typeface="Calibri"/>
                <a:cs typeface="Calibri"/>
              </a:rPr>
              <a:t>Un firewall</a:t>
            </a:r>
            <a:r>
              <a:rPr lang="fr-FR" sz="2400" spc="20" dirty="0">
                <a:latin typeface="Calibri"/>
                <a:cs typeface="Calibri"/>
              </a:rPr>
              <a:t> </a:t>
            </a:r>
            <a:r>
              <a:rPr lang="fr-FR" sz="2400" spc="-5" dirty="0">
                <a:latin typeface="Calibri"/>
                <a:cs typeface="Calibri"/>
              </a:rPr>
              <a:t>peut</a:t>
            </a:r>
            <a:r>
              <a:rPr lang="fr-FR" sz="2400" dirty="0">
                <a:latin typeface="Calibri"/>
                <a:cs typeface="Calibri"/>
              </a:rPr>
              <a:t> être</a:t>
            </a:r>
            <a:r>
              <a:rPr lang="fr-FR" sz="2400" spc="5" dirty="0">
                <a:latin typeface="Calibri"/>
                <a:cs typeface="Calibri"/>
              </a:rPr>
              <a:t> </a:t>
            </a:r>
            <a:r>
              <a:rPr lang="fr-FR" sz="2400" spc="-5" dirty="0">
                <a:latin typeface="Calibri"/>
                <a:cs typeface="Calibri"/>
              </a:rPr>
              <a:t>matériel</a:t>
            </a:r>
            <a:r>
              <a:rPr lang="fr-FR" sz="2400" spc="20" dirty="0">
                <a:latin typeface="Calibri"/>
                <a:cs typeface="Calibri"/>
              </a:rPr>
              <a:t> </a:t>
            </a:r>
            <a:r>
              <a:rPr lang="fr-FR" sz="2400" spc="-5" dirty="0">
                <a:latin typeface="Calibri"/>
                <a:cs typeface="Calibri"/>
              </a:rPr>
              <a:t>ou </a:t>
            </a:r>
            <a:r>
              <a:rPr lang="fr-FR" sz="2400" dirty="0">
                <a:latin typeface="Calibri"/>
                <a:cs typeface="Calibri"/>
              </a:rPr>
              <a:t>logiciel</a:t>
            </a:r>
          </a:p>
          <a:p>
            <a:pPr marL="355600" indent="-342900">
              <a:lnSpc>
                <a:spcPct val="100000"/>
              </a:lnSpc>
              <a:spcBef>
                <a:spcPts val="815"/>
              </a:spcBef>
              <a:buSzPct val="90000"/>
              <a:buChar char="▪"/>
              <a:tabLst>
                <a:tab pos="354965" algn="l"/>
                <a:tab pos="355600" algn="l"/>
              </a:tabLst>
            </a:pPr>
            <a:endParaRPr sz="20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07597" y="6448297"/>
            <a:ext cx="269240" cy="216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sz="1500" dirty="0">
                <a:solidFill>
                  <a:srgbClr val="878787"/>
                </a:solidFill>
                <a:latin typeface="Calibri"/>
                <a:cs typeface="Calibri"/>
              </a:rPr>
              <a:t>6</a:t>
            </a:fld>
            <a:endParaRPr sz="1500">
              <a:latin typeface="Calibri"/>
              <a:cs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EF058BE-FE40-CA67-6B68-6F482F9B8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308008"/>
            <a:ext cx="4648200" cy="3248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3989" y="235077"/>
            <a:ext cx="6500495" cy="1064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Les</a:t>
            </a:r>
            <a:r>
              <a:rPr spc="-20" dirty="0"/>
              <a:t> </a:t>
            </a:r>
            <a:r>
              <a:rPr spc="-5" dirty="0"/>
              <a:t>Firewalls</a:t>
            </a:r>
          </a:p>
          <a:p>
            <a:pPr marL="21590">
              <a:lnSpc>
                <a:spcPct val="100000"/>
              </a:lnSpc>
              <a:spcBef>
                <a:spcPts val="25"/>
              </a:spcBef>
            </a:pPr>
            <a:r>
              <a:rPr sz="4000" b="1" spc="-5" dirty="0">
                <a:latin typeface="Times New Roman"/>
                <a:cs typeface="Times New Roman"/>
              </a:rPr>
              <a:t>Fonctionnement</a:t>
            </a:r>
            <a:r>
              <a:rPr sz="4000" b="1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d’un</a:t>
            </a:r>
            <a:r>
              <a:rPr sz="4000" b="1" spc="-25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firewall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035" y="1881886"/>
            <a:ext cx="7383145" cy="41389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SzPct val="90000"/>
              <a:buFont typeface="Calibri"/>
              <a:buChar char="▪"/>
              <a:tabLst>
                <a:tab pos="354965" algn="l"/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Un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pare-feu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fonctionne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le </a:t>
            </a:r>
            <a:r>
              <a:rPr sz="2000" dirty="0">
                <a:latin typeface="Arial MT"/>
                <a:cs typeface="Arial MT"/>
              </a:rPr>
              <a:t>principe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suivant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Calibri"/>
              <a:buChar char="▪"/>
            </a:pPr>
            <a:endParaRPr sz="2200">
              <a:latin typeface="Arial MT"/>
              <a:cs typeface="Arial MT"/>
            </a:endParaRPr>
          </a:p>
          <a:p>
            <a:pPr marL="241300" algn="just">
              <a:lnSpc>
                <a:spcPct val="100000"/>
              </a:lnSpc>
            </a:pPr>
            <a:r>
              <a:rPr sz="1800" dirty="0">
                <a:latin typeface="Segoe UI Emoji"/>
                <a:cs typeface="Segoe UI Emoji"/>
              </a:rPr>
              <a:t>✔</a:t>
            </a:r>
            <a:r>
              <a:rPr sz="1800" spc="-15" dirty="0">
                <a:latin typeface="Segoe UI Emoji"/>
                <a:cs typeface="Segoe UI Emoji"/>
              </a:rPr>
              <a:t> </a:t>
            </a:r>
            <a:r>
              <a:rPr sz="1700" dirty="0">
                <a:latin typeface="Arial MT"/>
                <a:cs typeface="Arial MT"/>
              </a:rPr>
              <a:t>Un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spc="-5" dirty="0">
                <a:latin typeface="Arial MT"/>
                <a:cs typeface="Arial MT"/>
              </a:rPr>
              <a:t>pare-feu</a:t>
            </a:r>
            <a:r>
              <a:rPr sz="1700" spc="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laisse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passer</a:t>
            </a:r>
            <a:r>
              <a:rPr sz="1700" spc="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le </a:t>
            </a:r>
            <a:r>
              <a:rPr sz="1700" spc="-5" dirty="0">
                <a:latin typeface="Arial MT"/>
                <a:cs typeface="Arial MT"/>
              </a:rPr>
              <a:t>trafic</a:t>
            </a:r>
            <a:r>
              <a:rPr sz="1700" spc="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si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le </a:t>
            </a:r>
            <a:r>
              <a:rPr sz="1700" spc="-5" dirty="0">
                <a:latin typeface="Arial MT"/>
                <a:cs typeface="Arial MT"/>
              </a:rPr>
              <a:t>trafic</a:t>
            </a:r>
            <a:r>
              <a:rPr sz="1700" spc="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répond</a:t>
            </a:r>
            <a:r>
              <a:rPr sz="1700" spc="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à certains</a:t>
            </a:r>
            <a:r>
              <a:rPr sz="1700" spc="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critères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300">
              <a:latin typeface="Arial MT"/>
              <a:cs typeface="Arial MT"/>
            </a:endParaRPr>
          </a:p>
          <a:p>
            <a:pPr marL="241300" algn="just">
              <a:lnSpc>
                <a:spcPct val="100000"/>
              </a:lnSpc>
            </a:pPr>
            <a:r>
              <a:rPr sz="1800" dirty="0">
                <a:latin typeface="Segoe UI Emoji"/>
                <a:cs typeface="Segoe UI Emoji"/>
              </a:rPr>
              <a:t>✔</a:t>
            </a:r>
            <a:r>
              <a:rPr sz="1800" spc="-15" dirty="0">
                <a:latin typeface="Segoe UI Emoji"/>
                <a:cs typeface="Segoe UI Emoji"/>
              </a:rPr>
              <a:t> </a:t>
            </a:r>
            <a:r>
              <a:rPr sz="1700" dirty="0">
                <a:latin typeface="Arial MT"/>
                <a:cs typeface="Arial MT"/>
              </a:rPr>
              <a:t>Un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spc="-5" dirty="0">
                <a:latin typeface="Arial MT"/>
                <a:cs typeface="Arial MT"/>
              </a:rPr>
              <a:t>pare-feu</a:t>
            </a:r>
            <a:r>
              <a:rPr sz="1700" spc="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refuse</a:t>
            </a:r>
            <a:r>
              <a:rPr sz="1700" spc="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le</a:t>
            </a:r>
            <a:r>
              <a:rPr sz="1700" spc="-5" dirty="0">
                <a:latin typeface="Arial MT"/>
                <a:cs typeface="Arial MT"/>
              </a:rPr>
              <a:t> trafic </a:t>
            </a:r>
            <a:r>
              <a:rPr sz="1700" dirty="0">
                <a:latin typeface="Arial MT"/>
                <a:cs typeface="Arial MT"/>
              </a:rPr>
              <a:t>s'il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ne</a:t>
            </a:r>
            <a:r>
              <a:rPr sz="1700" spc="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correspond</a:t>
            </a:r>
            <a:r>
              <a:rPr sz="1700" spc="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pas</a:t>
            </a:r>
            <a:r>
              <a:rPr sz="1700" spc="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à</a:t>
            </a:r>
            <a:r>
              <a:rPr sz="1700" spc="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certains critères</a:t>
            </a:r>
            <a:endParaRPr sz="1700">
              <a:latin typeface="Arial MT"/>
              <a:cs typeface="Arial MT"/>
            </a:endParaRPr>
          </a:p>
          <a:p>
            <a:pPr marL="355600" marR="5080" indent="-342900" algn="just">
              <a:lnSpc>
                <a:spcPct val="150000"/>
              </a:lnSpc>
              <a:spcBef>
                <a:spcPts val="1225"/>
              </a:spcBef>
              <a:buSzPct val="90000"/>
              <a:buFont typeface="Calibri"/>
              <a:buChar char="▪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Ces </a:t>
            </a:r>
            <a:r>
              <a:rPr sz="2000" spc="-5" dirty="0">
                <a:latin typeface="Arial MT"/>
                <a:cs typeface="Arial MT"/>
              </a:rPr>
              <a:t>critères </a:t>
            </a:r>
            <a:r>
              <a:rPr sz="2000" dirty="0">
                <a:latin typeface="Arial MT"/>
                <a:cs typeface="Arial MT"/>
              </a:rPr>
              <a:t>sont les </a:t>
            </a:r>
            <a:r>
              <a:rPr sz="2000" spc="-5" dirty="0">
                <a:latin typeface="Arial MT"/>
                <a:cs typeface="Arial MT"/>
              </a:rPr>
              <a:t>règles </a:t>
            </a:r>
            <a:r>
              <a:rPr sz="2000" dirty="0">
                <a:latin typeface="Arial MT"/>
                <a:cs typeface="Arial MT"/>
              </a:rPr>
              <a:t>et </a:t>
            </a:r>
            <a:r>
              <a:rPr sz="2000" spc="-5" dirty="0">
                <a:latin typeface="Arial MT"/>
                <a:cs typeface="Arial MT"/>
              </a:rPr>
              <a:t>restrictions configurées </a:t>
            </a:r>
            <a:r>
              <a:rPr sz="2000" dirty="0">
                <a:latin typeface="Arial MT"/>
                <a:cs typeface="Arial MT"/>
              </a:rPr>
              <a:t>sur </a:t>
            </a:r>
            <a:r>
              <a:rPr sz="2000" spc="-5" dirty="0">
                <a:latin typeface="Arial MT"/>
                <a:cs typeface="Arial MT"/>
              </a:rPr>
              <a:t>le </a:t>
            </a:r>
            <a:r>
              <a:rPr sz="2000" dirty="0">
                <a:latin typeface="Arial MT"/>
                <a:cs typeface="Arial MT"/>
              </a:rPr>
              <a:t> pare-feu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cela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peut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varier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d'un</a:t>
            </a:r>
            <a:r>
              <a:rPr sz="2000" spc="-5" dirty="0">
                <a:latin typeface="Arial MT"/>
                <a:cs typeface="Arial MT"/>
              </a:rPr>
              <a:t> type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pare-feu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à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l'autre</a:t>
            </a:r>
            <a:endParaRPr sz="2000">
              <a:latin typeface="Arial MT"/>
              <a:cs typeface="Arial MT"/>
            </a:endParaRPr>
          </a:p>
          <a:p>
            <a:pPr marL="355600" marR="5080" indent="-342900" algn="just">
              <a:lnSpc>
                <a:spcPct val="150000"/>
              </a:lnSpc>
              <a:spcBef>
                <a:spcPts val="1205"/>
              </a:spcBef>
              <a:buSzPct val="90000"/>
              <a:buFont typeface="Calibri"/>
              <a:buChar char="▪"/>
              <a:tabLst>
                <a:tab pos="355600" algn="l"/>
              </a:tabLst>
            </a:pPr>
            <a:r>
              <a:rPr sz="2000" spc="-5" dirty="0">
                <a:latin typeface="Arial MT"/>
                <a:cs typeface="Arial MT"/>
              </a:rPr>
              <a:t>Généralement, </a:t>
            </a:r>
            <a:r>
              <a:rPr sz="2000" dirty="0">
                <a:latin typeface="Arial MT"/>
                <a:cs typeface="Arial MT"/>
              </a:rPr>
              <a:t>un </a:t>
            </a:r>
            <a:r>
              <a:rPr sz="2000" spc="-5" dirty="0">
                <a:latin typeface="Arial MT"/>
                <a:cs typeface="Arial MT"/>
              </a:rPr>
              <a:t>pare-feu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filtre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le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trafic</a:t>
            </a:r>
            <a:r>
              <a:rPr sz="2000" spc="5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 </a:t>
            </a:r>
            <a:r>
              <a:rPr sz="2000" spc="-5" dirty="0">
                <a:latin typeface="Arial MT"/>
                <a:cs typeface="Arial MT"/>
              </a:rPr>
              <a:t>fonction </a:t>
            </a:r>
            <a:r>
              <a:rPr sz="2000" dirty="0">
                <a:latin typeface="Arial MT"/>
                <a:cs typeface="Arial MT"/>
              </a:rPr>
              <a:t>du </a:t>
            </a:r>
            <a:r>
              <a:rPr sz="2000" spc="-5" dirty="0">
                <a:latin typeface="Arial MT"/>
                <a:cs typeface="Arial MT"/>
              </a:rPr>
              <a:t>type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trafic,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des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adresses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source</a:t>
            </a:r>
            <a:r>
              <a:rPr sz="2000" dirty="0">
                <a:latin typeface="Arial MT"/>
                <a:cs typeface="Arial MT"/>
              </a:rPr>
              <a:t> ou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destination,</a:t>
            </a:r>
            <a:r>
              <a:rPr sz="2000" dirty="0">
                <a:latin typeface="Arial MT"/>
                <a:cs typeface="Arial MT"/>
              </a:rPr>
              <a:t> des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protocoles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ports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3943" y="1527047"/>
            <a:ext cx="3968496" cy="48569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007597" y="6448297"/>
            <a:ext cx="269240" cy="216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sz="1500" dirty="0">
                <a:solidFill>
                  <a:srgbClr val="878787"/>
                </a:solidFill>
                <a:latin typeface="Calibri"/>
                <a:cs typeface="Calibri"/>
              </a:rPr>
              <a:t>7</a:t>
            </a:fld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63B02-58D2-F882-3818-1CBED8479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35F2351-7566-CAF4-0AD9-3F5899E777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4569" y="507618"/>
            <a:ext cx="10128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Times New Roman"/>
                <a:cs typeface="Times New Roman"/>
              </a:rPr>
              <a:t>Plan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CE945A8-CF8B-5E91-E21F-9DB88A9EA22E}"/>
              </a:ext>
            </a:extLst>
          </p:cNvPr>
          <p:cNvSpPr txBox="1"/>
          <p:nvPr/>
        </p:nvSpPr>
        <p:spPr>
          <a:xfrm>
            <a:off x="1761235" y="1915744"/>
            <a:ext cx="8622665" cy="7030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spcBef>
                <a:spcPts val="3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latin typeface="Calibri"/>
                <a:cs typeface="Calibri"/>
              </a:rPr>
              <a:t>Présentation et Mode de fonctionnement  </a:t>
            </a:r>
          </a:p>
          <a:p>
            <a:pPr marL="342900" indent="-34290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endParaRPr lang="fr-FR" sz="2400" dirty="0">
              <a:latin typeface="Calibri"/>
              <a:cs typeface="Calibri"/>
            </a:endParaRPr>
          </a:p>
          <a:p>
            <a:pPr marL="342900" indent="-342900">
              <a:spcBef>
                <a:spcPts val="3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latin typeface="Calibri"/>
                <a:cs typeface="Calibri"/>
              </a:rPr>
              <a:t>Politiques de sécurité et règles de filtrage </a:t>
            </a:r>
          </a:p>
          <a:p>
            <a:pPr marL="342900" indent="-34290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endParaRPr lang="fr-FR" sz="2400" dirty="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latin typeface="Calibri"/>
                <a:cs typeface="Calibri"/>
              </a:rPr>
              <a:t>Classification des firewalls</a:t>
            </a:r>
          </a:p>
          <a:p>
            <a:pPr marL="342900" indent="-34290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endParaRPr lang="fr-FR" sz="2400" dirty="0">
              <a:latin typeface="Calibri"/>
              <a:cs typeface="Calibri"/>
            </a:endParaRPr>
          </a:p>
          <a:p>
            <a:pPr marL="342900" indent="-342900">
              <a:spcBef>
                <a:spcPts val="3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latin typeface="Calibri"/>
                <a:cs typeface="Calibri"/>
              </a:rPr>
              <a:t>Topologies réseaux des firewalls  </a:t>
            </a:r>
          </a:p>
          <a:p>
            <a:pPr marL="342900" indent="-342900">
              <a:spcBef>
                <a:spcPts val="30"/>
              </a:spcBef>
              <a:buFont typeface="Arial" panose="020B0604020202020204" pitchFamily="34" charset="0"/>
              <a:buChar char="•"/>
            </a:pPr>
            <a:endParaRPr lang="fr-FR" sz="2400" dirty="0">
              <a:latin typeface="Calibri"/>
              <a:cs typeface="Calibri"/>
            </a:endParaRPr>
          </a:p>
          <a:p>
            <a:pPr marL="342900" indent="-342900">
              <a:spcBef>
                <a:spcPts val="3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latin typeface="Calibri"/>
                <a:cs typeface="Calibri"/>
              </a:rPr>
              <a:t>Pratique: Mise en place d’un firewall logiciel</a:t>
            </a:r>
          </a:p>
          <a:p>
            <a:pPr marL="342900" indent="-342900">
              <a:spcBef>
                <a:spcPts val="30"/>
              </a:spcBef>
              <a:buFont typeface="Arial" panose="020B0604020202020204" pitchFamily="34" charset="0"/>
              <a:buChar char="•"/>
            </a:pPr>
            <a:endParaRPr lang="fr-FR" sz="2400" dirty="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endParaRPr lang="fr-FR" sz="2400" dirty="0">
              <a:latin typeface="Calibri"/>
              <a:cs typeface="Calibri"/>
            </a:endParaRPr>
          </a:p>
          <a:p>
            <a:pPr marL="342900" indent="-342900">
              <a:spcBef>
                <a:spcPts val="30"/>
              </a:spcBef>
              <a:buFont typeface="Arial" panose="020B0604020202020204" pitchFamily="34" charset="0"/>
              <a:buChar char="•"/>
            </a:pPr>
            <a:endParaRPr lang="fr-FR"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fr-FR" sz="2400" dirty="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0"/>
              </a:spcBef>
              <a:buFontTx/>
              <a:buChar char="-"/>
            </a:pPr>
            <a:endParaRPr lang="fr-FR"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fr-FR"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fr-FR"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fr-FR"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fr-FR"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3423A2A-3BD0-2241-0F6A-79F96114E628}"/>
              </a:ext>
            </a:extLst>
          </p:cNvPr>
          <p:cNvSpPr txBox="1"/>
          <p:nvPr/>
        </p:nvSpPr>
        <p:spPr>
          <a:xfrm>
            <a:off x="11129009" y="6400596"/>
            <a:ext cx="12255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878787"/>
                </a:solidFill>
                <a:latin typeface="Calibri"/>
                <a:cs typeface="Calibri"/>
              </a:rPr>
              <a:t>3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F00290-50A6-E898-3A2C-5B60008FBC58}"/>
              </a:ext>
            </a:extLst>
          </p:cNvPr>
          <p:cNvSpPr/>
          <p:nvPr/>
        </p:nvSpPr>
        <p:spPr>
          <a:xfrm>
            <a:off x="2010981" y="2590800"/>
            <a:ext cx="5380419" cy="548056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233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F89898-50FB-7759-7612-0D7172130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722451"/>
            <a:ext cx="8462011" cy="892039"/>
          </a:xfrm>
        </p:spPr>
        <p:txBody>
          <a:bodyPr/>
          <a:lstStyle/>
          <a:p>
            <a:pPr>
              <a:lnSpc>
                <a:spcPts val="3600"/>
              </a:lnSpc>
            </a:pPr>
            <a:r>
              <a:rPr lang="fr-FR" sz="2800" dirty="0">
                <a:latin typeface="Calibri"/>
                <a:cs typeface="Calibri"/>
              </a:rPr>
              <a:t>Politique de sécurité et règles de filtrage </a:t>
            </a:r>
            <a:br>
              <a:rPr lang="fr-FR" sz="2800" dirty="0">
                <a:latin typeface="Calibri"/>
                <a:cs typeface="Calibri"/>
              </a:rPr>
            </a:b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9AD018B-AA18-5EED-0D30-B6FD7212A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295400"/>
            <a:ext cx="10735260" cy="5357621"/>
          </a:xfrm>
        </p:spPr>
        <p:txBody>
          <a:bodyPr/>
          <a:lstStyle/>
          <a:p>
            <a:pPr algn="ctr">
              <a:lnSpc>
                <a:spcPts val="3000"/>
              </a:lnSpc>
            </a:pPr>
            <a:r>
              <a:rPr lang="fr-FR" sz="2400" b="1" dirty="0"/>
              <a:t>  Politique 1: interdire tout par défaut</a:t>
            </a:r>
          </a:p>
          <a:p>
            <a:pPr>
              <a:lnSpc>
                <a:spcPts val="3000"/>
              </a:lnSpc>
            </a:pPr>
            <a:r>
              <a:rPr lang="fr-FR" sz="2400" b="1" u="sng" dirty="0"/>
              <a:t>Principe: </a:t>
            </a:r>
            <a:r>
              <a:rPr lang="fr-FR" sz="2400" dirty="0"/>
              <a:t>Tout ce qui n’est pas explicitement autorisé est interdit.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fr-FR" sz="2000" b="1" u="sng" dirty="0"/>
              <a:t>Mise en œuvre :</a:t>
            </a:r>
          </a:p>
          <a:p>
            <a:pPr>
              <a:lnSpc>
                <a:spcPts val="3000"/>
              </a:lnSpc>
            </a:pPr>
            <a:r>
              <a:rPr lang="fr-FR" sz="2000" dirty="0"/>
              <a:t> Analyse des services utilisés par les utilisateurs et définition des autorisations nécessaires</a:t>
            </a:r>
          </a:p>
          <a:p>
            <a:pPr>
              <a:lnSpc>
                <a:spcPts val="3000"/>
              </a:lnSpc>
            </a:pPr>
            <a:r>
              <a:rPr lang="fr-FR" sz="2000" u="sng" dirty="0"/>
              <a:t>Exemples</a:t>
            </a:r>
            <a:r>
              <a:rPr lang="fr-FR" sz="2000" dirty="0"/>
              <a:t> : un client web qui doit avoir accès aux protocoles http(s), autoriser le protocole SMTP pour les clients de messagerie…</a:t>
            </a:r>
          </a:p>
          <a:p>
            <a:pPr>
              <a:lnSpc>
                <a:spcPts val="3000"/>
              </a:lnSpc>
            </a:pPr>
            <a:r>
              <a:rPr lang="fr-FR" sz="2000" dirty="0"/>
              <a:t>Définition des droits à donner : définition de la politique de sécurité.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fr-FR" sz="2000" b="1" u="sng" dirty="0"/>
              <a:t>Avantages</a:t>
            </a:r>
          </a:p>
          <a:p>
            <a:pPr>
              <a:lnSpc>
                <a:spcPts val="3000"/>
              </a:lnSpc>
            </a:pPr>
            <a:r>
              <a:rPr lang="fr-FR" sz="2000" dirty="0"/>
              <a:t>Plus sécuritaire et plus confortable pour l’administrateur de sécurité.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fr-FR" sz="2000" b="1" u="sng" dirty="0"/>
              <a:t>Inconvénients</a:t>
            </a:r>
            <a:endParaRPr lang="fr-FR" sz="2000" dirty="0"/>
          </a:p>
          <a:p>
            <a:pPr>
              <a:lnSpc>
                <a:spcPts val="3000"/>
              </a:lnSpc>
            </a:pPr>
            <a:r>
              <a:rPr lang="fr-FR" sz="2000" dirty="0"/>
              <a:t>Limite considérablement les droits des usagers, peut bloquer le fonctionnement en cas d’absence de l’autorisation requise.</a:t>
            </a:r>
          </a:p>
          <a:p>
            <a:pPr>
              <a:lnSpc>
                <a:spcPts val="3000"/>
              </a:lnSpc>
            </a:pPr>
            <a:endParaRPr lang="fr-FR" sz="2000" dirty="0"/>
          </a:p>
          <a:p>
            <a:pPr>
              <a:lnSpc>
                <a:spcPts val="3000"/>
              </a:lnSpc>
            </a:pPr>
            <a:r>
              <a:rPr lang="fr-FR" sz="2000" dirty="0"/>
              <a:t>=&gt; Cette politique est plus recommandée et la plus souvent utilisée.</a:t>
            </a:r>
          </a:p>
        </p:txBody>
      </p:sp>
    </p:spTree>
    <p:extLst>
      <p:ext uri="{BB962C8B-B14F-4D97-AF65-F5344CB8AC3E}">
        <p14:creationId xmlns:p14="http://schemas.microsoft.com/office/powerpoint/2010/main" val="3404926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A280A-CAFA-4811-7AFE-D8FD48FCE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C335C6-5D99-0165-1430-5A7EFF282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722451"/>
            <a:ext cx="8462011" cy="861774"/>
          </a:xfrm>
        </p:spPr>
        <p:txBody>
          <a:bodyPr/>
          <a:lstStyle/>
          <a:p>
            <a:r>
              <a:rPr lang="fr-FR" sz="2800" dirty="0">
                <a:latin typeface="Calibri"/>
                <a:cs typeface="Calibri"/>
              </a:rPr>
              <a:t>Politique de sécurité et règles de filtrage </a:t>
            </a:r>
            <a:br>
              <a:rPr lang="fr-FR" sz="2800" dirty="0">
                <a:latin typeface="Calibri"/>
                <a:cs typeface="Calibri"/>
              </a:rPr>
            </a:b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761BE2A-05FE-2178-7B1D-DABEF991E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447800"/>
            <a:ext cx="11506200" cy="4588179"/>
          </a:xfrm>
        </p:spPr>
        <p:txBody>
          <a:bodyPr/>
          <a:lstStyle/>
          <a:p>
            <a:pPr algn="ctr">
              <a:lnSpc>
                <a:spcPts val="3000"/>
              </a:lnSpc>
            </a:pPr>
            <a:r>
              <a:rPr lang="fr-FR" sz="2400" b="1" dirty="0"/>
              <a:t>  Politique 2: Autoriser tout par défaut</a:t>
            </a:r>
          </a:p>
          <a:p>
            <a:pPr>
              <a:lnSpc>
                <a:spcPts val="3000"/>
              </a:lnSpc>
            </a:pPr>
            <a:r>
              <a:rPr lang="fr-FR" sz="2400" b="1" u="sng" dirty="0"/>
              <a:t>Principe: </a:t>
            </a:r>
            <a:r>
              <a:rPr lang="fr-FR" sz="2400" u="sng" dirty="0"/>
              <a:t>T</a:t>
            </a:r>
            <a:r>
              <a:rPr lang="fr-FR" sz="2400" dirty="0"/>
              <a:t>out ce qui n’est pas explicitement interdit est autorisé.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fr-FR" sz="2000" b="1" u="sng" dirty="0"/>
              <a:t>Mise en œuvre :</a:t>
            </a:r>
          </a:p>
          <a:p>
            <a:pPr algn="l">
              <a:lnSpc>
                <a:spcPts val="3000"/>
              </a:lnSpc>
            </a:pPr>
            <a:r>
              <a:rPr lang="fr-FR" sz="1800" b="0" i="0" u="none" strike="noStrike" baseline="0" dirty="0">
                <a:latin typeface="Tahoma" panose="020B0604030504040204" pitchFamily="34" charset="0"/>
              </a:rPr>
              <a:t>Analyser les différents risques et en déduire les interdictions à appliquer.</a:t>
            </a:r>
          </a:p>
          <a:p>
            <a:pPr algn="l">
              <a:lnSpc>
                <a:spcPts val="3000"/>
              </a:lnSpc>
            </a:pPr>
            <a:r>
              <a:rPr lang="fr-FR" sz="2000" u="sng" dirty="0"/>
              <a:t>Exemples:</a:t>
            </a:r>
            <a:r>
              <a:rPr lang="fr-FR" sz="2000" dirty="0"/>
              <a:t> Interdire les accès telnet  à un serveur local, interdire le partage des fichiers NFS entre les </a:t>
            </a:r>
            <a:r>
              <a:rPr lang="fr-FR" sz="2000" dirty="0" err="1"/>
              <a:t>PCs</a:t>
            </a:r>
            <a:r>
              <a:rPr lang="fr-FR" sz="2000" dirty="0"/>
              <a:t> …</a:t>
            </a:r>
          </a:p>
          <a:p>
            <a:pPr marL="342900" indent="-342900"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fr-FR" sz="2000" b="1" u="sng" dirty="0"/>
              <a:t>Avantages</a:t>
            </a:r>
          </a:p>
          <a:p>
            <a:pPr>
              <a:lnSpc>
                <a:spcPts val="3000"/>
              </a:lnSpc>
            </a:pPr>
            <a:r>
              <a:rPr lang="fr-FR" sz="2000" dirty="0"/>
              <a:t>Facilité d’usage et plus de confort aux utilisateurs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fr-FR" sz="2000" b="1" u="sng" dirty="0"/>
              <a:t>Inconvénients</a:t>
            </a:r>
            <a:endParaRPr lang="fr-FR" sz="2000" dirty="0"/>
          </a:p>
          <a:p>
            <a:pPr>
              <a:lnSpc>
                <a:spcPts val="3000"/>
              </a:lnSpc>
            </a:pPr>
            <a:r>
              <a:rPr lang="fr-FR" sz="2000" dirty="0"/>
              <a:t>Moins sécurisée et moins confortable pour l’administrateur de sécurité.</a:t>
            </a:r>
          </a:p>
          <a:p>
            <a:pPr>
              <a:lnSpc>
                <a:spcPts val="3000"/>
              </a:lnSpc>
            </a:pPr>
            <a:endParaRPr lang="fr-FR" sz="2000" dirty="0"/>
          </a:p>
          <a:p>
            <a:pPr>
              <a:lnSpc>
                <a:spcPts val="3000"/>
              </a:lnSpc>
            </a:pPr>
            <a:r>
              <a:rPr lang="fr-FR" sz="2000" dirty="0"/>
              <a:t>=&gt; Cette politique est moins  recommandée.</a:t>
            </a:r>
          </a:p>
        </p:txBody>
      </p:sp>
    </p:spTree>
    <p:extLst>
      <p:ext uri="{BB962C8B-B14F-4D97-AF65-F5344CB8AC3E}">
        <p14:creationId xmlns:p14="http://schemas.microsoft.com/office/powerpoint/2010/main" val="2823294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570F8-D4C7-EB05-B6DF-2DD441C36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7507584-5615-FBE4-09D5-AF8F3983A440}"/>
              </a:ext>
            </a:extLst>
          </p:cNvPr>
          <p:cNvSpPr/>
          <p:nvPr/>
        </p:nvSpPr>
        <p:spPr>
          <a:xfrm>
            <a:off x="152209" y="1555692"/>
            <a:ext cx="11887200" cy="3549708"/>
          </a:xfrm>
          <a:custGeom>
            <a:avLst/>
            <a:gdLst/>
            <a:ahLst/>
            <a:cxnLst/>
            <a:rect l="l" t="t" r="r" b="b"/>
            <a:pathLst>
              <a:path w="10768965" h="2397760">
                <a:moveTo>
                  <a:pt x="0" y="2397252"/>
                </a:moveTo>
                <a:lnTo>
                  <a:pt x="10768584" y="2397252"/>
                </a:lnTo>
                <a:lnTo>
                  <a:pt x="10768584" y="0"/>
                </a:lnTo>
                <a:lnTo>
                  <a:pt x="0" y="0"/>
                </a:lnTo>
                <a:lnTo>
                  <a:pt x="0" y="2397252"/>
                </a:lnTo>
                <a:close/>
              </a:path>
            </a:pathLst>
          </a:custGeom>
          <a:ln w="9144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349DFF5-8508-1A82-2365-6FC5BC7982E7}"/>
              </a:ext>
            </a:extLst>
          </p:cNvPr>
          <p:cNvSpPr txBox="1"/>
          <p:nvPr/>
        </p:nvSpPr>
        <p:spPr>
          <a:xfrm>
            <a:off x="711327" y="1981200"/>
            <a:ext cx="10768965" cy="27109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50000"/>
              </a:lnSpc>
              <a:spcBef>
                <a:spcPts val="1695"/>
              </a:spcBef>
              <a:buFont typeface="Wingdings"/>
              <a:buChar char=""/>
              <a:tabLst>
                <a:tab pos="354965" algn="l"/>
                <a:tab pos="356235" algn="l"/>
              </a:tabLst>
            </a:pPr>
            <a:r>
              <a:rPr sz="1800" spc="-5" dirty="0">
                <a:latin typeface="Arial MT"/>
                <a:cs typeface="Arial MT"/>
              </a:rPr>
              <a:t>Un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système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pare-feu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contient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un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ensemble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règles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prédéfinies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permettant:</a:t>
            </a:r>
            <a:endParaRPr sz="1800" dirty="0">
              <a:latin typeface="Arial MT"/>
              <a:cs typeface="Arial MT"/>
            </a:endParaRPr>
          </a:p>
          <a:p>
            <a:pPr marL="812800" lvl="1" indent="-343535">
              <a:lnSpc>
                <a:spcPct val="150000"/>
              </a:lnSpc>
              <a:spcBef>
                <a:spcPts val="434"/>
              </a:spcBef>
              <a:buChar char="•"/>
              <a:tabLst>
                <a:tab pos="812165" algn="l"/>
                <a:tab pos="813435" algn="l"/>
              </a:tabLst>
            </a:pPr>
            <a:r>
              <a:rPr sz="1800" spc="-5" dirty="0">
                <a:latin typeface="Arial MT"/>
                <a:cs typeface="Arial MT"/>
              </a:rPr>
              <a:t>D'autoriser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la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connexion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b="1" dirty="0">
                <a:latin typeface="Arial"/>
                <a:cs typeface="Arial"/>
              </a:rPr>
              <a:t>allow</a:t>
            </a:r>
            <a:r>
              <a:rPr sz="1800" dirty="0">
                <a:latin typeface="Arial MT"/>
                <a:cs typeface="Arial MT"/>
              </a:rPr>
              <a:t>)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;</a:t>
            </a:r>
          </a:p>
          <a:p>
            <a:pPr marL="812800" lvl="1" indent="-343535">
              <a:lnSpc>
                <a:spcPct val="150000"/>
              </a:lnSpc>
              <a:spcBef>
                <a:spcPts val="430"/>
              </a:spcBef>
              <a:buChar char="•"/>
              <a:tabLst>
                <a:tab pos="812165" algn="l"/>
                <a:tab pos="813435" algn="l"/>
              </a:tabLst>
            </a:pPr>
            <a:r>
              <a:rPr sz="1800" spc="-5" dirty="0">
                <a:latin typeface="Arial MT"/>
                <a:cs typeface="Arial MT"/>
              </a:rPr>
              <a:t>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bloquer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la</a:t>
            </a:r>
            <a:r>
              <a:rPr sz="1800" spc="-10" dirty="0">
                <a:latin typeface="Arial MT"/>
                <a:cs typeface="Arial MT"/>
              </a:rPr>
              <a:t> connexion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(</a:t>
            </a:r>
            <a:r>
              <a:rPr sz="1800" b="1" spc="-5" dirty="0">
                <a:latin typeface="Arial"/>
                <a:cs typeface="Arial"/>
              </a:rPr>
              <a:t>deny</a:t>
            </a:r>
            <a:r>
              <a:rPr sz="1800" spc="-5" dirty="0">
                <a:latin typeface="Arial MT"/>
                <a:cs typeface="Arial MT"/>
              </a:rPr>
              <a:t>)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;</a:t>
            </a:r>
          </a:p>
          <a:p>
            <a:pPr marL="812800" lvl="1" indent="-343535">
              <a:lnSpc>
                <a:spcPct val="150000"/>
              </a:lnSpc>
              <a:spcBef>
                <a:spcPts val="430"/>
              </a:spcBef>
              <a:buChar char="•"/>
              <a:tabLst>
                <a:tab pos="812165" algn="l"/>
                <a:tab pos="813435" algn="l"/>
              </a:tabLst>
            </a:pPr>
            <a:r>
              <a:rPr sz="1800" spc="-5" dirty="0">
                <a:latin typeface="Arial MT"/>
                <a:cs typeface="Arial MT"/>
              </a:rPr>
              <a:t>De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rejeter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la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demande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connexion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sans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avertir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l'émetteur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(</a:t>
            </a:r>
            <a:r>
              <a:rPr sz="1800" b="1" spc="-5" dirty="0">
                <a:latin typeface="Arial"/>
                <a:cs typeface="Arial"/>
              </a:rPr>
              <a:t>drop</a:t>
            </a:r>
            <a:r>
              <a:rPr sz="1800" spc="-5" dirty="0">
                <a:latin typeface="Arial MT"/>
                <a:cs typeface="Arial MT"/>
              </a:rPr>
              <a:t>).</a:t>
            </a:r>
            <a:endParaRPr sz="1800" dirty="0">
              <a:latin typeface="Arial MT"/>
              <a:cs typeface="Arial MT"/>
            </a:endParaRPr>
          </a:p>
          <a:p>
            <a:pPr marL="355600" indent="-343535">
              <a:lnSpc>
                <a:spcPct val="150000"/>
              </a:lnSpc>
              <a:spcBef>
                <a:spcPts val="434"/>
              </a:spcBef>
              <a:buFont typeface="Wingdings"/>
              <a:buChar char=""/>
              <a:tabLst>
                <a:tab pos="354965" algn="l"/>
                <a:tab pos="356235" algn="l"/>
              </a:tabLst>
            </a:pPr>
            <a:r>
              <a:rPr sz="1800" spc="-5" dirty="0">
                <a:latin typeface="Arial MT"/>
                <a:cs typeface="Arial MT"/>
              </a:rPr>
              <a:t>L'ensemble</a:t>
            </a:r>
            <a:r>
              <a:rPr sz="1800" spc="26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</a:t>
            </a:r>
            <a:r>
              <a:rPr sz="1800" spc="2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ces</a:t>
            </a:r>
            <a:r>
              <a:rPr sz="1800" spc="25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règles</a:t>
            </a:r>
            <a:r>
              <a:rPr sz="1800" spc="2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permet</a:t>
            </a:r>
            <a:r>
              <a:rPr sz="1800" spc="26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</a:t>
            </a:r>
            <a:r>
              <a:rPr sz="1800" spc="25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mettre</a:t>
            </a:r>
            <a:r>
              <a:rPr sz="1800" spc="25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en</a:t>
            </a:r>
            <a:r>
              <a:rPr sz="1800" spc="25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œuvre</a:t>
            </a:r>
            <a:r>
              <a:rPr sz="1800" spc="25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une</a:t>
            </a:r>
            <a:r>
              <a:rPr sz="1800" spc="25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méthode</a:t>
            </a:r>
            <a:r>
              <a:rPr sz="1800" spc="26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</a:t>
            </a:r>
            <a:r>
              <a:rPr sz="1800" spc="26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filtrage</a:t>
            </a:r>
            <a:r>
              <a:rPr sz="1800" spc="25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dépendant</a:t>
            </a:r>
            <a:r>
              <a:rPr sz="1800" spc="26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</a:t>
            </a:r>
            <a:r>
              <a:rPr sz="1800" spc="254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la</a:t>
            </a:r>
            <a:endParaRPr sz="1800" dirty="0">
              <a:latin typeface="Arial MT"/>
              <a:cs typeface="Arial MT"/>
            </a:endParaRPr>
          </a:p>
          <a:p>
            <a:pPr marL="355600">
              <a:lnSpc>
                <a:spcPct val="150000"/>
              </a:lnSpc>
              <a:spcBef>
                <a:spcPts val="434"/>
              </a:spcBef>
            </a:pPr>
            <a:r>
              <a:rPr sz="1800" b="1" dirty="0">
                <a:latin typeface="Arial"/>
                <a:cs typeface="Arial"/>
              </a:rPr>
              <a:t>politique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sécurité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 MT"/>
                <a:cs typeface="Arial MT"/>
              </a:rPr>
              <a:t>adoptée par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l'entité.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20DF9F9-6EB4-2403-7A20-2287C0FBB9E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63A04176-C87D-A39A-2FE8-F150BB644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693918"/>
            <a:ext cx="5871211" cy="861774"/>
          </a:xfrm>
        </p:spPr>
        <p:txBody>
          <a:bodyPr/>
          <a:lstStyle/>
          <a:p>
            <a:r>
              <a:rPr lang="fr-FR" sz="2800" b="1" spc="-5" dirty="0">
                <a:solidFill>
                  <a:srgbClr val="C00000"/>
                </a:solidFill>
                <a:latin typeface="Arial"/>
                <a:cs typeface="Arial"/>
              </a:rPr>
              <a:t>Règles</a:t>
            </a:r>
            <a:r>
              <a:rPr lang="fr-FR" sz="28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fr-FR" sz="2800" b="1" dirty="0">
                <a:solidFill>
                  <a:srgbClr val="C00000"/>
                </a:solidFill>
                <a:latin typeface="Arial"/>
                <a:cs typeface="Arial"/>
              </a:rPr>
              <a:t>de</a:t>
            </a:r>
            <a:r>
              <a:rPr lang="fr-FR" sz="28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fr-FR" sz="2800" b="1" spc="-5" dirty="0">
                <a:solidFill>
                  <a:srgbClr val="C00000"/>
                </a:solidFill>
                <a:latin typeface="Arial"/>
                <a:cs typeface="Arial"/>
              </a:rPr>
              <a:t>Sécurité</a:t>
            </a:r>
            <a:br>
              <a:rPr lang="fr-FR" sz="2800" dirty="0">
                <a:latin typeface="Arial"/>
                <a:cs typeface="Arial"/>
              </a:rPr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7049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AD1B8-ADFD-D11E-4F32-5243C439B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157DACE-B629-ADC6-5E81-D9954ED18A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4569" y="507618"/>
            <a:ext cx="10128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Times New Roman"/>
                <a:cs typeface="Times New Roman"/>
              </a:rPr>
              <a:t>Plan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EFD14AA-8A25-F65F-633D-3887B135EA17}"/>
              </a:ext>
            </a:extLst>
          </p:cNvPr>
          <p:cNvSpPr txBox="1"/>
          <p:nvPr/>
        </p:nvSpPr>
        <p:spPr>
          <a:xfrm>
            <a:off x="1761235" y="1915744"/>
            <a:ext cx="8622665" cy="62914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latin typeface="Calibri"/>
                <a:cs typeface="Calibri"/>
              </a:rPr>
              <a:t>Présentation générale et mode de fonctionnement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fr-FR" sz="2400" dirty="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latin typeface="Calibri"/>
                <a:cs typeface="Calibri"/>
              </a:rPr>
              <a:t>Politiques de sécurité et règles de filtrage</a:t>
            </a:r>
          </a:p>
          <a:p>
            <a:pPr marL="342900" indent="-34290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endParaRPr lang="fr-FR" sz="2400" dirty="0">
              <a:latin typeface="Calibri"/>
              <a:cs typeface="Calibri"/>
            </a:endParaRPr>
          </a:p>
          <a:p>
            <a:pPr marL="342900" indent="-342900">
              <a:spcBef>
                <a:spcPts val="3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latin typeface="Calibri"/>
                <a:cs typeface="Calibri"/>
              </a:rPr>
              <a:t>Classification des firewalls</a:t>
            </a:r>
          </a:p>
          <a:p>
            <a:pPr marL="342900" indent="-34290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endParaRPr lang="fr-FR" sz="2400" dirty="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latin typeface="Calibri"/>
                <a:cs typeface="Calibri"/>
              </a:rPr>
              <a:t>Topologies réseaux des firewalls  </a:t>
            </a:r>
          </a:p>
          <a:p>
            <a:pPr marL="342900" indent="-34290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endParaRPr lang="fr-FR" sz="2400" dirty="0">
              <a:latin typeface="Calibri"/>
              <a:cs typeface="Calibri"/>
            </a:endParaRPr>
          </a:p>
          <a:p>
            <a:pPr marL="342900" indent="-342900">
              <a:spcBef>
                <a:spcPts val="3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latin typeface="Calibri"/>
                <a:cs typeface="Calibri"/>
              </a:rPr>
              <a:t>Pratique: Mise en place d’un firewall logiciel</a:t>
            </a:r>
          </a:p>
          <a:p>
            <a:pPr marL="342900" indent="-34290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endParaRPr lang="fr-FR"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fr-FR" sz="2400" dirty="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0"/>
              </a:spcBef>
              <a:buFontTx/>
              <a:buChar char="-"/>
            </a:pPr>
            <a:endParaRPr lang="fr-FR"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fr-FR"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fr-FR"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fr-FR"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fr-FR"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869E61F-9C1F-A49D-CFD4-4B935F479DC0}"/>
              </a:ext>
            </a:extLst>
          </p:cNvPr>
          <p:cNvSpPr txBox="1"/>
          <p:nvPr/>
        </p:nvSpPr>
        <p:spPr>
          <a:xfrm>
            <a:off x="11129009" y="6400596"/>
            <a:ext cx="12255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878787"/>
                </a:solidFill>
                <a:latin typeface="Calibri"/>
                <a:cs typeface="Calibri"/>
              </a:rPr>
              <a:t>3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B49BE7-EFC8-9809-5FEA-11A4F6FAA3E0}"/>
              </a:ext>
            </a:extLst>
          </p:cNvPr>
          <p:cNvSpPr/>
          <p:nvPr/>
        </p:nvSpPr>
        <p:spPr>
          <a:xfrm>
            <a:off x="2010981" y="3276600"/>
            <a:ext cx="4466019" cy="533400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2109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7ABF56-9E85-7060-C588-EE45A64EE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762000"/>
            <a:ext cx="8309611" cy="553998"/>
          </a:xfrm>
        </p:spPr>
        <p:txBody>
          <a:bodyPr/>
          <a:lstStyle/>
          <a:p>
            <a:r>
              <a:rPr lang="fr-FR" sz="3600" dirty="0"/>
              <a:t>Classification selon le type de déploiement 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12BF821C-CCB1-5063-DF30-63FE5B974745}"/>
              </a:ext>
            </a:extLst>
          </p:cNvPr>
          <p:cNvSpPr/>
          <p:nvPr/>
        </p:nvSpPr>
        <p:spPr>
          <a:xfrm>
            <a:off x="1143000" y="2286000"/>
            <a:ext cx="3200400" cy="21336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Pare-feu Matériel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F26C9411-1A98-2694-A954-8D03220166B7}"/>
              </a:ext>
            </a:extLst>
          </p:cNvPr>
          <p:cNvSpPr/>
          <p:nvPr/>
        </p:nvSpPr>
        <p:spPr>
          <a:xfrm>
            <a:off x="4461164" y="2286000"/>
            <a:ext cx="3006436" cy="213360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Pare-feu logiciel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D08E2C2D-8902-A080-5AE0-E5D88BE66566}"/>
              </a:ext>
            </a:extLst>
          </p:cNvPr>
          <p:cNvSpPr/>
          <p:nvPr/>
        </p:nvSpPr>
        <p:spPr>
          <a:xfrm>
            <a:off x="7543800" y="2286000"/>
            <a:ext cx="3429000" cy="21336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fr-FR" sz="2800" b="1" dirty="0" err="1">
                <a:ln/>
                <a:solidFill>
                  <a:srgbClr val="002060"/>
                </a:solidFill>
              </a:rPr>
              <a:t>FWaaS</a:t>
            </a:r>
            <a:r>
              <a:rPr lang="fr-FR" sz="2800" b="1" dirty="0">
                <a:ln/>
                <a:solidFill>
                  <a:srgbClr val="002060"/>
                </a:solidFill>
              </a:rPr>
              <a:t> (cloud)</a:t>
            </a:r>
          </a:p>
        </p:txBody>
      </p:sp>
    </p:spTree>
    <p:extLst>
      <p:ext uri="{BB962C8B-B14F-4D97-AF65-F5344CB8AC3E}">
        <p14:creationId xmlns:p14="http://schemas.microsoft.com/office/powerpoint/2010/main" val="3239888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BB7E928-D290-3DC1-7CD3-FD39070F1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066800"/>
            <a:ext cx="10429876" cy="4215513"/>
          </a:xfrm>
        </p:spPr>
        <p:txBody>
          <a:bodyPr/>
          <a:lstStyle/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fr-FR" sz="1600" b="1" i="0" dirty="0">
                <a:highlight>
                  <a:srgbClr val="F7F7FD"/>
                </a:highlight>
                <a:latin typeface="+mj-lt"/>
              </a:rPr>
              <a:t>Web application Firewall basé sur le réseau</a:t>
            </a:r>
            <a:r>
              <a:rPr lang="fr-FR" sz="1600" b="1" dirty="0">
                <a:highlight>
                  <a:srgbClr val="F7F7FD"/>
                </a:highlight>
                <a:latin typeface="+mj-lt"/>
              </a:rPr>
              <a:t> (N</a:t>
            </a:r>
            <a:r>
              <a:rPr lang="fr-FR" sz="1600" b="1" i="0" dirty="0">
                <a:highlight>
                  <a:srgbClr val="F7F7FD"/>
                </a:highlight>
                <a:latin typeface="+mj-lt"/>
              </a:rPr>
              <a:t>etwork-</a:t>
            </a:r>
            <a:r>
              <a:rPr lang="fr-FR" sz="1600" b="1" i="0" dirty="0" err="1">
                <a:highlight>
                  <a:srgbClr val="F7F7FD"/>
                </a:highlight>
                <a:latin typeface="+mj-lt"/>
              </a:rPr>
              <a:t>based</a:t>
            </a:r>
            <a:r>
              <a:rPr lang="fr-FR" sz="1600" b="1" i="0" dirty="0">
                <a:highlight>
                  <a:srgbClr val="F7F7FD"/>
                </a:highlight>
                <a:latin typeface="+mj-lt"/>
              </a:rPr>
              <a:t> WAF</a:t>
            </a:r>
            <a:r>
              <a:rPr lang="fr-FR" sz="1600" b="1" dirty="0">
                <a:highlight>
                  <a:srgbClr val="F7F7FD"/>
                </a:highlight>
                <a:latin typeface="+mj-lt"/>
              </a:rPr>
              <a:t>)</a:t>
            </a:r>
            <a:endParaRPr lang="fr-FR" sz="1600" b="1" i="0" dirty="0">
              <a:highlight>
                <a:srgbClr val="F7F7FD"/>
              </a:highlight>
              <a:latin typeface="+mj-lt"/>
            </a:endParaRPr>
          </a:p>
          <a:p>
            <a:pPr algn="l">
              <a:lnSpc>
                <a:spcPts val="2200"/>
              </a:lnSpc>
            </a:pPr>
            <a:r>
              <a:rPr lang="fr-FR" sz="1600" b="0" i="0" dirty="0">
                <a:highlight>
                  <a:srgbClr val="F7F7FD"/>
                </a:highlight>
                <a:latin typeface="+mj-lt"/>
              </a:rPr>
              <a:t>Ces WAF sont déployés localement, </a:t>
            </a:r>
            <a:r>
              <a:rPr lang="fr-FR" sz="1600" b="1" i="0" dirty="0">
                <a:highlight>
                  <a:srgbClr val="F7F7FD"/>
                </a:highlight>
                <a:latin typeface="+mj-lt"/>
              </a:rPr>
              <a:t>sur du matériel dédié. </a:t>
            </a:r>
            <a:r>
              <a:rPr lang="fr-FR" sz="1600" b="0" i="0" dirty="0">
                <a:highlight>
                  <a:srgbClr val="F7F7FD"/>
                </a:highlight>
                <a:latin typeface="+mj-lt"/>
              </a:rPr>
              <a:t>Ils ont l’avantage de réduire la latence car ils sont proches des applications qu’ils protègent et disposent de leurs ressources dédiées.</a:t>
            </a:r>
          </a:p>
          <a:p>
            <a:pPr algn="l">
              <a:lnSpc>
                <a:spcPts val="2200"/>
              </a:lnSpc>
            </a:pPr>
            <a:r>
              <a:rPr lang="fr-FR" sz="1600" b="0" i="0" dirty="0">
                <a:highlight>
                  <a:srgbClr val="F7F7FD"/>
                </a:highlight>
                <a:latin typeface="+mj-lt"/>
              </a:rPr>
              <a:t>Cependant, l’achat et la maintenance peut être couteuse.</a:t>
            </a:r>
          </a:p>
          <a:p>
            <a:pPr algn="l">
              <a:lnSpc>
                <a:spcPts val="2200"/>
              </a:lnSpc>
            </a:pPr>
            <a:r>
              <a:rPr lang="fr-FR" sz="1600" b="0" i="0" dirty="0">
                <a:highlight>
                  <a:srgbClr val="F7F7FD"/>
                </a:highlight>
                <a:latin typeface="+mj-lt"/>
              </a:rPr>
              <a:t> </a:t>
            </a:r>
            <a:endParaRPr lang="fr-FR" sz="1600" b="1" dirty="0">
              <a:highlight>
                <a:srgbClr val="F7F7FD"/>
              </a:highlight>
              <a:latin typeface="+mj-lt"/>
            </a:endParaRPr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fr-FR" sz="1600" b="1" i="0" dirty="0">
                <a:highlight>
                  <a:srgbClr val="F7F7FD"/>
                </a:highlight>
                <a:latin typeface="+mj-lt"/>
              </a:rPr>
              <a:t>WAF basé sur l’hôte (</a:t>
            </a:r>
            <a:r>
              <a:rPr lang="fr-FR" sz="1600" b="1" dirty="0">
                <a:highlight>
                  <a:srgbClr val="F7F7FD"/>
                </a:highlight>
                <a:latin typeface="+mj-lt"/>
              </a:rPr>
              <a:t>H</a:t>
            </a:r>
            <a:r>
              <a:rPr lang="fr-FR" sz="1600" b="1" i="0" dirty="0">
                <a:highlight>
                  <a:srgbClr val="F7F7FD"/>
                </a:highlight>
                <a:latin typeface="+mj-lt"/>
              </a:rPr>
              <a:t>ost-</a:t>
            </a:r>
            <a:r>
              <a:rPr lang="fr-FR" sz="1600" b="1" i="0" dirty="0" err="1">
                <a:highlight>
                  <a:srgbClr val="F7F7FD"/>
                </a:highlight>
                <a:latin typeface="+mj-lt"/>
              </a:rPr>
              <a:t>based</a:t>
            </a:r>
            <a:r>
              <a:rPr lang="fr-FR" sz="1600" b="1" i="0" dirty="0">
                <a:highlight>
                  <a:srgbClr val="F7F7FD"/>
                </a:highlight>
                <a:latin typeface="+mj-lt"/>
              </a:rPr>
              <a:t> WAF)</a:t>
            </a:r>
            <a:endParaRPr lang="fr-FR" sz="1600" i="0" dirty="0">
              <a:highlight>
                <a:srgbClr val="F7F7FD"/>
              </a:highlight>
              <a:latin typeface="+mj-lt"/>
            </a:endParaRPr>
          </a:p>
          <a:p>
            <a:pPr rtl="0">
              <a:lnSpc>
                <a:spcPts val="2200"/>
              </a:lnSpc>
            </a:pPr>
            <a:r>
              <a:rPr lang="fr-FR" sz="1600" i="0" dirty="0">
                <a:highlight>
                  <a:srgbClr val="F7F7FD"/>
                </a:highlight>
                <a:latin typeface="+mj-lt"/>
              </a:rPr>
              <a:t> Solution logicielle </a:t>
            </a:r>
            <a:r>
              <a:rPr lang="fr-FR" sz="1600" b="0" i="0" dirty="0">
                <a:highlight>
                  <a:srgbClr val="F7F7FD"/>
                </a:highlight>
                <a:latin typeface="+mj-lt"/>
              </a:rPr>
              <a:t>intégrée directement sur le serveur où réside l’application web. Il est moins couteux mais consomme plus de ressources du serveur.</a:t>
            </a:r>
            <a:endParaRPr lang="fr-FR" sz="1600" i="0" dirty="0">
              <a:highlight>
                <a:srgbClr val="F7F7FD"/>
              </a:highlight>
              <a:latin typeface="+mj-lt"/>
            </a:endParaRPr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fr-FR" sz="1600" dirty="0">
              <a:highlight>
                <a:srgbClr val="F7F7FD"/>
              </a:highlight>
              <a:latin typeface="+mj-lt"/>
            </a:endParaRPr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fr-FR" sz="1600" b="1" i="0" dirty="0">
                <a:highlight>
                  <a:srgbClr val="F7F7FD"/>
                </a:highlight>
                <a:latin typeface="+mj-lt"/>
              </a:rPr>
              <a:t>WAF basé sur le cloud (cloud-</a:t>
            </a:r>
            <a:r>
              <a:rPr lang="fr-FR" sz="1600" b="1" i="0" dirty="0" err="1">
                <a:highlight>
                  <a:srgbClr val="F7F7FD"/>
                </a:highlight>
                <a:latin typeface="+mj-lt"/>
              </a:rPr>
              <a:t>based</a:t>
            </a:r>
            <a:r>
              <a:rPr lang="fr-FR" sz="1600" b="1" i="0" dirty="0">
                <a:highlight>
                  <a:srgbClr val="F7F7FD"/>
                </a:highlight>
                <a:latin typeface="+mj-lt"/>
              </a:rPr>
              <a:t> WAF)</a:t>
            </a:r>
          </a:p>
          <a:p>
            <a:pPr>
              <a:lnSpc>
                <a:spcPts val="2200"/>
              </a:lnSpc>
            </a:pPr>
            <a:r>
              <a:rPr lang="fr-FR" sz="1600" dirty="0">
                <a:highlight>
                  <a:srgbClr val="F7F7FD"/>
                </a:highlight>
                <a:latin typeface="+mj-lt"/>
              </a:rPr>
              <a:t>Fournit en tant que service par un tiers. Cette solution est facile à déployer et ne nécessite pas d’investissement matériel. Cependant, il peut générer des latences supplémentaires, et les données doivent transiter par les infrastructures du fournisseur cloud</a:t>
            </a:r>
          </a:p>
          <a:p>
            <a:pPr>
              <a:lnSpc>
                <a:spcPts val="2200"/>
              </a:lnSpc>
            </a:pPr>
            <a:endParaRPr lang="fr-FR" sz="1600" i="0" dirty="0">
              <a:highlight>
                <a:srgbClr val="F7F7FD"/>
              </a:highlight>
              <a:latin typeface="+mj-lt"/>
            </a:endParaRPr>
          </a:p>
          <a:p>
            <a:pPr>
              <a:lnSpc>
                <a:spcPts val="2200"/>
              </a:lnSpc>
            </a:pPr>
            <a:r>
              <a:rPr lang="fr-FR" sz="1600" i="0" dirty="0">
                <a:highlight>
                  <a:srgbClr val="F7F7FD"/>
                </a:highlight>
                <a:latin typeface="+mj-lt"/>
              </a:rPr>
              <a:t> </a:t>
            </a:r>
            <a:endParaRPr lang="fr-FR" sz="1600" dirty="0">
              <a:latin typeface="+mj-lt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61ED87A7-BE5E-7E1A-2750-C21154A221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7800" y="451526"/>
            <a:ext cx="846137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25"/>
              </a:spcBef>
            </a:pPr>
            <a:r>
              <a:rPr lang="fr-FR" b="1" spc="-5" dirty="0"/>
              <a:t>Exemples de déploiements</a:t>
            </a:r>
            <a:endParaRPr dirty="0">
              <a:latin typeface="Times New Roman"/>
              <a:cs typeface="Times New Roman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2C2E9E1-7E85-171A-CDFB-5795D8981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454" y="4419601"/>
            <a:ext cx="5921975" cy="252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774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A1062-0498-AEA2-B1A8-6C01B106C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D82E0C1-8C60-0E2D-D767-FE6B5DF769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505" y="796696"/>
            <a:ext cx="9590532" cy="652102"/>
          </a:xfrm>
          <a:prstGeom prst="rect">
            <a:avLst/>
          </a:prstGeom>
          <a:ln w="9144">
            <a:solidFill>
              <a:srgbClr val="5B9BD4"/>
            </a:solidFill>
          </a:ln>
        </p:spPr>
        <p:txBody>
          <a:bodyPr vert="horz" wrap="square" lIns="0" tIns="97155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765"/>
              </a:spcBef>
            </a:pPr>
            <a:r>
              <a:rPr lang="fr-FR" sz="3600" b="1" spc="-5" dirty="0"/>
              <a:t>Les meilleurs firewalls matériels et logiciels</a:t>
            </a:r>
            <a:endParaRPr sz="3600" dirty="0">
              <a:latin typeface="Times New Roman"/>
              <a:cs typeface="Times New Roman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6FA54268-31CD-908A-D652-DC75F791C1DF}"/>
              </a:ext>
            </a:extLst>
          </p:cNvPr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6823" y="1627632"/>
            <a:ext cx="5023104" cy="5090160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AF1ADEE7-300F-EAAA-94EA-8241AE191B19}"/>
              </a:ext>
            </a:extLst>
          </p:cNvPr>
          <p:cNvPicPr/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95771" y="1552981"/>
            <a:ext cx="6068568" cy="4934458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9512216E-F916-44C6-C637-C9680DB4E2E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59006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7934" y="737143"/>
            <a:ext cx="915484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4000" dirty="0"/>
              <a:t>Classification selon le type de filtrage 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43989" y="235077"/>
            <a:ext cx="194881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C00000"/>
                </a:solidFill>
                <a:latin typeface="Times New Roman"/>
                <a:cs typeface="Times New Roman"/>
              </a:rPr>
              <a:t>Les</a:t>
            </a:r>
            <a:r>
              <a:rPr sz="28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C00000"/>
                </a:solidFill>
                <a:latin typeface="Times New Roman"/>
                <a:cs typeface="Times New Roman"/>
              </a:rPr>
              <a:t>Firewalls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81200" y="1772886"/>
            <a:ext cx="2466340" cy="1656714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00330" rIns="0" bIns="0" rtlCol="0">
            <a:spAutoFit/>
          </a:bodyPr>
          <a:lstStyle/>
          <a:p>
            <a:pPr marL="708660" marR="381635" indent="-318770">
              <a:lnSpc>
                <a:spcPct val="150000"/>
              </a:lnSpc>
              <a:spcBef>
                <a:spcPts val="790"/>
              </a:spcBef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Filtrage</a:t>
            </a:r>
            <a:r>
              <a:rPr sz="28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par </a:t>
            </a:r>
            <a:r>
              <a:rPr sz="2800" b="1" spc="-6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paquet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93920" y="1772886"/>
            <a:ext cx="2467610" cy="1656714"/>
          </a:xfrm>
          <a:prstGeom prst="rect">
            <a:avLst/>
          </a:prstGeom>
          <a:solidFill>
            <a:srgbClr val="800000"/>
          </a:solidFill>
        </p:spPr>
        <p:txBody>
          <a:bodyPr vert="horz" wrap="square" lIns="0" tIns="100330" rIns="0" bIns="0" rtlCol="0">
            <a:spAutoFit/>
          </a:bodyPr>
          <a:lstStyle/>
          <a:p>
            <a:pPr marL="775970" marR="415290" indent="-355600">
              <a:lnSpc>
                <a:spcPct val="150000"/>
              </a:lnSpc>
              <a:spcBef>
                <a:spcPts val="790"/>
              </a:spcBef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Filtrage</a:t>
            </a:r>
            <a:r>
              <a:rPr sz="28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via </a:t>
            </a:r>
            <a:r>
              <a:rPr sz="2800" b="1" spc="-6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circuit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06640" y="1772886"/>
            <a:ext cx="2467610" cy="1656714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3900">
              <a:latin typeface="Times New Roman"/>
              <a:cs typeface="Times New Roman"/>
            </a:endParaRPr>
          </a:p>
          <a:p>
            <a:pPr marL="814705">
              <a:lnSpc>
                <a:spcPct val="100000"/>
              </a:lnSpc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Proxy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81200" y="3705318"/>
            <a:ext cx="2466340" cy="1656714"/>
          </a:xfrm>
          <a:prstGeom prst="rect">
            <a:avLst/>
          </a:prstGeom>
          <a:solidFill>
            <a:srgbClr val="FF3300"/>
          </a:solidFill>
        </p:spPr>
        <p:txBody>
          <a:bodyPr vert="horz" wrap="square" lIns="0" tIns="100330" rIns="0" bIns="0" rtlCol="0">
            <a:spAutoFit/>
          </a:bodyPr>
          <a:lstStyle/>
          <a:p>
            <a:pPr marL="402590" marR="396240" indent="275590">
              <a:lnSpc>
                <a:spcPct val="150000"/>
              </a:lnSpc>
              <a:spcBef>
                <a:spcPts val="790"/>
              </a:spcBef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Filtrage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dyn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mique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93920" y="3705318"/>
            <a:ext cx="2467610" cy="1656714"/>
          </a:xfrm>
          <a:prstGeom prst="rect">
            <a:avLst/>
          </a:prstGeom>
          <a:solidFill>
            <a:srgbClr val="C55A11"/>
          </a:solidFill>
        </p:spPr>
        <p:txBody>
          <a:bodyPr vert="horz" wrap="square" lIns="0" tIns="100330" rIns="0" bIns="0" rtlCol="0">
            <a:spAutoFit/>
          </a:bodyPr>
          <a:lstStyle/>
          <a:p>
            <a:pPr marL="544830" marR="538480" indent="103505">
              <a:lnSpc>
                <a:spcPct val="150000"/>
              </a:lnSpc>
              <a:spcBef>
                <a:spcPts val="790"/>
              </a:spcBef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Firewall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appl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catif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06640" y="3705318"/>
            <a:ext cx="2467610" cy="1656714"/>
          </a:xfrm>
          <a:prstGeom prst="rect">
            <a:avLst/>
          </a:prstGeom>
          <a:solidFill>
            <a:srgbClr val="CC9900"/>
          </a:solidFill>
          <a:ln w="12192">
            <a:solidFill>
              <a:srgbClr val="FFFFFF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 marL="249554" marR="243204" indent="429259">
              <a:lnSpc>
                <a:spcPct val="150000"/>
              </a:lnSpc>
              <a:spcBef>
                <a:spcPts val="790"/>
              </a:spcBef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Filtrage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multicou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ches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14269" y="5637750"/>
            <a:ext cx="7882255" cy="646430"/>
          </a:xfrm>
          <a:prstGeom prst="rect">
            <a:avLst/>
          </a:prstGeom>
          <a:solidFill>
            <a:srgbClr val="FFFFFF"/>
          </a:solidFill>
          <a:ln w="25907">
            <a:solidFill>
              <a:srgbClr val="5B9BD4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0170" marR="27813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latin typeface="Arial MT"/>
                <a:cs typeface="Arial MT"/>
              </a:rPr>
              <a:t>Les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différentes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technologies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dépendent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couches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(3,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4, 5, </a:t>
            </a:r>
            <a:r>
              <a:rPr sz="1800" spc="-5" dirty="0">
                <a:latin typeface="Arial MT"/>
                <a:cs typeface="Arial MT"/>
              </a:rPr>
              <a:t>6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ou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bien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7</a:t>
            </a:r>
            <a:r>
              <a:rPr sz="1800" dirty="0">
                <a:latin typeface="Arial MT"/>
                <a:cs typeface="Arial MT"/>
              </a:rPr>
              <a:t> )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du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modèle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OSI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007597" y="6448297"/>
            <a:ext cx="269240" cy="216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sz="1500" dirty="0">
                <a:solidFill>
                  <a:srgbClr val="878787"/>
                </a:solidFill>
                <a:latin typeface="Calibri"/>
                <a:cs typeface="Calibri"/>
              </a:rPr>
              <a:t>16</a:t>
            </a:fld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2E08B-0207-D947-6275-44A9C3EA1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542F168-CAE8-708E-06F4-F34361320D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400" y="677672"/>
            <a:ext cx="8614411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25"/>
              </a:spcBef>
            </a:pPr>
            <a:r>
              <a:rPr lang="fr-FR" sz="4000" b="1" spc="-5" dirty="0">
                <a:latin typeface="Times New Roman"/>
                <a:cs typeface="Times New Roman"/>
              </a:rPr>
              <a:t>Filtrage de paquet (Sans état)</a:t>
            </a:r>
            <a:endParaRPr sz="4000" dirty="0">
              <a:latin typeface="Times New Roman"/>
              <a:cs typeface="Times New Roman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FE892967-DE36-A29A-933A-396622A73FC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43100" y="1580388"/>
            <a:ext cx="8305800" cy="458724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63257A73-EC35-C4B9-7CA2-8887E79C4EA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5769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8F4C-0690-937A-3A30-3A7FF5BDE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16A328A-97B6-CB9B-84C0-3E5E4F7628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400" y="685800"/>
            <a:ext cx="545147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25"/>
              </a:spcBef>
            </a:pPr>
            <a:r>
              <a:rPr sz="4000" b="1" spc="-5" dirty="0">
                <a:latin typeface="Times New Roman"/>
                <a:cs typeface="Times New Roman"/>
              </a:rPr>
              <a:t>Packet</a:t>
            </a:r>
            <a:r>
              <a:rPr sz="4000" b="1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Filtering Firewall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3E66617-B51A-A78D-F528-29C084A227E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345345F-24A7-B9AE-C484-46F0F6E1D0F5}"/>
              </a:ext>
            </a:extLst>
          </p:cNvPr>
          <p:cNvSpPr txBox="1"/>
          <p:nvPr/>
        </p:nvSpPr>
        <p:spPr>
          <a:xfrm>
            <a:off x="207975" y="1520799"/>
            <a:ext cx="11680825" cy="482092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Les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pare-feu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" dirty="0">
                <a:latin typeface="Calibri"/>
                <a:cs typeface="Calibri"/>
              </a:rPr>
              <a:t> filtrage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paquets</a:t>
            </a:r>
            <a:r>
              <a:rPr sz="2000" dirty="0">
                <a:latin typeface="Calibri"/>
                <a:cs typeface="Calibri"/>
              </a:rPr>
              <a:t> fonctionnent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 </a:t>
            </a:r>
            <a:r>
              <a:rPr sz="2000" spc="-5" dirty="0">
                <a:latin typeface="Calibri"/>
                <a:cs typeface="Calibri"/>
              </a:rPr>
              <a:t>niveau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réseau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modèle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OSI</a:t>
            </a:r>
            <a:r>
              <a:rPr sz="2000" spc="-5" dirty="0">
                <a:latin typeface="Calibri"/>
                <a:cs typeface="Calibri"/>
              </a:rPr>
              <a:t> (ou la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couche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IP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5" dirty="0">
                <a:latin typeface="Calibri"/>
                <a:cs typeface="Calibri"/>
              </a:rPr>
              <a:t>TCP/IP)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Ils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font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généralement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partie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d'un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routeur</a:t>
            </a: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Dans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pare-feu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filtrage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paquets,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chaque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paquet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est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comparé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un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ensemble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critères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avant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d'être</a:t>
            </a:r>
            <a:endParaRPr sz="2000" dirty="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transmis</a:t>
            </a: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Selon le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paquet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critères,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pare-feu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peut</a:t>
            </a:r>
            <a:r>
              <a:rPr sz="2000" dirty="0">
                <a:latin typeface="Calibri"/>
                <a:cs typeface="Calibri"/>
              </a:rPr>
              <a:t> :</a:t>
            </a:r>
          </a:p>
          <a:p>
            <a:pPr marL="812800" indent="-342900">
              <a:lnSpc>
                <a:spcPct val="100000"/>
              </a:lnSpc>
              <a:spcBef>
                <a:spcPts val="590"/>
              </a:spcBef>
              <a:buFont typeface="Wingdings" panose="05000000000000000000" pitchFamily="2" charset="2"/>
              <a:buChar char="q"/>
            </a:pPr>
            <a:r>
              <a:rPr sz="2000" dirty="0" err="1">
                <a:latin typeface="Calibri"/>
                <a:cs typeface="Calibri"/>
              </a:rPr>
              <a:t>autoriser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la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connexion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sz="2000" b="1" dirty="0">
                <a:latin typeface="Calibri"/>
                <a:cs typeface="Calibri"/>
              </a:rPr>
              <a:t>Allow</a:t>
            </a:r>
            <a:r>
              <a:rPr sz="2000" dirty="0">
                <a:latin typeface="Calibri"/>
                <a:cs typeface="Calibri"/>
              </a:rPr>
              <a:t>)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;</a:t>
            </a:r>
          </a:p>
          <a:p>
            <a:pPr marL="812800" indent="-342900">
              <a:lnSpc>
                <a:spcPct val="100000"/>
              </a:lnSpc>
              <a:spcBef>
                <a:spcPts val="780"/>
              </a:spcBef>
              <a:buFont typeface="Wingdings" panose="05000000000000000000" pitchFamily="2" charset="2"/>
              <a:buChar char="q"/>
            </a:pPr>
            <a:r>
              <a:rPr sz="2000" spc="-5" dirty="0" err="1">
                <a:latin typeface="Calibri"/>
                <a:cs typeface="Calibri"/>
              </a:rPr>
              <a:t>bloquer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la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connexion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</a:t>
            </a:r>
            <a:r>
              <a:rPr sz="2000" b="1" spc="-5" dirty="0">
                <a:latin typeface="Calibri"/>
                <a:cs typeface="Calibri"/>
              </a:rPr>
              <a:t>Deny</a:t>
            </a:r>
            <a:r>
              <a:rPr sz="2000" spc="-5" dirty="0">
                <a:latin typeface="Calibri"/>
                <a:cs typeface="Calibri"/>
              </a:rPr>
              <a:t>) </a:t>
            </a:r>
            <a:r>
              <a:rPr sz="2000" dirty="0">
                <a:latin typeface="Calibri"/>
                <a:cs typeface="Calibri"/>
              </a:rPr>
              <a:t>;</a:t>
            </a:r>
          </a:p>
          <a:p>
            <a:pPr marL="812800" indent="-342900">
              <a:lnSpc>
                <a:spcPct val="100000"/>
              </a:lnSpc>
              <a:spcBef>
                <a:spcPts val="780"/>
              </a:spcBef>
              <a:buFont typeface="Wingdings" panose="05000000000000000000" pitchFamily="2" charset="2"/>
              <a:buChar char="q"/>
            </a:pPr>
            <a:r>
              <a:rPr sz="2000" spc="-5" dirty="0" err="1">
                <a:latin typeface="Calibri"/>
                <a:cs typeface="Calibri"/>
              </a:rPr>
              <a:t>rejeter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demande de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connexion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sans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avertir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l'émetteur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sz="2000" b="1" dirty="0">
                <a:latin typeface="Calibri"/>
                <a:cs typeface="Calibri"/>
              </a:rPr>
              <a:t>Drop</a:t>
            </a:r>
            <a:r>
              <a:rPr sz="2000" dirty="0">
                <a:latin typeface="Calibri"/>
                <a:cs typeface="Calibri"/>
              </a:rPr>
              <a:t>).</a:t>
            </a:r>
          </a:p>
          <a:p>
            <a:pPr marL="354965" marR="5080" indent="-342900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Les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règles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incluent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les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adresses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IP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source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et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destination,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numéro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port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source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et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destination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et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protocole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utilisé</a:t>
            </a:r>
            <a:endParaRPr sz="2000" dirty="0">
              <a:latin typeface="Calibri"/>
              <a:cs typeface="Calibri"/>
            </a:endParaRPr>
          </a:p>
          <a:p>
            <a:pPr marL="354965" marR="8255" indent="-3429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L'avantage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des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pare-feu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filtrage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paquets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est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leur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faible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coût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et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leur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faible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impact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sur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performances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réseau</a:t>
            </a: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La plupart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routeurs </a:t>
            </a:r>
            <a:r>
              <a:rPr sz="2000" spc="-5" dirty="0">
                <a:latin typeface="Calibri"/>
                <a:cs typeface="Calibri"/>
              </a:rPr>
              <a:t>prennent en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charge</a:t>
            </a:r>
            <a:r>
              <a:rPr sz="2000" spc="-5" dirty="0">
                <a:latin typeface="Calibri"/>
                <a:cs typeface="Calibri"/>
              </a:rPr>
              <a:t> le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filtrage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" dirty="0">
                <a:latin typeface="Calibri"/>
                <a:cs typeface="Calibri"/>
              </a:rPr>
              <a:t> paquets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50548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3E04A-023A-0334-86DB-A0305B049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68BD439-7116-7162-6DD3-4E0921D6BA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7800" y="685800"/>
            <a:ext cx="494347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25"/>
              </a:spcBef>
            </a:pPr>
            <a:r>
              <a:rPr sz="4000" b="1" spc="-5" dirty="0">
                <a:latin typeface="Times New Roman"/>
                <a:cs typeface="Times New Roman"/>
              </a:rPr>
              <a:t>Circuit</a:t>
            </a:r>
            <a:r>
              <a:rPr sz="4000" b="1" spc="-25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Level</a:t>
            </a:r>
            <a:r>
              <a:rPr sz="4000" b="1" spc="-20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Gateway</a:t>
            </a:r>
            <a:endParaRPr sz="4000" dirty="0">
              <a:latin typeface="Times New Roman"/>
              <a:cs typeface="Times New Roman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197EB5F-43C4-D6C8-86D8-49AF9D76FF9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3872" y="1534667"/>
            <a:ext cx="8278368" cy="5001768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4F6D515D-F186-B2C3-7618-21EC69B1B05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28806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62DB1-FFE7-72A6-648C-478864B0B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6684FF2-79CD-885D-A8A9-76BE78C4F4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400" y="685800"/>
            <a:ext cx="494347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25"/>
              </a:spcBef>
            </a:pPr>
            <a:r>
              <a:rPr sz="4000" b="1" spc="-5" dirty="0">
                <a:latin typeface="Times New Roman"/>
                <a:cs typeface="Times New Roman"/>
              </a:rPr>
              <a:t>Circuit</a:t>
            </a:r>
            <a:r>
              <a:rPr sz="4000" b="1" spc="-25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Level</a:t>
            </a:r>
            <a:r>
              <a:rPr sz="4000" b="1" spc="-20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Gateway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2760487-99BA-F658-C7CA-432BA0799E22}"/>
              </a:ext>
            </a:extLst>
          </p:cNvPr>
          <p:cNvSpPr txBox="1"/>
          <p:nvPr/>
        </p:nvSpPr>
        <p:spPr>
          <a:xfrm>
            <a:off x="507288" y="6660344"/>
            <a:ext cx="114935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sz="2000" dirty="0"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0A20927-874F-4412-2A35-D4B5ADA995DE}"/>
              </a:ext>
            </a:extLst>
          </p:cNvPr>
          <p:cNvSpPr txBox="1"/>
          <p:nvPr/>
        </p:nvSpPr>
        <p:spPr>
          <a:xfrm>
            <a:off x="850493" y="6699910"/>
            <a:ext cx="7545705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05"/>
              </a:lnSpc>
            </a:pPr>
            <a:r>
              <a:rPr sz="2000" spc="-5" dirty="0">
                <a:latin typeface="Calibri"/>
                <a:cs typeface="Calibri"/>
              </a:rPr>
              <a:t>Les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passerelles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niveau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circuit ne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filtrent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paquets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individuels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85B018A-811B-554C-9648-E2070418AFB9}"/>
              </a:ext>
            </a:extLst>
          </p:cNvPr>
          <p:cNvSpPr txBox="1"/>
          <p:nvPr/>
        </p:nvSpPr>
        <p:spPr>
          <a:xfrm>
            <a:off x="507288" y="1971878"/>
            <a:ext cx="11033760" cy="46831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latin typeface="Calibri"/>
                <a:cs typeface="Calibri"/>
              </a:rPr>
              <a:t>Les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passerelles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niveau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circuit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fonctionnent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au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niveau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la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couche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session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du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modèle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OSI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de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440"/>
              </a:spcBef>
            </a:pPr>
            <a:r>
              <a:rPr sz="2000" spc="-5" dirty="0">
                <a:latin typeface="Calibri"/>
                <a:cs typeface="Calibri"/>
              </a:rPr>
              <a:t>la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couche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TCP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TCP/IP</a:t>
            </a:r>
            <a:endParaRPr sz="2000">
              <a:latin typeface="Calibri"/>
              <a:cs typeface="Calibri"/>
            </a:endParaRPr>
          </a:p>
          <a:p>
            <a:pPr marL="355600" marR="6985" indent="-343535">
              <a:lnSpc>
                <a:spcPct val="160100"/>
              </a:lnSpc>
              <a:spcBef>
                <a:spcPts val="120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latin typeface="Calibri"/>
                <a:cs typeface="Calibri"/>
              </a:rPr>
              <a:t>Elles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surveillent</a:t>
            </a:r>
            <a:r>
              <a:rPr sz="2000" spc="3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</a:t>
            </a:r>
            <a:r>
              <a:rPr sz="2000" spc="3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TCP-handshake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entre</a:t>
            </a:r>
            <a:r>
              <a:rPr sz="2000" spc="3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</a:t>
            </a:r>
            <a:r>
              <a:rPr sz="2000" spc="3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paquets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pour</a:t>
            </a:r>
            <a:r>
              <a:rPr sz="2000" spc="3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déterminer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si</a:t>
            </a:r>
            <a:r>
              <a:rPr sz="2000" spc="31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une</a:t>
            </a:r>
            <a:r>
              <a:rPr sz="2000" spc="3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session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demandée</a:t>
            </a:r>
            <a:r>
              <a:rPr sz="2000" spc="3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est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légitime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ou non</a:t>
            </a:r>
            <a:endParaRPr sz="2000">
              <a:latin typeface="Calibri"/>
              <a:cs typeface="Calibri"/>
            </a:endParaRPr>
          </a:p>
          <a:p>
            <a:pPr marL="355600" marR="6985" indent="-343535">
              <a:lnSpc>
                <a:spcPct val="160000"/>
              </a:lnSpc>
              <a:spcBef>
                <a:spcPts val="120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latin typeface="Calibri"/>
                <a:cs typeface="Calibri"/>
              </a:rPr>
              <a:t>Les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informations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transmises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un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ordinateur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distant</a:t>
            </a:r>
            <a:r>
              <a:rPr sz="2000" spc="1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via</a:t>
            </a:r>
            <a:r>
              <a:rPr sz="2000" spc="1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une</a:t>
            </a:r>
            <a:r>
              <a:rPr sz="2000" spc="17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passerelle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niveau</a:t>
            </a:r>
            <a:r>
              <a:rPr sz="2000" spc="1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circuit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semblent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provenir</a:t>
            </a:r>
            <a:r>
              <a:rPr sz="2000" dirty="0">
                <a:latin typeface="Calibri"/>
                <a:cs typeface="Calibri"/>
              </a:rPr>
              <a:t> 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la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passerelle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 MT"/>
              <a:buChar char="•"/>
            </a:pPr>
            <a:endParaRPr sz="215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latin typeface="Calibri"/>
                <a:cs typeface="Calibri"/>
              </a:rPr>
              <a:t>Les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passerelles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 </a:t>
            </a:r>
            <a:r>
              <a:rPr sz="2000" spc="-5" dirty="0">
                <a:latin typeface="Calibri"/>
                <a:cs typeface="Calibri"/>
              </a:rPr>
              <a:t>niveau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circuit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sont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relativement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peu</a:t>
            </a:r>
            <a:r>
              <a:rPr sz="2000" dirty="0">
                <a:latin typeface="Calibri"/>
                <a:cs typeface="Calibri"/>
              </a:rPr>
              <a:t> coûteuses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 MT"/>
              <a:buChar char="•"/>
            </a:pPr>
            <a:endParaRPr sz="215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latin typeface="Calibri"/>
                <a:cs typeface="Calibri"/>
              </a:rPr>
              <a:t>Elles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ont</a:t>
            </a:r>
            <a:r>
              <a:rPr sz="2000" dirty="0">
                <a:latin typeface="Calibri"/>
                <a:cs typeface="Calibri"/>
              </a:rPr>
              <a:t> l'avantage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cacher</a:t>
            </a:r>
            <a:r>
              <a:rPr sz="2000" spc="-5" dirty="0">
                <a:latin typeface="Calibri"/>
                <a:cs typeface="Calibri"/>
              </a:rPr>
              <a:t> des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informations</a:t>
            </a:r>
            <a:r>
              <a:rPr sz="2000" spc="-5" dirty="0">
                <a:latin typeface="Calibri"/>
                <a:cs typeface="Calibri"/>
              </a:rPr>
              <a:t> sur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réseau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privé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qu'ils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protègent</a:t>
            </a:r>
            <a:endParaRPr sz="2000">
              <a:latin typeface="Calibri"/>
              <a:cs typeface="Calibri"/>
            </a:endParaRPr>
          </a:p>
          <a:p>
            <a:pPr marR="295275" algn="r">
              <a:lnSpc>
                <a:spcPct val="100000"/>
              </a:lnSpc>
              <a:spcBef>
                <a:spcPts val="785"/>
              </a:spcBef>
            </a:pPr>
            <a:r>
              <a:rPr sz="1500" spc="-10" dirty="0">
                <a:solidFill>
                  <a:srgbClr val="878787"/>
                </a:solidFill>
                <a:latin typeface="Calibri"/>
                <a:cs typeface="Calibri"/>
              </a:rPr>
              <a:t>52</a:t>
            </a:r>
            <a:endParaRPr sz="15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42710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39C00-3942-2AB2-B5C0-F4C97A324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B621AD8-9F62-204C-8A68-9FC466DE6B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3989" y="235077"/>
            <a:ext cx="5817235" cy="1064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Les</a:t>
            </a:r>
            <a:r>
              <a:rPr dirty="0"/>
              <a:t> </a:t>
            </a:r>
            <a:r>
              <a:rPr spc="-5" dirty="0"/>
              <a:t>Technologies</a:t>
            </a:r>
            <a:r>
              <a:rPr spc="-30" dirty="0"/>
              <a:t> </a:t>
            </a:r>
            <a:r>
              <a:rPr spc="-5" dirty="0"/>
              <a:t>de</a:t>
            </a:r>
            <a:r>
              <a:rPr spc="-10" dirty="0"/>
              <a:t> </a:t>
            </a:r>
            <a:r>
              <a:rPr spc="-5" dirty="0"/>
              <a:t>Firewall</a:t>
            </a:r>
          </a:p>
          <a:p>
            <a:pPr marL="21590">
              <a:lnSpc>
                <a:spcPct val="100000"/>
              </a:lnSpc>
              <a:spcBef>
                <a:spcPts val="25"/>
              </a:spcBef>
            </a:pPr>
            <a:r>
              <a:rPr sz="4000" b="1" spc="-5" dirty="0">
                <a:latin typeface="Times New Roman"/>
                <a:cs typeface="Times New Roman"/>
              </a:rPr>
              <a:t>Application Level</a:t>
            </a:r>
            <a:r>
              <a:rPr sz="4000" b="1" spc="-15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Firewall</a:t>
            </a:r>
            <a:endParaRPr sz="4000">
              <a:latin typeface="Times New Roman"/>
              <a:cs typeface="Times New Roman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856D3C48-506B-EC4D-17DF-5D738A2C660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044" y="1534667"/>
            <a:ext cx="9201912" cy="4928616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C5C119EE-EDED-53B3-2064-CDD48BA24F9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39094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F2144-07C0-23E3-33BC-3B3B7B146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EFFC03A-369B-4C8F-BB2A-CE5FA64E07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685800"/>
            <a:ext cx="581723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25"/>
              </a:spcBef>
            </a:pPr>
            <a:r>
              <a:rPr sz="4000" b="1" spc="-5" dirty="0">
                <a:latin typeface="Times New Roman"/>
                <a:cs typeface="Times New Roman"/>
              </a:rPr>
              <a:t>Application Level</a:t>
            </a:r>
            <a:r>
              <a:rPr sz="4000" b="1" spc="-15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Firewall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F131D01-953C-144A-517E-D64ACB9CF02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989784F-8265-DCE3-AB51-50F75FF19361}"/>
              </a:ext>
            </a:extLst>
          </p:cNvPr>
          <p:cNvSpPr txBox="1"/>
          <p:nvPr/>
        </p:nvSpPr>
        <p:spPr>
          <a:xfrm>
            <a:off x="649325" y="1962404"/>
            <a:ext cx="10120630" cy="4050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Les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passerelles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 </a:t>
            </a:r>
            <a:r>
              <a:rPr sz="2000" spc="-5" dirty="0">
                <a:latin typeface="Calibri"/>
                <a:cs typeface="Calibri"/>
              </a:rPr>
              <a:t>niveau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l'application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sont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également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appelées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proxys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03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Elles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peuvent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filtrer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paquets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</a:t>
            </a:r>
            <a:r>
              <a:rPr sz="2000" spc="-5" dirty="0">
                <a:latin typeface="Calibri"/>
                <a:cs typeface="Calibri"/>
              </a:rPr>
              <a:t> niveau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couche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application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 </a:t>
            </a:r>
            <a:r>
              <a:rPr sz="2000" spc="-5" dirty="0">
                <a:latin typeface="Calibri"/>
                <a:cs typeface="Calibri"/>
              </a:rPr>
              <a:t>modèle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OSI</a:t>
            </a: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ct val="160000"/>
              </a:lnSpc>
              <a:spcBef>
                <a:spcPts val="6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Les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paquets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entrants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ou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sortants</a:t>
            </a:r>
            <a:r>
              <a:rPr sz="2000" spc="2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</a:t>
            </a:r>
            <a:r>
              <a:rPr sz="2000" spc="2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peuvent</a:t>
            </a:r>
            <a:r>
              <a:rPr sz="2000" spc="2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pas</a:t>
            </a:r>
            <a:r>
              <a:rPr sz="2000" spc="2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accéder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aux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services</a:t>
            </a:r>
            <a:r>
              <a:rPr sz="2000" spc="2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pour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lesquels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il</a:t>
            </a:r>
            <a:r>
              <a:rPr sz="2000" spc="2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n'y</a:t>
            </a:r>
            <a:r>
              <a:rPr sz="2000" spc="2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pas</a:t>
            </a:r>
            <a:r>
              <a:rPr sz="2000" dirty="0">
                <a:latin typeface="Calibri"/>
                <a:cs typeface="Calibri"/>
              </a:rPr>
              <a:t> 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proxy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 MT"/>
              <a:buChar char="•"/>
            </a:pPr>
            <a:endParaRPr sz="16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En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clair,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une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passerelle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niveau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application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configurée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pour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être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un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proxy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Web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n'autorisera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445"/>
              </a:spcBef>
            </a:pPr>
            <a:r>
              <a:rPr sz="2000" dirty="0">
                <a:latin typeface="Calibri"/>
                <a:cs typeface="Calibri"/>
              </a:rPr>
              <a:t>aucun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trafic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FTP,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Gopher,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Telnet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ou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autre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Parce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qu'ils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examinent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paquets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niveau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la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couche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application,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elles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peuvent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filtrer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les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440"/>
              </a:spcBef>
            </a:pPr>
            <a:r>
              <a:rPr sz="2000" dirty="0">
                <a:latin typeface="Calibri"/>
                <a:cs typeface="Calibri"/>
              </a:rPr>
              <a:t>commandes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spécifiques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l'application </a:t>
            </a:r>
            <a:r>
              <a:rPr sz="2000" spc="-5" dirty="0">
                <a:latin typeface="Calibri"/>
                <a:cs typeface="Calibri"/>
              </a:rPr>
              <a:t>telles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HTTP-POST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HTTP-GET</a:t>
            </a:r>
            <a:endParaRPr sz="2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208712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6EE3F-0719-6D97-1E2F-666F91992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8DD32F6-5ECC-CCDB-EEBE-73E6E26BE9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3989" y="235077"/>
            <a:ext cx="8489315" cy="1064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Les</a:t>
            </a:r>
            <a:r>
              <a:rPr dirty="0"/>
              <a:t> </a:t>
            </a:r>
            <a:r>
              <a:rPr lang="fr-FR" dirty="0"/>
              <a:t>types de filtrage</a:t>
            </a:r>
            <a:endParaRPr spc="-5" dirty="0"/>
          </a:p>
          <a:p>
            <a:pPr marL="21590">
              <a:lnSpc>
                <a:spcPct val="100000"/>
              </a:lnSpc>
              <a:spcBef>
                <a:spcPts val="25"/>
              </a:spcBef>
            </a:pPr>
            <a:r>
              <a:rPr sz="4000" b="1" spc="-5" dirty="0">
                <a:latin typeface="Times New Roman"/>
                <a:cs typeface="Times New Roman"/>
              </a:rPr>
              <a:t>Stateful</a:t>
            </a:r>
            <a:r>
              <a:rPr sz="4000" b="1" spc="30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Multilayer</a:t>
            </a:r>
            <a:r>
              <a:rPr sz="4000" b="1" spc="20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Inspection</a:t>
            </a:r>
            <a:r>
              <a:rPr sz="4000" b="1" spc="30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Firewall</a:t>
            </a:r>
            <a:endParaRPr sz="4000" dirty="0">
              <a:latin typeface="Times New Roman"/>
              <a:cs typeface="Times New Roman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CD92D1E-EB9E-27E8-7CA6-6E471CE1DD5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4583" y="1749552"/>
            <a:ext cx="8942831" cy="4629911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C318DAFB-748A-5D52-6B9F-494DE1FE550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088903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5F393-0DA6-ED69-9B35-48674E30E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906D9AB-DAFA-ECCE-BB16-52340195DDCC}"/>
              </a:ext>
            </a:extLst>
          </p:cNvPr>
          <p:cNvSpPr txBox="1"/>
          <p:nvPr/>
        </p:nvSpPr>
        <p:spPr>
          <a:xfrm>
            <a:off x="11032997" y="6400596"/>
            <a:ext cx="217804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878787"/>
                </a:solidFill>
                <a:latin typeface="Calibri"/>
                <a:cs typeface="Calibri"/>
              </a:rPr>
              <a:t>56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95F4ECF-689B-3951-0297-E651B98E51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3989" y="235077"/>
            <a:ext cx="8489315" cy="10586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pc="-10" dirty="0"/>
              <a:t>Les</a:t>
            </a:r>
            <a:r>
              <a:rPr lang="fr-FR" dirty="0"/>
              <a:t> types de filtrage</a:t>
            </a:r>
            <a:br>
              <a:rPr lang="fr-FR" dirty="0"/>
            </a:br>
            <a:r>
              <a:rPr sz="4000" b="1" spc="-5" dirty="0">
                <a:latin typeface="Times New Roman"/>
                <a:cs typeface="Times New Roman"/>
              </a:rPr>
              <a:t>Stateful</a:t>
            </a:r>
            <a:r>
              <a:rPr sz="4000" b="1" spc="30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Multilayer</a:t>
            </a:r>
            <a:r>
              <a:rPr sz="4000" b="1" spc="20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Inspection</a:t>
            </a:r>
            <a:r>
              <a:rPr sz="4000" b="1" spc="30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Firewall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FEB8219-476D-063B-DB0B-86B5F9B19031}"/>
              </a:ext>
            </a:extLst>
          </p:cNvPr>
          <p:cNvSpPr txBox="1"/>
          <p:nvPr/>
        </p:nvSpPr>
        <p:spPr>
          <a:xfrm>
            <a:off x="207975" y="1631442"/>
            <a:ext cx="11680190" cy="1382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Les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pare-feux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d'inspection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multicouche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avec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état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combinent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l'aspect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trois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autres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types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pare-feu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(c'est-</a:t>
            </a:r>
            <a:endParaRPr sz="20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  <a:spcBef>
                <a:spcPts val="1435"/>
              </a:spcBef>
            </a:pPr>
            <a:r>
              <a:rPr sz="2000" spc="-5" dirty="0">
                <a:latin typeface="Calibri"/>
                <a:cs typeface="Calibri"/>
              </a:rPr>
              <a:t>à-dire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filtrage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5" dirty="0">
                <a:latin typeface="Calibri"/>
                <a:cs typeface="Calibri"/>
              </a:rPr>
              <a:t>paquets,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passerelles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niveau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circuit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pare-feu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niveau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l'application)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Ils</a:t>
            </a:r>
            <a:r>
              <a:rPr sz="2000" spc="3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filtrent</a:t>
            </a:r>
            <a:r>
              <a:rPr sz="2000" spc="3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</a:t>
            </a:r>
            <a:r>
              <a:rPr sz="2000" spc="3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paquets</a:t>
            </a:r>
            <a:r>
              <a:rPr sz="2000" spc="3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</a:t>
            </a:r>
            <a:r>
              <a:rPr sz="2000" spc="3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niveau</a:t>
            </a:r>
            <a:r>
              <a:rPr sz="2000" spc="3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3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la</a:t>
            </a:r>
            <a:r>
              <a:rPr sz="2000" spc="3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couche</a:t>
            </a:r>
            <a:r>
              <a:rPr sz="2000" spc="3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réseau</a:t>
            </a:r>
            <a:r>
              <a:rPr sz="2000" spc="3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du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modèle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OSI</a:t>
            </a:r>
            <a:r>
              <a:rPr sz="2000" spc="3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pour</a:t>
            </a:r>
            <a:r>
              <a:rPr sz="2000" spc="3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déterminer</a:t>
            </a:r>
            <a:r>
              <a:rPr sz="2000" spc="3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si</a:t>
            </a:r>
            <a:r>
              <a:rPr sz="2000" spc="3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paquets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spc="15" dirty="0">
                <a:latin typeface="Calibri"/>
                <a:cs typeface="Calibri"/>
              </a:rPr>
              <a:t>de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EA7699A-3B6D-2DAF-EB8F-5B0CE6E6FD62}"/>
              </a:ext>
            </a:extLst>
          </p:cNvPr>
          <p:cNvSpPr txBox="1"/>
          <p:nvPr/>
        </p:nvSpPr>
        <p:spPr>
          <a:xfrm>
            <a:off x="10604118" y="3734815"/>
            <a:ext cx="12820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2595" algn="l"/>
              </a:tabLst>
            </a:pPr>
            <a:r>
              <a:rPr sz="2000" dirty="0">
                <a:latin typeface="Calibri"/>
                <a:cs typeface="Calibri"/>
              </a:rPr>
              <a:t>de	</a:t>
            </a:r>
            <a:r>
              <a:rPr sz="2000" spc="-5" dirty="0">
                <a:latin typeface="Calibri"/>
                <a:cs typeface="Calibri"/>
              </a:rPr>
              <a:t>sécurité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77E721D-5273-1AB9-B676-FADAA7A68B9A}"/>
              </a:ext>
            </a:extLst>
          </p:cNvPr>
          <p:cNvSpPr txBox="1"/>
          <p:nvPr/>
        </p:nvSpPr>
        <p:spPr>
          <a:xfrm>
            <a:off x="207975" y="3170936"/>
            <a:ext cx="10341610" cy="1382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alibri"/>
                <a:cs typeface="Calibri"/>
              </a:rPr>
              <a:t>session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sont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légitimes,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et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ils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évaluent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contenu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paquets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 </a:t>
            </a:r>
            <a:r>
              <a:rPr sz="2000" spc="-5" dirty="0">
                <a:latin typeface="Calibri"/>
                <a:cs typeface="Calibri"/>
              </a:rPr>
              <a:t>niveau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couche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application.</a:t>
            </a:r>
            <a:endParaRPr sz="2000">
              <a:latin typeface="Calibri"/>
              <a:cs typeface="Calibri"/>
            </a:endParaRPr>
          </a:p>
          <a:p>
            <a:pPr marL="354965" marR="92710" indent="-342900">
              <a:lnSpc>
                <a:spcPct val="160000"/>
              </a:lnSpc>
              <a:spcBef>
                <a:spcPts val="595"/>
              </a:spcBef>
              <a:buFont typeface="Arial MT"/>
              <a:buChar char="•"/>
              <a:tabLst>
                <a:tab pos="354965" algn="l"/>
                <a:tab pos="355600" algn="l"/>
                <a:tab pos="1038225" algn="l"/>
                <a:tab pos="1386840" algn="l"/>
                <a:tab pos="2312035" algn="l"/>
                <a:tab pos="2842895" algn="l"/>
                <a:tab pos="3404870" algn="l"/>
                <a:tab pos="3858895" algn="l"/>
                <a:tab pos="5027930" algn="l"/>
                <a:tab pos="5703570" algn="l"/>
                <a:tab pos="6325235" algn="l"/>
                <a:tab pos="7849234" algn="l"/>
                <a:tab pos="8281034" algn="l"/>
                <a:tab pos="8876665" algn="l"/>
                <a:tab pos="9440545" algn="l"/>
              </a:tabLst>
            </a:pPr>
            <a:r>
              <a:rPr sz="2000" spc="-5" dirty="0">
                <a:latin typeface="Calibri"/>
                <a:cs typeface="Calibri"/>
              </a:rPr>
              <a:t>Da</a:t>
            </a:r>
            <a:r>
              <a:rPr sz="2000" spc="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s	</a:t>
            </a:r>
            <a:r>
              <a:rPr sz="2000" spc="-5" dirty="0">
                <a:latin typeface="Calibri"/>
                <a:cs typeface="Calibri"/>
              </a:rPr>
              <a:t>l</a:t>
            </a:r>
            <a:r>
              <a:rPr sz="2000" dirty="0">
                <a:latin typeface="Calibri"/>
                <a:cs typeface="Calibri"/>
              </a:rPr>
              <a:t>a	</a:t>
            </a:r>
            <a:r>
              <a:rPr sz="2000" spc="-5" dirty="0">
                <a:latin typeface="Calibri"/>
                <a:cs typeface="Calibri"/>
              </a:rPr>
              <a:t>plupa</a:t>
            </a:r>
            <a:r>
              <a:rPr sz="2000" spc="-10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t	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dirty="0">
                <a:latin typeface="Calibri"/>
                <a:cs typeface="Calibri"/>
              </a:rPr>
              <a:t>s	cas,	l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s	</a:t>
            </a:r>
            <a:r>
              <a:rPr sz="2000" spc="-5" dirty="0">
                <a:latin typeface="Calibri"/>
                <a:cs typeface="Calibri"/>
              </a:rPr>
              <a:t>par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5" dirty="0">
                <a:latin typeface="Calibri"/>
                <a:cs typeface="Calibri"/>
              </a:rPr>
              <a:t>-feu</a:t>
            </a:r>
            <a:r>
              <a:rPr sz="2000" dirty="0">
                <a:latin typeface="Calibri"/>
                <a:cs typeface="Calibri"/>
              </a:rPr>
              <a:t>x	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M</a:t>
            </a:r>
            <a:r>
              <a:rPr sz="2000" spc="-15" dirty="0">
                <a:latin typeface="Calibri"/>
                <a:cs typeface="Calibri"/>
              </a:rPr>
              <a:t>L</a:t>
            </a:r>
            <a:r>
              <a:rPr sz="2000" dirty="0">
                <a:latin typeface="Calibri"/>
                <a:cs typeface="Calibri"/>
              </a:rPr>
              <a:t>I	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spc="-20" dirty="0">
                <a:latin typeface="Calibri"/>
                <a:cs typeface="Calibri"/>
              </a:rPr>
              <a:t>o</a:t>
            </a:r>
            <a:r>
              <a:rPr sz="2000" spc="-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t	</a:t>
            </a:r>
            <a:r>
              <a:rPr sz="2000" spc="-15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mp</a:t>
            </a:r>
            <a:r>
              <a:rPr sz="2000" spc="-10" dirty="0">
                <a:latin typeface="Calibri"/>
                <a:cs typeface="Calibri"/>
              </a:rPr>
              <a:t>l</a:t>
            </a:r>
            <a:r>
              <a:rPr sz="2000" dirty="0">
                <a:latin typeface="Calibri"/>
                <a:cs typeface="Calibri"/>
              </a:rPr>
              <a:t>é</a:t>
            </a:r>
            <a:r>
              <a:rPr sz="2000" spc="-10" dirty="0">
                <a:latin typeface="Calibri"/>
                <a:cs typeface="Calibri"/>
              </a:rPr>
              <a:t>m</a:t>
            </a:r>
            <a:r>
              <a:rPr sz="2000" dirty="0">
                <a:latin typeface="Calibri"/>
                <a:cs typeface="Calibri"/>
              </a:rPr>
              <a:t>ent</a:t>
            </a:r>
            <a:r>
              <a:rPr sz="2000" spc="10" dirty="0">
                <a:latin typeface="Calibri"/>
                <a:cs typeface="Calibri"/>
              </a:rPr>
              <a:t>é</a:t>
            </a:r>
            <a:r>
              <a:rPr sz="2000" dirty="0">
                <a:latin typeface="Calibri"/>
                <a:cs typeface="Calibri"/>
              </a:rPr>
              <a:t>s	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n	tant	</a:t>
            </a:r>
            <a:r>
              <a:rPr sz="2000" spc="-10" dirty="0">
                <a:latin typeface="Calibri"/>
                <a:cs typeface="Calibri"/>
              </a:rPr>
              <a:t>q</a:t>
            </a:r>
            <a:r>
              <a:rPr sz="2000" spc="-5" dirty="0">
                <a:latin typeface="Calibri"/>
                <a:cs typeface="Calibri"/>
              </a:rPr>
              <a:t>u</a:t>
            </a:r>
            <a:r>
              <a:rPr sz="2000" dirty="0">
                <a:latin typeface="Calibri"/>
                <a:cs typeface="Calibri"/>
              </a:rPr>
              <a:t>e	</a:t>
            </a:r>
            <a:r>
              <a:rPr sz="2000" spc="-5" dirty="0">
                <a:latin typeface="Calibri"/>
                <a:cs typeface="Calibri"/>
              </a:rPr>
              <a:t>ni</a:t>
            </a:r>
            <a:r>
              <a:rPr sz="2000" spc="-10" dirty="0">
                <a:latin typeface="Calibri"/>
                <a:cs typeface="Calibri"/>
              </a:rPr>
              <a:t>v</a:t>
            </a:r>
            <a:r>
              <a:rPr sz="2000" dirty="0">
                <a:latin typeface="Calibri"/>
                <a:cs typeface="Calibri"/>
              </a:rPr>
              <a:t>eaux  </a:t>
            </a:r>
            <a:r>
              <a:rPr sz="2000" spc="-5" dirty="0">
                <a:latin typeface="Calibri"/>
                <a:cs typeface="Calibri"/>
              </a:rPr>
              <a:t>supplémentaires.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90F8D46-2B90-8DF2-7500-B9A1A319E0A7}"/>
              </a:ext>
            </a:extLst>
          </p:cNvPr>
          <p:cNvSpPr txBox="1"/>
          <p:nvPr/>
        </p:nvSpPr>
        <p:spPr>
          <a:xfrm>
            <a:off x="207975" y="4786629"/>
            <a:ext cx="11679555" cy="1383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Ces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types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pare-feu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implémentent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davantage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vérifications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et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sont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considérés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comme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plus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sûrs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que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les</a:t>
            </a:r>
            <a:endParaRPr sz="20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  <a:spcBef>
                <a:spcPts val="1440"/>
              </a:spcBef>
            </a:pPr>
            <a:r>
              <a:rPr sz="2000" spc="-5" dirty="0">
                <a:latin typeface="Calibri"/>
                <a:cs typeface="Calibri"/>
              </a:rPr>
              <a:t>pare-feu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sans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état.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C'est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pourquoi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l'inspection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dynamique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des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paquets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est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implémentée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avec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nombreux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autres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pare-feu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pour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8D8D6E4-D945-BC06-8709-9B5971FE16F4}"/>
              </a:ext>
            </a:extLst>
          </p:cNvPr>
          <p:cNvSpPr txBox="1"/>
          <p:nvPr/>
        </p:nvSpPr>
        <p:spPr>
          <a:xfrm>
            <a:off x="550875" y="6326225"/>
            <a:ext cx="47675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alibri"/>
                <a:cs typeface="Calibri"/>
              </a:rPr>
              <a:t>suivre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statistiques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tout</a:t>
            </a:r>
            <a:r>
              <a:rPr sz="2000" spc="-5" dirty="0">
                <a:latin typeface="Calibri"/>
                <a:cs typeface="Calibri"/>
              </a:rPr>
              <a:t> le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trafic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interne.</a:t>
            </a:r>
            <a:endParaRPr sz="2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64972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322CE-3505-657D-CAD6-157F1BB7A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1CAD17D-CB58-5B1A-6CFA-47D4DBFD56FE}"/>
              </a:ext>
            </a:extLst>
          </p:cNvPr>
          <p:cNvGrpSpPr/>
          <p:nvPr/>
        </p:nvGrpSpPr>
        <p:grpSpPr>
          <a:xfrm>
            <a:off x="123444" y="1299337"/>
            <a:ext cx="11955780" cy="1900046"/>
            <a:chOff x="123444" y="1479803"/>
            <a:chExt cx="11955780" cy="171958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8313C65D-14A2-EC72-E472-C5C0768AF01D}"/>
                </a:ext>
              </a:extLst>
            </p:cNvPr>
            <p:cNvSpPr/>
            <p:nvPr/>
          </p:nvSpPr>
          <p:spPr>
            <a:xfrm>
              <a:off x="129540" y="1485899"/>
              <a:ext cx="11943715" cy="1706880"/>
            </a:xfrm>
            <a:custGeom>
              <a:avLst/>
              <a:gdLst/>
              <a:ahLst/>
              <a:cxnLst/>
              <a:rect l="l" t="t" r="r" b="b"/>
              <a:pathLst>
                <a:path w="11943715" h="1706880">
                  <a:moveTo>
                    <a:pt x="11767692" y="0"/>
                  </a:moveTo>
                  <a:lnTo>
                    <a:pt x="175945" y="0"/>
                  </a:lnTo>
                  <a:lnTo>
                    <a:pt x="129169" y="6282"/>
                  </a:lnTo>
                  <a:lnTo>
                    <a:pt x="87138" y="24012"/>
                  </a:lnTo>
                  <a:lnTo>
                    <a:pt x="51530" y="51514"/>
                  </a:lnTo>
                  <a:lnTo>
                    <a:pt x="24019" y="87112"/>
                  </a:lnTo>
                  <a:lnTo>
                    <a:pt x="6284" y="129131"/>
                  </a:lnTo>
                  <a:lnTo>
                    <a:pt x="0" y="175895"/>
                  </a:lnTo>
                  <a:lnTo>
                    <a:pt x="0" y="1530985"/>
                  </a:lnTo>
                  <a:lnTo>
                    <a:pt x="6284" y="1577748"/>
                  </a:lnTo>
                  <a:lnTo>
                    <a:pt x="24019" y="1619767"/>
                  </a:lnTo>
                  <a:lnTo>
                    <a:pt x="51530" y="1655365"/>
                  </a:lnTo>
                  <a:lnTo>
                    <a:pt x="87138" y="1682867"/>
                  </a:lnTo>
                  <a:lnTo>
                    <a:pt x="129169" y="1700597"/>
                  </a:lnTo>
                  <a:lnTo>
                    <a:pt x="175945" y="1706879"/>
                  </a:lnTo>
                  <a:lnTo>
                    <a:pt x="11767692" y="1706879"/>
                  </a:lnTo>
                  <a:lnTo>
                    <a:pt x="11814456" y="1700597"/>
                  </a:lnTo>
                  <a:lnTo>
                    <a:pt x="11856475" y="1682867"/>
                  </a:lnTo>
                  <a:lnTo>
                    <a:pt x="11892073" y="1655365"/>
                  </a:lnTo>
                  <a:lnTo>
                    <a:pt x="11919575" y="1619767"/>
                  </a:lnTo>
                  <a:lnTo>
                    <a:pt x="11937305" y="1577748"/>
                  </a:lnTo>
                  <a:lnTo>
                    <a:pt x="11943588" y="1530985"/>
                  </a:lnTo>
                  <a:lnTo>
                    <a:pt x="11943588" y="175895"/>
                  </a:lnTo>
                  <a:lnTo>
                    <a:pt x="11937305" y="129131"/>
                  </a:lnTo>
                  <a:lnTo>
                    <a:pt x="11919575" y="87112"/>
                  </a:lnTo>
                  <a:lnTo>
                    <a:pt x="11892073" y="51514"/>
                  </a:lnTo>
                  <a:lnTo>
                    <a:pt x="11856475" y="24012"/>
                  </a:lnTo>
                  <a:lnTo>
                    <a:pt x="11814456" y="6282"/>
                  </a:lnTo>
                  <a:lnTo>
                    <a:pt x="11767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8CF92CC-21C7-6486-FF93-F382FF405310}"/>
                </a:ext>
              </a:extLst>
            </p:cNvPr>
            <p:cNvSpPr/>
            <p:nvPr/>
          </p:nvSpPr>
          <p:spPr>
            <a:xfrm>
              <a:off x="129540" y="1485899"/>
              <a:ext cx="11943715" cy="1706880"/>
            </a:xfrm>
            <a:custGeom>
              <a:avLst/>
              <a:gdLst/>
              <a:ahLst/>
              <a:cxnLst/>
              <a:rect l="l" t="t" r="r" b="b"/>
              <a:pathLst>
                <a:path w="11943715" h="1706880">
                  <a:moveTo>
                    <a:pt x="0" y="175895"/>
                  </a:moveTo>
                  <a:lnTo>
                    <a:pt x="6284" y="129131"/>
                  </a:lnTo>
                  <a:lnTo>
                    <a:pt x="24019" y="87112"/>
                  </a:lnTo>
                  <a:lnTo>
                    <a:pt x="51530" y="51514"/>
                  </a:lnTo>
                  <a:lnTo>
                    <a:pt x="87138" y="24012"/>
                  </a:lnTo>
                  <a:lnTo>
                    <a:pt x="129169" y="6282"/>
                  </a:lnTo>
                  <a:lnTo>
                    <a:pt x="175945" y="0"/>
                  </a:lnTo>
                  <a:lnTo>
                    <a:pt x="11767692" y="0"/>
                  </a:lnTo>
                  <a:lnTo>
                    <a:pt x="11814456" y="6282"/>
                  </a:lnTo>
                  <a:lnTo>
                    <a:pt x="11856475" y="24012"/>
                  </a:lnTo>
                  <a:lnTo>
                    <a:pt x="11892073" y="51514"/>
                  </a:lnTo>
                  <a:lnTo>
                    <a:pt x="11919575" y="87112"/>
                  </a:lnTo>
                  <a:lnTo>
                    <a:pt x="11937305" y="129131"/>
                  </a:lnTo>
                  <a:lnTo>
                    <a:pt x="11943588" y="175895"/>
                  </a:lnTo>
                  <a:lnTo>
                    <a:pt x="11943588" y="1530985"/>
                  </a:lnTo>
                  <a:lnTo>
                    <a:pt x="11937305" y="1577748"/>
                  </a:lnTo>
                  <a:lnTo>
                    <a:pt x="11919575" y="1619767"/>
                  </a:lnTo>
                  <a:lnTo>
                    <a:pt x="11892073" y="1655365"/>
                  </a:lnTo>
                  <a:lnTo>
                    <a:pt x="11856475" y="1682867"/>
                  </a:lnTo>
                  <a:lnTo>
                    <a:pt x="11814456" y="1700597"/>
                  </a:lnTo>
                  <a:lnTo>
                    <a:pt x="11767692" y="1706879"/>
                  </a:lnTo>
                  <a:lnTo>
                    <a:pt x="175945" y="1706879"/>
                  </a:lnTo>
                  <a:lnTo>
                    <a:pt x="129169" y="1700597"/>
                  </a:lnTo>
                  <a:lnTo>
                    <a:pt x="87138" y="1682867"/>
                  </a:lnTo>
                  <a:lnTo>
                    <a:pt x="51530" y="1655365"/>
                  </a:lnTo>
                  <a:lnTo>
                    <a:pt x="24019" y="1619767"/>
                  </a:lnTo>
                  <a:lnTo>
                    <a:pt x="6284" y="1577748"/>
                  </a:lnTo>
                  <a:lnTo>
                    <a:pt x="0" y="1530985"/>
                  </a:lnTo>
                  <a:lnTo>
                    <a:pt x="0" y="175895"/>
                  </a:lnTo>
                  <a:close/>
                </a:path>
              </a:pathLst>
            </a:custGeom>
            <a:ln w="12192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EEB9A1EA-B7E1-73C8-A1C1-FCA8CB9025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3989" y="235077"/>
            <a:ext cx="4234180" cy="10586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pc="-10" dirty="0"/>
              <a:t>Les</a:t>
            </a:r>
            <a:r>
              <a:rPr lang="fr-FR" dirty="0"/>
              <a:t> types de filtrage</a:t>
            </a:r>
            <a:br>
              <a:rPr lang="fr-FR" dirty="0"/>
            </a:br>
            <a:r>
              <a:rPr sz="4000" b="1" spc="-5" dirty="0">
                <a:latin typeface="Times New Roman"/>
                <a:cs typeface="Times New Roman"/>
              </a:rPr>
              <a:t>Proxy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54105EE-EE41-B09C-427D-00391D426FB2}"/>
              </a:ext>
            </a:extLst>
          </p:cNvPr>
          <p:cNvSpPr txBox="1"/>
          <p:nvPr/>
        </p:nvSpPr>
        <p:spPr>
          <a:xfrm>
            <a:off x="207975" y="1387601"/>
            <a:ext cx="11680190" cy="1306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Calibri"/>
                <a:cs typeface="Calibri"/>
              </a:rPr>
              <a:t>Un</a:t>
            </a:r>
            <a:r>
              <a:rPr sz="2000" b="1" spc="19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proxy</a:t>
            </a:r>
            <a:r>
              <a:rPr sz="2000" b="1" spc="20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est</a:t>
            </a:r>
            <a:r>
              <a:rPr sz="2000" b="1" spc="20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un</a:t>
            </a:r>
            <a:r>
              <a:rPr sz="2000" b="1" spc="19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matériel</a:t>
            </a:r>
            <a:r>
              <a:rPr sz="2000" b="1" spc="20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ou</a:t>
            </a:r>
            <a:r>
              <a:rPr sz="2000" b="1" spc="2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un</a:t>
            </a:r>
            <a:r>
              <a:rPr sz="2000" b="1" spc="19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logiciel</a:t>
            </a:r>
            <a:r>
              <a:rPr sz="2000" b="1" spc="204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servant</a:t>
            </a:r>
            <a:r>
              <a:rPr sz="2000" b="1" spc="2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d'intermédiaire</a:t>
            </a:r>
            <a:r>
              <a:rPr sz="2000" b="1" spc="18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entre</a:t>
            </a:r>
            <a:r>
              <a:rPr sz="2000" b="1" spc="204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deux</a:t>
            </a:r>
            <a:r>
              <a:rPr sz="2000" b="1" spc="2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réseaux.</a:t>
            </a:r>
            <a:r>
              <a:rPr sz="2000" b="1" spc="2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Une</a:t>
            </a:r>
            <a:r>
              <a:rPr sz="2000" b="1" spc="204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des</a:t>
            </a:r>
            <a:r>
              <a:rPr sz="2000" b="1" spc="19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utilisations</a:t>
            </a:r>
            <a:r>
              <a:rPr sz="2000" b="1" spc="20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les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000" b="1" dirty="0">
                <a:latin typeface="Calibri"/>
                <a:cs typeface="Calibri"/>
              </a:rPr>
              <a:t>plus</a:t>
            </a:r>
            <a:r>
              <a:rPr sz="2000" b="1" spc="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courantes</a:t>
            </a:r>
            <a:r>
              <a:rPr sz="2000" b="1" spc="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</a:t>
            </a:r>
            <a:r>
              <a:rPr sz="2000" b="1" spc="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proxy</a:t>
            </a:r>
            <a:r>
              <a:rPr sz="2000" b="1" spc="3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concerne</a:t>
            </a:r>
            <a:r>
              <a:rPr sz="2000" b="1" spc="4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l’utilisation</a:t>
            </a:r>
            <a:r>
              <a:rPr sz="2000" b="1" spc="4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d’Internet</a:t>
            </a:r>
            <a:r>
              <a:rPr sz="2000" b="1" spc="4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(HTTP).</a:t>
            </a:r>
            <a:r>
              <a:rPr sz="2000" b="1" spc="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Un</a:t>
            </a:r>
            <a:r>
              <a:rPr sz="2000" b="1" spc="4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utilisateur,</a:t>
            </a:r>
            <a:r>
              <a:rPr sz="2000" b="1" spc="3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pour</a:t>
            </a:r>
            <a:r>
              <a:rPr sz="2000" b="1" spc="3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se</a:t>
            </a:r>
            <a:r>
              <a:rPr sz="2000" b="1" spc="3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rendre</a:t>
            </a:r>
            <a:r>
              <a:rPr sz="2000" b="1" spc="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sur</a:t>
            </a:r>
            <a:r>
              <a:rPr sz="2000" b="1" spc="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Internet,</a:t>
            </a:r>
            <a:r>
              <a:rPr sz="2000" b="1" spc="4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va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000" b="1" dirty="0">
                <a:latin typeface="Calibri"/>
                <a:cs typeface="Calibri"/>
              </a:rPr>
              <a:t>d’abord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passer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par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le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proxy</a:t>
            </a:r>
            <a:r>
              <a:rPr sz="2000" b="1" spc="-5" dirty="0">
                <a:latin typeface="Calibri"/>
                <a:cs typeface="Calibri"/>
              </a:rPr>
              <a:t> et c’est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le </a:t>
            </a:r>
            <a:r>
              <a:rPr sz="2000" b="1" dirty="0">
                <a:latin typeface="Calibri"/>
                <a:cs typeface="Calibri"/>
              </a:rPr>
              <a:t>proxy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qui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va</a:t>
            </a:r>
            <a:r>
              <a:rPr sz="2000" b="1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envoyer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la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requête</a:t>
            </a:r>
            <a:r>
              <a:rPr sz="2000" b="1" spc="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HTTP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vers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Internet.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A4F9812-AF03-B38A-EAB4-AFB7F538DD0F}"/>
              </a:ext>
            </a:extLst>
          </p:cNvPr>
          <p:cNvSpPr txBox="1"/>
          <p:nvPr/>
        </p:nvSpPr>
        <p:spPr>
          <a:xfrm>
            <a:off x="169875" y="3491229"/>
            <a:ext cx="11766550" cy="3074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93065" algn="l"/>
                <a:tab pos="393700" algn="l"/>
              </a:tabLst>
            </a:pPr>
            <a:r>
              <a:rPr sz="2000" spc="-5" dirty="0">
                <a:latin typeface="Calibri"/>
                <a:cs typeface="Calibri"/>
              </a:rPr>
              <a:t>Filtre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la</a:t>
            </a:r>
            <a:r>
              <a:rPr sz="2000" dirty="0">
                <a:latin typeface="Calibri"/>
                <a:cs typeface="Calibri"/>
              </a:rPr>
              <a:t> couche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applicative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donc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protocoles HTTP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autre.</a:t>
            </a:r>
            <a:endParaRPr sz="2000">
              <a:latin typeface="Calibri"/>
              <a:cs typeface="Calibri"/>
            </a:endParaRPr>
          </a:p>
          <a:p>
            <a:pPr marL="393700" indent="-342900">
              <a:lnSpc>
                <a:spcPct val="100000"/>
              </a:lnSpc>
              <a:spcBef>
                <a:spcPts val="2035"/>
              </a:spcBef>
              <a:buFont typeface="Arial MT"/>
              <a:buChar char="•"/>
              <a:tabLst>
                <a:tab pos="393065" algn="l"/>
                <a:tab pos="393700" algn="l"/>
              </a:tabLst>
            </a:pPr>
            <a:r>
              <a:rPr sz="2000" spc="-5" dirty="0">
                <a:latin typeface="Calibri"/>
                <a:cs typeface="Calibri"/>
              </a:rPr>
              <a:t>Contrôle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réseau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utilisateur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donc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permet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garder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 </a:t>
            </a:r>
            <a:r>
              <a:rPr sz="2000" spc="-5" dirty="0">
                <a:latin typeface="Calibri"/>
                <a:cs typeface="Calibri"/>
              </a:rPr>
              <a:t>historique.</a:t>
            </a:r>
            <a:endParaRPr sz="2000">
              <a:latin typeface="Calibri"/>
              <a:cs typeface="Calibri"/>
            </a:endParaRPr>
          </a:p>
          <a:p>
            <a:pPr marL="393700" indent="-342900">
              <a:lnSpc>
                <a:spcPct val="100000"/>
              </a:lnSpc>
              <a:spcBef>
                <a:spcPts val="2045"/>
              </a:spcBef>
              <a:buFont typeface="Arial MT"/>
              <a:buChar char="•"/>
              <a:tabLst>
                <a:tab pos="393065" algn="l"/>
                <a:tab pos="393700" algn="l"/>
              </a:tabLst>
            </a:pPr>
            <a:r>
              <a:rPr sz="2000" dirty="0">
                <a:latin typeface="Calibri"/>
                <a:cs typeface="Calibri"/>
              </a:rPr>
              <a:t>Permet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faire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circuler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trafic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HTTP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FTP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via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proxy,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d’attaque,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l’attaque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ferait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sur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proxy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et</a:t>
            </a:r>
            <a:endParaRPr sz="2000">
              <a:latin typeface="Calibri"/>
              <a:cs typeface="Calibri"/>
            </a:endParaRPr>
          </a:p>
          <a:p>
            <a:pPr marL="393065">
              <a:lnSpc>
                <a:spcPct val="100000"/>
              </a:lnSpc>
              <a:spcBef>
                <a:spcPts val="1440"/>
              </a:spcBef>
            </a:pPr>
            <a:r>
              <a:rPr sz="2000" spc="-5" dirty="0">
                <a:latin typeface="Calibri"/>
                <a:cs typeface="Calibri"/>
              </a:rPr>
              <a:t>non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sur le poste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utilisateur.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Calibri"/>
              <a:cs typeface="Calibri"/>
            </a:endParaRPr>
          </a:p>
          <a:p>
            <a:pPr marL="393700" indent="-342900">
              <a:lnSpc>
                <a:spcPct val="100000"/>
              </a:lnSpc>
              <a:buFont typeface="Arial MT"/>
              <a:buChar char="•"/>
              <a:tabLst>
                <a:tab pos="393065" algn="l"/>
                <a:tab pos="393700" algn="l"/>
              </a:tabLst>
            </a:pPr>
            <a:r>
              <a:rPr sz="2000" spc="-5" dirty="0">
                <a:latin typeface="Calibri"/>
                <a:cs typeface="Calibri"/>
              </a:rPr>
              <a:t>Permet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voir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attaques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potentielles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(IDS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nous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verrons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plus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tard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dans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cours).</a:t>
            </a:r>
            <a:endParaRPr sz="2000">
              <a:latin typeface="Calibri"/>
              <a:cs typeface="Calibri"/>
            </a:endParaRPr>
          </a:p>
          <a:p>
            <a:pPr marL="393700" indent="-342900">
              <a:lnSpc>
                <a:spcPct val="100000"/>
              </a:lnSpc>
              <a:spcBef>
                <a:spcPts val="2039"/>
              </a:spcBef>
              <a:buFont typeface="Arial MT"/>
              <a:buChar char="•"/>
              <a:tabLst>
                <a:tab pos="393065" algn="l"/>
                <a:tab pos="393700" algn="l"/>
              </a:tabLst>
            </a:pPr>
            <a:r>
              <a:rPr sz="2000" spc="-5" dirty="0">
                <a:latin typeface="Calibri"/>
                <a:cs typeface="Calibri"/>
              </a:rPr>
              <a:t>Est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très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coûteux,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plus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vous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avez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d’utilisateurs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plus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votre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connexion</a:t>
            </a:r>
            <a:r>
              <a:rPr sz="2000" dirty="0">
                <a:latin typeface="Calibri"/>
                <a:cs typeface="Calibri"/>
              </a:rPr>
              <a:t> Internet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est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puissante,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plus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95" dirty="0">
                <a:latin typeface="Calibri"/>
                <a:cs typeface="Calibri"/>
              </a:rPr>
              <a:t>vous</a:t>
            </a:r>
            <a:r>
              <a:rPr sz="2250" spc="-142" baseline="-29629" dirty="0">
                <a:solidFill>
                  <a:srgbClr val="878787"/>
                </a:solidFill>
                <a:latin typeface="Calibri"/>
                <a:cs typeface="Calibri"/>
              </a:rPr>
              <a:t>57</a:t>
            </a:r>
            <a:r>
              <a:rPr sz="2000" spc="-95" dirty="0">
                <a:latin typeface="Calibri"/>
                <a:cs typeface="Calibri"/>
              </a:rPr>
              <a:t>devrez</a:t>
            </a:r>
            <a:endParaRPr sz="2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43677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B2E3D-EF6E-FD83-679C-2A2CDFC6A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047824D-E6FD-AA84-AD6C-1A24A4603F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3989" y="235077"/>
            <a:ext cx="7608570" cy="1064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Les</a:t>
            </a:r>
            <a:r>
              <a:rPr dirty="0"/>
              <a:t> </a:t>
            </a:r>
            <a:r>
              <a:rPr spc="-5" dirty="0"/>
              <a:t>Technologies</a:t>
            </a:r>
            <a:r>
              <a:rPr spc="-30" dirty="0"/>
              <a:t> </a:t>
            </a:r>
            <a:r>
              <a:rPr spc="-5" dirty="0"/>
              <a:t>de</a:t>
            </a:r>
            <a:r>
              <a:rPr spc="-10" dirty="0"/>
              <a:t> </a:t>
            </a:r>
            <a:r>
              <a:rPr spc="-5" dirty="0"/>
              <a:t>Firewall</a:t>
            </a:r>
          </a:p>
          <a:p>
            <a:pPr marL="21590">
              <a:lnSpc>
                <a:spcPct val="100000"/>
              </a:lnSpc>
              <a:spcBef>
                <a:spcPts val="25"/>
              </a:spcBef>
            </a:pPr>
            <a:r>
              <a:rPr sz="4000" b="1" spc="-5" dirty="0">
                <a:latin typeface="Times New Roman"/>
                <a:cs typeface="Times New Roman"/>
              </a:rPr>
              <a:t>Next Generation Firewall</a:t>
            </a:r>
            <a:r>
              <a:rPr sz="4000" b="1" spc="10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(NGFW)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D2D576B-CA85-8D42-43D4-AD8296604A93}"/>
              </a:ext>
            </a:extLst>
          </p:cNvPr>
          <p:cNvSpPr txBox="1"/>
          <p:nvPr/>
        </p:nvSpPr>
        <p:spPr>
          <a:xfrm>
            <a:off x="345744" y="1786509"/>
            <a:ext cx="6891020" cy="4251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Un</a:t>
            </a:r>
            <a:r>
              <a:rPr sz="1800" spc="12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pare-feu</a:t>
            </a:r>
            <a:r>
              <a:rPr sz="1800" b="1" spc="12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de</a:t>
            </a:r>
            <a:r>
              <a:rPr sz="1800" b="1" spc="11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nouvelle</a:t>
            </a:r>
            <a:r>
              <a:rPr sz="1800" b="1" spc="1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génération</a:t>
            </a:r>
            <a:r>
              <a:rPr sz="1800" b="1" spc="1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</a:t>
            </a:r>
            <a:r>
              <a:rPr sz="1800" spc="114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NGFW</a:t>
            </a:r>
            <a:r>
              <a:rPr sz="1800" b="1" spc="1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)</a:t>
            </a:r>
            <a:r>
              <a:rPr sz="1800" spc="1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fait</a:t>
            </a:r>
            <a:r>
              <a:rPr sz="1800" spc="114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partie</a:t>
            </a:r>
            <a:r>
              <a:rPr sz="1800" spc="1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spc="1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troisième</a:t>
            </a:r>
            <a:endParaRPr sz="18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1295"/>
              </a:spcBef>
            </a:pPr>
            <a:r>
              <a:rPr sz="1800" spc="-5" dirty="0">
                <a:latin typeface="Calibri"/>
                <a:cs typeface="Calibri"/>
              </a:rPr>
              <a:t>génération</a:t>
            </a:r>
            <a:r>
              <a:rPr sz="1800" spc="54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de   </a:t>
            </a:r>
            <a:r>
              <a:rPr sz="1800" spc="2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technologie   </a:t>
            </a:r>
            <a:r>
              <a:rPr sz="1800" spc="2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   </a:t>
            </a:r>
            <a:r>
              <a:rPr sz="1800" spc="26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pare-feu,</a:t>
            </a:r>
            <a:r>
              <a:rPr sz="1800" spc="540" dirty="0">
                <a:latin typeface="Calibri"/>
                <a:cs typeface="Calibri"/>
              </a:rPr>
              <a:t>  </a:t>
            </a:r>
            <a:r>
              <a:rPr sz="1800" spc="-5" dirty="0">
                <a:latin typeface="Calibri"/>
                <a:cs typeface="Calibri"/>
              </a:rPr>
              <a:t>combinant</a:t>
            </a:r>
            <a:r>
              <a:rPr sz="1800" spc="545" dirty="0">
                <a:latin typeface="Calibri"/>
                <a:cs typeface="Calibri"/>
              </a:rPr>
              <a:t> </a:t>
            </a:r>
            <a:r>
              <a:rPr sz="1800" spc="5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   </a:t>
            </a:r>
            <a:r>
              <a:rPr sz="1800" spc="26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pare-</a:t>
            </a:r>
            <a:endParaRPr sz="1800">
              <a:latin typeface="Calibri"/>
              <a:cs typeface="Calibri"/>
            </a:endParaRPr>
          </a:p>
          <a:p>
            <a:pPr marL="12700" marR="5080" algn="just">
              <a:lnSpc>
                <a:spcPct val="160000"/>
              </a:lnSpc>
            </a:pPr>
            <a:r>
              <a:rPr sz="1800" dirty="0">
                <a:latin typeface="Calibri"/>
                <a:cs typeface="Calibri"/>
              </a:rPr>
              <a:t>feu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traditionnel</a:t>
            </a:r>
            <a:r>
              <a:rPr sz="1800" dirty="0">
                <a:latin typeface="Calibri"/>
                <a:cs typeface="Calibri"/>
              </a:rPr>
              <a:t> avec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d'autres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fonctions</a:t>
            </a:r>
            <a:r>
              <a:rPr sz="1800" dirty="0">
                <a:latin typeface="Calibri"/>
                <a:cs typeface="Calibri"/>
              </a:rPr>
              <a:t> 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filtrage</a:t>
            </a:r>
            <a:r>
              <a:rPr sz="1800" dirty="0">
                <a:latin typeface="Calibri"/>
                <a:cs typeface="Calibri"/>
              </a:rPr>
              <a:t> 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périphériques </a:t>
            </a:r>
            <a:r>
              <a:rPr sz="1800" dirty="0">
                <a:latin typeface="Calibri"/>
                <a:cs typeface="Calibri"/>
              </a:rPr>
              <a:t> réseau,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comme</a:t>
            </a:r>
            <a:r>
              <a:rPr sz="1800" dirty="0">
                <a:latin typeface="Calibri"/>
                <a:cs typeface="Calibri"/>
              </a:rPr>
              <a:t> un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pare-feu</a:t>
            </a:r>
            <a:r>
              <a:rPr sz="1800" b="1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d'application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utilisant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l'inspection </a:t>
            </a:r>
            <a:r>
              <a:rPr sz="1800" b="1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approfondie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des</a:t>
            </a:r>
            <a:r>
              <a:rPr sz="1800" b="1" spc="-5" dirty="0">
                <a:latin typeface="Calibri"/>
                <a:cs typeface="Calibri"/>
              </a:rPr>
              <a:t> paquets</a:t>
            </a:r>
            <a:r>
              <a:rPr sz="1800" b="1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(DPI)</a:t>
            </a:r>
            <a:r>
              <a:rPr sz="1800" b="1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ligne,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un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système</a:t>
            </a:r>
            <a:r>
              <a:rPr sz="1800" b="1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de</a:t>
            </a:r>
            <a:r>
              <a:rPr sz="1800" b="1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prévention 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d’intrusions </a:t>
            </a:r>
            <a:r>
              <a:rPr sz="1800" spc="-5" dirty="0">
                <a:latin typeface="Calibri"/>
                <a:cs typeface="Calibri"/>
              </a:rPr>
              <a:t>(IPS). </a:t>
            </a:r>
            <a:r>
              <a:rPr sz="1800" dirty="0">
                <a:latin typeface="Calibri"/>
                <a:cs typeface="Calibri"/>
              </a:rPr>
              <a:t>D'autres </a:t>
            </a:r>
            <a:r>
              <a:rPr sz="1800" spc="-5" dirty="0">
                <a:latin typeface="Calibri"/>
                <a:cs typeface="Calibri"/>
              </a:rPr>
              <a:t>techniques </a:t>
            </a:r>
            <a:r>
              <a:rPr sz="1800" dirty="0">
                <a:latin typeface="Calibri"/>
                <a:cs typeface="Calibri"/>
              </a:rPr>
              <a:t>peuvent également être </a:t>
            </a:r>
            <a:r>
              <a:rPr sz="1800" spc="-5" dirty="0">
                <a:latin typeface="Calibri"/>
                <a:cs typeface="Calibri"/>
              </a:rPr>
              <a:t>utilisées,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telles </a:t>
            </a:r>
            <a:r>
              <a:rPr sz="1800" dirty="0">
                <a:latin typeface="Calibri"/>
                <a:cs typeface="Calibri"/>
              </a:rPr>
              <a:t>que </a:t>
            </a:r>
            <a:r>
              <a:rPr sz="1800" b="1" spc="-5" dirty="0">
                <a:latin typeface="Calibri"/>
                <a:cs typeface="Calibri"/>
              </a:rPr>
              <a:t>l'inspection du trafic crypté TLS/SSL </a:t>
            </a:r>
            <a:r>
              <a:rPr sz="1800" dirty="0">
                <a:latin typeface="Calibri"/>
                <a:cs typeface="Calibri"/>
              </a:rPr>
              <a:t>, </a:t>
            </a:r>
            <a:r>
              <a:rPr sz="1800" spc="-5" dirty="0">
                <a:latin typeface="Calibri"/>
                <a:cs typeface="Calibri"/>
              </a:rPr>
              <a:t>le </a:t>
            </a:r>
            <a:r>
              <a:rPr sz="1800" b="1" spc="-5" dirty="0">
                <a:latin typeface="Calibri"/>
                <a:cs typeface="Calibri"/>
              </a:rPr>
              <a:t>filtrage </a:t>
            </a:r>
            <a:r>
              <a:rPr sz="1800" b="1" spc="-10" dirty="0">
                <a:latin typeface="Calibri"/>
                <a:cs typeface="Calibri"/>
              </a:rPr>
              <a:t>des sites </a:t>
            </a:r>
            <a:r>
              <a:rPr sz="1800" b="1" dirty="0">
                <a:latin typeface="Calibri"/>
                <a:cs typeface="Calibri"/>
              </a:rPr>
              <a:t>Web</a:t>
            </a:r>
            <a:r>
              <a:rPr sz="1800" dirty="0">
                <a:latin typeface="Calibri"/>
                <a:cs typeface="Calibri"/>
              </a:rPr>
              <a:t>,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la </a:t>
            </a:r>
            <a:r>
              <a:rPr sz="1800" b="1" spc="-5" dirty="0">
                <a:latin typeface="Calibri"/>
                <a:cs typeface="Calibri"/>
              </a:rPr>
              <a:t>gestion de </a:t>
            </a:r>
            <a:r>
              <a:rPr sz="1800" b="1" dirty="0">
                <a:latin typeface="Calibri"/>
                <a:cs typeface="Calibri"/>
              </a:rPr>
              <a:t>la </a:t>
            </a:r>
            <a:r>
              <a:rPr sz="1800" b="1" spc="-10" dirty="0">
                <a:latin typeface="Calibri"/>
                <a:cs typeface="Calibri"/>
              </a:rPr>
              <a:t>qualité </a:t>
            </a:r>
            <a:r>
              <a:rPr sz="1800" b="1" spc="-5" dirty="0">
                <a:latin typeface="Calibri"/>
                <a:cs typeface="Calibri"/>
              </a:rPr>
              <a:t>de </a:t>
            </a:r>
            <a:r>
              <a:rPr sz="1800" b="1" spc="-10" dirty="0">
                <a:latin typeface="Calibri"/>
                <a:cs typeface="Calibri"/>
              </a:rPr>
              <a:t>service </a:t>
            </a:r>
            <a:r>
              <a:rPr sz="1800" b="1" dirty="0">
                <a:latin typeface="Calibri"/>
                <a:cs typeface="Calibri"/>
              </a:rPr>
              <a:t>et </a:t>
            </a:r>
            <a:r>
              <a:rPr sz="1800" b="1" spc="-5" dirty="0">
                <a:latin typeface="Calibri"/>
                <a:cs typeface="Calibri"/>
              </a:rPr>
              <a:t>de </a:t>
            </a:r>
            <a:r>
              <a:rPr sz="1800" b="1" dirty="0">
                <a:latin typeface="Calibri"/>
                <a:cs typeface="Calibri"/>
              </a:rPr>
              <a:t>la </a:t>
            </a:r>
            <a:r>
              <a:rPr sz="1800" b="1" spc="-10" dirty="0">
                <a:latin typeface="Calibri"/>
                <a:cs typeface="Calibri"/>
              </a:rPr>
              <a:t>bande passante </a:t>
            </a:r>
            <a:r>
              <a:rPr sz="1800" dirty="0">
                <a:latin typeface="Calibri"/>
                <a:cs typeface="Calibri"/>
              </a:rPr>
              <a:t>, </a:t>
            </a:r>
            <a:r>
              <a:rPr sz="1800" spc="-5" dirty="0">
                <a:latin typeface="Calibri"/>
                <a:cs typeface="Calibri"/>
              </a:rPr>
              <a:t>l'inspection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anti-malware </a:t>
            </a:r>
            <a:r>
              <a:rPr sz="1800" dirty="0">
                <a:latin typeface="Calibri"/>
                <a:cs typeface="Calibri"/>
              </a:rPr>
              <a:t>et </a:t>
            </a:r>
            <a:r>
              <a:rPr sz="1800" spc="-5" dirty="0">
                <a:latin typeface="Calibri"/>
                <a:cs typeface="Calibri"/>
              </a:rPr>
              <a:t>l' intégration </a:t>
            </a:r>
            <a:r>
              <a:rPr sz="1800" spc="5" dirty="0">
                <a:latin typeface="Calibri"/>
                <a:cs typeface="Calibri"/>
              </a:rPr>
              <a:t>de </a:t>
            </a:r>
            <a:r>
              <a:rPr sz="1800" spc="-5" dirty="0">
                <a:latin typeface="Calibri"/>
                <a:cs typeface="Calibri"/>
              </a:rPr>
              <a:t>la </a:t>
            </a:r>
            <a:r>
              <a:rPr sz="1800" b="1" spc="-10" dirty="0">
                <a:latin typeface="Calibri"/>
                <a:cs typeface="Calibri"/>
              </a:rPr>
              <a:t>gestion des identités </a:t>
            </a:r>
            <a:r>
              <a:rPr sz="1800" spc="-5" dirty="0">
                <a:latin typeface="Calibri"/>
                <a:cs typeface="Calibri"/>
              </a:rPr>
              <a:t>par </a:t>
            </a:r>
            <a:r>
              <a:rPr sz="1800" dirty="0">
                <a:latin typeface="Calibri"/>
                <a:cs typeface="Calibri"/>
              </a:rPr>
              <a:t>des </a:t>
            </a:r>
            <a:r>
              <a:rPr sz="1800" spc="-5" dirty="0">
                <a:latin typeface="Calibri"/>
                <a:cs typeface="Calibri"/>
              </a:rPr>
              <a:t>tiers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(c'est-à-dire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LDAP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RADIUS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,Active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Directory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).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15A61F27-57D7-6D75-FB4F-90FCC697CF6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76743" y="1652016"/>
            <a:ext cx="4550663" cy="4578096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D6B8ABC1-C000-A146-14D6-B0B11664002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83514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DB814-9DE7-5D35-73D7-A344EA5F8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00E30E7-84C3-9358-BBBB-332F655443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4569" y="507618"/>
            <a:ext cx="10128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Times New Roman"/>
                <a:cs typeface="Times New Roman"/>
              </a:rPr>
              <a:t>Plan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2DC53D4-FF33-368C-CB9F-E5FD347B0408}"/>
              </a:ext>
            </a:extLst>
          </p:cNvPr>
          <p:cNvSpPr txBox="1"/>
          <p:nvPr/>
        </p:nvSpPr>
        <p:spPr>
          <a:xfrm>
            <a:off x="1761235" y="1915744"/>
            <a:ext cx="8622665" cy="62914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latin typeface="Calibri"/>
                <a:cs typeface="Calibri"/>
              </a:rPr>
              <a:t>Présentation générale et mode de fonctionnement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fr-FR" sz="2400" dirty="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latin typeface="Calibri"/>
                <a:cs typeface="Calibri"/>
              </a:rPr>
              <a:t>Politiques de sécurité et règles de filtrage</a:t>
            </a:r>
          </a:p>
          <a:p>
            <a:pPr marL="342900" indent="-34290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endParaRPr lang="fr-FR" sz="2400" dirty="0">
              <a:latin typeface="Calibri"/>
              <a:cs typeface="Calibri"/>
            </a:endParaRPr>
          </a:p>
          <a:p>
            <a:pPr marL="342900" indent="-342900">
              <a:spcBef>
                <a:spcPts val="3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latin typeface="Calibri"/>
                <a:cs typeface="Calibri"/>
              </a:rPr>
              <a:t>Classification des firewalls</a:t>
            </a:r>
          </a:p>
          <a:p>
            <a:pPr marL="342900" indent="-34290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endParaRPr lang="fr-FR" sz="2400" dirty="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latin typeface="Calibri"/>
                <a:cs typeface="Calibri"/>
              </a:rPr>
              <a:t>Topologies réseaux des firewalls  </a:t>
            </a:r>
          </a:p>
          <a:p>
            <a:pPr marL="342900" indent="-34290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endParaRPr lang="fr-FR" sz="2400" dirty="0">
              <a:latin typeface="Calibri"/>
              <a:cs typeface="Calibri"/>
            </a:endParaRPr>
          </a:p>
          <a:p>
            <a:pPr marL="342900" indent="-342900">
              <a:spcBef>
                <a:spcPts val="30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latin typeface="Calibri"/>
                <a:cs typeface="Calibri"/>
              </a:rPr>
              <a:t>Pratique: Mise en place d’un firewall logiciel</a:t>
            </a:r>
          </a:p>
          <a:p>
            <a:pPr marL="342900" indent="-34290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endParaRPr lang="fr-FR"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fr-FR" sz="2400" dirty="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0"/>
              </a:spcBef>
              <a:buFontTx/>
              <a:buChar char="-"/>
            </a:pPr>
            <a:endParaRPr lang="fr-FR"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fr-FR"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fr-FR"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fr-FR"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fr-FR"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BDF4DC7-559E-E902-BC19-18A061B5FC1F}"/>
              </a:ext>
            </a:extLst>
          </p:cNvPr>
          <p:cNvSpPr txBox="1"/>
          <p:nvPr/>
        </p:nvSpPr>
        <p:spPr>
          <a:xfrm>
            <a:off x="11129009" y="6400596"/>
            <a:ext cx="12255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878787"/>
                </a:solidFill>
                <a:latin typeface="Calibri"/>
                <a:cs typeface="Calibri"/>
              </a:rPr>
              <a:t>3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FD0B56-E35C-B930-0D62-6C6FE147F1AF}"/>
              </a:ext>
            </a:extLst>
          </p:cNvPr>
          <p:cNvSpPr/>
          <p:nvPr/>
        </p:nvSpPr>
        <p:spPr>
          <a:xfrm>
            <a:off x="1504569" y="4794777"/>
            <a:ext cx="6191631" cy="533400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55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5697" y="6460997"/>
            <a:ext cx="192405" cy="191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25"/>
              </a:lnSpc>
            </a:pPr>
            <a:r>
              <a:rPr sz="1500" spc="-10" dirty="0">
                <a:solidFill>
                  <a:srgbClr val="878787"/>
                </a:solidFill>
                <a:latin typeface="Calibri"/>
                <a:cs typeface="Calibri"/>
              </a:rPr>
              <a:t>12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3988" y="235077"/>
            <a:ext cx="8614411" cy="10586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Les</a:t>
            </a:r>
            <a:r>
              <a:rPr spc="-20" dirty="0"/>
              <a:t> </a:t>
            </a:r>
            <a:r>
              <a:rPr spc="-5" dirty="0"/>
              <a:t>Firewalls</a:t>
            </a:r>
          </a:p>
          <a:p>
            <a:pPr marL="21590">
              <a:lnSpc>
                <a:spcPct val="100000"/>
              </a:lnSpc>
              <a:spcBef>
                <a:spcPts val="25"/>
              </a:spcBef>
            </a:pPr>
            <a:r>
              <a:rPr lang="fr-FR" sz="4000" b="1" spc="-5" dirty="0"/>
              <a:t>T</a:t>
            </a:r>
            <a:r>
              <a:rPr sz="4000" b="1" dirty="0" err="1">
                <a:latin typeface="Times New Roman"/>
                <a:cs typeface="Times New Roman"/>
              </a:rPr>
              <a:t>opologies</a:t>
            </a:r>
            <a:r>
              <a:rPr sz="4000" b="1" spc="-5" dirty="0">
                <a:latin typeface="Times New Roman"/>
                <a:cs typeface="Times New Roman"/>
              </a:rPr>
              <a:t> de</a:t>
            </a:r>
            <a:r>
              <a:rPr lang="fr-FR" sz="4000" b="1" spc="-5" dirty="0">
                <a:latin typeface="Times New Roman"/>
                <a:cs typeface="Times New Roman"/>
              </a:rPr>
              <a:t>s</a:t>
            </a:r>
            <a:r>
              <a:rPr sz="4000" b="1" spc="-15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firewalls</a:t>
            </a:r>
            <a:r>
              <a:rPr lang="fr-FR" sz="4000" b="1" spc="-5" dirty="0">
                <a:latin typeface="Times New Roman"/>
                <a:cs typeface="Times New Roman"/>
              </a:rPr>
              <a:t> réseaux</a:t>
            </a:r>
            <a:endParaRPr sz="40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51192" y="1213103"/>
            <a:ext cx="4600956" cy="54864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8739" y="1321663"/>
            <a:ext cx="6967220" cy="5559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9085" marR="6985" indent="-287020" algn="just">
              <a:lnSpc>
                <a:spcPct val="144100"/>
              </a:lnSpc>
              <a:spcBef>
                <a:spcPts val="110"/>
              </a:spcBef>
              <a:buFont typeface="Arial MT"/>
              <a:buChar char="•"/>
              <a:tabLst>
                <a:tab pos="299720" algn="l"/>
              </a:tabLst>
            </a:pP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Bastion host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: </a:t>
            </a:r>
            <a:r>
              <a:rPr sz="1800" spc="-5" dirty="0">
                <a:latin typeface="Calibri"/>
                <a:cs typeface="Calibri"/>
              </a:rPr>
              <a:t>c’est </a:t>
            </a:r>
            <a:r>
              <a:rPr sz="1800" dirty="0">
                <a:latin typeface="Calibri"/>
                <a:cs typeface="Calibri"/>
              </a:rPr>
              <a:t>un </a:t>
            </a:r>
            <a:r>
              <a:rPr sz="1800" spc="-5" dirty="0">
                <a:latin typeface="Calibri"/>
                <a:cs typeface="Calibri"/>
              </a:rPr>
              <a:t>système informatique conçu </a:t>
            </a:r>
            <a:r>
              <a:rPr sz="1800" dirty="0">
                <a:latin typeface="Calibri"/>
                <a:cs typeface="Calibri"/>
              </a:rPr>
              <a:t>et </a:t>
            </a:r>
            <a:r>
              <a:rPr sz="1800" spc="-5" dirty="0">
                <a:latin typeface="Calibri"/>
                <a:cs typeface="Calibri"/>
              </a:rPr>
              <a:t>configuré pour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protéger les ressources </a:t>
            </a:r>
            <a:r>
              <a:rPr sz="1800" dirty="0">
                <a:latin typeface="Calibri"/>
                <a:cs typeface="Calibri"/>
              </a:rPr>
              <a:t>réseau </a:t>
            </a:r>
            <a:r>
              <a:rPr sz="1800" spc="-5" dirty="0">
                <a:latin typeface="Calibri"/>
                <a:cs typeface="Calibri"/>
              </a:rPr>
              <a:t>contre </a:t>
            </a:r>
            <a:r>
              <a:rPr sz="1800" dirty="0">
                <a:latin typeface="Calibri"/>
                <a:cs typeface="Calibri"/>
              </a:rPr>
              <a:t>une attaque. Il est </a:t>
            </a:r>
            <a:r>
              <a:rPr sz="1800" spc="-5" dirty="0">
                <a:latin typeface="Calibri"/>
                <a:cs typeface="Calibri"/>
              </a:rPr>
              <a:t>placé entre </a:t>
            </a:r>
            <a:r>
              <a:rPr sz="1800" dirty="0">
                <a:latin typeface="Calibri"/>
                <a:cs typeface="Calibri"/>
              </a:rPr>
              <a:t> deux réseaux et </a:t>
            </a:r>
            <a:r>
              <a:rPr sz="1800" spc="-5" dirty="0">
                <a:latin typeface="Calibri"/>
                <a:cs typeface="Calibri"/>
              </a:rPr>
              <a:t>agit comme</a:t>
            </a:r>
            <a:r>
              <a:rPr sz="1800" dirty="0">
                <a:latin typeface="Calibri"/>
                <a:cs typeface="Calibri"/>
              </a:rPr>
              <a:t> une </a:t>
            </a:r>
            <a:r>
              <a:rPr sz="1800" spc="-5" dirty="0">
                <a:latin typeface="Calibri"/>
                <a:cs typeface="Calibri"/>
              </a:rPr>
              <a:t>passerelle </a:t>
            </a:r>
            <a:r>
              <a:rPr sz="1800" dirty="0">
                <a:latin typeface="Calibri"/>
                <a:cs typeface="Calibri"/>
              </a:rPr>
              <a:t>au</a:t>
            </a:r>
            <a:r>
              <a:rPr sz="1800" spc="40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niveau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5" dirty="0">
                <a:latin typeface="Calibri"/>
                <a:cs typeface="Calibri"/>
              </a:rPr>
              <a:t>l'application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Le trafic </a:t>
            </a:r>
            <a:r>
              <a:rPr sz="1800" dirty="0">
                <a:latin typeface="Calibri"/>
                <a:cs typeface="Calibri"/>
              </a:rPr>
              <a:t>entrant </a:t>
            </a:r>
            <a:r>
              <a:rPr sz="1800" spc="-5" dirty="0">
                <a:latin typeface="Calibri"/>
                <a:cs typeface="Calibri"/>
              </a:rPr>
              <a:t>ou sortant </a:t>
            </a:r>
            <a:r>
              <a:rPr sz="1800" dirty="0">
                <a:latin typeface="Calibri"/>
                <a:cs typeface="Calibri"/>
              </a:rPr>
              <a:t>du réseau </a:t>
            </a:r>
            <a:r>
              <a:rPr sz="1800" spc="-5" dirty="0">
                <a:latin typeface="Calibri"/>
                <a:cs typeface="Calibri"/>
              </a:rPr>
              <a:t>passe par un pare-feu, </a:t>
            </a:r>
            <a:r>
              <a:rPr sz="1800" dirty="0">
                <a:latin typeface="Calibri"/>
                <a:cs typeface="Calibri"/>
              </a:rPr>
              <a:t>qui a deux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interfaces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</a:p>
          <a:p>
            <a:pPr marL="355600" indent="-342900" algn="just">
              <a:lnSpc>
                <a:spcPct val="100000"/>
              </a:lnSpc>
              <a:spcBef>
                <a:spcPts val="950"/>
              </a:spcBef>
              <a:buChar char="-"/>
              <a:tabLst>
                <a:tab pos="355600" algn="l"/>
              </a:tabLst>
            </a:pPr>
            <a:r>
              <a:rPr sz="1800" spc="-5" dirty="0">
                <a:latin typeface="Calibri"/>
                <a:cs typeface="Calibri"/>
              </a:rPr>
              <a:t>L'interface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publique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directement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connectée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à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Internet</a:t>
            </a:r>
          </a:p>
          <a:p>
            <a:pPr marL="355600" indent="-342900" algn="just">
              <a:lnSpc>
                <a:spcPct val="100000"/>
              </a:lnSpc>
              <a:spcBef>
                <a:spcPts val="960"/>
              </a:spcBef>
              <a:buChar char="-"/>
              <a:tabLst>
                <a:tab pos="355600" algn="l"/>
              </a:tabLst>
            </a:pPr>
            <a:r>
              <a:rPr sz="1800" spc="-5" dirty="0">
                <a:latin typeface="Calibri"/>
                <a:cs typeface="Calibri"/>
              </a:rPr>
              <a:t>L'interface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privée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connectée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à</a:t>
            </a:r>
            <a:r>
              <a:rPr sz="1800" spc="-5" dirty="0">
                <a:latin typeface="Calibri"/>
                <a:cs typeface="Calibri"/>
              </a:rPr>
              <a:t> l'Intranet</a:t>
            </a:r>
            <a:endParaRPr sz="1800" dirty="0">
              <a:latin typeface="Calibri"/>
              <a:cs typeface="Calibri"/>
            </a:endParaRPr>
          </a:p>
          <a:p>
            <a:pPr marL="299085" marR="7620" indent="-287020" algn="just">
              <a:lnSpc>
                <a:spcPct val="143900"/>
              </a:lnSpc>
              <a:buFont typeface="Arial MT"/>
              <a:buChar char="•"/>
              <a:tabLst>
                <a:tab pos="299720" algn="l"/>
              </a:tabLst>
            </a:pP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Screened 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subnet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ou DMZ : </a:t>
            </a:r>
            <a:r>
              <a:rPr sz="1800" spc="-5" dirty="0">
                <a:latin typeface="Calibri"/>
                <a:cs typeface="Calibri"/>
              </a:rPr>
              <a:t>contient </a:t>
            </a:r>
            <a:r>
              <a:rPr sz="1800" dirty="0">
                <a:latin typeface="Calibri"/>
                <a:cs typeface="Calibri"/>
              </a:rPr>
              <a:t>des </a:t>
            </a:r>
            <a:r>
              <a:rPr sz="1800" spc="-5" dirty="0">
                <a:latin typeface="Calibri"/>
                <a:cs typeface="Calibri"/>
              </a:rPr>
              <a:t>hôtes </a:t>
            </a:r>
            <a:r>
              <a:rPr sz="1800" dirty="0">
                <a:latin typeface="Calibri"/>
                <a:cs typeface="Calibri"/>
              </a:rPr>
              <a:t>qui </a:t>
            </a:r>
            <a:r>
              <a:rPr sz="1800" spc="-5" dirty="0">
                <a:latin typeface="Calibri"/>
                <a:cs typeface="Calibri"/>
              </a:rPr>
              <a:t>offrent </a:t>
            </a:r>
            <a:r>
              <a:rPr sz="1800" dirty="0">
                <a:latin typeface="Calibri"/>
                <a:cs typeface="Calibri"/>
              </a:rPr>
              <a:t>des </a:t>
            </a:r>
            <a:r>
              <a:rPr sz="1800" spc="-5" dirty="0">
                <a:latin typeface="Calibri"/>
                <a:cs typeface="Calibri"/>
              </a:rPr>
              <a:t>services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publics La </a:t>
            </a:r>
            <a:r>
              <a:rPr sz="1800" dirty="0">
                <a:latin typeface="Calibri"/>
                <a:cs typeface="Calibri"/>
              </a:rPr>
              <a:t>zone </a:t>
            </a:r>
            <a:r>
              <a:rPr sz="1800" spc="-5" dirty="0">
                <a:latin typeface="Calibri"/>
                <a:cs typeface="Calibri"/>
              </a:rPr>
              <a:t>publique </a:t>
            </a:r>
            <a:r>
              <a:rPr sz="1800" dirty="0">
                <a:latin typeface="Calibri"/>
                <a:cs typeface="Calibri"/>
              </a:rPr>
              <a:t>est </a:t>
            </a:r>
            <a:r>
              <a:rPr sz="1800" spc="-5" dirty="0">
                <a:latin typeface="Calibri"/>
                <a:cs typeface="Calibri"/>
              </a:rPr>
              <a:t>connectée </a:t>
            </a:r>
            <a:r>
              <a:rPr sz="1800" dirty="0">
                <a:latin typeface="Calibri"/>
                <a:cs typeface="Calibri"/>
              </a:rPr>
              <a:t>directement à Internet et </a:t>
            </a:r>
            <a:r>
              <a:rPr sz="1800" spc="-5" dirty="0">
                <a:latin typeface="Calibri"/>
                <a:cs typeface="Calibri"/>
              </a:rPr>
              <a:t>n'a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pas</a:t>
            </a:r>
            <a:r>
              <a:rPr sz="1800" spc="204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d'hôtes</a:t>
            </a:r>
            <a:r>
              <a:rPr sz="1800" spc="2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contrôlés</a:t>
            </a:r>
            <a:r>
              <a:rPr sz="1800" spc="2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par</a:t>
            </a:r>
            <a:r>
              <a:rPr sz="1800" spc="204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l'organisation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spc="2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zone</a:t>
            </a:r>
            <a:r>
              <a:rPr sz="1800" spc="2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privée</a:t>
            </a:r>
            <a:r>
              <a:rPr sz="1800" spc="2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est</a:t>
            </a:r>
            <a:r>
              <a:rPr sz="1800" spc="1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constituée</a:t>
            </a:r>
            <a:endParaRPr sz="1800" dirty="0">
              <a:latin typeface="Calibri"/>
              <a:cs typeface="Calibri"/>
            </a:endParaRPr>
          </a:p>
          <a:p>
            <a:pPr marL="299085" algn="just">
              <a:lnSpc>
                <a:spcPct val="100000"/>
              </a:lnSpc>
              <a:spcBef>
                <a:spcPts val="960"/>
              </a:spcBef>
            </a:pPr>
            <a:r>
              <a:rPr sz="1800" dirty="0">
                <a:latin typeface="Calibri"/>
                <a:cs typeface="Calibri"/>
              </a:rPr>
              <a:t>de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systèmes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auxquels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les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internautes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n'ont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aucun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accès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professionnel.</a:t>
            </a:r>
            <a:endParaRPr sz="1800" dirty="0">
              <a:latin typeface="Calibri"/>
              <a:cs typeface="Calibri"/>
            </a:endParaRPr>
          </a:p>
          <a:p>
            <a:pPr marL="299085" marR="5080" indent="-287020" algn="just">
              <a:lnSpc>
                <a:spcPct val="143900"/>
              </a:lnSpc>
              <a:buFont typeface="Arial MT"/>
              <a:buChar char="•"/>
              <a:tabLst>
                <a:tab pos="299720" algn="l"/>
              </a:tabLst>
            </a:pP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Multi-homed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firewall: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type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pare-feu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compose</a:t>
            </a:r>
            <a:r>
              <a:rPr sz="1800" dirty="0">
                <a:latin typeface="Calibri"/>
                <a:cs typeface="Calibri"/>
              </a:rPr>
              <a:t> 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trois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interfaces</a:t>
            </a:r>
            <a:r>
              <a:rPr sz="1800" dirty="0">
                <a:latin typeface="Calibri"/>
                <a:cs typeface="Calibri"/>
              </a:rPr>
              <a:t> qui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permettent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subdiviser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davantage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les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systèmes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en 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fonction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d'objectifs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sécurité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spécifiques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dans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l'organisation.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5697" y="6460997"/>
            <a:ext cx="192405" cy="191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25"/>
              </a:lnSpc>
            </a:pPr>
            <a:r>
              <a:rPr sz="1500" spc="-10" dirty="0">
                <a:solidFill>
                  <a:srgbClr val="878787"/>
                </a:solidFill>
                <a:latin typeface="Calibri"/>
                <a:cs typeface="Calibri"/>
              </a:rPr>
              <a:t>13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95400" y="678257"/>
            <a:ext cx="194881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25"/>
              </a:spcBef>
            </a:pPr>
            <a:r>
              <a:rPr sz="4000" b="1" spc="-15" dirty="0">
                <a:latin typeface="Times New Roman"/>
                <a:cs typeface="Times New Roman"/>
              </a:rPr>
              <a:t>DMZ</a:t>
            </a:r>
            <a:endParaRPr sz="40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41335" y="3384803"/>
            <a:ext cx="4358639" cy="32186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39674" y="1490853"/>
            <a:ext cx="11715115" cy="4505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Une</a:t>
            </a:r>
            <a:r>
              <a:rPr sz="1800" spc="3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zone</a:t>
            </a:r>
            <a:r>
              <a:rPr sz="1800" spc="370" dirty="0"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DMZ</a:t>
            </a:r>
            <a:r>
              <a:rPr sz="1800" b="1" spc="39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DeMilitarized</a:t>
            </a:r>
            <a:r>
              <a:rPr sz="1800" b="1" spc="3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Zone</a:t>
            </a:r>
            <a:r>
              <a:rPr sz="1800" spc="-5" dirty="0">
                <a:latin typeface="Calibri"/>
                <a:cs typeface="Calibri"/>
              </a:rPr>
              <a:t>)</a:t>
            </a:r>
            <a:r>
              <a:rPr sz="1800" spc="3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est</a:t>
            </a:r>
            <a:r>
              <a:rPr sz="1800" spc="3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une</a:t>
            </a:r>
            <a:r>
              <a:rPr sz="1800" spc="3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zone</a:t>
            </a:r>
            <a:r>
              <a:rPr sz="1800" spc="3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3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réseau</a:t>
            </a:r>
            <a:r>
              <a:rPr sz="1800" spc="3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privée</a:t>
            </a:r>
            <a:r>
              <a:rPr sz="1800" spc="3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</a:t>
            </a:r>
            <a:r>
              <a:rPr sz="1800" spc="3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faisant</a:t>
            </a:r>
            <a:r>
              <a:rPr sz="1800" spc="3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partie</a:t>
            </a:r>
            <a:r>
              <a:rPr sz="1800" spc="3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ni</a:t>
            </a:r>
            <a:r>
              <a:rPr sz="1800" spc="37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du</a:t>
            </a:r>
            <a:r>
              <a:rPr sz="1800" spc="38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LAN</a:t>
            </a:r>
            <a:r>
              <a:rPr sz="1800" spc="38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privé</a:t>
            </a:r>
            <a:r>
              <a:rPr sz="1800" spc="3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ni</a:t>
            </a:r>
            <a:r>
              <a:rPr sz="1800" spc="37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de</a:t>
            </a:r>
            <a:r>
              <a:rPr sz="1800" spc="3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l’Internet.</a:t>
            </a:r>
            <a:endParaRPr sz="1800">
              <a:latin typeface="Calibri"/>
              <a:cs typeface="Calibri"/>
            </a:endParaRPr>
          </a:p>
          <a:p>
            <a:pPr marL="12700" marR="5080" algn="just">
              <a:lnSpc>
                <a:spcPct val="172000"/>
              </a:lnSpc>
              <a:spcBef>
                <a:spcPts val="5"/>
              </a:spcBef>
            </a:pPr>
            <a:r>
              <a:rPr sz="1800" spc="-5" dirty="0">
                <a:latin typeface="Calibri"/>
                <a:cs typeface="Calibri"/>
              </a:rPr>
              <a:t>Concrètement, </a:t>
            </a:r>
            <a:r>
              <a:rPr sz="1800" dirty="0">
                <a:latin typeface="Calibri"/>
                <a:cs typeface="Calibri"/>
              </a:rPr>
              <a:t>c’est une machine </a:t>
            </a:r>
            <a:r>
              <a:rPr sz="1800" spc="-5" dirty="0">
                <a:latin typeface="Calibri"/>
                <a:cs typeface="Calibri"/>
              </a:rPr>
              <a:t>ou </a:t>
            </a:r>
            <a:r>
              <a:rPr sz="1800" spc="5" dirty="0">
                <a:latin typeface="Calibri"/>
                <a:cs typeface="Calibri"/>
              </a:rPr>
              <a:t>un </a:t>
            </a:r>
            <a:r>
              <a:rPr sz="1800" dirty="0">
                <a:latin typeface="Calibri"/>
                <a:cs typeface="Calibri"/>
              </a:rPr>
              <a:t>réseau </a:t>
            </a:r>
            <a:r>
              <a:rPr sz="1800" spc="-5" dirty="0">
                <a:latin typeface="Calibri"/>
                <a:cs typeface="Calibri"/>
              </a:rPr>
              <a:t>placé comme </a:t>
            </a:r>
            <a:r>
              <a:rPr sz="1800" spc="5" dirty="0">
                <a:latin typeface="Calibri"/>
                <a:cs typeface="Calibri"/>
              </a:rPr>
              <a:t>un </a:t>
            </a:r>
            <a:r>
              <a:rPr sz="1800" dirty="0">
                <a:latin typeface="Calibri"/>
                <a:cs typeface="Calibri"/>
              </a:rPr>
              <a:t>réseau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neutre entre le </a:t>
            </a:r>
            <a:r>
              <a:rPr sz="1800" dirty="0">
                <a:latin typeface="Calibri"/>
                <a:cs typeface="Calibri"/>
              </a:rPr>
              <a:t>réseau </a:t>
            </a:r>
            <a:r>
              <a:rPr sz="1800" spc="-5" dirty="0">
                <a:latin typeface="Calibri"/>
                <a:cs typeface="Calibri"/>
              </a:rPr>
              <a:t>privé (Intranet) </a:t>
            </a:r>
            <a:r>
              <a:rPr sz="1800" dirty="0">
                <a:latin typeface="Calibri"/>
                <a:cs typeface="Calibri"/>
              </a:rPr>
              <a:t>et </a:t>
            </a:r>
            <a:r>
              <a:rPr sz="1800" spc="-5" dirty="0">
                <a:latin typeface="Calibri"/>
                <a:cs typeface="Calibri"/>
              </a:rPr>
              <a:t>le </a:t>
            </a:r>
            <a:r>
              <a:rPr sz="1800" dirty="0">
                <a:latin typeface="Calibri"/>
                <a:cs typeface="Calibri"/>
              </a:rPr>
              <a:t>réseau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public (Internet)</a:t>
            </a:r>
            <a:r>
              <a:rPr sz="1800" spc="7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pour </a:t>
            </a:r>
            <a:r>
              <a:rPr sz="1800" dirty="0">
                <a:latin typeface="Calibri"/>
                <a:cs typeface="Calibri"/>
              </a:rPr>
              <a:t>empêcher tout </a:t>
            </a:r>
            <a:r>
              <a:rPr sz="1800" spc="-5" dirty="0">
                <a:latin typeface="Calibri"/>
                <a:cs typeface="Calibri"/>
              </a:rPr>
              <a:t>accès </a:t>
            </a:r>
            <a:r>
              <a:rPr sz="1800" dirty="0">
                <a:latin typeface="Calibri"/>
                <a:cs typeface="Calibri"/>
              </a:rPr>
              <a:t>du réseau </a:t>
            </a:r>
            <a:r>
              <a:rPr sz="1800" spc="-5" dirty="0">
                <a:latin typeface="Calibri"/>
                <a:cs typeface="Calibri"/>
              </a:rPr>
              <a:t>public </a:t>
            </a:r>
            <a:r>
              <a:rPr sz="1800" dirty="0">
                <a:latin typeface="Calibri"/>
                <a:cs typeface="Calibri"/>
              </a:rPr>
              <a:t>vers </a:t>
            </a:r>
            <a:r>
              <a:rPr sz="1800" spc="-5" dirty="0">
                <a:latin typeface="Calibri"/>
                <a:cs typeface="Calibri"/>
              </a:rPr>
              <a:t>les ressources </a:t>
            </a:r>
            <a:r>
              <a:rPr sz="1800" dirty="0">
                <a:latin typeface="Calibri"/>
                <a:cs typeface="Calibri"/>
              </a:rPr>
              <a:t>et</a:t>
            </a:r>
            <a:r>
              <a:rPr sz="1800" spc="409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données </a:t>
            </a:r>
            <a:r>
              <a:rPr sz="1800" dirty="0">
                <a:latin typeface="Calibri"/>
                <a:cs typeface="Calibri"/>
              </a:rPr>
              <a:t>du réseau </a:t>
            </a:r>
            <a:r>
              <a:rPr sz="1800" spc="-5" dirty="0">
                <a:latin typeface="Calibri"/>
                <a:cs typeface="Calibri"/>
              </a:rPr>
              <a:t>privé. Elle </a:t>
            </a:r>
            <a:r>
              <a:rPr sz="1800" dirty="0">
                <a:latin typeface="Calibri"/>
                <a:cs typeface="Calibri"/>
              </a:rPr>
              <a:t>est </a:t>
            </a:r>
            <a:r>
              <a:rPr sz="1800" spc="-5" dirty="0">
                <a:latin typeface="Calibri"/>
                <a:cs typeface="Calibri"/>
              </a:rPr>
              <a:t>isolée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par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firewall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mais avec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règles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filtrage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moins </a:t>
            </a:r>
            <a:r>
              <a:rPr sz="1800" spc="-5" dirty="0">
                <a:latin typeface="Calibri"/>
                <a:cs typeface="Calibri"/>
              </a:rPr>
              <a:t>contraignantes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LAN.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100">
              <a:latin typeface="Calibri"/>
              <a:cs typeface="Calibri"/>
            </a:endParaRPr>
          </a:p>
          <a:p>
            <a:pPr marL="330835" indent="-287655">
              <a:lnSpc>
                <a:spcPct val="100000"/>
              </a:lnSpc>
              <a:buSzPct val="114285"/>
              <a:buFont typeface="Arial MT"/>
              <a:buChar char="•"/>
              <a:tabLst>
                <a:tab pos="330835" algn="l"/>
                <a:tab pos="331470" algn="l"/>
              </a:tabLst>
            </a:pPr>
            <a:r>
              <a:rPr sz="1400" spc="-5" dirty="0">
                <a:latin typeface="Calibri"/>
                <a:cs typeface="Calibri"/>
              </a:rPr>
              <a:t>Contient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les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serveurs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qui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doivent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être </a:t>
            </a:r>
            <a:r>
              <a:rPr sz="1400" spc="-5">
                <a:latin typeface="Calibri"/>
                <a:cs typeface="Calibri"/>
              </a:rPr>
              <a:t>accessible</a:t>
            </a:r>
            <a:r>
              <a:rPr lang="fr-FR" sz="1400" spc="-5">
                <a:latin typeface="Calibri"/>
                <a:cs typeface="Calibri"/>
              </a:rPr>
              <a:t>s</a:t>
            </a:r>
            <a:r>
              <a:rPr sz="1400" spc="5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depuis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un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réseau extérieur:</a:t>
            </a:r>
            <a:endParaRPr sz="14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640"/>
              </a:spcBef>
            </a:pPr>
            <a:r>
              <a:rPr sz="1600" spc="-10" dirty="0">
                <a:latin typeface="Segoe UI Emoji"/>
                <a:cs typeface="Segoe UI Emoji"/>
              </a:rPr>
              <a:t>✔</a:t>
            </a:r>
            <a:r>
              <a:rPr sz="1600" spc="-125" dirty="0">
                <a:latin typeface="Segoe UI Emoji"/>
                <a:cs typeface="Segoe UI Emoji"/>
              </a:rPr>
              <a:t> </a:t>
            </a:r>
            <a:r>
              <a:rPr sz="1400" spc="-5" dirty="0">
                <a:latin typeface="Calibri"/>
                <a:cs typeface="Calibri"/>
              </a:rPr>
              <a:t>Serveu</a:t>
            </a:r>
            <a:r>
              <a:rPr sz="1400" dirty="0">
                <a:latin typeface="Calibri"/>
                <a:cs typeface="Calibri"/>
              </a:rPr>
              <a:t>rs W</a:t>
            </a:r>
            <a:r>
              <a:rPr sz="1400" spc="-5" dirty="0">
                <a:latin typeface="Calibri"/>
                <a:cs typeface="Calibri"/>
              </a:rPr>
              <a:t>e</a:t>
            </a:r>
            <a:r>
              <a:rPr sz="1400" dirty="0">
                <a:latin typeface="Calibri"/>
                <a:cs typeface="Calibri"/>
              </a:rPr>
              <a:t>b</a:t>
            </a:r>
            <a:endParaRPr sz="14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600"/>
              </a:spcBef>
            </a:pPr>
            <a:r>
              <a:rPr sz="1600" spc="-5" dirty="0">
                <a:latin typeface="Segoe UI Emoji"/>
                <a:cs typeface="Segoe UI Emoji"/>
              </a:rPr>
              <a:t>✔</a:t>
            </a:r>
            <a:r>
              <a:rPr sz="1600" spc="-125" dirty="0">
                <a:latin typeface="Segoe UI Emoji"/>
                <a:cs typeface="Segoe UI Emoji"/>
              </a:rPr>
              <a:t> </a:t>
            </a:r>
            <a:r>
              <a:rPr sz="1400" spc="-5" dirty="0">
                <a:latin typeface="Calibri"/>
                <a:cs typeface="Calibri"/>
              </a:rPr>
              <a:t>Serve</a:t>
            </a:r>
            <a:r>
              <a:rPr sz="1400" spc="-10" dirty="0">
                <a:latin typeface="Calibri"/>
                <a:cs typeface="Calibri"/>
              </a:rPr>
              <a:t>u</a:t>
            </a:r>
            <a:r>
              <a:rPr sz="1400" dirty="0">
                <a:latin typeface="Calibri"/>
                <a:cs typeface="Calibri"/>
              </a:rPr>
              <a:t>rs </a:t>
            </a:r>
            <a:r>
              <a:rPr sz="1400" spc="-10" dirty="0">
                <a:latin typeface="Calibri"/>
                <a:cs typeface="Calibri"/>
              </a:rPr>
              <a:t>d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message</a:t>
            </a:r>
            <a:r>
              <a:rPr sz="1400" dirty="0">
                <a:latin typeface="Calibri"/>
                <a:cs typeface="Calibri"/>
              </a:rPr>
              <a:t>rie</a:t>
            </a:r>
            <a:endParaRPr sz="14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605"/>
              </a:spcBef>
            </a:pPr>
            <a:r>
              <a:rPr sz="1600" spc="-10" dirty="0">
                <a:latin typeface="Segoe UI Emoji"/>
                <a:cs typeface="Segoe UI Emoji"/>
              </a:rPr>
              <a:t>✔</a:t>
            </a:r>
            <a:r>
              <a:rPr sz="1600" spc="-125" dirty="0">
                <a:latin typeface="Segoe UI Emoji"/>
                <a:cs typeface="Segoe UI Emoji"/>
              </a:rPr>
              <a:t> </a:t>
            </a:r>
            <a:r>
              <a:rPr sz="1400" spc="-5" dirty="0">
                <a:latin typeface="Calibri"/>
                <a:cs typeface="Calibri"/>
              </a:rPr>
              <a:t>Serveu</a:t>
            </a:r>
            <a:r>
              <a:rPr sz="1400" dirty="0">
                <a:latin typeface="Calibri"/>
                <a:cs typeface="Calibri"/>
              </a:rPr>
              <a:t>rs </a:t>
            </a:r>
            <a:r>
              <a:rPr sz="1400" spc="-5" dirty="0">
                <a:latin typeface="Calibri"/>
                <a:cs typeface="Calibri"/>
              </a:rPr>
              <a:t>D</a:t>
            </a:r>
            <a:r>
              <a:rPr sz="1400" dirty="0">
                <a:latin typeface="Calibri"/>
                <a:cs typeface="Calibri"/>
              </a:rPr>
              <a:t>NS</a:t>
            </a:r>
            <a:endParaRPr sz="1400">
              <a:latin typeface="Calibri"/>
              <a:cs typeface="Calibri"/>
            </a:endParaRPr>
          </a:p>
          <a:p>
            <a:pPr marL="330835" indent="-287655">
              <a:lnSpc>
                <a:spcPct val="100000"/>
              </a:lnSpc>
              <a:spcBef>
                <a:spcPts val="800"/>
              </a:spcBef>
              <a:buSzPct val="114285"/>
              <a:buFont typeface="Arial MT"/>
              <a:buChar char="•"/>
              <a:tabLst>
                <a:tab pos="330835" algn="l"/>
                <a:tab pos="331470" algn="l"/>
              </a:tabLst>
            </a:pPr>
            <a:r>
              <a:rPr sz="1400" b="1" dirty="0">
                <a:solidFill>
                  <a:srgbClr val="C00000"/>
                </a:solidFill>
                <a:latin typeface="Calibri"/>
                <a:cs typeface="Calibri"/>
              </a:rPr>
              <a:t>Configurations</a:t>
            </a:r>
            <a:r>
              <a:rPr sz="1400" b="1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libri"/>
                <a:cs typeface="Calibri"/>
              </a:rPr>
              <a:t>DMZ:</a:t>
            </a:r>
            <a:endParaRPr sz="14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640"/>
              </a:spcBef>
            </a:pPr>
            <a:r>
              <a:rPr sz="1600" spc="-10" dirty="0">
                <a:latin typeface="Segoe UI Emoji"/>
                <a:cs typeface="Segoe UI Emoji"/>
              </a:rPr>
              <a:t>✔</a:t>
            </a:r>
            <a:r>
              <a:rPr sz="1600" spc="-125" dirty="0">
                <a:latin typeface="Segoe UI Emoji"/>
                <a:cs typeface="Segoe UI Emoji"/>
              </a:rPr>
              <a:t> </a:t>
            </a:r>
            <a:r>
              <a:rPr sz="1400" spc="-5" dirty="0">
                <a:latin typeface="Calibri"/>
                <a:cs typeface="Calibri"/>
              </a:rPr>
              <a:t>Les</a:t>
            </a:r>
            <a:r>
              <a:rPr sz="1400" dirty="0">
                <a:latin typeface="Calibri"/>
                <a:cs typeface="Calibri"/>
              </a:rPr>
              <a:t> réseaux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internes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et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externes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peuvent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</a:t>
            </a:r>
            <a:r>
              <a:rPr sz="1400" spc="-5" dirty="0">
                <a:latin typeface="Calibri"/>
                <a:cs typeface="Calibri"/>
              </a:rPr>
              <a:t> connecter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à la DMZ</a:t>
            </a:r>
            <a:endParaRPr sz="14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600"/>
              </a:spcBef>
            </a:pPr>
            <a:r>
              <a:rPr sz="1600" spc="-10" dirty="0">
                <a:latin typeface="Segoe UI Emoji"/>
                <a:cs typeface="Segoe UI Emoji"/>
              </a:rPr>
              <a:t>✔</a:t>
            </a:r>
            <a:r>
              <a:rPr sz="1600" spc="-125" dirty="0">
                <a:latin typeface="Segoe UI Emoji"/>
                <a:cs typeface="Segoe UI Emoji"/>
              </a:rPr>
              <a:t> </a:t>
            </a:r>
            <a:r>
              <a:rPr sz="1400" spc="-5" dirty="0">
                <a:latin typeface="Calibri"/>
                <a:cs typeface="Calibri"/>
              </a:rPr>
              <a:t>Les hôtes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de</a:t>
            </a:r>
            <a:r>
              <a:rPr sz="1400" dirty="0">
                <a:latin typeface="Calibri"/>
                <a:cs typeface="Calibri"/>
              </a:rPr>
              <a:t> la DMZ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peuvent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</a:t>
            </a:r>
            <a:r>
              <a:rPr sz="1400" spc="-5" dirty="0">
                <a:latin typeface="Calibri"/>
                <a:cs typeface="Calibri"/>
              </a:rPr>
              <a:t> connecter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aux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réseaux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externes</a:t>
            </a:r>
            <a:endParaRPr sz="14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600"/>
              </a:spcBef>
            </a:pPr>
            <a:r>
              <a:rPr sz="1600" spc="-5" dirty="0">
                <a:latin typeface="Segoe UI Emoji"/>
                <a:cs typeface="Segoe UI Emoji"/>
              </a:rPr>
              <a:t>✔</a:t>
            </a:r>
            <a:r>
              <a:rPr sz="1600" spc="-125" dirty="0">
                <a:latin typeface="Segoe UI Emoji"/>
                <a:cs typeface="Segoe UI Emoji"/>
              </a:rPr>
              <a:t> </a:t>
            </a:r>
            <a:r>
              <a:rPr sz="1400" dirty="0">
                <a:latin typeface="Calibri"/>
                <a:cs typeface="Calibri"/>
              </a:rPr>
              <a:t>Mais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les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hôtes de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la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DMZ</a:t>
            </a:r>
            <a:r>
              <a:rPr sz="1400" spc="-5" dirty="0">
                <a:latin typeface="Calibri"/>
                <a:cs typeface="Calibri"/>
              </a:rPr>
              <a:t> ne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peuvent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pas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</a:t>
            </a:r>
            <a:r>
              <a:rPr sz="1400" spc="-5" dirty="0">
                <a:latin typeface="Calibri"/>
                <a:cs typeface="Calibri"/>
              </a:rPr>
              <a:t> connecter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réseaux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internes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9539" y="1456944"/>
            <a:ext cx="11870690" cy="1719580"/>
          </a:xfrm>
          <a:custGeom>
            <a:avLst/>
            <a:gdLst/>
            <a:ahLst/>
            <a:cxnLst/>
            <a:rect l="l" t="t" r="r" b="b"/>
            <a:pathLst>
              <a:path w="11870690" h="1719580">
                <a:moveTo>
                  <a:pt x="0" y="286511"/>
                </a:moveTo>
                <a:lnTo>
                  <a:pt x="3750" y="240036"/>
                </a:lnTo>
                <a:lnTo>
                  <a:pt x="14607" y="195949"/>
                </a:lnTo>
                <a:lnTo>
                  <a:pt x="31981" y="154840"/>
                </a:lnTo>
                <a:lnTo>
                  <a:pt x="55282" y="117299"/>
                </a:lnTo>
                <a:lnTo>
                  <a:pt x="83920" y="83915"/>
                </a:lnTo>
                <a:lnTo>
                  <a:pt x="117304" y="55278"/>
                </a:lnTo>
                <a:lnTo>
                  <a:pt x="154846" y="31978"/>
                </a:lnTo>
                <a:lnTo>
                  <a:pt x="195954" y="14606"/>
                </a:lnTo>
                <a:lnTo>
                  <a:pt x="240039" y="3749"/>
                </a:lnTo>
                <a:lnTo>
                  <a:pt x="286512" y="0"/>
                </a:lnTo>
                <a:lnTo>
                  <a:pt x="11583924" y="0"/>
                </a:lnTo>
                <a:lnTo>
                  <a:pt x="11630399" y="3749"/>
                </a:lnTo>
                <a:lnTo>
                  <a:pt x="11674486" y="14606"/>
                </a:lnTo>
                <a:lnTo>
                  <a:pt x="11715595" y="31978"/>
                </a:lnTo>
                <a:lnTo>
                  <a:pt x="11753136" y="55278"/>
                </a:lnTo>
                <a:lnTo>
                  <a:pt x="11786520" y="83915"/>
                </a:lnTo>
                <a:lnTo>
                  <a:pt x="11815157" y="117299"/>
                </a:lnTo>
                <a:lnTo>
                  <a:pt x="11838457" y="154840"/>
                </a:lnTo>
                <a:lnTo>
                  <a:pt x="11855829" y="195949"/>
                </a:lnTo>
                <a:lnTo>
                  <a:pt x="11866686" y="240036"/>
                </a:lnTo>
                <a:lnTo>
                  <a:pt x="11870436" y="286511"/>
                </a:lnTo>
                <a:lnTo>
                  <a:pt x="11870436" y="1432559"/>
                </a:lnTo>
                <a:lnTo>
                  <a:pt x="11866686" y="1479035"/>
                </a:lnTo>
                <a:lnTo>
                  <a:pt x="11855829" y="1523122"/>
                </a:lnTo>
                <a:lnTo>
                  <a:pt x="11838457" y="1564231"/>
                </a:lnTo>
                <a:lnTo>
                  <a:pt x="11815157" y="1601772"/>
                </a:lnTo>
                <a:lnTo>
                  <a:pt x="11786520" y="1635156"/>
                </a:lnTo>
                <a:lnTo>
                  <a:pt x="11753136" y="1663793"/>
                </a:lnTo>
                <a:lnTo>
                  <a:pt x="11715595" y="1687093"/>
                </a:lnTo>
                <a:lnTo>
                  <a:pt x="11674486" y="1704465"/>
                </a:lnTo>
                <a:lnTo>
                  <a:pt x="11630399" y="1715322"/>
                </a:lnTo>
                <a:lnTo>
                  <a:pt x="11583924" y="1719071"/>
                </a:lnTo>
                <a:lnTo>
                  <a:pt x="286512" y="1719071"/>
                </a:lnTo>
                <a:lnTo>
                  <a:pt x="240039" y="1715322"/>
                </a:lnTo>
                <a:lnTo>
                  <a:pt x="195954" y="1704465"/>
                </a:lnTo>
                <a:lnTo>
                  <a:pt x="154846" y="1687093"/>
                </a:lnTo>
                <a:lnTo>
                  <a:pt x="117304" y="1663793"/>
                </a:lnTo>
                <a:lnTo>
                  <a:pt x="83920" y="1635156"/>
                </a:lnTo>
                <a:lnTo>
                  <a:pt x="55282" y="1601772"/>
                </a:lnTo>
                <a:lnTo>
                  <a:pt x="31981" y="1564231"/>
                </a:lnTo>
                <a:lnTo>
                  <a:pt x="14607" y="1523122"/>
                </a:lnTo>
                <a:lnTo>
                  <a:pt x="3750" y="1479035"/>
                </a:lnTo>
                <a:lnTo>
                  <a:pt x="0" y="1432559"/>
                </a:lnTo>
                <a:lnTo>
                  <a:pt x="0" y="286511"/>
                </a:lnTo>
                <a:close/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6024" y="669116"/>
            <a:ext cx="9909175" cy="569387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585"/>
              </a:spcBef>
            </a:pPr>
            <a:r>
              <a:rPr sz="3200" b="1" dirty="0" err="1">
                <a:latin typeface="Times New Roman"/>
                <a:cs typeface="Times New Roman"/>
              </a:rPr>
              <a:t>Récapitulatif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2711" y="1871472"/>
            <a:ext cx="5507990" cy="539115"/>
          </a:xfrm>
          <a:custGeom>
            <a:avLst/>
            <a:gdLst/>
            <a:ahLst/>
            <a:cxnLst/>
            <a:rect l="l" t="t" r="r" b="b"/>
            <a:pathLst>
              <a:path w="5507990" h="539114">
                <a:moveTo>
                  <a:pt x="5420106" y="0"/>
                </a:moveTo>
                <a:lnTo>
                  <a:pt x="87541" y="0"/>
                </a:lnTo>
                <a:lnTo>
                  <a:pt x="53200" y="7238"/>
                </a:lnTo>
                <a:lnTo>
                  <a:pt x="25412" y="26669"/>
                </a:lnTo>
                <a:lnTo>
                  <a:pt x="6794" y="55372"/>
                </a:lnTo>
                <a:lnTo>
                  <a:pt x="0" y="90042"/>
                </a:lnTo>
                <a:lnTo>
                  <a:pt x="0" y="450468"/>
                </a:lnTo>
                <a:lnTo>
                  <a:pt x="6794" y="484886"/>
                </a:lnTo>
                <a:lnTo>
                  <a:pt x="25412" y="513079"/>
                </a:lnTo>
                <a:lnTo>
                  <a:pt x="53200" y="532002"/>
                </a:lnTo>
                <a:lnTo>
                  <a:pt x="87541" y="538988"/>
                </a:lnTo>
                <a:lnTo>
                  <a:pt x="5420106" y="538988"/>
                </a:lnTo>
                <a:lnTo>
                  <a:pt x="5454396" y="532002"/>
                </a:lnTo>
                <a:lnTo>
                  <a:pt x="5482209" y="513079"/>
                </a:lnTo>
                <a:lnTo>
                  <a:pt x="5500878" y="484886"/>
                </a:lnTo>
                <a:lnTo>
                  <a:pt x="5507609" y="450468"/>
                </a:lnTo>
                <a:lnTo>
                  <a:pt x="5507609" y="90042"/>
                </a:lnTo>
                <a:lnTo>
                  <a:pt x="5500878" y="55372"/>
                </a:lnTo>
                <a:lnTo>
                  <a:pt x="5482209" y="26669"/>
                </a:lnTo>
                <a:lnTo>
                  <a:pt x="5454396" y="7238"/>
                </a:lnTo>
                <a:lnTo>
                  <a:pt x="5420106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2711" y="4931664"/>
            <a:ext cx="5507990" cy="765175"/>
          </a:xfrm>
          <a:custGeom>
            <a:avLst/>
            <a:gdLst/>
            <a:ahLst/>
            <a:cxnLst/>
            <a:rect l="l" t="t" r="r" b="b"/>
            <a:pathLst>
              <a:path w="5507990" h="539114">
                <a:moveTo>
                  <a:pt x="5420106" y="0"/>
                </a:moveTo>
                <a:lnTo>
                  <a:pt x="87541" y="0"/>
                </a:lnTo>
                <a:lnTo>
                  <a:pt x="53200" y="7238"/>
                </a:lnTo>
                <a:lnTo>
                  <a:pt x="25412" y="26669"/>
                </a:lnTo>
                <a:lnTo>
                  <a:pt x="6794" y="55372"/>
                </a:lnTo>
                <a:lnTo>
                  <a:pt x="0" y="90043"/>
                </a:lnTo>
                <a:lnTo>
                  <a:pt x="0" y="450469"/>
                </a:lnTo>
                <a:lnTo>
                  <a:pt x="6794" y="484886"/>
                </a:lnTo>
                <a:lnTo>
                  <a:pt x="25412" y="513080"/>
                </a:lnTo>
                <a:lnTo>
                  <a:pt x="53200" y="532003"/>
                </a:lnTo>
                <a:lnTo>
                  <a:pt x="87541" y="538988"/>
                </a:lnTo>
                <a:lnTo>
                  <a:pt x="5420106" y="538988"/>
                </a:lnTo>
                <a:lnTo>
                  <a:pt x="5454396" y="532003"/>
                </a:lnTo>
                <a:lnTo>
                  <a:pt x="5482209" y="513080"/>
                </a:lnTo>
                <a:lnTo>
                  <a:pt x="5500878" y="484886"/>
                </a:lnTo>
                <a:lnTo>
                  <a:pt x="5507609" y="450469"/>
                </a:lnTo>
                <a:lnTo>
                  <a:pt x="5507609" y="90043"/>
                </a:lnTo>
                <a:lnTo>
                  <a:pt x="5500878" y="55372"/>
                </a:lnTo>
                <a:lnTo>
                  <a:pt x="5482209" y="26669"/>
                </a:lnTo>
                <a:lnTo>
                  <a:pt x="5454396" y="7238"/>
                </a:lnTo>
                <a:lnTo>
                  <a:pt x="5420106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2711" y="4320540"/>
            <a:ext cx="5507990" cy="537845"/>
          </a:xfrm>
          <a:custGeom>
            <a:avLst/>
            <a:gdLst/>
            <a:ahLst/>
            <a:cxnLst/>
            <a:rect l="l" t="t" r="r" b="b"/>
            <a:pathLst>
              <a:path w="5507990" h="537845">
                <a:moveTo>
                  <a:pt x="5420106" y="0"/>
                </a:moveTo>
                <a:lnTo>
                  <a:pt x="87541" y="0"/>
                </a:lnTo>
                <a:lnTo>
                  <a:pt x="53200" y="7239"/>
                </a:lnTo>
                <a:lnTo>
                  <a:pt x="25412" y="26670"/>
                </a:lnTo>
                <a:lnTo>
                  <a:pt x="6794" y="55245"/>
                </a:lnTo>
                <a:lnTo>
                  <a:pt x="0" y="89789"/>
                </a:lnTo>
                <a:lnTo>
                  <a:pt x="0" y="449199"/>
                </a:lnTo>
                <a:lnTo>
                  <a:pt x="6794" y="483489"/>
                </a:lnTo>
                <a:lnTo>
                  <a:pt x="25412" y="511556"/>
                </a:lnTo>
                <a:lnTo>
                  <a:pt x="53200" y="530479"/>
                </a:lnTo>
                <a:lnTo>
                  <a:pt x="87541" y="537464"/>
                </a:lnTo>
                <a:lnTo>
                  <a:pt x="5420106" y="537464"/>
                </a:lnTo>
                <a:lnTo>
                  <a:pt x="5454396" y="530479"/>
                </a:lnTo>
                <a:lnTo>
                  <a:pt x="5482209" y="511556"/>
                </a:lnTo>
                <a:lnTo>
                  <a:pt x="5500878" y="483489"/>
                </a:lnTo>
                <a:lnTo>
                  <a:pt x="5507609" y="449199"/>
                </a:lnTo>
                <a:lnTo>
                  <a:pt x="5507609" y="89789"/>
                </a:lnTo>
                <a:lnTo>
                  <a:pt x="5500878" y="55245"/>
                </a:lnTo>
                <a:lnTo>
                  <a:pt x="5482209" y="26670"/>
                </a:lnTo>
                <a:lnTo>
                  <a:pt x="5454396" y="7239"/>
                </a:lnTo>
                <a:lnTo>
                  <a:pt x="5420106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2711" y="3707891"/>
            <a:ext cx="5507990" cy="537845"/>
          </a:xfrm>
          <a:custGeom>
            <a:avLst/>
            <a:gdLst/>
            <a:ahLst/>
            <a:cxnLst/>
            <a:rect l="l" t="t" r="r" b="b"/>
            <a:pathLst>
              <a:path w="5507990" h="537845">
                <a:moveTo>
                  <a:pt x="5420106" y="0"/>
                </a:moveTo>
                <a:lnTo>
                  <a:pt x="87541" y="0"/>
                </a:lnTo>
                <a:lnTo>
                  <a:pt x="53200" y="7238"/>
                </a:lnTo>
                <a:lnTo>
                  <a:pt x="25412" y="26669"/>
                </a:lnTo>
                <a:lnTo>
                  <a:pt x="6794" y="55244"/>
                </a:lnTo>
                <a:lnTo>
                  <a:pt x="0" y="89788"/>
                </a:lnTo>
                <a:lnTo>
                  <a:pt x="0" y="449198"/>
                </a:lnTo>
                <a:lnTo>
                  <a:pt x="6794" y="483488"/>
                </a:lnTo>
                <a:lnTo>
                  <a:pt x="25412" y="511555"/>
                </a:lnTo>
                <a:lnTo>
                  <a:pt x="53200" y="530478"/>
                </a:lnTo>
                <a:lnTo>
                  <a:pt x="87541" y="537463"/>
                </a:lnTo>
                <a:lnTo>
                  <a:pt x="5420106" y="537463"/>
                </a:lnTo>
                <a:lnTo>
                  <a:pt x="5454396" y="530478"/>
                </a:lnTo>
                <a:lnTo>
                  <a:pt x="5482209" y="511555"/>
                </a:lnTo>
                <a:lnTo>
                  <a:pt x="5500878" y="483488"/>
                </a:lnTo>
                <a:lnTo>
                  <a:pt x="5507609" y="449198"/>
                </a:lnTo>
                <a:lnTo>
                  <a:pt x="5507609" y="89788"/>
                </a:lnTo>
                <a:lnTo>
                  <a:pt x="5500878" y="55244"/>
                </a:lnTo>
                <a:lnTo>
                  <a:pt x="5482209" y="26669"/>
                </a:lnTo>
                <a:lnTo>
                  <a:pt x="5454396" y="7238"/>
                </a:lnTo>
                <a:lnTo>
                  <a:pt x="5420106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2711" y="3095244"/>
            <a:ext cx="5507990" cy="539115"/>
          </a:xfrm>
          <a:custGeom>
            <a:avLst/>
            <a:gdLst/>
            <a:ahLst/>
            <a:cxnLst/>
            <a:rect l="l" t="t" r="r" b="b"/>
            <a:pathLst>
              <a:path w="5507990" h="539114">
                <a:moveTo>
                  <a:pt x="5420106" y="0"/>
                </a:moveTo>
                <a:lnTo>
                  <a:pt x="87541" y="0"/>
                </a:lnTo>
                <a:lnTo>
                  <a:pt x="53200" y="7238"/>
                </a:lnTo>
                <a:lnTo>
                  <a:pt x="25412" y="26669"/>
                </a:lnTo>
                <a:lnTo>
                  <a:pt x="6794" y="55371"/>
                </a:lnTo>
                <a:lnTo>
                  <a:pt x="0" y="90042"/>
                </a:lnTo>
                <a:lnTo>
                  <a:pt x="0" y="450468"/>
                </a:lnTo>
                <a:lnTo>
                  <a:pt x="6794" y="484885"/>
                </a:lnTo>
                <a:lnTo>
                  <a:pt x="25412" y="513079"/>
                </a:lnTo>
                <a:lnTo>
                  <a:pt x="53200" y="532002"/>
                </a:lnTo>
                <a:lnTo>
                  <a:pt x="87541" y="538987"/>
                </a:lnTo>
                <a:lnTo>
                  <a:pt x="5420106" y="538987"/>
                </a:lnTo>
                <a:lnTo>
                  <a:pt x="5454396" y="532002"/>
                </a:lnTo>
                <a:lnTo>
                  <a:pt x="5482209" y="513079"/>
                </a:lnTo>
                <a:lnTo>
                  <a:pt x="5500878" y="484885"/>
                </a:lnTo>
                <a:lnTo>
                  <a:pt x="5507609" y="450468"/>
                </a:lnTo>
                <a:lnTo>
                  <a:pt x="5507609" y="90042"/>
                </a:lnTo>
                <a:lnTo>
                  <a:pt x="5500878" y="55371"/>
                </a:lnTo>
                <a:lnTo>
                  <a:pt x="5482209" y="26669"/>
                </a:lnTo>
                <a:lnTo>
                  <a:pt x="5454396" y="7238"/>
                </a:lnTo>
                <a:lnTo>
                  <a:pt x="5420106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62711" y="2484120"/>
            <a:ext cx="5507990" cy="537845"/>
          </a:xfrm>
          <a:custGeom>
            <a:avLst/>
            <a:gdLst/>
            <a:ahLst/>
            <a:cxnLst/>
            <a:rect l="l" t="t" r="r" b="b"/>
            <a:pathLst>
              <a:path w="5507990" h="537844">
                <a:moveTo>
                  <a:pt x="5420106" y="0"/>
                </a:moveTo>
                <a:lnTo>
                  <a:pt x="87541" y="0"/>
                </a:lnTo>
                <a:lnTo>
                  <a:pt x="53200" y="7238"/>
                </a:lnTo>
                <a:lnTo>
                  <a:pt x="25412" y="26669"/>
                </a:lnTo>
                <a:lnTo>
                  <a:pt x="6794" y="55244"/>
                </a:lnTo>
                <a:lnTo>
                  <a:pt x="0" y="89788"/>
                </a:lnTo>
                <a:lnTo>
                  <a:pt x="0" y="449199"/>
                </a:lnTo>
                <a:lnTo>
                  <a:pt x="6794" y="483488"/>
                </a:lnTo>
                <a:lnTo>
                  <a:pt x="25412" y="511555"/>
                </a:lnTo>
                <a:lnTo>
                  <a:pt x="53200" y="530478"/>
                </a:lnTo>
                <a:lnTo>
                  <a:pt x="87541" y="537463"/>
                </a:lnTo>
                <a:lnTo>
                  <a:pt x="5420106" y="537463"/>
                </a:lnTo>
                <a:lnTo>
                  <a:pt x="5454396" y="530478"/>
                </a:lnTo>
                <a:lnTo>
                  <a:pt x="5482209" y="511555"/>
                </a:lnTo>
                <a:lnTo>
                  <a:pt x="5500878" y="483488"/>
                </a:lnTo>
                <a:lnTo>
                  <a:pt x="5507609" y="449199"/>
                </a:lnTo>
                <a:lnTo>
                  <a:pt x="5507609" y="89788"/>
                </a:lnTo>
                <a:lnTo>
                  <a:pt x="5500878" y="55244"/>
                </a:lnTo>
                <a:lnTo>
                  <a:pt x="5482209" y="26669"/>
                </a:lnTo>
                <a:lnTo>
                  <a:pt x="5454396" y="7238"/>
                </a:lnTo>
                <a:lnTo>
                  <a:pt x="5420106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71346" y="2018157"/>
            <a:ext cx="5430329" cy="3797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8784" algn="l"/>
              </a:tabLst>
            </a:pPr>
            <a:r>
              <a:rPr sz="1600" spc="-10" dirty="0">
                <a:solidFill>
                  <a:srgbClr val="FFFFFF"/>
                </a:solidFill>
                <a:latin typeface="Segoe UI Emoji"/>
                <a:cs typeface="Segoe UI Emoji"/>
              </a:rPr>
              <a:t>✔	</a:t>
            </a:r>
            <a:r>
              <a:rPr lang="fr-FR" sz="1600" b="1" spc="-155" dirty="0">
                <a:solidFill>
                  <a:srgbClr val="FFFFFF"/>
                </a:solidFill>
                <a:latin typeface="Arial"/>
                <a:cs typeface="Arial"/>
              </a:rPr>
              <a:t>Prévention</a:t>
            </a:r>
            <a:r>
              <a:rPr lang="fr-FR" sz="16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8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600" b="1" spc="-20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6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20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600" b="1" spc="-105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1600" b="1" spc="-20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6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5" dirty="0">
                <a:solidFill>
                  <a:srgbClr val="FFFFFF"/>
                </a:solidFill>
                <a:latin typeface="Arial"/>
                <a:cs typeface="Arial"/>
              </a:rPr>
              <a:t>rés</a:t>
            </a:r>
            <a:r>
              <a:rPr sz="1600" b="1" spc="-100" dirty="0">
                <a:solidFill>
                  <a:srgbClr val="FFFFFF"/>
                </a:solidFill>
                <a:latin typeface="Arial"/>
                <a:cs typeface="Arial"/>
              </a:rPr>
              <a:t>eau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38784" algn="l"/>
              </a:tabLst>
            </a:pPr>
            <a:r>
              <a:rPr sz="1600" spc="-10" dirty="0">
                <a:solidFill>
                  <a:srgbClr val="FFFFFF"/>
                </a:solidFill>
                <a:latin typeface="Segoe UI Emoji"/>
                <a:cs typeface="Segoe UI Emoji"/>
              </a:rPr>
              <a:t>✔	</a:t>
            </a:r>
            <a:r>
              <a:rPr sz="1600" b="1" spc="-155" dirty="0" err="1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600" b="1" spc="-70" dirty="0" err="1">
                <a:solidFill>
                  <a:srgbClr val="FFFFFF"/>
                </a:solidFill>
                <a:latin typeface="Arial"/>
                <a:cs typeface="Arial"/>
              </a:rPr>
              <a:t>ontr</a:t>
            </a:r>
            <a:r>
              <a:rPr lang="fr-FR" sz="1600" b="1" spc="-70" dirty="0" err="1">
                <a:solidFill>
                  <a:srgbClr val="FFFFFF"/>
                </a:solidFill>
                <a:latin typeface="Arial"/>
                <a:cs typeface="Arial"/>
              </a:rPr>
              <a:t>ol</a:t>
            </a:r>
            <a:r>
              <a:rPr lang="fr-FR" sz="1600" b="1" spc="-85" dirty="0">
                <a:solidFill>
                  <a:srgbClr val="FFFFFF"/>
                </a:solidFill>
                <a:latin typeface="Arial"/>
                <a:cs typeface="Arial"/>
              </a:rPr>
              <a:t> du</a:t>
            </a:r>
            <a:r>
              <a:rPr sz="16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40" dirty="0">
                <a:solidFill>
                  <a:srgbClr val="FFFFFF"/>
                </a:solidFill>
                <a:latin typeface="Arial"/>
                <a:cs typeface="Arial"/>
              </a:rPr>
              <a:t>tra</a:t>
            </a:r>
            <a:r>
              <a:rPr sz="1600" b="1" spc="-70" dirty="0">
                <a:solidFill>
                  <a:srgbClr val="FFFFFF"/>
                </a:solidFill>
                <a:latin typeface="Arial"/>
                <a:cs typeface="Arial"/>
              </a:rPr>
              <a:t>fic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450" dirty="0">
              <a:latin typeface="Arial"/>
              <a:cs typeface="Arial"/>
            </a:endParaRPr>
          </a:p>
          <a:p>
            <a:pPr marL="24765">
              <a:lnSpc>
                <a:spcPct val="100000"/>
              </a:lnSpc>
            </a:pPr>
            <a:r>
              <a:rPr sz="1600" spc="-10" dirty="0">
                <a:solidFill>
                  <a:srgbClr val="FFFFFF"/>
                </a:solidFill>
                <a:latin typeface="Segoe UI Emoji"/>
                <a:cs typeface="Segoe UI Emoji"/>
              </a:rPr>
              <a:t>✔</a:t>
            </a:r>
            <a:r>
              <a:rPr sz="1600" spc="70" dirty="0">
                <a:solidFill>
                  <a:srgbClr val="FFFFFF"/>
                </a:solidFill>
                <a:latin typeface="Segoe UI Emoji"/>
                <a:cs typeface="Segoe UI Emoji"/>
              </a:rPr>
              <a:t> </a:t>
            </a:r>
            <a:r>
              <a:rPr sz="1600" b="1" spc="-15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600" b="1" spc="-75" dirty="0">
                <a:solidFill>
                  <a:srgbClr val="FFFFFF"/>
                </a:solidFill>
                <a:latin typeface="Arial"/>
                <a:cs typeface="Arial"/>
              </a:rPr>
              <a:t>uth</a:t>
            </a:r>
            <a:r>
              <a:rPr sz="1600" b="1" spc="-8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600" b="1" spc="-65" dirty="0">
                <a:solidFill>
                  <a:srgbClr val="FFFFFF"/>
                </a:solidFill>
                <a:latin typeface="Arial"/>
                <a:cs typeface="Arial"/>
              </a:rPr>
              <a:t>ntification</a:t>
            </a:r>
            <a:r>
              <a:rPr sz="1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8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600" b="1" spc="-20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FFFFFF"/>
                </a:solidFill>
                <a:latin typeface="Arial"/>
                <a:cs typeface="Arial"/>
              </a:rPr>
              <a:t>util</a:t>
            </a:r>
            <a:r>
              <a:rPr sz="1600" b="1" spc="-125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600" b="1" spc="-70" dirty="0">
                <a:solidFill>
                  <a:srgbClr val="FFFFFF"/>
                </a:solidFill>
                <a:latin typeface="Arial"/>
                <a:cs typeface="Arial"/>
              </a:rPr>
              <a:t>ateu</a:t>
            </a:r>
            <a:r>
              <a:rPr sz="1600" b="1" spc="-5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600" b="1" spc="-20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38784" algn="l"/>
              </a:tabLst>
            </a:pPr>
            <a:r>
              <a:rPr sz="1600" spc="-10" dirty="0">
                <a:solidFill>
                  <a:srgbClr val="FFFFFF"/>
                </a:solidFill>
                <a:latin typeface="Segoe UI Emoji"/>
                <a:cs typeface="Segoe UI Emoji"/>
              </a:rPr>
              <a:t>✔	</a:t>
            </a:r>
            <a:r>
              <a:rPr sz="1600" b="1" spc="-85" dirty="0">
                <a:solidFill>
                  <a:srgbClr val="FFFFFF"/>
                </a:solidFill>
                <a:latin typeface="Arial"/>
                <a:cs typeface="Arial"/>
              </a:rPr>
              <a:t>Filtrage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20" dirty="0">
                <a:solidFill>
                  <a:srgbClr val="FFFFFF"/>
                </a:solidFill>
                <a:latin typeface="Arial"/>
                <a:cs typeface="Arial"/>
              </a:rPr>
              <a:t>des</a:t>
            </a:r>
            <a:r>
              <a:rPr sz="1600" b="1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85" dirty="0">
                <a:solidFill>
                  <a:srgbClr val="FFFFFF"/>
                </a:solidFill>
                <a:latin typeface="Arial"/>
                <a:cs typeface="Arial"/>
              </a:rPr>
              <a:t>paquets,</a:t>
            </a:r>
            <a:r>
              <a:rPr sz="16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5" dirty="0">
                <a:solidFill>
                  <a:srgbClr val="FFFFFF"/>
                </a:solidFill>
                <a:latin typeface="Arial"/>
                <a:cs typeface="Arial"/>
              </a:rPr>
              <a:t>services</a:t>
            </a:r>
            <a:r>
              <a:rPr sz="1600" b="1" spc="-45" dirty="0">
                <a:solidFill>
                  <a:srgbClr val="FFFFFF"/>
                </a:solidFill>
                <a:latin typeface="Arial"/>
                <a:cs typeface="Arial"/>
              </a:rPr>
              <a:t> et</a:t>
            </a:r>
            <a:r>
              <a:rPr sz="16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85" dirty="0">
                <a:solidFill>
                  <a:srgbClr val="FFFFFF"/>
                </a:solidFill>
                <a:latin typeface="Arial"/>
                <a:cs typeface="Arial"/>
              </a:rPr>
              <a:t>protocoles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38784" algn="l"/>
              </a:tabLst>
            </a:pPr>
            <a:r>
              <a:rPr sz="1600" spc="-5" dirty="0">
                <a:solidFill>
                  <a:srgbClr val="FFFFFF"/>
                </a:solidFill>
                <a:latin typeface="Segoe UI Emoji"/>
                <a:cs typeface="Segoe UI Emoji"/>
              </a:rPr>
              <a:t>✔	</a:t>
            </a:r>
            <a:r>
              <a:rPr sz="1600" b="1" spc="-110" dirty="0">
                <a:solidFill>
                  <a:srgbClr val="FFFFFF"/>
                </a:solidFill>
                <a:latin typeface="Arial"/>
                <a:cs typeface="Arial"/>
              </a:rPr>
              <a:t>Journalisation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FFFFFF"/>
                </a:solidFill>
                <a:latin typeface="Segoe UI Emoji"/>
                <a:cs typeface="Segoe UI Emoji"/>
              </a:rPr>
              <a:t>✔</a:t>
            </a:r>
            <a:r>
              <a:rPr lang="fr-FR" sz="1600" b="1" spc="-10" dirty="0">
                <a:solidFill>
                  <a:srgbClr val="FFFFFF"/>
                </a:solidFill>
                <a:latin typeface="Segoe UI Emoji"/>
                <a:cs typeface="Segoe UI Emoji"/>
              </a:rPr>
              <a:t>Protection des applications web contre les </a:t>
            </a:r>
            <a:r>
              <a:rPr lang="fr-FR" sz="1600" b="1" spc="-10">
                <a:solidFill>
                  <a:srgbClr val="FFFFFF"/>
                </a:solidFill>
                <a:latin typeface="Segoe UI Emoji"/>
                <a:cs typeface="Segoe UI Emoji"/>
              </a:rPr>
              <a:t>attaques applicatives</a:t>
            </a:r>
            <a:endParaRPr lang="fr-FR" sz="1600" b="1" spc="-10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endParaRPr lang="fr-FR" sz="1600" b="1" spc="-1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265163" y="2370454"/>
            <a:ext cx="5762625" cy="765175"/>
          </a:xfrm>
          <a:custGeom>
            <a:avLst/>
            <a:gdLst/>
            <a:ahLst/>
            <a:cxnLst/>
            <a:rect l="l" t="t" r="r" b="b"/>
            <a:pathLst>
              <a:path w="5762625" h="765175">
                <a:moveTo>
                  <a:pt x="5670550" y="0"/>
                </a:moveTo>
                <a:lnTo>
                  <a:pt x="91566" y="0"/>
                </a:lnTo>
                <a:lnTo>
                  <a:pt x="55625" y="10160"/>
                </a:lnTo>
                <a:lnTo>
                  <a:pt x="26543" y="37846"/>
                </a:lnTo>
                <a:lnTo>
                  <a:pt x="7112" y="78359"/>
                </a:lnTo>
                <a:lnTo>
                  <a:pt x="0" y="127507"/>
                </a:lnTo>
                <a:lnTo>
                  <a:pt x="0" y="637286"/>
                </a:lnTo>
                <a:lnTo>
                  <a:pt x="7112" y="686307"/>
                </a:lnTo>
                <a:lnTo>
                  <a:pt x="26543" y="726947"/>
                </a:lnTo>
                <a:lnTo>
                  <a:pt x="55625" y="754507"/>
                </a:lnTo>
                <a:lnTo>
                  <a:pt x="91566" y="764666"/>
                </a:lnTo>
                <a:lnTo>
                  <a:pt x="5670550" y="764666"/>
                </a:lnTo>
                <a:lnTo>
                  <a:pt x="5706491" y="754507"/>
                </a:lnTo>
                <a:lnTo>
                  <a:pt x="5735574" y="726947"/>
                </a:lnTo>
                <a:lnTo>
                  <a:pt x="5755005" y="686307"/>
                </a:lnTo>
                <a:lnTo>
                  <a:pt x="5762117" y="637286"/>
                </a:lnTo>
                <a:lnTo>
                  <a:pt x="5762117" y="127507"/>
                </a:lnTo>
                <a:lnTo>
                  <a:pt x="5755005" y="78359"/>
                </a:lnTo>
                <a:lnTo>
                  <a:pt x="5735574" y="37846"/>
                </a:lnTo>
                <a:lnTo>
                  <a:pt x="5706491" y="10160"/>
                </a:lnTo>
                <a:lnTo>
                  <a:pt x="56705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236226" y="3183762"/>
            <a:ext cx="5762625" cy="1235837"/>
          </a:xfrm>
          <a:custGeom>
            <a:avLst/>
            <a:gdLst/>
            <a:ahLst/>
            <a:cxnLst/>
            <a:rect l="l" t="t" r="r" b="b"/>
            <a:pathLst>
              <a:path w="5762625" h="764539">
                <a:moveTo>
                  <a:pt x="5670550" y="0"/>
                </a:moveTo>
                <a:lnTo>
                  <a:pt x="91566" y="0"/>
                </a:lnTo>
                <a:lnTo>
                  <a:pt x="55625" y="10159"/>
                </a:lnTo>
                <a:lnTo>
                  <a:pt x="26543" y="37845"/>
                </a:lnTo>
                <a:lnTo>
                  <a:pt x="7112" y="78612"/>
                </a:lnTo>
                <a:lnTo>
                  <a:pt x="0" y="127761"/>
                </a:lnTo>
                <a:lnTo>
                  <a:pt x="0" y="638682"/>
                </a:lnTo>
                <a:lnTo>
                  <a:pt x="7112" y="687577"/>
                </a:lnTo>
                <a:lnTo>
                  <a:pt x="26543" y="727455"/>
                </a:lnTo>
                <a:lnTo>
                  <a:pt x="55625" y="754506"/>
                </a:lnTo>
                <a:lnTo>
                  <a:pt x="91566" y="764285"/>
                </a:lnTo>
                <a:lnTo>
                  <a:pt x="5670550" y="764285"/>
                </a:lnTo>
                <a:lnTo>
                  <a:pt x="5706491" y="754506"/>
                </a:lnTo>
                <a:lnTo>
                  <a:pt x="5735574" y="727455"/>
                </a:lnTo>
                <a:lnTo>
                  <a:pt x="5755005" y="687577"/>
                </a:lnTo>
                <a:lnTo>
                  <a:pt x="5762117" y="638682"/>
                </a:lnTo>
                <a:lnTo>
                  <a:pt x="5762117" y="127761"/>
                </a:lnTo>
                <a:lnTo>
                  <a:pt x="5755005" y="78612"/>
                </a:lnTo>
                <a:lnTo>
                  <a:pt x="5735574" y="37845"/>
                </a:lnTo>
                <a:lnTo>
                  <a:pt x="5706491" y="10159"/>
                </a:lnTo>
                <a:lnTo>
                  <a:pt x="56705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78667" y="4525300"/>
            <a:ext cx="5762625" cy="961100"/>
          </a:xfrm>
          <a:custGeom>
            <a:avLst/>
            <a:gdLst/>
            <a:ahLst/>
            <a:cxnLst/>
            <a:rect l="l" t="t" r="r" b="b"/>
            <a:pathLst>
              <a:path w="5762625" h="1071879">
                <a:moveTo>
                  <a:pt x="5670550" y="0"/>
                </a:moveTo>
                <a:lnTo>
                  <a:pt x="91566" y="0"/>
                </a:lnTo>
                <a:lnTo>
                  <a:pt x="55625" y="13842"/>
                </a:lnTo>
                <a:lnTo>
                  <a:pt x="26543" y="51942"/>
                </a:lnTo>
                <a:lnTo>
                  <a:pt x="7112" y="108838"/>
                </a:lnTo>
                <a:lnTo>
                  <a:pt x="0" y="179196"/>
                </a:lnTo>
                <a:lnTo>
                  <a:pt x="0" y="892733"/>
                </a:lnTo>
                <a:lnTo>
                  <a:pt x="7112" y="963002"/>
                </a:lnTo>
                <a:lnTo>
                  <a:pt x="26543" y="1019886"/>
                </a:lnTo>
                <a:lnTo>
                  <a:pt x="55625" y="1057986"/>
                </a:lnTo>
                <a:lnTo>
                  <a:pt x="91566" y="1071879"/>
                </a:lnTo>
                <a:lnTo>
                  <a:pt x="5670550" y="1071879"/>
                </a:lnTo>
                <a:lnTo>
                  <a:pt x="5706491" y="1057986"/>
                </a:lnTo>
                <a:lnTo>
                  <a:pt x="5735574" y="1019886"/>
                </a:lnTo>
                <a:lnTo>
                  <a:pt x="5755005" y="963002"/>
                </a:lnTo>
                <a:lnTo>
                  <a:pt x="5762117" y="892733"/>
                </a:lnTo>
                <a:lnTo>
                  <a:pt x="5762117" y="179196"/>
                </a:lnTo>
                <a:lnTo>
                  <a:pt x="5755005" y="108838"/>
                </a:lnTo>
                <a:lnTo>
                  <a:pt x="5735574" y="51942"/>
                </a:lnTo>
                <a:lnTo>
                  <a:pt x="5706491" y="13842"/>
                </a:lnTo>
                <a:lnTo>
                  <a:pt x="56705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380478" y="1948942"/>
            <a:ext cx="4744721" cy="95859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8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45" dirty="0">
                <a:solidFill>
                  <a:srgbClr val="FFFFFF"/>
                </a:solidFill>
                <a:latin typeface="Arial"/>
                <a:cs typeface="Arial"/>
              </a:rPr>
              <a:t>Ne</a:t>
            </a:r>
            <a:r>
              <a:rPr sz="16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prévient</a:t>
            </a:r>
            <a:r>
              <a:rPr sz="1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7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600" b="1" spc="-145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sz="16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8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600" b="1" spc="-20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95" dirty="0">
                <a:solidFill>
                  <a:srgbClr val="FFFFFF"/>
                </a:solidFill>
                <a:latin typeface="Arial"/>
                <a:cs typeface="Arial"/>
              </a:rPr>
              <a:t>back</a:t>
            </a:r>
            <a:r>
              <a:rPr sz="1600" b="1" spc="-100" dirty="0">
                <a:solidFill>
                  <a:srgbClr val="FFFFFF"/>
                </a:solidFill>
                <a:latin typeface="Arial"/>
                <a:cs typeface="Arial"/>
              </a:rPr>
              <a:t>doors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sz="1600" b="1" spc="-8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45" dirty="0">
                <a:solidFill>
                  <a:srgbClr val="FFFFFF"/>
                </a:solidFill>
                <a:latin typeface="Arial"/>
                <a:cs typeface="Arial"/>
              </a:rPr>
              <a:t>Ne</a:t>
            </a:r>
            <a:r>
              <a:rPr sz="16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75" dirty="0">
                <a:solidFill>
                  <a:srgbClr val="FFFFFF"/>
                </a:solidFill>
                <a:latin typeface="Arial"/>
                <a:cs typeface="Arial"/>
              </a:rPr>
              <a:t>protè</a:t>
            </a:r>
            <a:r>
              <a:rPr sz="1600" b="1" spc="-100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1600" b="1" spc="-8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6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7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600" b="1" spc="-145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sz="16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8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lang="fr-FR" sz="1600" b="1" spc="-200" dirty="0">
                <a:solidFill>
                  <a:srgbClr val="FFFFFF"/>
                </a:solidFill>
                <a:latin typeface="Arial"/>
                <a:cs typeface="Arial"/>
              </a:rPr>
              <a:t> certaines </a:t>
            </a:r>
            <a:r>
              <a:rPr sz="1600" b="1" spc="-110" dirty="0">
                <a:solidFill>
                  <a:srgbClr val="FFFFFF"/>
                </a:solidFill>
                <a:latin typeface="Arial"/>
                <a:cs typeface="Arial"/>
              </a:rPr>
              <a:t>menaces</a:t>
            </a:r>
            <a:r>
              <a:rPr sz="16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65" dirty="0">
                <a:solidFill>
                  <a:srgbClr val="FFFFFF"/>
                </a:solidFill>
                <a:latin typeface="Arial"/>
                <a:cs typeface="Arial"/>
              </a:rPr>
              <a:t>intern</a:t>
            </a:r>
            <a:r>
              <a:rPr sz="1600" b="1" spc="-145" dirty="0">
                <a:solidFill>
                  <a:srgbClr val="FFFFFF"/>
                </a:solidFill>
                <a:latin typeface="Arial"/>
                <a:cs typeface="Arial"/>
              </a:rPr>
              <a:t>es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  <p:sp>
        <p:nvSpPr>
          <p:cNvPr id="16" name="object 16"/>
          <p:cNvSpPr txBox="1"/>
          <p:nvPr/>
        </p:nvSpPr>
        <p:spPr>
          <a:xfrm>
            <a:off x="6398576" y="3232068"/>
            <a:ext cx="5422078" cy="186140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8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6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75" dirty="0">
                <a:solidFill>
                  <a:srgbClr val="FFFFFF"/>
                </a:solidFill>
                <a:latin typeface="Arial"/>
                <a:cs typeface="Arial"/>
              </a:rPr>
              <a:t>N’est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20" dirty="0">
                <a:solidFill>
                  <a:srgbClr val="FFFFFF"/>
                </a:solidFill>
                <a:latin typeface="Arial"/>
                <a:cs typeface="Arial"/>
              </a:rPr>
              <a:t>pas</a:t>
            </a:r>
            <a:r>
              <a:rPr sz="16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5" dirty="0">
                <a:solidFill>
                  <a:srgbClr val="FFFFFF"/>
                </a:solidFill>
                <a:latin typeface="Arial"/>
                <a:cs typeface="Arial"/>
              </a:rPr>
              <a:t>une</a:t>
            </a:r>
            <a:r>
              <a:rPr sz="16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alternative </a:t>
            </a:r>
            <a:r>
              <a:rPr sz="1600" b="1" spc="-95" dirty="0">
                <a:solidFill>
                  <a:srgbClr val="FFFFFF"/>
                </a:solidFill>
                <a:latin typeface="Arial"/>
                <a:cs typeface="Arial"/>
              </a:rPr>
              <a:t>aux</a:t>
            </a:r>
            <a:r>
              <a:rPr sz="16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80" dirty="0">
                <a:solidFill>
                  <a:srgbClr val="FFFFFF"/>
                </a:solidFill>
                <a:latin typeface="Arial"/>
                <a:cs typeface="Arial"/>
              </a:rPr>
              <a:t>antivirus</a:t>
            </a:r>
            <a:r>
              <a:rPr sz="16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45" dirty="0">
                <a:solidFill>
                  <a:srgbClr val="FFFFFF"/>
                </a:solidFill>
                <a:latin typeface="Arial"/>
                <a:cs typeface="Arial"/>
              </a:rPr>
              <a:t>et</a:t>
            </a:r>
            <a:r>
              <a:rPr sz="16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65" dirty="0">
                <a:solidFill>
                  <a:srgbClr val="FFFFFF"/>
                </a:solidFill>
                <a:latin typeface="Arial"/>
                <a:cs typeface="Arial"/>
              </a:rPr>
              <a:t>antimalwares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b="1" spc="-8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6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45" dirty="0">
                <a:solidFill>
                  <a:srgbClr val="FFFFFF"/>
                </a:solidFill>
                <a:latin typeface="Arial"/>
                <a:cs typeface="Arial"/>
              </a:rPr>
              <a:t>Ne</a:t>
            </a:r>
            <a:r>
              <a:rPr sz="16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prévient</a:t>
            </a:r>
            <a:r>
              <a:rPr sz="1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20" dirty="0">
                <a:solidFill>
                  <a:srgbClr val="FFFFFF"/>
                </a:solidFill>
                <a:latin typeface="Arial"/>
                <a:cs typeface="Arial"/>
              </a:rPr>
              <a:t>pas</a:t>
            </a:r>
            <a:r>
              <a:rPr sz="1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75" dirty="0">
                <a:solidFill>
                  <a:srgbClr val="FFFFFF"/>
                </a:solidFill>
                <a:latin typeface="Arial"/>
                <a:cs typeface="Arial"/>
              </a:rPr>
              <a:t>contre</a:t>
            </a:r>
            <a:r>
              <a:rPr sz="1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5" dirty="0">
                <a:solidFill>
                  <a:srgbClr val="FFFFFF"/>
                </a:solidFill>
                <a:latin typeface="Arial"/>
                <a:cs typeface="Arial"/>
              </a:rPr>
              <a:t>les</a:t>
            </a:r>
            <a:r>
              <a:rPr sz="16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85" dirty="0">
                <a:solidFill>
                  <a:srgbClr val="FFFFFF"/>
                </a:solidFill>
                <a:latin typeface="Arial"/>
                <a:cs typeface="Arial"/>
              </a:rPr>
              <a:t>attaques</a:t>
            </a:r>
            <a:r>
              <a:rPr sz="16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7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6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0" dirty="0">
                <a:solidFill>
                  <a:srgbClr val="FFFFFF"/>
                </a:solidFill>
                <a:latin typeface="Arial"/>
                <a:cs typeface="Arial"/>
              </a:rPr>
              <a:t>social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0" dirty="0">
                <a:solidFill>
                  <a:srgbClr val="FFFFFF"/>
                </a:solidFill>
                <a:latin typeface="Arial"/>
                <a:cs typeface="Arial"/>
              </a:rPr>
              <a:t>engineering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600" b="1" spc="-8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FFFFFF"/>
                </a:solidFill>
                <a:latin typeface="Arial"/>
                <a:cs typeface="Arial"/>
              </a:rPr>
              <a:t>Ne</a:t>
            </a:r>
            <a:r>
              <a:rPr sz="16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prévient</a:t>
            </a:r>
            <a:r>
              <a:rPr sz="16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20" dirty="0">
                <a:solidFill>
                  <a:srgbClr val="FFFFFF"/>
                </a:solidFill>
                <a:latin typeface="Arial"/>
                <a:cs typeface="Arial"/>
              </a:rPr>
              <a:t>pas</a:t>
            </a:r>
            <a:r>
              <a:rPr sz="1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75" dirty="0">
                <a:solidFill>
                  <a:srgbClr val="FFFFFF"/>
                </a:solidFill>
                <a:latin typeface="Arial"/>
                <a:cs typeface="Arial"/>
              </a:rPr>
              <a:t>contre</a:t>
            </a:r>
            <a:r>
              <a:rPr sz="16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6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0" dirty="0">
                <a:solidFill>
                  <a:srgbClr val="FFFFFF"/>
                </a:solidFill>
                <a:latin typeface="Arial"/>
                <a:cs typeface="Arial"/>
              </a:rPr>
              <a:t>mauvaise</a:t>
            </a:r>
            <a:r>
              <a:rPr sz="16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85" dirty="0">
                <a:solidFill>
                  <a:srgbClr val="FFFFFF"/>
                </a:solidFill>
                <a:latin typeface="Arial"/>
                <a:cs typeface="Arial"/>
              </a:rPr>
              <a:t>utilisations</a:t>
            </a:r>
            <a:r>
              <a:rPr sz="16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20" dirty="0">
                <a:solidFill>
                  <a:srgbClr val="FFFFFF"/>
                </a:solidFill>
                <a:latin typeface="Arial"/>
                <a:cs typeface="Arial"/>
              </a:rPr>
              <a:t>des</a:t>
            </a:r>
            <a:r>
              <a:rPr sz="16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0" dirty="0">
                <a:solidFill>
                  <a:srgbClr val="FFFFFF"/>
                </a:solidFill>
                <a:latin typeface="Arial"/>
                <a:cs typeface="Arial"/>
              </a:rPr>
              <a:t>mots</a:t>
            </a:r>
            <a:r>
              <a:rPr lang="fr-FR" sz="1600" b="1" spc="-100" dirty="0">
                <a:solidFill>
                  <a:srgbClr val="FFFFFF"/>
                </a:solidFill>
                <a:latin typeface="Arial"/>
                <a:cs typeface="Arial"/>
              </a:rPr>
              <a:t>  de passes 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80479" y="5784291"/>
            <a:ext cx="8394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7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600" b="1" spc="2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30" dirty="0">
                <a:solidFill>
                  <a:srgbClr val="FFFFFF"/>
                </a:solidFill>
                <a:latin typeface="Arial"/>
                <a:cs typeface="Arial"/>
              </a:rPr>
              <a:t>passe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EA2AAF1-C2B8-4A48-F23A-25FC9EBD0928}"/>
              </a:ext>
            </a:extLst>
          </p:cNvPr>
          <p:cNvSpPr txBox="1"/>
          <p:nvPr/>
        </p:nvSpPr>
        <p:spPr>
          <a:xfrm>
            <a:off x="1295400" y="1387503"/>
            <a:ext cx="3109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u="sng" dirty="0">
                <a:solidFill>
                  <a:srgbClr val="00B050"/>
                </a:solidFill>
                <a:highlight>
                  <a:srgbClr val="C0C0C0"/>
                </a:highlight>
              </a:rPr>
              <a:t>Ce qu’un FW peut faire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173218F-35AF-1EBA-466D-45B522FC501B}"/>
              </a:ext>
            </a:extLst>
          </p:cNvPr>
          <p:cNvSpPr txBox="1"/>
          <p:nvPr/>
        </p:nvSpPr>
        <p:spPr>
          <a:xfrm>
            <a:off x="7194548" y="1344204"/>
            <a:ext cx="40085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u="sng" dirty="0">
                <a:solidFill>
                  <a:srgbClr val="C00000"/>
                </a:solidFill>
                <a:highlight>
                  <a:srgbClr val="C0C0C0"/>
                </a:highlight>
              </a:rPr>
              <a:t>Ce qu’un FW ne peut pas faire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0" y="817632"/>
            <a:ext cx="10410953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FR" sz="3600" dirty="0">
                <a:latin typeface="Calibri"/>
                <a:cs typeface="Calibri"/>
              </a:rPr>
              <a:t>Pratique: Mise en place d’un firewall logiciel 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31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057147" y="1921292"/>
            <a:ext cx="10147935" cy="3551613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  <a:buSzPct val="64285"/>
              <a:tabLst>
                <a:tab pos="354965" algn="l"/>
                <a:tab pos="355600" algn="l"/>
              </a:tabLst>
            </a:pPr>
            <a:r>
              <a:rPr lang="fr-FR" sz="2400" b="1" u="sng" spc="-5" dirty="0">
                <a:latin typeface="Calibri"/>
                <a:cs typeface="Calibri"/>
              </a:rPr>
              <a:t>Méthodologie: </a:t>
            </a:r>
          </a:p>
          <a:p>
            <a:pPr marL="355600" indent="-342900">
              <a:lnSpc>
                <a:spcPct val="100000"/>
              </a:lnSpc>
              <a:spcBef>
                <a:spcPts val="495"/>
              </a:spcBef>
              <a:buSzPct val="64285"/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lang="fr-FR" sz="2400" spc="-5" dirty="0">
                <a:latin typeface="Calibri"/>
                <a:cs typeface="Calibri"/>
              </a:rPr>
              <a:t>Pour</a:t>
            </a:r>
            <a:r>
              <a:rPr lang="fr-FR" sz="2400" spc="15" dirty="0">
                <a:latin typeface="Calibri"/>
                <a:cs typeface="Calibri"/>
              </a:rPr>
              <a:t> </a:t>
            </a:r>
            <a:r>
              <a:rPr lang="fr-FR" sz="2400" spc="-5" dirty="0">
                <a:latin typeface="Calibri"/>
                <a:cs typeface="Calibri"/>
              </a:rPr>
              <a:t>mettre</a:t>
            </a:r>
            <a:r>
              <a:rPr lang="fr-FR" sz="2400" dirty="0">
                <a:latin typeface="Calibri"/>
                <a:cs typeface="Calibri"/>
              </a:rPr>
              <a:t> </a:t>
            </a:r>
            <a:r>
              <a:rPr lang="fr-FR" sz="2400" spc="-5" dirty="0">
                <a:latin typeface="Calibri"/>
                <a:cs typeface="Calibri"/>
              </a:rPr>
              <a:t>en</a:t>
            </a:r>
            <a:r>
              <a:rPr lang="fr-FR" sz="240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place</a:t>
            </a:r>
            <a:r>
              <a:rPr lang="fr-FR" sz="2400" spc="5" dirty="0">
                <a:latin typeface="Calibri"/>
                <a:cs typeface="Calibri"/>
              </a:rPr>
              <a:t> </a:t>
            </a:r>
            <a:r>
              <a:rPr lang="fr-FR" sz="2400" spc="-5" dirty="0">
                <a:latin typeface="Calibri"/>
                <a:cs typeface="Calibri"/>
              </a:rPr>
              <a:t>un</a:t>
            </a:r>
            <a:r>
              <a:rPr lang="fr-FR" sz="2400" spc="10" dirty="0">
                <a:latin typeface="Calibri"/>
                <a:cs typeface="Calibri"/>
              </a:rPr>
              <a:t> </a:t>
            </a:r>
            <a:r>
              <a:rPr lang="fr-FR" sz="2400" spc="-5" dirty="0">
                <a:latin typeface="Calibri"/>
                <a:cs typeface="Calibri"/>
              </a:rPr>
              <a:t>firewall</a:t>
            </a:r>
            <a:r>
              <a:rPr lang="fr-FR" sz="2400" spc="-20" dirty="0">
                <a:latin typeface="Calibri"/>
                <a:cs typeface="Calibri"/>
              </a:rPr>
              <a:t> </a:t>
            </a:r>
            <a:r>
              <a:rPr lang="fr-FR" sz="2400" spc="-5" dirty="0">
                <a:latin typeface="Calibri"/>
                <a:cs typeface="Calibri"/>
              </a:rPr>
              <a:t>logiciel:</a:t>
            </a:r>
            <a:endParaRPr lang="fr-FR" sz="2400" dirty="0">
              <a:latin typeface="Calibri"/>
              <a:cs typeface="Calibri"/>
            </a:endParaRPr>
          </a:p>
          <a:p>
            <a:pPr marL="984885" lvl="1" indent="-515620">
              <a:lnSpc>
                <a:spcPct val="100000"/>
              </a:lnSpc>
              <a:spcBef>
                <a:spcPts val="345"/>
              </a:spcBef>
              <a:buSzPct val="75000"/>
              <a:buAutoNum type="arabicPeriod"/>
              <a:tabLst>
                <a:tab pos="984885" algn="l"/>
                <a:tab pos="985519" algn="l"/>
              </a:tabLst>
            </a:pPr>
            <a:r>
              <a:rPr lang="fr-FR" sz="2400" spc="-5" dirty="0">
                <a:latin typeface="Calibri"/>
                <a:cs typeface="Calibri"/>
              </a:rPr>
              <a:t>Rédiger/décrire</a:t>
            </a:r>
            <a:r>
              <a:rPr lang="fr-FR" sz="2400" spc="-2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la</a:t>
            </a:r>
            <a:r>
              <a:rPr lang="fr-FR" sz="2400" spc="-10" dirty="0">
                <a:latin typeface="Calibri"/>
                <a:cs typeface="Calibri"/>
              </a:rPr>
              <a:t> </a:t>
            </a:r>
            <a:r>
              <a:rPr lang="fr-FR" sz="2400" spc="-5" dirty="0">
                <a:latin typeface="Calibri"/>
                <a:cs typeface="Calibri"/>
              </a:rPr>
              <a:t>politique de</a:t>
            </a:r>
            <a:r>
              <a:rPr lang="fr-FR" sz="2400" dirty="0">
                <a:latin typeface="Calibri"/>
                <a:cs typeface="Calibri"/>
              </a:rPr>
              <a:t> </a:t>
            </a:r>
            <a:r>
              <a:rPr lang="fr-FR" sz="2400" spc="-5" dirty="0">
                <a:latin typeface="Calibri"/>
                <a:cs typeface="Calibri"/>
              </a:rPr>
              <a:t>sécurité</a:t>
            </a:r>
            <a:r>
              <a:rPr lang="fr-FR" sz="2400" spc="-10" dirty="0">
                <a:latin typeface="Calibri"/>
                <a:cs typeface="Calibri"/>
              </a:rPr>
              <a:t> </a:t>
            </a:r>
            <a:r>
              <a:rPr lang="fr-FR" sz="2400" spc="-5" dirty="0">
                <a:latin typeface="Calibri"/>
                <a:cs typeface="Calibri"/>
              </a:rPr>
              <a:t>(description</a:t>
            </a:r>
            <a:r>
              <a:rPr lang="fr-FR" sz="2400" spc="-2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textuelle)</a:t>
            </a:r>
          </a:p>
          <a:p>
            <a:pPr marL="984885" lvl="1" indent="-515620">
              <a:lnSpc>
                <a:spcPct val="100000"/>
              </a:lnSpc>
              <a:spcBef>
                <a:spcPts val="310"/>
              </a:spcBef>
              <a:buSzPct val="75000"/>
              <a:buAutoNum type="arabicPeriod"/>
              <a:tabLst>
                <a:tab pos="984885" algn="l"/>
                <a:tab pos="985519" algn="l"/>
              </a:tabLst>
            </a:pPr>
            <a:r>
              <a:rPr lang="fr-FR" sz="2400" spc="-5" dirty="0">
                <a:latin typeface="Calibri"/>
                <a:cs typeface="Calibri"/>
              </a:rPr>
              <a:t>Installer</a:t>
            </a:r>
            <a:r>
              <a:rPr lang="fr-FR" sz="2400" spc="-20" dirty="0">
                <a:latin typeface="Calibri"/>
                <a:cs typeface="Calibri"/>
              </a:rPr>
              <a:t> </a:t>
            </a:r>
            <a:r>
              <a:rPr lang="fr-FR" sz="2400" spc="-5" dirty="0">
                <a:latin typeface="Calibri"/>
                <a:cs typeface="Calibri"/>
              </a:rPr>
              <a:t>une</a:t>
            </a:r>
            <a:r>
              <a:rPr lang="fr-FR" sz="2400" spc="-1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application</a:t>
            </a:r>
            <a:r>
              <a:rPr lang="fr-FR" sz="2400" spc="-25" dirty="0">
                <a:latin typeface="Calibri"/>
                <a:cs typeface="Calibri"/>
              </a:rPr>
              <a:t> </a:t>
            </a:r>
            <a:r>
              <a:rPr lang="fr-FR" sz="2400" spc="-5" dirty="0">
                <a:latin typeface="Calibri"/>
                <a:cs typeface="Calibri"/>
              </a:rPr>
              <a:t>firewall</a:t>
            </a:r>
            <a:endParaRPr lang="fr-FR" sz="2400" dirty="0">
              <a:latin typeface="Calibri"/>
              <a:cs typeface="Calibri"/>
            </a:endParaRPr>
          </a:p>
          <a:p>
            <a:pPr marL="984885" lvl="1" indent="-515620">
              <a:lnSpc>
                <a:spcPct val="100000"/>
              </a:lnSpc>
              <a:spcBef>
                <a:spcPts val="315"/>
              </a:spcBef>
              <a:buSzPct val="75000"/>
              <a:buAutoNum type="arabicPeriod"/>
              <a:tabLst>
                <a:tab pos="984885" algn="l"/>
                <a:tab pos="985519" algn="l"/>
              </a:tabLst>
            </a:pPr>
            <a:r>
              <a:rPr lang="fr-FR" sz="2400" spc="-5" dirty="0">
                <a:latin typeface="Calibri"/>
                <a:cs typeface="Calibri"/>
              </a:rPr>
              <a:t>Configurer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l’application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spc="-5" dirty="0">
                <a:latin typeface="Calibri"/>
                <a:cs typeface="Calibri"/>
              </a:rPr>
              <a:t>firewall</a:t>
            </a:r>
            <a:endParaRPr lang="fr-FR" sz="2400" dirty="0">
              <a:latin typeface="Calibri"/>
              <a:cs typeface="Calibri"/>
            </a:endParaRPr>
          </a:p>
          <a:p>
            <a:pPr marL="984885" lvl="1" indent="-515620">
              <a:lnSpc>
                <a:spcPts val="2735"/>
              </a:lnSpc>
              <a:spcBef>
                <a:spcPts val="310"/>
              </a:spcBef>
              <a:buSzPct val="75000"/>
              <a:buAutoNum type="arabicPeriod"/>
              <a:tabLst>
                <a:tab pos="984885" algn="l"/>
                <a:tab pos="985519" algn="l"/>
              </a:tabLst>
            </a:pPr>
            <a:r>
              <a:rPr lang="fr-FR" sz="2400" spc="-5" dirty="0">
                <a:latin typeface="Calibri"/>
                <a:cs typeface="Calibri"/>
              </a:rPr>
              <a:t>Traduire </a:t>
            </a:r>
            <a:r>
              <a:rPr lang="fr-FR" sz="2400" dirty="0">
                <a:latin typeface="Calibri"/>
                <a:cs typeface="Calibri"/>
              </a:rPr>
              <a:t>la</a:t>
            </a:r>
            <a:r>
              <a:rPr lang="fr-FR" sz="2400" spc="5" dirty="0">
                <a:latin typeface="Calibri"/>
                <a:cs typeface="Calibri"/>
              </a:rPr>
              <a:t> </a:t>
            </a:r>
            <a:r>
              <a:rPr lang="fr-FR" sz="2400" spc="-5" dirty="0">
                <a:latin typeface="Calibri"/>
                <a:cs typeface="Calibri"/>
              </a:rPr>
              <a:t>politique</a:t>
            </a:r>
            <a:r>
              <a:rPr lang="fr-FR" sz="2400" spc="5" dirty="0">
                <a:latin typeface="Calibri"/>
                <a:cs typeface="Calibri"/>
              </a:rPr>
              <a:t> </a:t>
            </a:r>
            <a:r>
              <a:rPr lang="fr-FR" sz="2400" spc="-5" dirty="0">
                <a:latin typeface="Calibri"/>
                <a:cs typeface="Calibri"/>
              </a:rPr>
              <a:t>de</a:t>
            </a:r>
            <a:r>
              <a:rPr lang="fr-FR" sz="2400" dirty="0">
                <a:latin typeface="Calibri"/>
                <a:cs typeface="Calibri"/>
              </a:rPr>
              <a:t> </a:t>
            </a:r>
            <a:r>
              <a:rPr lang="fr-FR" sz="2400" spc="-5" dirty="0">
                <a:latin typeface="Calibri"/>
                <a:cs typeface="Calibri"/>
              </a:rPr>
              <a:t>sécurité</a:t>
            </a:r>
            <a:r>
              <a:rPr lang="fr-FR" sz="2400" spc="-2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en</a:t>
            </a:r>
            <a:r>
              <a:rPr lang="fr-FR" sz="2400" spc="5" dirty="0">
                <a:latin typeface="Calibri"/>
                <a:cs typeface="Calibri"/>
              </a:rPr>
              <a:t> </a:t>
            </a:r>
            <a:r>
              <a:rPr lang="fr-FR" sz="2400" spc="-5" dirty="0">
                <a:latin typeface="Calibri"/>
                <a:cs typeface="Calibri"/>
              </a:rPr>
              <a:t>un</a:t>
            </a:r>
            <a:r>
              <a:rPr lang="fr-FR" sz="2400" dirty="0">
                <a:latin typeface="Calibri"/>
                <a:cs typeface="Calibri"/>
              </a:rPr>
              <a:t> </a:t>
            </a:r>
            <a:r>
              <a:rPr lang="fr-FR" sz="2400" spc="-5" dirty="0">
                <a:latin typeface="Calibri"/>
                <a:cs typeface="Calibri"/>
              </a:rPr>
              <a:t>ensemble</a:t>
            </a:r>
            <a:r>
              <a:rPr lang="fr-FR" sz="2400" spc="-15" dirty="0">
                <a:latin typeface="Calibri"/>
                <a:cs typeface="Calibri"/>
              </a:rPr>
              <a:t> </a:t>
            </a:r>
            <a:r>
              <a:rPr lang="fr-FR" sz="2400" spc="-5" dirty="0">
                <a:latin typeface="Calibri"/>
                <a:cs typeface="Calibri"/>
              </a:rPr>
              <a:t>de </a:t>
            </a:r>
            <a:r>
              <a:rPr lang="fr-FR" sz="2400" dirty="0">
                <a:latin typeface="Calibri"/>
                <a:cs typeface="Calibri"/>
              </a:rPr>
              <a:t>règles</a:t>
            </a:r>
            <a:r>
              <a:rPr lang="fr-FR" sz="2400" spc="-10" dirty="0">
                <a:latin typeface="Calibri"/>
                <a:cs typeface="Calibri"/>
              </a:rPr>
              <a:t> </a:t>
            </a:r>
            <a:r>
              <a:rPr lang="fr-FR" sz="2400" spc="-5" dirty="0">
                <a:latin typeface="Calibri"/>
                <a:cs typeface="Calibri"/>
              </a:rPr>
              <a:t>de</a:t>
            </a:r>
            <a:r>
              <a:rPr lang="fr-FR" sz="2400" dirty="0">
                <a:latin typeface="Calibri"/>
                <a:cs typeface="Calibri"/>
              </a:rPr>
              <a:t> </a:t>
            </a:r>
            <a:r>
              <a:rPr lang="fr-FR" sz="2400" spc="-5" dirty="0">
                <a:latin typeface="Calibri"/>
                <a:cs typeface="Calibri"/>
              </a:rPr>
              <a:t>contrôle</a:t>
            </a:r>
            <a:endParaRPr lang="fr-FR" sz="2400" dirty="0">
              <a:latin typeface="Calibri"/>
              <a:cs typeface="Calibri"/>
            </a:endParaRPr>
          </a:p>
          <a:p>
            <a:pPr marL="984885">
              <a:lnSpc>
                <a:spcPts val="2735"/>
              </a:lnSpc>
            </a:pPr>
            <a:r>
              <a:rPr lang="fr-FR" sz="2400" spc="-5" dirty="0">
                <a:latin typeface="Calibri"/>
                <a:cs typeface="Calibri"/>
              </a:rPr>
              <a:t>d’accès: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ACL</a:t>
            </a:r>
            <a:r>
              <a:rPr lang="fr-FR" sz="2400" spc="-2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(</a:t>
            </a:r>
            <a:r>
              <a:rPr lang="fr-FR" sz="2400" dirty="0" err="1">
                <a:latin typeface="Calibri"/>
                <a:cs typeface="Calibri"/>
              </a:rPr>
              <a:t>access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control</a:t>
            </a:r>
            <a:r>
              <a:rPr lang="fr-FR" sz="2400" spc="-25" dirty="0">
                <a:latin typeface="Calibri"/>
                <a:cs typeface="Calibri"/>
              </a:rPr>
              <a:t> </a:t>
            </a:r>
            <a:r>
              <a:rPr lang="fr-FR" sz="2400" spc="-5" dirty="0" err="1">
                <a:latin typeface="Calibri"/>
                <a:cs typeface="Calibri"/>
              </a:rPr>
              <a:t>list</a:t>
            </a:r>
            <a:r>
              <a:rPr lang="fr-FR" sz="2400" spc="-5" dirty="0">
                <a:latin typeface="Calibri"/>
                <a:cs typeface="Calibri"/>
              </a:rPr>
              <a:t>)</a:t>
            </a:r>
            <a:endParaRPr lang="fr-FR" sz="2400" dirty="0">
              <a:latin typeface="Calibri"/>
              <a:cs typeface="Calibri"/>
            </a:endParaRPr>
          </a:p>
          <a:p>
            <a:pPr marL="984885" lvl="1" indent="-515620">
              <a:lnSpc>
                <a:spcPts val="2735"/>
              </a:lnSpc>
              <a:spcBef>
                <a:spcPts val="315"/>
              </a:spcBef>
              <a:buSzPct val="75000"/>
              <a:buAutoNum type="arabicPeriod" startAt="5"/>
              <a:tabLst>
                <a:tab pos="984885" algn="l"/>
                <a:tab pos="985519" algn="l"/>
              </a:tabLst>
            </a:pPr>
            <a:r>
              <a:rPr lang="fr-FR" sz="2400" dirty="0">
                <a:latin typeface="Calibri"/>
                <a:cs typeface="Calibri"/>
              </a:rPr>
              <a:t>Mettre</a:t>
            </a:r>
            <a:r>
              <a:rPr lang="fr-FR" sz="2400" spc="-1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à</a:t>
            </a:r>
            <a:r>
              <a:rPr lang="fr-FR" sz="2400" spc="-15" dirty="0">
                <a:latin typeface="Calibri"/>
                <a:cs typeface="Calibri"/>
              </a:rPr>
              <a:t> </a:t>
            </a:r>
            <a:r>
              <a:rPr lang="fr-FR" sz="2400" spc="-5" dirty="0">
                <a:latin typeface="Calibri"/>
                <a:cs typeface="Calibri"/>
              </a:rPr>
              <a:t>jour</a:t>
            </a:r>
            <a:r>
              <a:rPr lang="fr-FR" sz="2400" spc="-1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et relancer</a:t>
            </a:r>
            <a:r>
              <a:rPr lang="fr-FR" sz="2400" spc="-3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l’application</a:t>
            </a:r>
            <a:r>
              <a:rPr lang="fr-FR" sz="2400" spc="-20" dirty="0">
                <a:latin typeface="Calibri"/>
                <a:cs typeface="Calibri"/>
              </a:rPr>
              <a:t> </a:t>
            </a:r>
            <a:r>
              <a:rPr lang="fr-FR" sz="2400" spc="-5" dirty="0">
                <a:latin typeface="Calibri"/>
                <a:cs typeface="Calibri"/>
              </a:rPr>
              <a:t>firewall</a:t>
            </a:r>
            <a:r>
              <a:rPr lang="fr-FR" sz="2400" spc="-2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afin</a:t>
            </a:r>
            <a:r>
              <a:rPr lang="fr-FR" sz="2400" spc="-5" dirty="0">
                <a:latin typeface="Calibri"/>
                <a:cs typeface="Calibri"/>
              </a:rPr>
              <a:t> de déployer </a:t>
            </a:r>
            <a:r>
              <a:rPr lang="fr-FR" sz="2400" dirty="0">
                <a:latin typeface="Calibri"/>
                <a:cs typeface="Calibri"/>
              </a:rPr>
              <a:t>la</a:t>
            </a:r>
            <a:r>
              <a:rPr lang="fr-FR" sz="2400" spc="-10" dirty="0">
                <a:latin typeface="Calibri"/>
                <a:cs typeface="Calibri"/>
              </a:rPr>
              <a:t> </a:t>
            </a:r>
            <a:r>
              <a:rPr lang="fr-FR" sz="2400" spc="-5" dirty="0">
                <a:latin typeface="Calibri"/>
                <a:cs typeface="Calibri"/>
              </a:rPr>
              <a:t>nouvelle</a:t>
            </a:r>
            <a:endParaRPr lang="fr-FR" sz="2400" dirty="0">
              <a:latin typeface="Calibri"/>
              <a:cs typeface="Calibri"/>
            </a:endParaRPr>
          </a:p>
          <a:p>
            <a:pPr marL="984885">
              <a:lnSpc>
                <a:spcPts val="2735"/>
              </a:lnSpc>
            </a:pPr>
            <a:r>
              <a:rPr lang="fr-FR" sz="2400" dirty="0">
                <a:latin typeface="Calibri"/>
                <a:cs typeface="Calibri"/>
              </a:rPr>
              <a:t>ACL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1769" y="4400169"/>
            <a:ext cx="11425555" cy="1620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3754"/>
              </a:lnSpc>
              <a:spcBef>
                <a:spcPts val="100"/>
              </a:spcBef>
              <a:buClr>
                <a:srgbClr val="000000"/>
              </a:buClr>
              <a:buSzPct val="90000"/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Règle1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Toute connexion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depuis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réseau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interne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(193.1.1.0)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vers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 </a:t>
            </a:r>
            <a:r>
              <a:rPr sz="2000" spc="-5" dirty="0">
                <a:latin typeface="Calibri"/>
                <a:cs typeface="Calibri"/>
              </a:rPr>
              <a:t>serveur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distant</a:t>
            </a:r>
            <a:r>
              <a:rPr sz="2000" dirty="0">
                <a:latin typeface="Calibri"/>
                <a:cs typeface="Calibri"/>
              </a:rPr>
              <a:t> 10.1.1.1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bloquée</a:t>
            </a:r>
            <a:r>
              <a:rPr sz="3200" dirty="0">
                <a:latin typeface="Calibri"/>
                <a:cs typeface="Calibri"/>
              </a:rPr>
              <a:t>.</a:t>
            </a:r>
          </a:p>
          <a:p>
            <a:pPr marL="355600" indent="-342900">
              <a:lnSpc>
                <a:spcPts val="2195"/>
              </a:lnSpc>
              <a:buClr>
                <a:srgbClr val="000000"/>
              </a:buClr>
              <a:buSzPct val="90000"/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Règle2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Seulement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connexions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HTTP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(TCP, port</a:t>
            </a:r>
            <a:r>
              <a:rPr sz="2000" dirty="0">
                <a:latin typeface="Calibri"/>
                <a:cs typeface="Calibri"/>
              </a:rPr>
              <a:t> 80)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depuis le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réseaux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interne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(193.1.1.0),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sont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permises.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ts val="2160"/>
              </a:lnSpc>
              <a:buClr>
                <a:srgbClr val="000000"/>
              </a:buClr>
              <a:buSzPct val="90000"/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Règle3</a:t>
            </a:r>
            <a:r>
              <a:rPr sz="2000" dirty="0">
                <a:latin typeface="Calibri"/>
                <a:cs typeface="Calibri"/>
              </a:rPr>
              <a:t>: </a:t>
            </a:r>
            <a:r>
              <a:rPr sz="2000" spc="-5" dirty="0">
                <a:latin typeface="Calibri"/>
                <a:cs typeface="Calibri"/>
              </a:rPr>
              <a:t>Seulement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 trafic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web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en</a:t>
            </a:r>
            <a:r>
              <a:rPr sz="2000" dirty="0">
                <a:latin typeface="Calibri"/>
                <a:cs typeface="Calibri"/>
              </a:rPr>
              <a:t> réponse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connexion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déjà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initiée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du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réseau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interne </a:t>
            </a:r>
            <a:r>
              <a:rPr sz="2000" spc="-5" dirty="0">
                <a:latin typeface="Calibri"/>
                <a:cs typeface="Calibri"/>
              </a:rPr>
              <a:t>sera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accepté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</a:p>
          <a:p>
            <a:pPr marL="355600">
              <a:lnSpc>
                <a:spcPts val="2160"/>
              </a:lnSpc>
            </a:pPr>
            <a:r>
              <a:rPr sz="2000" spc="-5" dirty="0">
                <a:latin typeface="Calibri"/>
                <a:cs typeface="Calibri"/>
              </a:rPr>
              <a:t>l’extérieur.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ts val="2280"/>
              </a:lnSpc>
              <a:buClr>
                <a:srgbClr val="000000"/>
              </a:buClr>
              <a:buSzPct val="90000"/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Règle4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Interdiction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défaut.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1879092"/>
            <a:ext cx="9305544" cy="230276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007597" y="6384213"/>
            <a:ext cx="346710" cy="28067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9"/>
              </a:spcBef>
            </a:pPr>
            <a:fld id="{81D60167-4931-47E6-BA6A-407CBD079E47}" type="slidenum">
              <a:rPr sz="1500" dirty="0">
                <a:solidFill>
                  <a:srgbClr val="878787"/>
                </a:solidFill>
                <a:latin typeface="Calibri"/>
                <a:cs typeface="Calibri"/>
              </a:rPr>
              <a:t>32</a:t>
            </a:fld>
            <a:endParaRPr sz="15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55369" y="751028"/>
            <a:ext cx="1012433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3600" dirty="0">
                <a:latin typeface="Calibri"/>
                <a:cs typeface="Calibri"/>
              </a:rPr>
              <a:t>Pratique: Mise en place d’un firewall logiciel 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6BDBF4B-4E05-FF8F-3C6A-BD9501E81BE0}"/>
              </a:ext>
            </a:extLst>
          </p:cNvPr>
          <p:cNvSpPr txBox="1"/>
          <p:nvPr/>
        </p:nvSpPr>
        <p:spPr>
          <a:xfrm>
            <a:off x="1242669" y="1393038"/>
            <a:ext cx="4157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u="sng" dirty="0"/>
              <a:t>Création des règles de sécurité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248B0C-B501-D183-A466-3FD797187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747851"/>
            <a:ext cx="7547611" cy="430887"/>
          </a:xfrm>
        </p:spPr>
        <p:txBody>
          <a:bodyPr/>
          <a:lstStyle/>
          <a:p>
            <a:r>
              <a:rPr lang="fr-FR" dirty="0"/>
              <a:t>Fonctionnalités complémentaires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02CA624-BD8E-1F81-CB7C-05AA8DCC0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371600"/>
            <a:ext cx="10744200" cy="615553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fr-FR" sz="2000" dirty="0"/>
              <a:t>En plus des fonctionnalités de filtrage et de contrôle d’accès, le pare-feu peut assurer d’autres </a:t>
            </a:r>
            <a:r>
              <a:rPr lang="fr-FR" sz="2000" b="1" u="sng" dirty="0"/>
              <a:t>fonctionnalités réseau </a:t>
            </a:r>
            <a:r>
              <a:rPr lang="fr-FR" sz="2000" dirty="0"/>
              <a:t>complémentaires comme le </a:t>
            </a:r>
            <a:r>
              <a:rPr lang="fr-FR" sz="2000" b="1" u="sng" dirty="0"/>
              <a:t>NA(P)T, la segmentation et le VPN</a:t>
            </a:r>
          </a:p>
          <a:p>
            <a:pPr>
              <a:lnSpc>
                <a:spcPct val="150000"/>
              </a:lnSpc>
            </a:pPr>
            <a:endParaRPr lang="fr-FR" sz="2000" b="1" u="sng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b="1" u="sng" dirty="0"/>
              <a:t>NA(P)T Network </a:t>
            </a:r>
            <a:r>
              <a:rPr lang="fr-FR" sz="2000" b="1" u="sng" dirty="0" err="1"/>
              <a:t>Adress</a:t>
            </a:r>
            <a:r>
              <a:rPr lang="fr-FR" sz="2000" b="1" u="sng" dirty="0"/>
              <a:t> Port Translation </a:t>
            </a:r>
          </a:p>
          <a:p>
            <a:pPr>
              <a:lnSpc>
                <a:spcPct val="150000"/>
              </a:lnSpc>
            </a:pPr>
            <a:r>
              <a:rPr lang="fr-FR" sz="2000" dirty="0"/>
              <a:t>Beaucoup de firewalls modernes (matériels ou logiciels) jouent à la fois le rôle de filtre (sécurité) et de traducteur d’adresses (NAT/NAPT).</a:t>
            </a:r>
          </a:p>
          <a:p>
            <a:pPr>
              <a:lnSpc>
                <a:spcPct val="150000"/>
              </a:lnSpc>
            </a:pPr>
            <a:r>
              <a:rPr lang="fr-FR" sz="2000" dirty="0"/>
              <a:t>Lorsqu’il fait du NAPT, le firewall agit comme passerelle entre le LAN (IP privées) et Internet (IP publique)</a:t>
            </a:r>
          </a:p>
          <a:p>
            <a:pPr>
              <a:lnSpc>
                <a:spcPct val="150000"/>
              </a:lnSpc>
            </a:pPr>
            <a:r>
              <a:rPr lang="fr-FR" sz="2000" b="1" u="sng" dirty="0"/>
              <a:t>Exemples</a:t>
            </a:r>
            <a:r>
              <a:rPr lang="fr-FR" sz="2000" dirty="0"/>
              <a:t>: Box Internet domestique / Firewalls d’entreprise (Cisco ASA, Fortinet, Palo Alto, </a:t>
            </a:r>
            <a:r>
              <a:rPr lang="fr-FR" sz="2000" dirty="0" err="1"/>
              <a:t>pfSense</a:t>
            </a:r>
            <a:r>
              <a:rPr lang="fr-FR" sz="2000" dirty="0"/>
              <a:t>, etc… /  Firewalls Cloud (Azure, AWS, GCP) → proposent NAT/PAT géré automatiquement.</a:t>
            </a:r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7829181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A4C916-29CC-EA86-753B-8C2B2ED94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597218"/>
            <a:ext cx="7166611" cy="861774"/>
          </a:xfrm>
        </p:spPr>
        <p:txBody>
          <a:bodyPr/>
          <a:lstStyle/>
          <a:p>
            <a:r>
              <a:rPr lang="fr-FR" dirty="0"/>
              <a:t>Fonctionnalités complémentaires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7BF1AF2-939B-04FD-6087-C2FC2AE37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688782"/>
            <a:ext cx="11658600" cy="406265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u="sng" dirty="0"/>
              <a:t>Segmentation:</a:t>
            </a:r>
            <a:r>
              <a:rPr lang="fr-FR" sz="2000" dirty="0"/>
              <a:t> </a:t>
            </a:r>
          </a:p>
          <a:p>
            <a:r>
              <a:rPr lang="fr-FR" sz="2000" dirty="0"/>
              <a:t>Le firewall peut réaliser la segmentation à travers des interfaces réseaux multiples ou par des sous-interfaces logiques (des VLANs associés à la même interface physique)</a:t>
            </a:r>
          </a:p>
          <a:p>
            <a:r>
              <a:rPr lang="fr-FR" sz="2000" b="1" u="sng" dirty="0"/>
              <a:t>Exemple: </a:t>
            </a:r>
            <a:r>
              <a:rPr lang="fr-FR" sz="2000" dirty="0"/>
              <a:t>la segmentation la plus connue divise le réseau en 3 zones (LAN-WAN et DMZ)</a:t>
            </a:r>
          </a:p>
          <a:p>
            <a:endParaRPr lang="fr-F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/>
              <a:t>VPN (</a:t>
            </a:r>
            <a:r>
              <a:rPr lang="fr-FR" sz="2000" b="1" dirty="0" err="1"/>
              <a:t>IPSec</a:t>
            </a:r>
            <a:r>
              <a:rPr lang="fr-FR" sz="2000" b="1" dirty="0"/>
              <a:t> / SSL)</a:t>
            </a:r>
            <a:r>
              <a:rPr lang="fr-FR" sz="2000" dirty="0"/>
              <a:t> : assurer la confidentialité des communications à distance.</a:t>
            </a:r>
          </a:p>
          <a:p>
            <a:r>
              <a:rPr lang="fr-FR" sz="2000" b="1" u="sng" dirty="0"/>
              <a:t>Exemple</a:t>
            </a:r>
            <a:r>
              <a:rPr lang="fr-FR" sz="2000" dirty="0"/>
              <a:t>: Configuration VPN dans </a:t>
            </a:r>
            <a:r>
              <a:rPr lang="fr-FR" sz="2000" dirty="0" err="1"/>
              <a:t>Pfsense</a:t>
            </a:r>
            <a:r>
              <a:rPr lang="fr-FR" sz="2000" dirty="0"/>
              <a:t> </a:t>
            </a:r>
          </a:p>
          <a:p>
            <a:endParaRPr lang="fr-F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u="sng" dirty="0"/>
              <a:t>Autres: </a:t>
            </a:r>
            <a:r>
              <a:rPr lang="fr-FR" sz="2000" dirty="0"/>
              <a:t>La plupart des firewall modernes assurent des fonctionnalités réseaux complémentaires (comme déjà mentionné), des services pour le monitoring et les alertes, la journalisation , QOS,  et d’autres fonctionnalités de sécurité avancée comme IDS/IPS , Antivirus/antimalware, qui sont surtout présents dans les Next </a:t>
            </a:r>
            <a:r>
              <a:rPr lang="fr-FR" sz="2000" dirty="0" err="1"/>
              <a:t>Generation</a:t>
            </a:r>
            <a:r>
              <a:rPr lang="fr-FR" sz="2000"/>
              <a:t> Fire Walls </a:t>
            </a:r>
            <a:r>
              <a:rPr lang="fr-FR" sz="2000" dirty="0"/>
              <a:t>(NGFW).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4297274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1E4477-88BC-7619-8502-1F653D155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0" y="2751892"/>
            <a:ext cx="12296140" cy="677108"/>
          </a:xfrm>
        </p:spPr>
        <p:txBody>
          <a:bodyPr/>
          <a:lstStyle/>
          <a:p>
            <a:r>
              <a:rPr lang="fr-FR" sz="4400" b="1" dirty="0">
                <a:latin typeface="Algerian" panose="04020705040A02060702" pitchFamily="82" charset="0"/>
              </a:rPr>
              <a:t>- Fin du chapitre -</a:t>
            </a:r>
          </a:p>
        </p:txBody>
      </p:sp>
    </p:spTree>
    <p:extLst>
      <p:ext uri="{BB962C8B-B14F-4D97-AF65-F5344CB8AC3E}">
        <p14:creationId xmlns:p14="http://schemas.microsoft.com/office/powerpoint/2010/main" val="807974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3b2e522-fe2d-45eb-8fca-68ca246d40b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D5852A217C4949816470E576B5A5FD" ma:contentTypeVersion="13" ma:contentTypeDescription="Crée un document." ma:contentTypeScope="" ma:versionID="a682db9535e47347d801d0bdc8a0e657">
  <xsd:schema xmlns:xsd="http://www.w3.org/2001/XMLSchema" xmlns:xs="http://www.w3.org/2001/XMLSchema" xmlns:p="http://schemas.microsoft.com/office/2006/metadata/properties" xmlns:ns3="73b2e522-fe2d-45eb-8fca-68ca246d40bd" xmlns:ns4="8164c8d2-d0cc-4025-b139-4ac243dc06ac" targetNamespace="http://schemas.microsoft.com/office/2006/metadata/properties" ma:root="true" ma:fieldsID="87b13b2c7ecf8776c47e8fab9eeba0ae" ns3:_="" ns4:_="">
    <xsd:import namespace="73b2e522-fe2d-45eb-8fca-68ca246d40bd"/>
    <xsd:import namespace="8164c8d2-d0cc-4025-b139-4ac243dc06a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2e522-fe2d-45eb-8fca-68ca246d40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64c8d2-d0cc-4025-b139-4ac243dc06a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B3E1F7B-B1AB-485A-B6C6-F2EAF7BDDFC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EE87F5E-EE38-4357-ACB0-6D1E8AD73051}">
  <ds:schemaRefs>
    <ds:schemaRef ds:uri="http://purl.org/dc/dcmitype/"/>
    <ds:schemaRef ds:uri="8164c8d2-d0cc-4025-b139-4ac243dc06ac"/>
    <ds:schemaRef ds:uri="http://schemas.microsoft.com/office/2006/documentManagement/types"/>
    <ds:schemaRef ds:uri="http://purl.org/dc/elements/1.1/"/>
    <ds:schemaRef ds:uri="73b2e522-fe2d-45eb-8fca-68ca246d40bd"/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FBC273AF-FDA3-4908-ABCB-B8C4684605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b2e522-fe2d-45eb-8fca-68ca246d40bd"/>
    <ds:schemaRef ds:uri="8164c8d2-d0cc-4025-b139-4ac243dc06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736</TotalTime>
  <Words>2726</Words>
  <Application>Microsoft Office PowerPoint</Application>
  <PresentationFormat>Grand écran</PresentationFormat>
  <Paragraphs>360</Paragraphs>
  <Slides>35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48" baseType="lpstr">
      <vt:lpstr>Algerian</vt:lpstr>
      <vt:lpstr>Aptos</vt:lpstr>
      <vt:lpstr>Arial</vt:lpstr>
      <vt:lpstr>Arial MT</vt:lpstr>
      <vt:lpstr>Calibri</vt:lpstr>
      <vt:lpstr>Google Sans</vt:lpstr>
      <vt:lpstr>Open Sans</vt:lpstr>
      <vt:lpstr>Segoe UI Emoji</vt:lpstr>
      <vt:lpstr>Symbol</vt:lpstr>
      <vt:lpstr>Tahoma</vt:lpstr>
      <vt:lpstr>Times New Roman</vt:lpstr>
      <vt:lpstr>Wingdings</vt:lpstr>
      <vt:lpstr>Office Theme</vt:lpstr>
      <vt:lpstr>Les pare-feux  (Firewalls)</vt:lpstr>
      <vt:lpstr>Objectifs</vt:lpstr>
      <vt:lpstr>Plan</vt:lpstr>
      <vt:lpstr>Présentation PowerPoint</vt:lpstr>
      <vt:lpstr>Présentation générale</vt:lpstr>
      <vt:lpstr>Les Firewalls Présentation générale </vt:lpstr>
      <vt:lpstr>Les Firewalls Fonctionnement d’un firewall</vt:lpstr>
      <vt:lpstr>Plan</vt:lpstr>
      <vt:lpstr>Politique de sécurité et règles de filtrage  </vt:lpstr>
      <vt:lpstr>Politique de sécurité et règles de filtrage  </vt:lpstr>
      <vt:lpstr>Règles de Sécurité </vt:lpstr>
      <vt:lpstr>Plan</vt:lpstr>
      <vt:lpstr>Classification selon le type de déploiement </vt:lpstr>
      <vt:lpstr>Exemples de déploiements</vt:lpstr>
      <vt:lpstr>Les meilleurs firewalls matériels et logiciels</vt:lpstr>
      <vt:lpstr>Classification selon le type de filtrage </vt:lpstr>
      <vt:lpstr>Filtrage de paquet (Sans état)</vt:lpstr>
      <vt:lpstr>Packet Filtering Firewall</vt:lpstr>
      <vt:lpstr>Circuit Level Gateway</vt:lpstr>
      <vt:lpstr>Circuit Level Gateway</vt:lpstr>
      <vt:lpstr>Les Technologies de Firewall Application Level Firewall</vt:lpstr>
      <vt:lpstr>Application Level Firewall</vt:lpstr>
      <vt:lpstr>Les types de filtrage Stateful Multilayer Inspection Firewall</vt:lpstr>
      <vt:lpstr>Les types de filtrage Stateful Multilayer Inspection Firewall</vt:lpstr>
      <vt:lpstr>Les types de filtrage Proxy</vt:lpstr>
      <vt:lpstr>Les Technologies de Firewall Next Generation Firewall (NGFW)</vt:lpstr>
      <vt:lpstr>Plan</vt:lpstr>
      <vt:lpstr>Les Firewalls Topologies des firewalls réseaux</vt:lpstr>
      <vt:lpstr>DMZ</vt:lpstr>
      <vt:lpstr>Récapitulatif</vt:lpstr>
      <vt:lpstr>Pratique: Mise en place d’un firewall logiciel </vt:lpstr>
      <vt:lpstr>Pratique: Mise en place d’un firewall logiciel </vt:lpstr>
      <vt:lpstr>Fonctionnalités complémentaires</vt:lpstr>
      <vt:lpstr>Fonctionnalités complémentaires</vt:lpstr>
      <vt:lpstr>- Fin du chapitre -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de Sécurité  des Réseaux Informatiques</dc:title>
  <dc:creator>SIRAJEDDINE MILADI - sirajeddine.miladi@esprit.tn</dc:creator>
  <cp:lastModifiedBy>sirajeddine miladi</cp:lastModifiedBy>
  <cp:revision>38</cp:revision>
  <dcterms:created xsi:type="dcterms:W3CDTF">2024-09-07T10:53:28Z</dcterms:created>
  <dcterms:modified xsi:type="dcterms:W3CDTF">2025-09-26T15:43:06Z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2023-10-11T00:00:00Z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2024-09-07T00:00:00Z</vt:filetime>
  </property>
  <property fmtid="{D5CDD505-2E9C-101B-9397-08002B2CF9AE}" pid="5" name="ContentTypeId">
    <vt:lpwstr>0x010100D9D5852A217C4949816470E576B5A5FD</vt:lpwstr>
  </property>
</Properties>
</file>