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embeddedFontLst>
    <p:embeddedFont>
      <p:font typeface="Arimo"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9732A6-F822-4872-A479-3523BBC9B60D}">
  <a:tblStyle styleId="{CA9732A6-F822-4872-A479-3523BBC9B60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400"/>
              <a:buNone/>
            </a:pPr>
            <a:endParaRPr sz="1020"/>
          </a:p>
        </p:txBody>
      </p:sp>
      <p:sp>
        <p:nvSpPr>
          <p:cNvPr id="227" name="Google Shape;227;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sz="1200" b="0" i="0">
                <a:solidFill>
                  <a:schemeClr val="dk1"/>
                </a:solidFill>
                <a:latin typeface="Calibri"/>
                <a:ea typeface="Calibri"/>
                <a:cs typeface="Calibri"/>
                <a:sym typeface="Calibri"/>
              </a:rPr>
              <a:t>fflush vide tous les flux en sortie.</a:t>
            </a:r>
            <a:endParaRPr/>
          </a:p>
          <a:p>
            <a:pPr marL="0" lvl="0" indent="0" algn="l" rtl="0">
              <a:lnSpc>
                <a:spcPct val="100000"/>
              </a:lnSpc>
              <a:spcBef>
                <a:spcPts val="0"/>
              </a:spcBef>
              <a:spcAft>
                <a:spcPts val="0"/>
              </a:spcAft>
              <a:buSzPts val="1400"/>
              <a:buNone/>
            </a:pPr>
            <a:endParaRPr/>
          </a:p>
        </p:txBody>
      </p:sp>
      <p:sp>
        <p:nvSpPr>
          <p:cNvPr id="362" name="Google Shape;362;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u est utilisée pour les nombres non signés.</a:t>
            </a:r>
            <a:endParaRPr/>
          </a:p>
        </p:txBody>
      </p:sp>
      <p:sp>
        <p:nvSpPr>
          <p:cNvPr id="404" name="Google Shape;404;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Modifier le code au niveau sleep et donner une interprétation </a:t>
            </a:r>
            <a:endParaRPr/>
          </a:p>
        </p:txBody>
      </p:sp>
      <p:sp>
        <p:nvSpPr>
          <p:cNvPr id="418" name="Google Shape;418;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7" name="Google Shape;477;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2" name="Google Shape;492;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1"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3" descr="C:\Documents and Settings\Aziz\Bureau\angle.JPG"/>
          <p:cNvPicPr preferRelativeResize="0"/>
          <p:nvPr/>
        </p:nvPicPr>
        <p:blipFill rotWithShape="1">
          <a:blip r:embed="rId3">
            <a:alphaModFix/>
          </a:blip>
          <a:srcRect/>
          <a:stretch/>
        </p:blipFill>
        <p:spPr>
          <a:xfrm rot="10800000">
            <a:off x="0" y="0"/>
            <a:ext cx="868680" cy="561975"/>
          </a:xfrm>
          <a:prstGeom prst="rect">
            <a:avLst/>
          </a:prstGeom>
          <a:noFill/>
          <a:ln>
            <a:noFill/>
          </a:ln>
        </p:spPr>
      </p:pic>
      <p:pic>
        <p:nvPicPr>
          <p:cNvPr id="90" name="Google Shape;90;p13" descr="E:\Soft\esprit_logo.gif"/>
          <p:cNvPicPr preferRelativeResize="0"/>
          <p:nvPr/>
        </p:nvPicPr>
        <p:blipFill rotWithShape="1">
          <a:blip r:embed="rId4">
            <a:alphaModFix/>
          </a:blip>
          <a:srcRect/>
          <a:stretch/>
        </p:blipFill>
        <p:spPr>
          <a:xfrm>
            <a:off x="5929322" y="0"/>
            <a:ext cx="3071834" cy="1500174"/>
          </a:xfrm>
          <a:prstGeom prst="rect">
            <a:avLst/>
          </a:prstGeom>
          <a:noFill/>
          <a:ln>
            <a:noFill/>
          </a:ln>
        </p:spPr>
      </p:pic>
      <p:sp>
        <p:nvSpPr>
          <p:cNvPr id="91" name="Google Shape;91;p13"/>
          <p:cNvSpPr/>
          <p:nvPr/>
        </p:nvSpPr>
        <p:spPr>
          <a:xfrm>
            <a:off x="0" y="1357298"/>
            <a:ext cx="9144000" cy="1214446"/>
          </a:xfrm>
          <a:prstGeom prst="rect">
            <a:avLst/>
          </a:prstGeom>
          <a:solidFill>
            <a:srgbClr val="D8D8D8"/>
          </a:solid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92" name="Google Shape;92;p13"/>
          <p:cNvCxnSpPr/>
          <p:nvPr/>
        </p:nvCxnSpPr>
        <p:spPr>
          <a:xfrm rot="5400000">
            <a:off x="416707" y="4212437"/>
            <a:ext cx="3295656" cy="14270"/>
          </a:xfrm>
          <a:prstGeom prst="straightConnector1">
            <a:avLst/>
          </a:prstGeom>
          <a:noFill/>
          <a:ln w="25400" cap="flat" cmpd="sng">
            <a:solidFill>
              <a:srgbClr val="FF0000"/>
            </a:solidFill>
            <a:prstDash val="solid"/>
            <a:round/>
            <a:headEnd type="none" w="sm" len="sm"/>
            <a:tailEnd type="none" w="sm" len="sm"/>
          </a:ln>
        </p:spPr>
      </p:cxnSp>
      <p:cxnSp>
        <p:nvCxnSpPr>
          <p:cNvPr id="93" name="Google Shape;93;p13"/>
          <p:cNvCxnSpPr/>
          <p:nvPr/>
        </p:nvCxnSpPr>
        <p:spPr>
          <a:xfrm>
            <a:off x="0" y="2570156"/>
            <a:ext cx="2057400" cy="1588"/>
          </a:xfrm>
          <a:prstGeom prst="straightConnector1">
            <a:avLst/>
          </a:prstGeom>
          <a:noFill/>
          <a:ln w="25400" cap="flat" cmpd="sng">
            <a:solidFill>
              <a:srgbClr val="FF0000"/>
            </a:solidFill>
            <a:prstDash val="solid"/>
            <a:round/>
            <a:headEnd type="none" w="sm" len="sm"/>
            <a:tailEnd type="none" w="sm" len="sm"/>
          </a:ln>
        </p:spPr>
      </p:cxnSp>
      <p:sp>
        <p:nvSpPr>
          <p:cNvPr id="94" name="Google Shape;94;p13"/>
          <p:cNvSpPr/>
          <p:nvPr/>
        </p:nvSpPr>
        <p:spPr>
          <a:xfrm>
            <a:off x="3203848" y="3571891"/>
            <a:ext cx="5797308" cy="2286001"/>
          </a:xfrm>
          <a:prstGeom prst="bracketPair">
            <a:avLst/>
          </a:prstGeom>
          <a:noFill/>
          <a:ln w="38100" cap="flat" cmpd="sng">
            <a:solidFill>
              <a:srgbClr val="FF000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95" name="Google Shape;95;p13"/>
          <p:cNvSpPr/>
          <p:nvPr/>
        </p:nvSpPr>
        <p:spPr>
          <a:xfrm>
            <a:off x="1905000" y="5791200"/>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6" name="Google Shape;96;p13" descr="C:\Documents and Settings\Aziz\Bureau\Bas.JPG"/>
          <p:cNvPicPr preferRelativeResize="0"/>
          <p:nvPr/>
        </p:nvPicPr>
        <p:blipFill rotWithShape="1">
          <a:blip r:embed="rId5">
            <a:alphaModFix/>
          </a:blip>
          <a:srcRect/>
          <a:stretch/>
        </p:blipFill>
        <p:spPr>
          <a:xfrm>
            <a:off x="0" y="6357958"/>
            <a:ext cx="9144000" cy="747692"/>
          </a:xfrm>
          <a:prstGeom prst="rect">
            <a:avLst/>
          </a:prstGeom>
          <a:noFill/>
          <a:ln>
            <a:noFill/>
          </a:ln>
        </p:spPr>
      </p:pic>
      <p:sp>
        <p:nvSpPr>
          <p:cNvPr id="97" name="Google Shape;97;p13"/>
          <p:cNvSpPr txBox="1"/>
          <p:nvPr/>
        </p:nvSpPr>
        <p:spPr>
          <a:xfrm>
            <a:off x="7715272" y="6357958"/>
            <a:ext cx="15716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 </a:t>
            </a:r>
            <a:endParaRPr sz="1800" b="1" i="0" u="none" strike="noStrike" cap="none">
              <a:solidFill>
                <a:schemeClr val="dk1"/>
              </a:solidFill>
              <a:latin typeface="Calibri"/>
              <a:ea typeface="Calibri"/>
              <a:cs typeface="Calibri"/>
              <a:sym typeface="Calibri"/>
            </a:endParaRPr>
          </a:p>
        </p:txBody>
      </p:sp>
      <p:sp>
        <p:nvSpPr>
          <p:cNvPr id="98" name="Google Shape;98;p13"/>
          <p:cNvSpPr txBox="1">
            <a:spLocks noGrp="1"/>
          </p:cNvSpPr>
          <p:nvPr>
            <p:ph type="subTitle" idx="1"/>
          </p:nvPr>
        </p:nvSpPr>
        <p:spPr>
          <a:xfrm>
            <a:off x="0" y="1428736"/>
            <a:ext cx="9144000" cy="53815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fr-FR" b="1">
                <a:solidFill>
                  <a:schemeClr val="dk1"/>
                </a:solidFill>
                <a:latin typeface="Calibri"/>
                <a:ea typeface="Calibri"/>
                <a:cs typeface="Calibri"/>
                <a:sym typeface="Calibri"/>
              </a:rPr>
              <a:t>Systèmes d’Exploitation Avancés</a:t>
            </a:r>
            <a:endParaRPr b="1">
              <a:solidFill>
                <a:schemeClr val="dk1"/>
              </a:solidFill>
            </a:endParaRPr>
          </a:p>
        </p:txBody>
      </p:sp>
      <p:sp>
        <p:nvSpPr>
          <p:cNvPr id="99" name="Google Shape;9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a:t>
            </a:fld>
            <a:endParaRPr/>
          </a:p>
        </p:txBody>
      </p:sp>
      <p:sp>
        <p:nvSpPr>
          <p:cNvPr id="100" name="Google Shape;100;p13"/>
          <p:cNvSpPr txBox="1"/>
          <p:nvPr/>
        </p:nvSpPr>
        <p:spPr>
          <a:xfrm>
            <a:off x="3491880" y="4214818"/>
            <a:ext cx="5437838" cy="5381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fr-FR" sz="3200" b="1" i="0" u="none" strike="noStrike" cap="none">
                <a:solidFill>
                  <a:schemeClr val="dk1"/>
                </a:solidFill>
                <a:latin typeface="Calibri"/>
                <a:ea typeface="Calibri"/>
                <a:cs typeface="Calibri"/>
                <a:sym typeface="Calibri"/>
              </a:rPr>
              <a:t>Préparé par : Anis ZOUAOUI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40"/>
              </a:spcBef>
              <a:spcAft>
                <a:spcPts val="0"/>
              </a:spcAft>
              <a:buClr>
                <a:schemeClr val="dk1"/>
              </a:buClr>
              <a:buSzPts val="3200"/>
              <a:buFont typeface="Arial"/>
              <a:buNone/>
            </a:pPr>
            <a:r>
              <a:rPr lang="fr-FR" sz="3200" b="1" i="0" u="none" strike="noStrike" cap="none">
                <a:solidFill>
                  <a:schemeClr val="dk1"/>
                </a:solidFill>
                <a:latin typeface="Calibri"/>
                <a:ea typeface="Calibri"/>
                <a:cs typeface="Calibri"/>
                <a:sym typeface="Calibri"/>
              </a:rPr>
              <a:t>         		     Hassen JEDIDI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fr-FR" sz="2000" b="1" i="0" u="none" strike="noStrike" cap="none">
                <a:solidFill>
                  <a:schemeClr val="dk1"/>
                </a:solidFill>
                <a:latin typeface="Calibri"/>
                <a:ea typeface="Calibri"/>
                <a:cs typeface="Calibri"/>
                <a:sym typeface="Calibri"/>
              </a:rPr>
              <a:t>Anis.ZOUAOUI@esprit.ens.tn</a:t>
            </a:r>
            <a:endParaRPr sz="2000" b="1" i="0" u="none" strike="noStrike" cap="none">
              <a:solidFill>
                <a:schemeClr val="dk1"/>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Hassen.JEDIDI@esprit.ens.tn</a:t>
            </a:r>
            <a:endParaRPr sz="20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4" descr="C:\Documents and Settings\Aziz\Bureau\angle.JPG"/>
          <p:cNvPicPr preferRelativeResize="0"/>
          <p:nvPr/>
        </p:nvPicPr>
        <p:blipFill rotWithShape="1">
          <a:blip r:embed="rId3">
            <a:alphaModFix/>
          </a:blip>
          <a:srcRect/>
          <a:stretch/>
        </p:blipFill>
        <p:spPr>
          <a:xfrm rot="10800000">
            <a:off x="0" y="0"/>
            <a:ext cx="868680" cy="561975"/>
          </a:xfrm>
          <a:prstGeom prst="rect">
            <a:avLst/>
          </a:prstGeom>
          <a:noFill/>
          <a:ln>
            <a:noFill/>
          </a:ln>
        </p:spPr>
      </p:pic>
      <p:pic>
        <p:nvPicPr>
          <p:cNvPr id="107" name="Google Shape;107;p14" descr="E:\Soft\esprit_logo.gif"/>
          <p:cNvPicPr preferRelativeResize="0"/>
          <p:nvPr/>
        </p:nvPicPr>
        <p:blipFill rotWithShape="1">
          <a:blip r:embed="rId4">
            <a:alphaModFix/>
          </a:blip>
          <a:srcRect/>
          <a:stretch/>
        </p:blipFill>
        <p:spPr>
          <a:xfrm>
            <a:off x="5929322" y="0"/>
            <a:ext cx="3071834" cy="1500174"/>
          </a:xfrm>
          <a:prstGeom prst="rect">
            <a:avLst/>
          </a:prstGeom>
          <a:noFill/>
          <a:ln>
            <a:noFill/>
          </a:ln>
        </p:spPr>
      </p:pic>
      <p:sp>
        <p:nvSpPr>
          <p:cNvPr id="108" name="Google Shape;108;p14"/>
          <p:cNvSpPr/>
          <p:nvPr/>
        </p:nvSpPr>
        <p:spPr>
          <a:xfrm>
            <a:off x="0" y="1357298"/>
            <a:ext cx="9144000" cy="1214446"/>
          </a:xfrm>
          <a:prstGeom prst="rect">
            <a:avLst/>
          </a:prstGeom>
          <a:solidFill>
            <a:srgbClr val="D8D8D8"/>
          </a:solid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109" name="Google Shape;109;p14"/>
          <p:cNvCxnSpPr/>
          <p:nvPr/>
        </p:nvCxnSpPr>
        <p:spPr>
          <a:xfrm rot="5400000">
            <a:off x="416707" y="4212437"/>
            <a:ext cx="3295656" cy="14270"/>
          </a:xfrm>
          <a:prstGeom prst="straightConnector1">
            <a:avLst/>
          </a:prstGeom>
          <a:noFill/>
          <a:ln w="25400" cap="flat" cmpd="sng">
            <a:solidFill>
              <a:srgbClr val="FF0000"/>
            </a:solidFill>
            <a:prstDash val="solid"/>
            <a:round/>
            <a:headEnd type="none" w="sm" len="sm"/>
            <a:tailEnd type="none" w="sm" len="sm"/>
          </a:ln>
        </p:spPr>
      </p:cxnSp>
      <p:cxnSp>
        <p:nvCxnSpPr>
          <p:cNvPr id="110" name="Google Shape;110;p14"/>
          <p:cNvCxnSpPr/>
          <p:nvPr/>
        </p:nvCxnSpPr>
        <p:spPr>
          <a:xfrm>
            <a:off x="0" y="2570156"/>
            <a:ext cx="2057400" cy="1588"/>
          </a:xfrm>
          <a:prstGeom prst="straightConnector1">
            <a:avLst/>
          </a:prstGeom>
          <a:noFill/>
          <a:ln w="25400" cap="flat" cmpd="sng">
            <a:solidFill>
              <a:srgbClr val="FF0000"/>
            </a:solidFill>
            <a:prstDash val="solid"/>
            <a:round/>
            <a:headEnd type="none" w="sm" len="sm"/>
            <a:tailEnd type="none" w="sm" len="sm"/>
          </a:ln>
        </p:spPr>
      </p:cxnSp>
      <p:sp>
        <p:nvSpPr>
          <p:cNvPr id="111" name="Google Shape;111;p14"/>
          <p:cNvSpPr/>
          <p:nvPr/>
        </p:nvSpPr>
        <p:spPr>
          <a:xfrm>
            <a:off x="6072198" y="5500702"/>
            <a:ext cx="2928958" cy="785818"/>
          </a:xfrm>
          <a:prstGeom prst="bracketPair">
            <a:avLst/>
          </a:prstGeom>
          <a:noFill/>
          <a:ln w="38100" cap="flat" cmpd="sng">
            <a:solidFill>
              <a:srgbClr val="FF000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12" name="Google Shape;112;p14"/>
          <p:cNvSpPr/>
          <p:nvPr/>
        </p:nvSpPr>
        <p:spPr>
          <a:xfrm>
            <a:off x="1905000" y="5791200"/>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13" name="Google Shape;113;p14" descr="C:\Documents and Settings\Aziz\Bureau\Bas.JPG"/>
          <p:cNvPicPr preferRelativeResize="0"/>
          <p:nvPr/>
        </p:nvPicPr>
        <p:blipFill rotWithShape="1">
          <a:blip r:embed="rId5">
            <a:alphaModFix/>
          </a:blip>
          <a:srcRect/>
          <a:stretch/>
        </p:blipFill>
        <p:spPr>
          <a:xfrm>
            <a:off x="0" y="6357958"/>
            <a:ext cx="9144000" cy="747692"/>
          </a:xfrm>
          <a:prstGeom prst="rect">
            <a:avLst/>
          </a:prstGeom>
          <a:noFill/>
          <a:ln>
            <a:noFill/>
          </a:ln>
        </p:spPr>
      </p:pic>
      <p:sp>
        <p:nvSpPr>
          <p:cNvPr id="114" name="Google Shape;114;p14"/>
          <p:cNvSpPr txBox="1"/>
          <p:nvPr/>
        </p:nvSpPr>
        <p:spPr>
          <a:xfrm>
            <a:off x="7715272" y="6357958"/>
            <a:ext cx="15716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 </a:t>
            </a:r>
            <a:endParaRPr sz="1800" b="1" i="0" u="none" strike="noStrike" cap="none">
              <a:solidFill>
                <a:schemeClr val="dk1"/>
              </a:solidFill>
              <a:latin typeface="Calibri"/>
              <a:ea typeface="Calibri"/>
              <a:cs typeface="Calibri"/>
              <a:sym typeface="Calibri"/>
            </a:endParaRPr>
          </a:p>
        </p:txBody>
      </p:sp>
      <p:sp>
        <p:nvSpPr>
          <p:cNvPr id="115" name="Google Shape;115;p14"/>
          <p:cNvSpPr txBox="1">
            <a:spLocks noGrp="1"/>
          </p:cNvSpPr>
          <p:nvPr>
            <p:ph type="subTitle" idx="1"/>
          </p:nvPr>
        </p:nvSpPr>
        <p:spPr>
          <a:xfrm>
            <a:off x="0" y="1428736"/>
            <a:ext cx="9144000" cy="53815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200"/>
              <a:buNone/>
            </a:pPr>
            <a:r>
              <a:rPr lang="fr-FR" b="1">
                <a:solidFill>
                  <a:schemeClr val="dk1"/>
                </a:solidFill>
                <a:latin typeface="Calibri"/>
                <a:ea typeface="Calibri"/>
                <a:cs typeface="Calibri"/>
                <a:sym typeface="Calibri"/>
              </a:rPr>
              <a:t>Systèmes d’Exploitation Avancés</a:t>
            </a:r>
            <a:endParaRPr b="1">
              <a:solidFill>
                <a:schemeClr val="dk1"/>
              </a:solidFill>
            </a:endParaRPr>
          </a:p>
        </p:txBody>
      </p:sp>
      <p:sp>
        <p:nvSpPr>
          <p:cNvPr id="116" name="Google Shape;11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a:t>
            </a:fld>
            <a:endParaRPr/>
          </a:p>
        </p:txBody>
      </p:sp>
      <p:sp>
        <p:nvSpPr>
          <p:cNvPr id="117" name="Google Shape;117;p14"/>
          <p:cNvSpPr txBox="1"/>
          <p:nvPr/>
        </p:nvSpPr>
        <p:spPr>
          <a:xfrm>
            <a:off x="6429420" y="5572140"/>
            <a:ext cx="3000364" cy="714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fr-FR" sz="2000" b="1" i="0" u="none" strike="noStrike" cap="none">
                <a:solidFill>
                  <a:schemeClr val="dk1"/>
                </a:solidFill>
                <a:latin typeface="Calibri"/>
                <a:ea typeface="Calibri"/>
                <a:cs typeface="Calibri"/>
                <a:sym typeface="Calibri"/>
              </a:rPr>
              <a:t>Par : Anis ZOUAOUI</a:t>
            </a:r>
            <a:endParaRPr sz="1400" b="0" i="0" u="none" strike="noStrike" cap="none">
              <a:solidFill>
                <a:srgbClr val="000000"/>
              </a:solidFill>
              <a:latin typeface="Arial"/>
              <a:ea typeface="Arial"/>
              <a:cs typeface="Arial"/>
              <a:sym typeface="Arial"/>
            </a:endParaRPr>
          </a:p>
        </p:txBody>
      </p:sp>
      <p:sp>
        <p:nvSpPr>
          <p:cNvPr id="118" name="Google Shape;118;p14"/>
          <p:cNvSpPr txBox="1"/>
          <p:nvPr/>
        </p:nvSpPr>
        <p:spPr>
          <a:xfrm>
            <a:off x="2570825" y="2924944"/>
            <a:ext cx="6072230" cy="128588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400"/>
              <a:buFont typeface="Arial"/>
              <a:buNone/>
            </a:pPr>
            <a:r>
              <a:rPr lang="fr-FR" sz="4400" b="1" i="0" u="none" strike="noStrike" cap="none">
                <a:solidFill>
                  <a:srgbClr val="000000"/>
                </a:solidFill>
                <a:latin typeface="Calibri"/>
                <a:ea typeface="Calibri"/>
                <a:cs typeface="Calibri"/>
                <a:sym typeface="Calibri"/>
              </a:rPr>
              <a:t>Les Threads POSIX</a:t>
            </a:r>
            <a:endParaRPr sz="4400" b="1" i="0" u="none" strike="noStrike" cap="none">
              <a:solidFill>
                <a:schemeClr val="dk1"/>
              </a:solidFill>
              <a:latin typeface="Calibri"/>
              <a:ea typeface="Calibri"/>
              <a:cs typeface="Calibri"/>
              <a:sym typeface="Calibri"/>
            </a:endParaRPr>
          </a:p>
        </p:txBody>
      </p:sp>
      <p:sp>
        <p:nvSpPr>
          <p:cNvPr id="119" name="Google Shape;119;p14"/>
          <p:cNvSpPr txBox="1"/>
          <p:nvPr/>
        </p:nvSpPr>
        <p:spPr>
          <a:xfrm>
            <a:off x="0" y="2571744"/>
            <a:ext cx="3000364" cy="714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Arial"/>
              <a:buNone/>
            </a:pPr>
            <a:r>
              <a:rPr lang="fr-FR" sz="2000" b="1" i="0" u="none" strike="noStrike" cap="none">
                <a:solidFill>
                  <a:schemeClr val="dk1"/>
                </a:solidFill>
                <a:latin typeface="Calibri"/>
                <a:ea typeface="Calibri"/>
                <a:cs typeface="Calibri"/>
                <a:sym typeface="Calibri"/>
              </a:rPr>
              <a:t>Chapitre 5</a:t>
            </a:r>
            <a:endParaRPr sz="1400" b="1"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15"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25" name="Google Shape;125;p15"/>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PLAN</a:t>
            </a:r>
            <a:endParaRPr sz="3600" b="1"/>
          </a:p>
        </p:txBody>
      </p:sp>
      <p:sp>
        <p:nvSpPr>
          <p:cNvPr id="126" name="Google Shape;126;p15"/>
          <p:cNvSpPr txBox="1">
            <a:spLocks noGrp="1"/>
          </p:cNvSpPr>
          <p:nvPr>
            <p:ph type="body" idx="1"/>
          </p:nvPr>
        </p:nvSpPr>
        <p:spPr>
          <a:xfrm>
            <a:off x="428596" y="928670"/>
            <a:ext cx="8586790" cy="5286388"/>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None/>
            </a:pPr>
            <a:endParaRPr i="1"/>
          </a:p>
          <a:p>
            <a:pPr marL="342900" lvl="0" indent="-342900" algn="l" rtl="0">
              <a:lnSpc>
                <a:spcPct val="100000"/>
              </a:lnSpc>
              <a:spcBef>
                <a:spcPts val="640"/>
              </a:spcBef>
              <a:spcAft>
                <a:spcPts val="0"/>
              </a:spcAft>
              <a:buClr>
                <a:schemeClr val="dk1"/>
              </a:buClr>
              <a:buSzPts val="3200"/>
              <a:buNone/>
            </a:pPr>
            <a:endParaRPr b="1"/>
          </a:p>
          <a:p>
            <a:pPr marL="342900" lvl="0" indent="-139700" algn="l" rtl="0">
              <a:lnSpc>
                <a:spcPct val="100000"/>
              </a:lnSpc>
              <a:spcBef>
                <a:spcPts val="640"/>
              </a:spcBef>
              <a:spcAft>
                <a:spcPts val="0"/>
              </a:spcAft>
              <a:buClr>
                <a:schemeClr val="dk1"/>
              </a:buClr>
              <a:buSzPts val="3200"/>
              <a:buNone/>
            </a:pPr>
            <a:endParaRPr b="1"/>
          </a:p>
        </p:txBody>
      </p:sp>
      <p:pic>
        <p:nvPicPr>
          <p:cNvPr id="127" name="Google Shape;127;p15"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28" name="Google Shape;128;p15"/>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29" name="Google Shape;129;p15"/>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30" name="Google Shape;130;p15"/>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15"/>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3</a:t>
            </a:fld>
            <a:endParaRPr>
              <a:solidFill>
                <a:schemeClr val="lt1"/>
              </a:solidFill>
            </a:endParaRPr>
          </a:p>
        </p:txBody>
      </p:sp>
      <p:sp>
        <p:nvSpPr>
          <p:cNvPr id="132" name="Google Shape;132;p15"/>
          <p:cNvSpPr/>
          <p:nvPr/>
        </p:nvSpPr>
        <p:spPr>
          <a:xfrm>
            <a:off x="886581" y="1556792"/>
            <a:ext cx="8286808" cy="6124754"/>
          </a:xfrm>
          <a:prstGeom prst="rect">
            <a:avLst/>
          </a:prstGeom>
          <a:noFill/>
          <a:ln>
            <a:noFill/>
          </a:ln>
        </p:spPr>
        <p:txBody>
          <a:bodyPr spcFirstLastPara="1" wrap="square" lIns="91425" tIns="45700" rIns="91425" bIns="45700" anchor="t" anchorCtr="0">
            <a:noAutofit/>
          </a:bodyPr>
          <a:lstStyle/>
          <a:p>
            <a:pPr marL="0" marR="0" lvl="0" indent="-1778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 Théorie de threads</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 Les processus</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Les threads</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Différents Threads </a:t>
            </a:r>
            <a:endParaRPr sz="1400" b="0" i="0" u="none" strike="noStrike" cap="none">
              <a:solidFill>
                <a:srgbClr val="000000"/>
              </a:solidFill>
              <a:latin typeface="Arial"/>
              <a:ea typeface="Arial"/>
              <a:cs typeface="Arial"/>
              <a:sym typeface="Arial"/>
            </a:endParaRPr>
          </a:p>
          <a:p>
            <a:pPr marL="0" marR="0" lvl="0" indent="-177800" algn="l"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 Librairie pthread.h</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 Création </a:t>
            </a:r>
            <a:endParaRPr sz="2800" b="0" i="0" u="none" strike="noStrike" cap="none">
              <a:solidFill>
                <a:schemeClr val="dk1"/>
              </a:solidFill>
              <a:latin typeface="Calibri"/>
              <a:ea typeface="Calibri"/>
              <a:cs typeface="Calibri"/>
              <a:sym typeface="Calibri"/>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Terminaison</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Attente de la fin d’un thread</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Nettoyage à la terminaison</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Communication entre Threads</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TP </a:t>
            </a:r>
            <a:endParaRPr sz="2800" b="0" i="0" u="none" strike="noStrike" cap="none">
              <a:solidFill>
                <a:schemeClr val="dk1"/>
              </a:solidFill>
              <a:latin typeface="Calibri"/>
              <a:ea typeface="Calibri"/>
              <a:cs typeface="Calibri"/>
              <a:sym typeface="Calibri"/>
            </a:endParaRPr>
          </a:p>
          <a:p>
            <a:pPr marL="914400" marR="0" lvl="2"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16"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38" name="Google Shape;138;p16"/>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Théorie de threads(1)</a:t>
            </a:r>
            <a:endParaRPr sz="3600" b="1"/>
          </a:p>
        </p:txBody>
      </p:sp>
      <p:pic>
        <p:nvPicPr>
          <p:cNvPr id="139" name="Google Shape;139;p16"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40" name="Google Shape;140;p16"/>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41" name="Google Shape;141;p16"/>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42" name="Google Shape;142;p16"/>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3" name="Google Shape;143;p16"/>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4</a:t>
            </a:fld>
            <a:endParaRPr>
              <a:solidFill>
                <a:schemeClr val="lt1"/>
              </a:solidFill>
            </a:endParaRPr>
          </a:p>
        </p:txBody>
      </p:sp>
      <p:sp>
        <p:nvSpPr>
          <p:cNvPr id="144" name="Google Shape;144;p16"/>
          <p:cNvSpPr/>
          <p:nvPr/>
        </p:nvSpPr>
        <p:spPr>
          <a:xfrm>
            <a:off x="683568" y="1556792"/>
            <a:ext cx="8103274" cy="5693866"/>
          </a:xfrm>
          <a:prstGeom prst="rect">
            <a:avLst/>
          </a:prstGeom>
          <a:noFill/>
          <a:ln>
            <a:noFill/>
          </a:ln>
        </p:spPr>
        <p:txBody>
          <a:bodyPr spcFirstLastPara="1" wrap="square" lIns="91425" tIns="45700" rIns="91425" bIns="45700" anchor="t" anchorCtr="0">
            <a:noAutofit/>
          </a:bodyPr>
          <a:lstStyle/>
          <a:p>
            <a:pPr marL="0" marR="0" lvl="0" indent="-177800" algn="l" rtl="0">
              <a:lnSpc>
                <a:spcPct val="100000"/>
              </a:lnSpc>
              <a:spcBef>
                <a:spcPts val="0"/>
              </a:spcBef>
              <a:spcAft>
                <a:spcPts val="0"/>
              </a:spcAft>
              <a:buClr>
                <a:schemeClr val="dk1"/>
              </a:buClr>
              <a:buSzPts val="2800"/>
              <a:buFont typeface="Arial"/>
              <a:buChar char="•"/>
            </a:pPr>
            <a:r>
              <a:rPr lang="fr-FR" sz="2800" b="0" i="0" u="none" strike="noStrike" cap="none" dirty="0">
                <a:solidFill>
                  <a:schemeClr val="dk1"/>
                </a:solidFill>
                <a:latin typeface="Calibri"/>
                <a:ea typeface="Calibri"/>
                <a:cs typeface="Calibri"/>
                <a:sym typeface="Calibri"/>
              </a:rPr>
              <a:t> Processus </a:t>
            </a:r>
            <a:r>
              <a:rPr lang="fr-FR" sz="2800" b="0" i="0" u="none" strike="noStrike" cap="none" dirty="0" err="1">
                <a:solidFill>
                  <a:schemeClr val="dk1"/>
                </a:solidFill>
                <a:latin typeface="Calibri"/>
                <a:ea typeface="Calibri"/>
                <a:cs typeface="Calibri"/>
                <a:sym typeface="Calibri"/>
              </a:rPr>
              <a:t>unix</a:t>
            </a:r>
            <a:r>
              <a:rPr lang="fr-FR" sz="2800" b="0" i="0" u="none" strike="noStrike" cap="none" dirty="0">
                <a:solidFill>
                  <a:schemeClr val="dk1"/>
                </a:solidFill>
                <a:latin typeface="Calibri"/>
                <a:ea typeface="Calibri"/>
                <a:cs typeface="Calibri"/>
                <a:sym typeface="Calibri"/>
              </a:rPr>
              <a:t> :</a:t>
            </a:r>
            <a:endParaRPr sz="1400" b="0" i="0" u="none" strike="noStrike" cap="none" dirty="0">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dirty="0">
                <a:solidFill>
                  <a:schemeClr val="dk1"/>
                </a:solidFill>
                <a:latin typeface="Calibri"/>
                <a:ea typeface="Calibri"/>
                <a:cs typeface="Calibri"/>
                <a:sym typeface="Calibri"/>
              </a:rPr>
              <a:t> Trois segments :</a:t>
            </a:r>
            <a:endParaRPr sz="2800" b="0" i="0" u="none" strike="noStrike" cap="none" dirty="0">
              <a:solidFill>
                <a:schemeClr val="dk1"/>
              </a:solidFill>
              <a:latin typeface="Calibri"/>
              <a:ea typeface="Calibri"/>
              <a:cs typeface="Calibri"/>
              <a:sym typeface="Calibri"/>
            </a:endParaRPr>
          </a:p>
          <a:p>
            <a:pPr marL="2286000" marR="0" lvl="4" indent="-457200" algn="l" rtl="0">
              <a:lnSpc>
                <a:spcPct val="100000"/>
              </a:lnSpc>
              <a:spcBef>
                <a:spcPts val="0"/>
              </a:spcBef>
              <a:spcAft>
                <a:spcPts val="0"/>
              </a:spcAft>
              <a:buClr>
                <a:schemeClr val="dk1"/>
              </a:buClr>
              <a:buSzPts val="2400"/>
              <a:buFont typeface="Noto Sans Symbols"/>
              <a:buChar char="▪"/>
            </a:pPr>
            <a:r>
              <a:rPr lang="fr-FR" sz="2400" b="0" i="0" u="none" strike="noStrike" cap="none" dirty="0">
                <a:solidFill>
                  <a:schemeClr val="dk1"/>
                </a:solidFill>
                <a:latin typeface="Calibri"/>
                <a:ea typeface="Calibri"/>
                <a:cs typeface="Calibri"/>
                <a:sym typeface="Calibri"/>
              </a:rPr>
              <a:t>Le segment texte : code + données statiques</a:t>
            </a:r>
            <a:endParaRPr sz="1400" b="0" i="0" u="none" strike="noStrike" cap="none" dirty="0">
              <a:solidFill>
                <a:srgbClr val="000000"/>
              </a:solidFill>
              <a:latin typeface="Arial"/>
              <a:ea typeface="Arial"/>
              <a:cs typeface="Arial"/>
              <a:sym typeface="Arial"/>
            </a:endParaRPr>
          </a:p>
          <a:p>
            <a:pPr marL="2286000" marR="0" lvl="4" indent="-457200" algn="l" rtl="0">
              <a:lnSpc>
                <a:spcPct val="100000"/>
              </a:lnSpc>
              <a:spcBef>
                <a:spcPts val="0"/>
              </a:spcBef>
              <a:spcAft>
                <a:spcPts val="0"/>
              </a:spcAft>
              <a:buClr>
                <a:schemeClr val="dk1"/>
              </a:buClr>
              <a:buSzPts val="2400"/>
              <a:buFont typeface="Noto Sans Symbols"/>
              <a:buChar char="▪"/>
            </a:pPr>
            <a:r>
              <a:rPr lang="fr-FR" sz="2400" b="0" i="0" u="none" strike="noStrike" cap="none" dirty="0">
                <a:solidFill>
                  <a:schemeClr val="dk1"/>
                </a:solidFill>
                <a:latin typeface="Calibri"/>
                <a:ea typeface="Calibri"/>
                <a:cs typeface="Calibri"/>
                <a:sym typeface="Calibri"/>
              </a:rPr>
              <a:t>Le segment donnée : variables</a:t>
            </a:r>
            <a:endParaRPr sz="1400" b="0" i="0" u="none" strike="noStrike" cap="none" dirty="0">
              <a:solidFill>
                <a:srgbClr val="000000"/>
              </a:solidFill>
              <a:latin typeface="Arial"/>
              <a:ea typeface="Arial"/>
              <a:cs typeface="Arial"/>
              <a:sym typeface="Arial"/>
            </a:endParaRPr>
          </a:p>
          <a:p>
            <a:pPr marL="2286000" marR="0" lvl="4" indent="-457200" algn="l" rtl="0">
              <a:lnSpc>
                <a:spcPct val="100000"/>
              </a:lnSpc>
              <a:spcBef>
                <a:spcPts val="0"/>
              </a:spcBef>
              <a:spcAft>
                <a:spcPts val="0"/>
              </a:spcAft>
              <a:buClr>
                <a:schemeClr val="dk1"/>
              </a:buClr>
              <a:buSzPts val="2400"/>
              <a:buFont typeface="Noto Sans Symbols"/>
              <a:buChar char="▪"/>
            </a:pPr>
            <a:r>
              <a:rPr lang="fr-FR" sz="2400" b="0" i="0" u="none" strike="noStrike" cap="none" dirty="0">
                <a:solidFill>
                  <a:schemeClr val="dk1"/>
                </a:solidFill>
                <a:latin typeface="Calibri"/>
                <a:ea typeface="Calibri"/>
                <a:cs typeface="Calibri"/>
                <a:sym typeface="Calibri"/>
              </a:rPr>
              <a:t>Le segment stack : Pile du processus</a:t>
            </a:r>
            <a:endParaRPr sz="1400" b="0" i="0" u="none" strike="noStrike" cap="none" dirty="0">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1"/>
              </a:solidFill>
              <a:latin typeface="Calibri"/>
              <a:ea typeface="Calibri"/>
              <a:cs typeface="Calibri"/>
              <a:sym typeface="Calibri"/>
            </a:endParaRPr>
          </a:p>
          <a:p>
            <a:pPr marL="1371600" marR="0" lvl="2" indent="-457200" algn="l" rtl="0">
              <a:lnSpc>
                <a:spcPct val="100000"/>
              </a:lnSpc>
              <a:spcBef>
                <a:spcPts val="0"/>
              </a:spcBef>
              <a:spcAft>
                <a:spcPts val="0"/>
              </a:spcAft>
              <a:buClr>
                <a:schemeClr val="dk1"/>
              </a:buClr>
              <a:buSzPts val="2800"/>
              <a:buFont typeface="Noto Sans Symbols"/>
              <a:buChar char="✔"/>
            </a:pPr>
            <a:r>
              <a:rPr lang="fr-FR" sz="2800" b="0" i="0" u="none" strike="noStrike" cap="none" dirty="0">
                <a:solidFill>
                  <a:schemeClr val="dk1"/>
                </a:solidFill>
                <a:latin typeface="Calibri"/>
                <a:ea typeface="Calibri"/>
                <a:cs typeface="Calibri"/>
                <a:sym typeface="Calibri"/>
              </a:rPr>
              <a:t>Un environnement</a:t>
            </a:r>
            <a:endParaRPr sz="2800" b="0" i="0" u="none" strike="noStrike" cap="none" dirty="0">
              <a:solidFill>
                <a:schemeClr val="dk1"/>
              </a:solidFill>
              <a:latin typeface="Calibri"/>
              <a:ea typeface="Calibri"/>
              <a:cs typeface="Calibri"/>
              <a:sym typeface="Calibri"/>
            </a:endParaRPr>
          </a:p>
          <a:p>
            <a:pPr marL="2286000" marR="0" lvl="4" indent="-457200" algn="l" rtl="0">
              <a:lnSpc>
                <a:spcPct val="100000"/>
              </a:lnSpc>
              <a:spcBef>
                <a:spcPts val="0"/>
              </a:spcBef>
              <a:spcAft>
                <a:spcPts val="0"/>
              </a:spcAft>
              <a:buClr>
                <a:schemeClr val="dk1"/>
              </a:buClr>
              <a:buSzPts val="2400"/>
              <a:buFont typeface="Noto Sans Symbols"/>
              <a:buChar char="▪"/>
            </a:pPr>
            <a:r>
              <a:rPr lang="fr-FR" sz="2400" b="0" i="0" u="none" strike="noStrike" cap="none" dirty="0">
                <a:solidFill>
                  <a:schemeClr val="dk1"/>
                </a:solidFill>
                <a:latin typeface="Calibri"/>
                <a:ea typeface="Calibri"/>
                <a:cs typeface="Calibri"/>
                <a:sym typeface="Calibri"/>
              </a:rPr>
              <a:t>Information nécessaire au kernel pour gérer le processus (contenu du processus, priorités, fichiers ouverts …)</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2800"/>
              <a:buFont typeface="Arial"/>
              <a:buNone/>
            </a:pPr>
            <a:endParaRPr sz="2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endParaRPr sz="2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endParaRPr sz="2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7"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50" name="Google Shape;150;p17"/>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Théorie de threads(2)</a:t>
            </a:r>
            <a:endParaRPr sz="3600" b="1"/>
          </a:p>
        </p:txBody>
      </p:sp>
      <p:pic>
        <p:nvPicPr>
          <p:cNvPr id="151" name="Google Shape;151;p17"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52" name="Google Shape;152;p17"/>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53" name="Google Shape;153;p17"/>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54" name="Google Shape;154;p17"/>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5" name="Google Shape;155;p17"/>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5</a:t>
            </a:fld>
            <a:endParaRPr>
              <a:solidFill>
                <a:schemeClr val="lt1"/>
              </a:solidFill>
            </a:endParaRPr>
          </a:p>
        </p:txBody>
      </p:sp>
      <p:sp>
        <p:nvSpPr>
          <p:cNvPr id="156" name="Google Shape;156;p17"/>
          <p:cNvSpPr/>
          <p:nvPr/>
        </p:nvSpPr>
        <p:spPr>
          <a:xfrm>
            <a:off x="539552" y="1556792"/>
            <a:ext cx="8568952" cy="483209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Processus : </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Le modèle processus décrit précédemment est un programme qui s’exécute selon un chemin unique (compteur ordinal). </a:t>
            </a: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On dit qu’il a un </a:t>
            </a:r>
            <a:r>
              <a:rPr lang="fr-FR" sz="2800" b="0" i="0" u="none" strike="noStrike" cap="none">
                <a:solidFill>
                  <a:srgbClr val="E36C09"/>
                </a:solidFill>
                <a:latin typeface="Calibri"/>
                <a:ea typeface="Calibri"/>
                <a:cs typeface="Calibri"/>
                <a:sym typeface="Calibri"/>
              </a:rPr>
              <a:t>flot de contrôle unique </a:t>
            </a:r>
            <a:r>
              <a:rPr lang="fr-FR" sz="2800" b="0" i="0" u="none" strike="noStrike" cap="none">
                <a:solidFill>
                  <a:schemeClr val="dk1"/>
                </a:solidFill>
                <a:latin typeface="Calibri"/>
                <a:ea typeface="Calibri"/>
                <a:cs typeface="Calibri"/>
                <a:sym typeface="Calibri"/>
              </a:rPr>
              <a:t>(un seul thread).</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57" name="Google Shape;157;p17"/>
          <p:cNvSpPr/>
          <p:nvPr/>
        </p:nvSpPr>
        <p:spPr>
          <a:xfrm>
            <a:off x="4211960" y="3140968"/>
            <a:ext cx="717214" cy="864096"/>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8"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64" name="Google Shape;164;p18"/>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Théorie de threads(3)</a:t>
            </a:r>
            <a:endParaRPr sz="3600" b="1"/>
          </a:p>
        </p:txBody>
      </p:sp>
      <p:pic>
        <p:nvPicPr>
          <p:cNvPr id="165" name="Google Shape;165;p18"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66" name="Google Shape;166;p18"/>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67" name="Google Shape;167;p18"/>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68" name="Google Shape;168;p18"/>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9" name="Google Shape;169;p18"/>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6</a:t>
            </a:fld>
            <a:endParaRPr>
              <a:solidFill>
                <a:schemeClr val="lt1"/>
              </a:solidFill>
            </a:endParaRPr>
          </a:p>
        </p:txBody>
      </p:sp>
      <p:sp>
        <p:nvSpPr>
          <p:cNvPr id="170" name="Google Shape;170;p18"/>
          <p:cNvSpPr/>
          <p:nvPr/>
        </p:nvSpPr>
        <p:spPr>
          <a:xfrm>
            <a:off x="803276" y="836712"/>
            <a:ext cx="8289458" cy="4216539"/>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Threads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De nombreux systèmes d’exploitation modernes offrent la possibilité d’associer à un même processus plusieurs chemins d’exécution (multithreading, multiflot d’exécution).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71" name="Google Shape;171;p18"/>
          <p:cNvPicPr preferRelativeResize="0"/>
          <p:nvPr/>
        </p:nvPicPr>
        <p:blipFill rotWithShape="1">
          <a:blip r:embed="rId5">
            <a:alphaModFix/>
          </a:blip>
          <a:srcRect/>
          <a:stretch/>
        </p:blipFill>
        <p:spPr>
          <a:xfrm>
            <a:off x="1115616" y="3009333"/>
            <a:ext cx="7317976" cy="37320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9"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78" name="Google Shape;178;p19"/>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Théorie de threads(4)</a:t>
            </a:r>
            <a:endParaRPr sz="3600" b="1"/>
          </a:p>
        </p:txBody>
      </p:sp>
      <p:pic>
        <p:nvPicPr>
          <p:cNvPr id="179" name="Google Shape;179;p19"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80" name="Google Shape;180;p19"/>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81" name="Google Shape;181;p19"/>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82" name="Google Shape;182;p19"/>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3" name="Google Shape;183;p19"/>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7</a:t>
            </a:fld>
            <a:endParaRPr>
              <a:solidFill>
                <a:schemeClr val="lt1"/>
              </a:solidFill>
            </a:endParaRPr>
          </a:p>
        </p:txBody>
      </p:sp>
      <p:sp>
        <p:nvSpPr>
          <p:cNvPr id="184" name="Google Shape;184;p19"/>
          <p:cNvSpPr/>
          <p:nvPr/>
        </p:nvSpPr>
        <p:spPr>
          <a:xfrm>
            <a:off x="827584" y="836712"/>
            <a:ext cx="8289458" cy="5016758"/>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Threads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rgbClr val="E36C09"/>
                </a:solidFill>
                <a:latin typeface="Calibri"/>
                <a:ea typeface="Calibri"/>
                <a:cs typeface="Calibri"/>
                <a:sym typeface="Calibri"/>
              </a:rPr>
              <a:t>Un thread est une unité d’exécution rattachée à un processus, chargée d’exécuter une partie du processus.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Un processus est vu comme étant un ensemble de ressources (espace d’adressage, fichiers,  périphériques…) que ses threads (flots de contrôle ou processus légers) partagent.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20"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190" name="Google Shape;190;p20"/>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Théorie de threads(5)</a:t>
            </a:r>
            <a:endParaRPr sz="3600" b="1"/>
          </a:p>
        </p:txBody>
      </p:sp>
      <p:pic>
        <p:nvPicPr>
          <p:cNvPr id="191" name="Google Shape;191;p20"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192" name="Google Shape;192;p20"/>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93" name="Google Shape;193;p20"/>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194" name="Google Shape;194;p20"/>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5" name="Google Shape;195;p20"/>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8</a:t>
            </a:fld>
            <a:endParaRPr>
              <a:solidFill>
                <a:schemeClr val="lt1"/>
              </a:solidFill>
            </a:endParaRPr>
          </a:p>
        </p:txBody>
      </p:sp>
      <p:sp>
        <p:nvSpPr>
          <p:cNvPr id="196" name="Google Shape;196;p20"/>
          <p:cNvSpPr/>
          <p:nvPr/>
        </p:nvSpPr>
        <p:spPr>
          <a:xfrm>
            <a:off x="827584" y="836712"/>
            <a:ext cx="8289458" cy="5570756"/>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Threads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Lorsqu’un processus est créé, un seul flot d’exécution (thread) est associé au processus. Ce thread peut en créer d’autres.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Chaque thread a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un identificateur unique</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une pile d'exécution</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des registres (un compteur ordinal)</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un état…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21"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202" name="Google Shape;202;p21"/>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Comment ça marche?</a:t>
            </a:r>
            <a:endParaRPr sz="3600" b="1"/>
          </a:p>
        </p:txBody>
      </p:sp>
      <p:pic>
        <p:nvPicPr>
          <p:cNvPr id="203" name="Google Shape;203;p21"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04" name="Google Shape;204;p21"/>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05" name="Google Shape;205;p21"/>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06" name="Google Shape;206;p21"/>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7" name="Google Shape;207;p21"/>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9</a:t>
            </a:fld>
            <a:endParaRPr>
              <a:solidFill>
                <a:schemeClr val="lt1"/>
              </a:solidFill>
            </a:endParaRPr>
          </a:p>
        </p:txBody>
      </p:sp>
      <p:graphicFrame>
        <p:nvGraphicFramePr>
          <p:cNvPr id="208" name="Google Shape;208;p21"/>
          <p:cNvGraphicFramePr/>
          <p:nvPr/>
        </p:nvGraphicFramePr>
        <p:xfrm>
          <a:off x="1043607" y="1002530"/>
          <a:ext cx="7795600" cy="2570495"/>
        </p:xfrm>
        <a:graphic>
          <a:graphicData uri="http://schemas.openxmlformats.org/drawingml/2006/table">
            <a:tbl>
              <a:tblPr firstRow="1" bandRow="1">
                <a:noFill/>
                <a:tableStyleId>{CA9732A6-F822-4872-A479-3523BBC9B60D}</a:tableStyleId>
              </a:tblPr>
              <a:tblGrid>
                <a:gridCol w="7795600">
                  <a:extLst>
                    <a:ext uri="{9D8B030D-6E8A-4147-A177-3AD203B41FA5}">
                      <a16:colId xmlns:a16="http://schemas.microsoft.com/office/drawing/2014/main" val="20000"/>
                    </a:ext>
                  </a:extLst>
                </a:gridCol>
              </a:tblGrid>
              <a:tr h="31557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Copie de  :</a:t>
                      </a:r>
                      <a:endParaRPr sz="1800" u="none" strike="noStrike" cap="none"/>
                    </a:p>
                  </a:txBody>
                  <a:tcPr marL="91450" marR="91450" marT="45725" marB="45725"/>
                </a:tc>
                <a:extLst>
                  <a:ext uri="{0D108BD9-81ED-4DB2-BD59-A6C34878D82A}">
                    <a16:rowId xmlns:a16="http://schemas.microsoft.com/office/drawing/2014/main" val="10000"/>
                  </a:ext>
                </a:extLst>
              </a:tr>
              <a:tr h="2204725">
                <a:tc>
                  <a:txBody>
                    <a:bodyPr/>
                    <a:lstStyle/>
                    <a:p>
                      <a:pPr marL="0" marR="0" lvl="0" indent="0" algn="just" rtl="0">
                        <a:lnSpc>
                          <a:spcPct val="100000"/>
                        </a:lnSpc>
                        <a:spcBef>
                          <a:spcPts val="0"/>
                        </a:spcBef>
                        <a:spcAft>
                          <a:spcPts val="0"/>
                        </a:spcAft>
                        <a:buClr>
                          <a:srgbClr val="000000"/>
                        </a:buClr>
                        <a:buSzPts val="2000"/>
                        <a:buFont typeface="Arial"/>
                        <a:buNone/>
                      </a:pPr>
                      <a:endParaRPr sz="2000" u="none" strike="noStrike" cap="none">
                        <a:solidFill>
                          <a:srgbClr val="538CD5"/>
                        </a:solidFill>
                      </a:endParaRPr>
                    </a:p>
                    <a:p>
                      <a:pPr marL="457200" marR="0" lvl="0" indent="-457200" algn="l" rtl="0">
                        <a:lnSpc>
                          <a:spcPct val="100000"/>
                        </a:lnSpc>
                        <a:spcBef>
                          <a:spcPts val="0"/>
                        </a:spcBef>
                        <a:spcAft>
                          <a:spcPts val="0"/>
                        </a:spcAft>
                        <a:buClr>
                          <a:schemeClr val="dk1"/>
                        </a:buClr>
                        <a:buSzPts val="2000"/>
                        <a:buFont typeface="Noto Sans Symbols"/>
                        <a:buChar char="⮚"/>
                      </a:pPr>
                      <a:r>
                        <a:rPr lang="fr-FR" sz="2000" u="none" strike="noStrike" cap="none"/>
                        <a:t>Compteur ordinal (adresse mémoire de la prochaine instruction à exécuter)</a:t>
                      </a:r>
                      <a:endParaRPr sz="1400" u="none" strike="noStrike" cap="none"/>
                    </a:p>
                    <a:p>
                      <a:pPr marL="457200" marR="0" lvl="0" indent="-457200" algn="l" rtl="0">
                        <a:lnSpc>
                          <a:spcPct val="100000"/>
                        </a:lnSpc>
                        <a:spcBef>
                          <a:spcPts val="0"/>
                        </a:spcBef>
                        <a:spcAft>
                          <a:spcPts val="0"/>
                        </a:spcAft>
                        <a:buClr>
                          <a:schemeClr val="dk1"/>
                        </a:buClr>
                        <a:buSzPts val="2000"/>
                        <a:buFont typeface="Noto Sans Symbols"/>
                        <a:buChar char="⮚"/>
                      </a:pPr>
                      <a:r>
                        <a:rPr lang="fr-FR" sz="2000" u="none" strike="noStrike" cap="none"/>
                        <a:t>Registre (emplacement de mémoire interne à un processeur)</a:t>
                      </a:r>
                      <a:endParaRPr sz="1400" u="none" strike="noStrike" cap="none"/>
                    </a:p>
                    <a:p>
                      <a:pPr marL="457200" marR="0" lvl="0" indent="-457200" algn="l" rtl="0">
                        <a:lnSpc>
                          <a:spcPct val="100000"/>
                        </a:lnSpc>
                        <a:spcBef>
                          <a:spcPts val="0"/>
                        </a:spcBef>
                        <a:spcAft>
                          <a:spcPts val="0"/>
                        </a:spcAft>
                        <a:buClr>
                          <a:schemeClr val="dk1"/>
                        </a:buClr>
                        <a:buSzPts val="2000"/>
                        <a:buFont typeface="Noto Sans Symbols"/>
                        <a:buChar char="⮚"/>
                      </a:pPr>
                      <a:r>
                        <a:rPr lang="fr-FR" sz="2000" u="none" strike="noStrike" cap="none"/>
                        <a:t>Pile d'appel</a:t>
                      </a:r>
                      <a:endParaRPr sz="1400" u="none" strike="noStrike" cap="none"/>
                    </a:p>
                    <a:p>
                      <a:pPr marL="457200" marR="0" lvl="0" indent="-457200" algn="l" rtl="0">
                        <a:lnSpc>
                          <a:spcPct val="100000"/>
                        </a:lnSpc>
                        <a:spcBef>
                          <a:spcPts val="0"/>
                        </a:spcBef>
                        <a:spcAft>
                          <a:spcPts val="0"/>
                        </a:spcAft>
                        <a:buClr>
                          <a:schemeClr val="dk1"/>
                        </a:buClr>
                        <a:buSzPts val="2000"/>
                        <a:buFont typeface="Noto Sans Symbols"/>
                        <a:buChar char="⮚"/>
                      </a:pPr>
                      <a:r>
                        <a:rPr lang="fr-FR" sz="2000" u="none" strike="noStrike" cap="none"/>
                        <a:t>Etat d'ordonnancement (quel processus va prendre la main)</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09" name="Google Shape;209;p21"/>
          <p:cNvGraphicFramePr/>
          <p:nvPr/>
        </p:nvGraphicFramePr>
        <p:xfrm>
          <a:off x="1096887" y="3789040"/>
          <a:ext cx="7795600" cy="2570495"/>
        </p:xfrm>
        <a:graphic>
          <a:graphicData uri="http://schemas.openxmlformats.org/drawingml/2006/table">
            <a:tbl>
              <a:tblPr firstRow="1" bandRow="1">
                <a:noFill/>
                <a:tableStyleId>{CA9732A6-F822-4872-A479-3523BBC9B60D}</a:tableStyleId>
              </a:tblPr>
              <a:tblGrid>
                <a:gridCol w="7795600">
                  <a:extLst>
                    <a:ext uri="{9D8B030D-6E8A-4147-A177-3AD203B41FA5}">
                      <a16:colId xmlns:a16="http://schemas.microsoft.com/office/drawing/2014/main" val="20000"/>
                    </a:ext>
                  </a:extLst>
                </a:gridCol>
              </a:tblGrid>
              <a:tr h="31557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Partage de :</a:t>
                      </a:r>
                      <a:endParaRPr sz="1800" u="none" strike="noStrike" cap="none"/>
                    </a:p>
                  </a:txBody>
                  <a:tcPr marL="91450" marR="91450" marT="45725" marB="45725"/>
                </a:tc>
                <a:extLst>
                  <a:ext uri="{0D108BD9-81ED-4DB2-BD59-A6C34878D82A}">
                    <a16:rowId xmlns:a16="http://schemas.microsoft.com/office/drawing/2014/main" val="10000"/>
                  </a:ext>
                </a:extLst>
              </a:tr>
              <a:tr h="2204725">
                <a:tc>
                  <a:txBody>
                    <a:bodyPr/>
                    <a:lstStyle/>
                    <a:p>
                      <a:pPr marL="0" marR="0" lvl="0" indent="0" algn="just" rtl="0">
                        <a:lnSpc>
                          <a:spcPct val="100000"/>
                        </a:lnSpc>
                        <a:spcBef>
                          <a:spcPts val="0"/>
                        </a:spcBef>
                        <a:spcAft>
                          <a:spcPts val="0"/>
                        </a:spcAft>
                        <a:buClr>
                          <a:srgbClr val="000000"/>
                        </a:buClr>
                        <a:buSzPts val="2000"/>
                        <a:buFont typeface="Arial"/>
                        <a:buNone/>
                      </a:pPr>
                      <a:endParaRPr sz="2000" u="none" strike="noStrike" cap="none">
                        <a:solidFill>
                          <a:srgbClr val="538CD5"/>
                        </a:solidFill>
                      </a:endParaRPr>
                    </a:p>
                    <a:p>
                      <a:pPr marL="342900" marR="0" lvl="0" indent="-342900" algn="l" rtl="0">
                        <a:lnSpc>
                          <a:spcPct val="100000"/>
                        </a:lnSpc>
                        <a:spcBef>
                          <a:spcPts val="0"/>
                        </a:spcBef>
                        <a:spcAft>
                          <a:spcPts val="0"/>
                        </a:spcAft>
                        <a:buClr>
                          <a:schemeClr val="dk1"/>
                        </a:buClr>
                        <a:buSzPts val="2000"/>
                        <a:buFont typeface="Noto Sans Symbols"/>
                        <a:buChar char="⮚"/>
                      </a:pPr>
                      <a:r>
                        <a:rPr lang="fr-FR" sz="2000" b="0" i="0" u="none" strike="noStrike" cap="none">
                          <a:solidFill>
                            <a:schemeClr val="dk1"/>
                          </a:solidFill>
                          <a:latin typeface="Calibri"/>
                          <a:ea typeface="Calibri"/>
                          <a:cs typeface="Calibri"/>
                          <a:sym typeface="Calibri"/>
                        </a:rPr>
                        <a:t>Espace d'adressage</a:t>
                      </a:r>
                      <a:endParaRPr sz="1400" u="none" strike="noStrike" cap="none"/>
                    </a:p>
                    <a:p>
                      <a:pPr marL="342900" marR="0" lvl="0" indent="-342900" algn="l" rtl="0">
                        <a:lnSpc>
                          <a:spcPct val="100000"/>
                        </a:lnSpc>
                        <a:spcBef>
                          <a:spcPts val="0"/>
                        </a:spcBef>
                        <a:spcAft>
                          <a:spcPts val="0"/>
                        </a:spcAft>
                        <a:buClr>
                          <a:schemeClr val="dk1"/>
                        </a:buClr>
                        <a:buSzPts val="2000"/>
                        <a:buFont typeface="Noto Sans Symbols"/>
                        <a:buChar char="⮚"/>
                      </a:pPr>
                      <a:r>
                        <a:rPr lang="fr-FR" sz="2000" b="0" i="0" u="none" strike="noStrike" cap="none">
                          <a:solidFill>
                            <a:schemeClr val="dk1"/>
                          </a:solidFill>
                          <a:latin typeface="Calibri"/>
                          <a:ea typeface="Calibri"/>
                          <a:cs typeface="Calibri"/>
                          <a:sym typeface="Calibri"/>
                        </a:rPr>
                        <a:t>Variables globales</a:t>
                      </a:r>
                      <a:endParaRPr sz="1400" u="none" strike="noStrike" cap="none"/>
                    </a:p>
                    <a:p>
                      <a:pPr marL="342900" marR="0" lvl="0" indent="-342900" algn="l" rtl="0">
                        <a:lnSpc>
                          <a:spcPct val="100000"/>
                        </a:lnSpc>
                        <a:spcBef>
                          <a:spcPts val="0"/>
                        </a:spcBef>
                        <a:spcAft>
                          <a:spcPts val="0"/>
                        </a:spcAft>
                        <a:buClr>
                          <a:schemeClr val="dk1"/>
                        </a:buClr>
                        <a:buSzPts val="2000"/>
                        <a:buFont typeface="Noto Sans Symbols"/>
                        <a:buChar char="⮚"/>
                      </a:pPr>
                      <a:r>
                        <a:rPr lang="fr-FR" sz="2000" b="0" i="0" u="none" strike="noStrike" cap="none">
                          <a:solidFill>
                            <a:schemeClr val="dk1"/>
                          </a:solidFill>
                          <a:latin typeface="Calibri"/>
                          <a:ea typeface="Calibri"/>
                          <a:cs typeface="Calibri"/>
                          <a:sym typeface="Calibri"/>
                        </a:rPr>
                        <a:t>Fichiers ouverts</a:t>
                      </a:r>
                      <a:endParaRPr sz="1400" u="none" strike="noStrike" cap="none"/>
                    </a:p>
                    <a:p>
                      <a:pPr marL="342900" marR="0" lvl="0" indent="-342900" algn="l" rtl="0">
                        <a:lnSpc>
                          <a:spcPct val="100000"/>
                        </a:lnSpc>
                        <a:spcBef>
                          <a:spcPts val="0"/>
                        </a:spcBef>
                        <a:spcAft>
                          <a:spcPts val="0"/>
                        </a:spcAft>
                        <a:buClr>
                          <a:schemeClr val="dk1"/>
                        </a:buClr>
                        <a:buSzPts val="2000"/>
                        <a:buFont typeface="Noto Sans Symbols"/>
                        <a:buChar char="⮚"/>
                      </a:pPr>
                      <a:r>
                        <a:rPr lang="fr-FR" sz="2000" b="0" i="0" u="none" strike="noStrike" cap="none">
                          <a:solidFill>
                            <a:schemeClr val="dk1"/>
                          </a:solidFill>
                          <a:latin typeface="Calibri"/>
                          <a:ea typeface="Calibri"/>
                          <a:cs typeface="Calibri"/>
                          <a:sym typeface="Calibri"/>
                        </a:rPr>
                        <a:t>Signaux</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22"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216" name="Google Shape;216;p22"/>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Comment ça marche?</a:t>
            </a:r>
            <a:endParaRPr/>
          </a:p>
        </p:txBody>
      </p:sp>
      <p:pic>
        <p:nvPicPr>
          <p:cNvPr id="217" name="Google Shape;217;p22"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18" name="Google Shape;218;p22"/>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19" name="Google Shape;219;p22"/>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20" name="Google Shape;220;p22"/>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1" name="Google Shape;221;p22"/>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10</a:t>
            </a:fld>
            <a:endParaRPr>
              <a:solidFill>
                <a:schemeClr val="lt1"/>
              </a:solidFill>
            </a:endParaRPr>
          </a:p>
        </p:txBody>
      </p:sp>
      <p:sp>
        <p:nvSpPr>
          <p:cNvPr id="222" name="Google Shape;222;p22"/>
          <p:cNvSpPr/>
          <p:nvPr/>
        </p:nvSpPr>
        <p:spPr>
          <a:xfrm>
            <a:off x="827584" y="836712"/>
            <a:ext cx="8289458" cy="6124754"/>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Threads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Le multithreading permet l’exécution simultanée ou en pseudo-parallèle de plusieurs parties d’un même processus.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3" name="Google Shape;223;p22"/>
          <p:cNvPicPr preferRelativeResize="0"/>
          <p:nvPr/>
        </p:nvPicPr>
        <p:blipFill rotWithShape="1">
          <a:blip r:embed="rId5">
            <a:alphaModFix/>
          </a:blip>
          <a:srcRect/>
          <a:stretch/>
        </p:blipFill>
        <p:spPr>
          <a:xfrm>
            <a:off x="1747824" y="1273046"/>
            <a:ext cx="6362700" cy="3438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fld id="{00000000-1234-1234-1234-123412341234}" type="slidenum">
              <a:rPr lang="fr-FR"/>
              <a:t>11</a:t>
            </a:fld>
            <a:endParaRPr/>
          </a:p>
        </p:txBody>
      </p:sp>
      <p:pic>
        <p:nvPicPr>
          <p:cNvPr id="230" name="Google Shape;230;p23" descr="C:\Users\Habiba\Desktop\Sans titre-1 copier.jpg"/>
          <p:cNvPicPr preferRelativeResize="0"/>
          <p:nvPr/>
        </p:nvPicPr>
        <p:blipFill rotWithShape="1">
          <a:blip r:embed="rId3">
            <a:alphaModFix/>
          </a:blip>
          <a:srcRect/>
          <a:stretch/>
        </p:blipFill>
        <p:spPr>
          <a:xfrm>
            <a:off x="323528" y="145875"/>
            <a:ext cx="8686800" cy="6667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4"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237" name="Google Shape;237;p24"/>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Pourquoi utiliser les threads</a:t>
            </a:r>
            <a:endParaRPr sz="3600" b="1"/>
          </a:p>
        </p:txBody>
      </p:sp>
      <p:pic>
        <p:nvPicPr>
          <p:cNvPr id="238" name="Google Shape;238;p24"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39" name="Google Shape;239;p24"/>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40" name="Google Shape;240;p24"/>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41" name="Google Shape;241;p24"/>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2" name="Google Shape;242;p24"/>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12</a:t>
            </a:fld>
            <a:endParaRPr>
              <a:solidFill>
                <a:schemeClr val="lt1"/>
              </a:solidFill>
            </a:endParaRPr>
          </a:p>
        </p:txBody>
      </p:sp>
      <p:sp>
        <p:nvSpPr>
          <p:cNvPr id="243" name="Google Shape;243;p24"/>
          <p:cNvSpPr/>
          <p:nvPr/>
        </p:nvSpPr>
        <p:spPr>
          <a:xfrm>
            <a:off x="827584" y="1700808"/>
            <a:ext cx="8289458" cy="4832092"/>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Améliorer la rapidité des applications (pas de blocages pour des tâches qui peuvent être effectuée en parallèle)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457200" marR="0" lvl="0" indent="-457200" algn="just"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Exploiter de manière efficace les machines multiprocesseur</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457200" marR="0" lvl="0" indent="-457200" algn="just"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Améliorer la structure de votre programme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457200" marR="0" lvl="0" indent="-457200" algn="just" rtl="0">
              <a:lnSpc>
                <a:spcPct val="100000"/>
              </a:lnSpc>
              <a:spcBef>
                <a:spcPts val="0"/>
              </a:spcBef>
              <a:spcAft>
                <a:spcPts val="0"/>
              </a:spcAft>
              <a:buClr>
                <a:schemeClr val="dk1"/>
              </a:buClr>
              <a:buSzPts val="2800"/>
              <a:buFont typeface="Noto Sans Symbols"/>
              <a:buChar char="✔"/>
            </a:pPr>
            <a:r>
              <a:rPr lang="fr-FR" sz="2800" b="0" i="0" u="none" strike="noStrike" cap="none">
                <a:solidFill>
                  <a:schemeClr val="dk1"/>
                </a:solidFill>
                <a:latin typeface="Calibri"/>
                <a:ea typeface="Calibri"/>
                <a:cs typeface="Calibri"/>
                <a:sym typeface="Calibri"/>
              </a:rPr>
              <a:t>Utiliser moins de ressources système</a:t>
            </a: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25" descr="C:\Documents and Settings\Aziz\Bureau\Bas.JPG"/>
          <p:cNvPicPr preferRelativeResize="0"/>
          <p:nvPr/>
        </p:nvPicPr>
        <p:blipFill rotWithShape="1">
          <a:blip r:embed="rId3">
            <a:alphaModFix/>
          </a:blip>
          <a:srcRect/>
          <a:stretch/>
        </p:blipFill>
        <p:spPr>
          <a:xfrm rot="5400000">
            <a:off x="-3000388" y="3000412"/>
            <a:ext cx="6858000" cy="857224"/>
          </a:xfrm>
          <a:prstGeom prst="rect">
            <a:avLst/>
          </a:prstGeom>
          <a:noFill/>
          <a:ln>
            <a:noFill/>
          </a:ln>
        </p:spPr>
      </p:pic>
      <p:sp>
        <p:nvSpPr>
          <p:cNvPr id="250" name="Google Shape;250;p25"/>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Différents Threads :</a:t>
            </a:r>
            <a:endParaRPr sz="3600" b="1"/>
          </a:p>
        </p:txBody>
      </p:sp>
      <p:pic>
        <p:nvPicPr>
          <p:cNvPr id="251" name="Google Shape;251;p25"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52" name="Google Shape;252;p25"/>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53" name="Google Shape;253;p25"/>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54" name="Google Shape;254;p25"/>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5" name="Google Shape;255;p25"/>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13</a:t>
            </a:fld>
            <a:endParaRPr>
              <a:solidFill>
                <a:schemeClr val="lt1"/>
              </a:solidFill>
            </a:endParaRPr>
          </a:p>
        </p:txBody>
      </p:sp>
      <p:sp>
        <p:nvSpPr>
          <p:cNvPr id="256" name="Google Shape;256;p25"/>
          <p:cNvSpPr/>
          <p:nvPr/>
        </p:nvSpPr>
        <p:spPr>
          <a:xfrm>
            <a:off x="827584" y="1340768"/>
            <a:ext cx="8289458" cy="6555641"/>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100000"/>
              </a:lnSpc>
              <a:spcBef>
                <a:spcPts val="0"/>
              </a:spcBef>
              <a:spcAft>
                <a:spcPts val="0"/>
              </a:spcAft>
              <a:buClr>
                <a:srgbClr val="538CD5"/>
              </a:buClr>
              <a:buSzPts val="2800"/>
              <a:buFont typeface="Noto Sans Symbols"/>
              <a:buChar char="✔"/>
            </a:pPr>
            <a:r>
              <a:rPr lang="fr-FR" sz="2800" b="0" i="0" u="none" strike="noStrike" cap="none">
                <a:solidFill>
                  <a:srgbClr val="538CD5"/>
                </a:solidFill>
                <a:latin typeface="Calibri"/>
                <a:ea typeface="Calibri"/>
                <a:cs typeface="Calibri"/>
                <a:sym typeface="Calibri"/>
              </a:rPr>
              <a:t>Thread utilisateur :</a:t>
            </a:r>
            <a:endParaRPr sz="1400" b="0" i="0" u="none" strike="noStrike" cap="none">
              <a:solidFill>
                <a:srgbClr val="000000"/>
              </a:solidFill>
              <a:latin typeface="Arial"/>
              <a:ea typeface="Arial"/>
              <a:cs typeface="Arial"/>
              <a:sym typeface="Arial"/>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Les threads utilisateur sont implantés dans une bibliothèque (niveau utilisateur) qui fournit un support pour les gérer.</a:t>
            </a:r>
            <a:endParaRPr sz="1400" b="0" i="0" u="none" strike="noStrike" cap="none">
              <a:solidFill>
                <a:srgbClr val="000000"/>
              </a:solidFill>
              <a:latin typeface="Arial"/>
              <a:ea typeface="Arial"/>
              <a:cs typeface="Arial"/>
              <a:sym typeface="Arial"/>
            </a:endParaRPr>
          </a:p>
          <a:p>
            <a:pPr marL="914400" marR="0" lvl="2"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1371600" marR="0" lvl="2" indent="-457200" algn="just" rtl="0">
              <a:lnSpc>
                <a:spcPct val="100000"/>
              </a:lnSpc>
              <a:spcBef>
                <a:spcPts val="0"/>
              </a:spcBef>
              <a:spcAft>
                <a:spcPts val="0"/>
              </a:spcAft>
              <a:buClr>
                <a:srgbClr val="FF0000"/>
              </a:buClr>
              <a:buSzPts val="2400"/>
              <a:buFont typeface="Noto Sans Symbols"/>
              <a:buChar char="⮚"/>
            </a:pPr>
            <a:r>
              <a:rPr lang="fr-FR" sz="2400" b="0" i="0" u="none" strike="noStrike" cap="none">
                <a:solidFill>
                  <a:srgbClr val="FF0000"/>
                </a:solidFill>
                <a:latin typeface="Calibri"/>
                <a:ea typeface="Calibri"/>
                <a:cs typeface="Calibri"/>
                <a:sym typeface="Calibri"/>
              </a:rPr>
              <a:t>Ils ne sont pas gérés par le noyau</a:t>
            </a: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914400" marR="0" lvl="2"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Le noyau gère les processus (table des processus) et ne se préoccupe pas de l’existence des threads (</a:t>
            </a:r>
            <a:r>
              <a:rPr lang="fr-FR" sz="2400" b="0" i="0" u="none" strike="noStrike" cap="none">
                <a:solidFill>
                  <a:srgbClr val="FF0000"/>
                </a:solidFill>
                <a:latin typeface="Calibri"/>
                <a:ea typeface="Calibri"/>
                <a:cs typeface="Calibri"/>
                <a:sym typeface="Calibri"/>
              </a:rPr>
              <a:t>modèle plusieurs-à-un</a:t>
            </a: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Lorsque le noyau alloue le processeur à un processus, le </a:t>
            </a:r>
            <a:r>
              <a:rPr lang="fr-FR" sz="2400" b="0" i="0" u="none" strike="noStrike" cap="none">
                <a:solidFill>
                  <a:srgbClr val="FF0000"/>
                </a:solidFill>
                <a:latin typeface="Calibri"/>
                <a:ea typeface="Calibri"/>
                <a:cs typeface="Calibri"/>
                <a:sym typeface="Calibri"/>
              </a:rPr>
              <a:t>temps d’allocation du processeur est réparti entre les différents threads du processus</a:t>
            </a:r>
            <a:r>
              <a:rPr lang="fr-FR" sz="2400" b="0" i="0" u="none" strike="noStrike" cap="none">
                <a:solidFill>
                  <a:schemeClr val="dk1"/>
                </a:solidFill>
                <a:latin typeface="Calibri"/>
                <a:ea typeface="Calibri"/>
                <a:cs typeface="Calibri"/>
                <a:sym typeface="Calibri"/>
              </a:rPr>
              <a:t> (cette répartition n’est pas gérée par le noyau).</a:t>
            </a:r>
            <a:endParaRPr sz="1400" b="0" i="0" u="none" strike="noStrike" cap="none">
              <a:solidFill>
                <a:srgbClr val="000000"/>
              </a:solidFill>
              <a:latin typeface="Arial"/>
              <a:ea typeface="Arial"/>
              <a:cs typeface="Arial"/>
              <a:sym typeface="Arial"/>
            </a:endParaRPr>
          </a:p>
          <a:p>
            <a:pPr marL="914400" marR="0" lvl="2"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914400" marR="0" lvl="2"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26"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263" name="Google Shape;263;p26"/>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Différents Threads :</a:t>
            </a:r>
            <a:endParaRPr sz="3600" b="1"/>
          </a:p>
        </p:txBody>
      </p:sp>
      <p:pic>
        <p:nvPicPr>
          <p:cNvPr id="264" name="Google Shape;264;p26"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65" name="Google Shape;265;p26"/>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66" name="Google Shape;266;p26"/>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67" name="Google Shape;267;p26"/>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8" name="Google Shape;268;p26"/>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14</a:t>
            </a:fld>
            <a:endParaRPr>
              <a:solidFill>
                <a:schemeClr val="lt1"/>
              </a:solidFill>
            </a:endParaRPr>
          </a:p>
        </p:txBody>
      </p:sp>
      <p:sp>
        <p:nvSpPr>
          <p:cNvPr id="269" name="Google Shape;269;p26"/>
          <p:cNvSpPr/>
          <p:nvPr/>
        </p:nvSpPr>
        <p:spPr>
          <a:xfrm>
            <a:off x="827584" y="1340768"/>
            <a:ext cx="8289458" cy="5201424"/>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100000"/>
              </a:lnSpc>
              <a:spcBef>
                <a:spcPts val="0"/>
              </a:spcBef>
              <a:spcAft>
                <a:spcPts val="0"/>
              </a:spcAft>
              <a:buClr>
                <a:srgbClr val="538CD5"/>
              </a:buClr>
              <a:buSzPts val="2800"/>
              <a:buFont typeface="Noto Sans Symbols"/>
              <a:buChar char="✔"/>
            </a:pPr>
            <a:r>
              <a:rPr lang="fr-FR" sz="2800" b="0" i="0" u="none" strike="noStrike" cap="none">
                <a:solidFill>
                  <a:srgbClr val="538CD5"/>
                </a:solidFill>
                <a:latin typeface="Calibri"/>
                <a:ea typeface="Calibri"/>
                <a:cs typeface="Calibri"/>
                <a:sym typeface="Calibri"/>
              </a:rPr>
              <a:t>Thread Noyau:</a:t>
            </a:r>
            <a:endParaRPr sz="1400" b="0" i="0" u="none" strike="noStrike" cap="none">
              <a:solidFill>
                <a:srgbClr val="000000"/>
              </a:solidFill>
              <a:latin typeface="Arial"/>
              <a:ea typeface="Arial"/>
              <a:cs typeface="Arial"/>
              <a:sym typeface="Arial"/>
            </a:endParaRPr>
          </a:p>
          <a:p>
            <a:pPr marL="914400" marR="0" lvl="2"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Les threads noyau sont </a:t>
            </a:r>
            <a:r>
              <a:rPr lang="fr-FR" sz="2400" b="0" i="0" u="none" strike="noStrike" cap="none">
                <a:solidFill>
                  <a:srgbClr val="FF0000"/>
                </a:solidFill>
                <a:latin typeface="Calibri"/>
                <a:ea typeface="Calibri"/>
                <a:cs typeface="Calibri"/>
                <a:sym typeface="Calibri"/>
              </a:rPr>
              <a:t>directement supportés par le système d’exploitation</a:t>
            </a: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Le système d’exploitation se charge de leur gestion. </a:t>
            </a:r>
            <a:r>
              <a:rPr lang="fr-FR" sz="2400" b="0" i="0" u="none" strike="noStrike" cap="none">
                <a:solidFill>
                  <a:srgbClr val="FF0000"/>
                </a:solidFill>
                <a:latin typeface="Calibri"/>
                <a:ea typeface="Calibri"/>
                <a:cs typeface="Calibri"/>
                <a:sym typeface="Calibri"/>
              </a:rPr>
              <a:t>Du temps CPU est alloué à chaque thread</a:t>
            </a:r>
            <a:r>
              <a:rPr lang="fr-FR" sz="2400" b="0" i="0" u="none" strike="noStrike" cap="none">
                <a:solidFill>
                  <a:schemeClr val="dk1"/>
                </a:solidFill>
                <a:latin typeface="Calibri"/>
                <a:ea typeface="Calibri"/>
                <a:cs typeface="Calibri"/>
                <a:sym typeface="Calibri"/>
              </a:rPr>
              <a:t>. (modèle un-à-un)</a:t>
            </a:r>
            <a:endParaRPr sz="1400" b="0" i="0" u="none" strike="noStrike" cap="none">
              <a:solidFill>
                <a:srgbClr val="000000"/>
              </a:solidFill>
              <a:latin typeface="Arial"/>
              <a:ea typeface="Arial"/>
              <a:cs typeface="Arial"/>
              <a:sym typeface="Arial"/>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Si un thread d’un processus est </a:t>
            </a:r>
            <a:r>
              <a:rPr lang="fr-FR" sz="2400" b="0" i="0" u="none" strike="noStrike" cap="none">
                <a:solidFill>
                  <a:srgbClr val="FF0000"/>
                </a:solidFill>
                <a:latin typeface="Calibri"/>
                <a:ea typeface="Calibri"/>
                <a:cs typeface="Calibri"/>
                <a:sym typeface="Calibri"/>
              </a:rPr>
              <a:t>bloqué</a:t>
            </a:r>
            <a:r>
              <a:rPr lang="fr-FR" sz="2400" b="0" i="0" u="none" strike="noStrike" cap="none">
                <a:solidFill>
                  <a:schemeClr val="dk1"/>
                </a:solidFill>
                <a:latin typeface="Calibri"/>
                <a:ea typeface="Calibri"/>
                <a:cs typeface="Calibri"/>
                <a:sym typeface="Calibri"/>
              </a:rPr>
              <a:t>, un autre thread du </a:t>
            </a:r>
            <a:r>
              <a:rPr lang="fr-FR" sz="2400" b="0" i="0" u="none" strike="noStrike" cap="none">
                <a:solidFill>
                  <a:srgbClr val="FF0000"/>
                </a:solidFill>
                <a:latin typeface="Calibri"/>
                <a:ea typeface="Calibri"/>
                <a:cs typeface="Calibri"/>
                <a:sym typeface="Calibri"/>
              </a:rPr>
              <a:t>même processus </a:t>
            </a:r>
            <a:r>
              <a:rPr lang="fr-FR" sz="2400" b="0" i="0" u="none" strike="noStrike" cap="none">
                <a:solidFill>
                  <a:schemeClr val="dk1"/>
                </a:solidFill>
                <a:latin typeface="Calibri"/>
                <a:ea typeface="Calibri"/>
                <a:cs typeface="Calibri"/>
                <a:sym typeface="Calibri"/>
              </a:rPr>
              <a:t>peut être </a:t>
            </a:r>
            <a:r>
              <a:rPr lang="fr-FR" sz="2400" b="0" i="0" u="none" strike="noStrike" cap="none">
                <a:solidFill>
                  <a:srgbClr val="FF0000"/>
                </a:solidFill>
                <a:latin typeface="Calibri"/>
                <a:ea typeface="Calibri"/>
                <a:cs typeface="Calibri"/>
                <a:sym typeface="Calibri"/>
              </a:rPr>
              <a:t>élu</a:t>
            </a:r>
            <a:r>
              <a:rPr lang="fr-FR" sz="2400" b="0" i="0" u="none" strike="noStrike" cap="none">
                <a:solidFill>
                  <a:schemeClr val="dk1"/>
                </a:solidFill>
                <a:latin typeface="Calibri"/>
                <a:ea typeface="Calibri"/>
                <a:cs typeface="Calibri"/>
                <a:sym typeface="Calibri"/>
              </a:rPr>
              <a:t> par le noyau</a:t>
            </a:r>
            <a:endParaRPr sz="1400" b="0" i="0" u="none" strike="noStrike" cap="none">
              <a:solidFill>
                <a:srgbClr val="000000"/>
              </a:solidFill>
              <a:latin typeface="Arial"/>
              <a:ea typeface="Arial"/>
              <a:cs typeface="Arial"/>
              <a:sym typeface="Arial"/>
            </a:endParaRPr>
          </a:p>
          <a:p>
            <a:pPr marL="1371600" marR="0" lvl="2" indent="-457200" algn="just" rtl="0">
              <a:lnSpc>
                <a:spcPct val="100000"/>
              </a:lnSpc>
              <a:spcBef>
                <a:spcPts val="0"/>
              </a:spcBef>
              <a:spcAft>
                <a:spcPts val="0"/>
              </a:spcAft>
              <a:buClr>
                <a:schemeClr val="dk1"/>
              </a:buClr>
              <a:buSzPts val="2400"/>
              <a:buFont typeface="Noto Sans Symbols"/>
              <a:buChar char="⮚"/>
            </a:pPr>
            <a:r>
              <a:rPr lang="fr-FR" sz="2400" b="0" i="0" u="none" strike="noStrike" cap="none">
                <a:solidFill>
                  <a:schemeClr val="dk1"/>
                </a:solidFill>
                <a:latin typeface="Calibri"/>
                <a:ea typeface="Calibri"/>
                <a:cs typeface="Calibri"/>
                <a:sym typeface="Calibri"/>
              </a:rPr>
              <a:t>Cette implémentation est plus intéressante pour les systèmes </a:t>
            </a:r>
            <a:r>
              <a:rPr lang="fr-FR" sz="2400" b="0" i="0" u="none" strike="noStrike" cap="none">
                <a:solidFill>
                  <a:srgbClr val="FF0000"/>
                </a:solidFill>
                <a:latin typeface="Calibri"/>
                <a:ea typeface="Calibri"/>
                <a:cs typeface="Calibri"/>
                <a:sym typeface="Calibri"/>
              </a:rPr>
              <a:t>multiprocesseurs</a:t>
            </a: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914400" marR="0" lvl="2"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27"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276" name="Google Shape;276;p27"/>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277" name="Google Shape;277;p27"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78" name="Google Shape;278;p27"/>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79" name="Google Shape;279;p27"/>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80" name="Google Shape;280;p27"/>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27"/>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15</a:t>
            </a:fld>
            <a:endParaRPr>
              <a:solidFill>
                <a:schemeClr val="lt1"/>
              </a:solidFill>
            </a:endParaRPr>
          </a:p>
        </p:txBody>
      </p:sp>
      <p:graphicFrame>
        <p:nvGraphicFramePr>
          <p:cNvPr id="282" name="Google Shape;282;p27"/>
          <p:cNvGraphicFramePr/>
          <p:nvPr/>
        </p:nvGraphicFramePr>
        <p:xfrm>
          <a:off x="827584" y="1397000"/>
          <a:ext cx="3000000" cy="3000000"/>
        </p:xfrm>
        <a:graphic>
          <a:graphicData uri="http://schemas.openxmlformats.org/drawingml/2006/table">
            <a:tbl>
              <a:tblPr firstRow="1" bandRow="1">
                <a:noFill/>
                <a:tableStyleId>{CA9732A6-F822-4872-A479-3523BBC9B60D}</a:tableStyleId>
              </a:tblPr>
              <a:tblGrid>
                <a:gridCol w="82089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Création d’un thread :</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Calibri"/>
                          <a:ea typeface="Calibri"/>
                          <a:cs typeface="Calibri"/>
                          <a:sym typeface="Calibri"/>
                        </a:rPr>
                        <a:t>int pthread_create</a:t>
                      </a:r>
                      <a:r>
                        <a:rPr lang="fr-FR" sz="2400" b="0" i="0" u="none" strike="noStrike" cap="none">
                          <a:solidFill>
                            <a:schemeClr val="dk1"/>
                          </a:solidFill>
                          <a:latin typeface="Calibri"/>
                          <a:ea typeface="Calibri"/>
                          <a:cs typeface="Calibri"/>
                          <a:sym typeface="Calibri"/>
                        </a:rPr>
                        <a:t>(pthread_t *tid, const pthread_attr_t *tattr, void*(*start_routine)(void *), void *arg);</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fr-FR" sz="2400" u="none" strike="noStrike" cap="none"/>
                        <a:t>// renvoie 0 si l’appel réussit, sinon !=0 : identifiant de l’erreur</a:t>
                      </a:r>
                      <a:endParaRPr sz="2400"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83" name="Google Shape;283;p27"/>
          <p:cNvGraphicFramePr/>
          <p:nvPr/>
        </p:nvGraphicFramePr>
        <p:xfrm>
          <a:off x="1259632" y="3418081"/>
          <a:ext cx="3000000" cy="3000000"/>
        </p:xfrm>
        <a:graphic>
          <a:graphicData uri="http://schemas.openxmlformats.org/drawingml/2006/table">
            <a:tbl>
              <a:tblPr firstRow="1" bandRow="1">
                <a:noFill/>
                <a:tableStyleId>{CA9732A6-F822-4872-A479-3523BBC9B60D}</a:tableStyleId>
              </a:tblPr>
              <a:tblGrid>
                <a:gridCol w="75272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solidFill>
                            <a:schemeClr val="lt1"/>
                          </a:solidFill>
                        </a:rPr>
                        <a:t>Explication :</a:t>
                      </a:r>
                      <a:endParaRPr sz="24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fr-FR" sz="2400" b="0" i="0" u="none" strike="noStrike" cap="none">
                          <a:solidFill>
                            <a:schemeClr val="dk1"/>
                          </a:solidFill>
                          <a:latin typeface="Calibri"/>
                          <a:ea typeface="Calibri"/>
                          <a:cs typeface="Calibri"/>
                          <a:sym typeface="Calibri"/>
                        </a:rPr>
                        <a:t>pthread_t *tid : ID du thread</a:t>
                      </a:r>
                      <a:endParaRPr sz="2400" u="none" strike="noStrike" cap="none">
                        <a:solidFill>
                          <a:schemeClr val="dk1"/>
                        </a:solidFil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fr-FR" sz="2400" b="0" i="0" u="none" strike="noStrike" cap="none">
                          <a:solidFill>
                            <a:schemeClr val="dk1"/>
                          </a:solidFill>
                          <a:latin typeface="Calibri"/>
                          <a:ea typeface="Calibri"/>
                          <a:cs typeface="Calibri"/>
                          <a:sym typeface="Calibri"/>
                        </a:rPr>
                        <a:t>const pthread_attr_t *tattr : les attributs du thread </a:t>
                      </a:r>
                      <a:endParaRPr sz="1400" u="none" strike="noStrike" cap="none"/>
                    </a:p>
                    <a:p>
                      <a:pPr marL="0" marR="0" lvl="0" indent="0" algn="l" rtl="0">
                        <a:lnSpc>
                          <a:spcPct val="100000"/>
                        </a:lnSpc>
                        <a:spcBef>
                          <a:spcPts val="0"/>
                        </a:spcBef>
                        <a:spcAft>
                          <a:spcPts val="0"/>
                        </a:spcAft>
                        <a:buClr>
                          <a:schemeClr val="dk1"/>
                        </a:buClr>
                        <a:buSzPts val="2400"/>
                        <a:buFont typeface="Calibri"/>
                        <a:buNone/>
                      </a:pPr>
                      <a:r>
                        <a:rPr lang="fr-FR" sz="2400" b="0" i="0" u="none" strike="noStrike" cap="none">
                          <a:solidFill>
                            <a:schemeClr val="dk1"/>
                          </a:solidFill>
                          <a:latin typeface="Calibri"/>
                          <a:ea typeface="Calibri"/>
                          <a:cs typeface="Calibri"/>
                          <a:sym typeface="Calibri"/>
                        </a:rPr>
                        <a:t>(</a:t>
                      </a:r>
                      <a:r>
                        <a:rPr lang="fr-FR" sz="1800" b="0" i="0" u="none" strike="noStrike" cap="none">
                          <a:solidFill>
                            <a:schemeClr val="dk1"/>
                          </a:solidFill>
                          <a:latin typeface="Calibri"/>
                          <a:ea typeface="Calibri"/>
                          <a:cs typeface="Calibri"/>
                          <a:sym typeface="Calibri"/>
                        </a:rPr>
                        <a:t>taille de la pile, priorité….)</a:t>
                      </a:r>
                      <a:endParaRPr sz="2400" u="none" strike="noStrike" cap="none">
                        <a:solidFill>
                          <a:schemeClr val="dk1"/>
                        </a:solidFill>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fr-FR" sz="2400" b="0" i="0" u="none" strike="noStrike" cap="none">
                          <a:solidFill>
                            <a:schemeClr val="dk1"/>
                          </a:solidFill>
                          <a:latin typeface="Calibri"/>
                          <a:ea typeface="Calibri"/>
                          <a:cs typeface="Calibri"/>
                          <a:sym typeface="Calibri"/>
                        </a:rPr>
                        <a:t>void*(*start_routine)(void *) : La fonction à exécuter</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fr-FR" sz="2400" b="0" i="0" u="none" strike="noStrike" cap="none">
                          <a:solidFill>
                            <a:schemeClr val="dk1"/>
                          </a:solidFill>
                          <a:latin typeface="Calibri"/>
                          <a:ea typeface="Calibri"/>
                          <a:cs typeface="Calibri"/>
                          <a:sym typeface="Calibri"/>
                        </a:rPr>
                        <a:t>void *arg : </a:t>
                      </a:r>
                      <a:r>
                        <a:rPr lang="fr-FR" sz="1800" b="0" i="0" u="none" strike="noStrike" cap="none">
                          <a:solidFill>
                            <a:schemeClr val="dk1"/>
                          </a:solidFill>
                          <a:latin typeface="Calibri"/>
                          <a:ea typeface="Calibri"/>
                          <a:cs typeface="Calibri"/>
                          <a:sym typeface="Calibri"/>
                        </a:rPr>
                        <a:t>le paramètre de la fonction</a:t>
                      </a:r>
                      <a:endParaRPr sz="1400" u="none" strike="noStrike" cap="none"/>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8"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290" name="Google Shape;290;p28"/>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291" name="Google Shape;291;p28"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292" name="Google Shape;292;p28"/>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293" name="Google Shape;293;p28"/>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294" name="Google Shape;294;p28"/>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5" name="Google Shape;295;p28"/>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16</a:t>
            </a:fld>
            <a:endParaRPr>
              <a:solidFill>
                <a:schemeClr val="lt1"/>
              </a:solidFill>
            </a:endParaRPr>
          </a:p>
        </p:txBody>
      </p:sp>
      <p:sp>
        <p:nvSpPr>
          <p:cNvPr id="296" name="Google Shape;296;p28"/>
          <p:cNvSpPr/>
          <p:nvPr/>
        </p:nvSpPr>
        <p:spPr>
          <a:xfrm>
            <a:off x="1259632" y="1225689"/>
            <a:ext cx="7274768" cy="56323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FF66FF"/>
                </a:solidFill>
                <a:latin typeface="Calibri"/>
                <a:ea typeface="Calibri"/>
                <a:cs typeface="Calibri"/>
                <a:sym typeface="Calibri"/>
              </a:rPr>
              <a:t>#include &lt;pthread.h&gt;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FF0000"/>
                </a:solidFill>
                <a:latin typeface="Calibri"/>
                <a:ea typeface="Calibri"/>
                <a:cs typeface="Calibri"/>
                <a:sym typeface="Calibri"/>
              </a:rPr>
              <a:t>void* thr_f (void* param)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fr-FR" sz="2400" b="0" i="0" u="none" strike="noStrike" cap="none">
                <a:solidFill>
                  <a:srgbClr val="92D050"/>
                </a:solidFill>
                <a:latin typeface="Calibri"/>
                <a:ea typeface="Calibri"/>
                <a:cs typeface="Calibri"/>
                <a:sym typeface="Calibri"/>
              </a:rPr>
              <a:t>int * </a:t>
            </a:r>
            <a:r>
              <a:rPr lang="fr-FR" sz="2400" b="0" i="0" u="none" strike="noStrike" cap="none">
                <a:solidFill>
                  <a:schemeClr val="dk1"/>
                </a:solidFill>
                <a:latin typeface="Calibri"/>
                <a:ea typeface="Calibri"/>
                <a:cs typeface="Calibri"/>
                <a:sym typeface="Calibri"/>
              </a:rPr>
              <a:t>t = (</a:t>
            </a:r>
            <a:r>
              <a:rPr lang="fr-FR" sz="2400" b="0" i="0" u="none" strike="noStrike" cap="none">
                <a:solidFill>
                  <a:srgbClr val="92D050"/>
                </a:solidFill>
                <a:latin typeface="Calibri"/>
                <a:ea typeface="Calibri"/>
                <a:cs typeface="Calibri"/>
                <a:sym typeface="Calibri"/>
              </a:rPr>
              <a:t>int *</a:t>
            </a:r>
            <a:r>
              <a:rPr lang="fr-FR" sz="2400" b="0" i="0" u="none" strike="noStrike" cap="none">
                <a:solidFill>
                  <a:schemeClr val="dk1"/>
                </a:solidFill>
                <a:latin typeface="Calibri"/>
                <a:ea typeface="Calibri"/>
                <a:cs typeface="Calibri"/>
                <a:sym typeface="Calibri"/>
              </a:rPr>
              <a:t>) param;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printf ("parametre : %d", *t);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92D050"/>
                </a:solidFill>
                <a:latin typeface="Calibri"/>
                <a:ea typeface="Calibri"/>
                <a:cs typeface="Calibri"/>
                <a:sym typeface="Calibri"/>
              </a:rPr>
              <a:t>int</a:t>
            </a:r>
            <a:r>
              <a:rPr lang="fr-FR" sz="2400" b="0" i="0" u="none" strike="noStrike" cap="none">
                <a:solidFill>
                  <a:schemeClr val="dk1"/>
                </a:solidFill>
                <a:latin typeface="Calibri"/>
                <a:ea typeface="Calibri"/>
                <a:cs typeface="Calibri"/>
                <a:sym typeface="Calibri"/>
              </a:rPr>
              <a: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{int arg=6;</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FF0000"/>
                </a:solidFill>
                <a:latin typeface="Calibri"/>
                <a:ea typeface="Calibri"/>
                <a:cs typeface="Calibri"/>
                <a:sym typeface="Calibri"/>
              </a:rPr>
              <a:t>pthread_t thr1;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FF0000"/>
                </a:solidFill>
                <a:latin typeface="Calibri"/>
                <a:ea typeface="Calibri"/>
                <a:cs typeface="Calibri"/>
                <a:sym typeface="Calibri"/>
              </a:rPr>
              <a:t>pthread_create(&amp;thr1,NULL,thr_f, &amp;arg);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Pour compiler ajouter l’option </a:t>
            </a:r>
            <a:r>
              <a:rPr lang="fr-FR" sz="2400" b="0" i="0" u="none" strike="noStrike" cap="none">
                <a:solidFill>
                  <a:schemeClr val="accent2"/>
                </a:solidFill>
                <a:latin typeface="Calibri"/>
                <a:ea typeface="Calibri"/>
                <a:cs typeface="Calibri"/>
                <a:sym typeface="Calibri"/>
              </a:rPr>
              <a:t>-lpthread</a:t>
            </a:r>
            <a:endParaRPr sz="2400" b="0" i="0" u="none" strike="noStrike" cap="none">
              <a:solidFill>
                <a:schemeClr val="accent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fld id="{00000000-1234-1234-1234-123412341234}" type="slidenum">
              <a:rPr lang="fr-FR"/>
              <a:t>17</a:t>
            </a:fld>
            <a:endParaRPr/>
          </a:p>
        </p:txBody>
      </p:sp>
      <p:sp>
        <p:nvSpPr>
          <p:cNvPr id="302" name="Google Shape;302;p29"/>
          <p:cNvSpPr/>
          <p:nvPr/>
        </p:nvSpPr>
        <p:spPr>
          <a:xfrm>
            <a:off x="539552" y="0"/>
            <a:ext cx="7776864" cy="78483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#include &lt;pthread.h&gt;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#include &lt;stdio.h&gt;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void* thr_f (void* param)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int * t = (int *) param;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printf ("parametre : %d \n", *t);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pthread_exit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int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{int arg=6;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void* ret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pthread_t thr1;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pthread_create(&amp;thr1,NULL,thr_f, &amp;arg);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pthread_join(thr1,&amp;ret);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printf ("valeur ret est egale %d\n", ret);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pthread_exit(NULL);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fr-F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30"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09" name="Google Shape;309;p30"/>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10" name="Google Shape;310;p30"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11" name="Google Shape;311;p30"/>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12" name="Google Shape;312;p30"/>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13" name="Google Shape;313;p30"/>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4" name="Google Shape;314;p30"/>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18</a:t>
            </a:fld>
            <a:endParaRPr>
              <a:solidFill>
                <a:schemeClr val="lt1"/>
              </a:solidFill>
            </a:endParaRPr>
          </a:p>
        </p:txBody>
      </p:sp>
      <p:graphicFrame>
        <p:nvGraphicFramePr>
          <p:cNvPr id="315" name="Google Shape;315;p30"/>
          <p:cNvGraphicFramePr/>
          <p:nvPr/>
        </p:nvGraphicFramePr>
        <p:xfrm>
          <a:off x="827584" y="1397000"/>
          <a:ext cx="3000000" cy="3000000"/>
        </p:xfrm>
        <a:graphic>
          <a:graphicData uri="http://schemas.openxmlformats.org/drawingml/2006/table">
            <a:tbl>
              <a:tblPr firstRow="1" bandRow="1">
                <a:noFill/>
                <a:tableStyleId>{CA9732A6-F822-4872-A479-3523BBC9B60D}</a:tableStyleId>
              </a:tblPr>
              <a:tblGrid>
                <a:gridCol w="82089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Attendre qu’un thread se termine :</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Calibri"/>
                          <a:ea typeface="Calibri"/>
                          <a:cs typeface="Calibri"/>
                          <a:sym typeface="Calibri"/>
                        </a:rPr>
                        <a:t>int pthread_join</a:t>
                      </a:r>
                      <a:r>
                        <a:rPr lang="fr-FR" sz="2400" b="0" i="0" u="none" strike="noStrike" cap="none">
                          <a:solidFill>
                            <a:schemeClr val="dk1"/>
                          </a:solidFill>
                          <a:latin typeface="Calibri"/>
                          <a:ea typeface="Calibri"/>
                          <a:cs typeface="Calibri"/>
                          <a:sym typeface="Calibri"/>
                        </a:rPr>
                        <a:t>(thread_t tid, void **status);</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16" name="Google Shape;316;p30"/>
          <p:cNvGraphicFramePr/>
          <p:nvPr/>
        </p:nvGraphicFramePr>
        <p:xfrm>
          <a:off x="1259632" y="3418081"/>
          <a:ext cx="3000000" cy="3000000"/>
        </p:xfrm>
        <a:graphic>
          <a:graphicData uri="http://schemas.openxmlformats.org/drawingml/2006/table">
            <a:tbl>
              <a:tblPr firstRow="1" bandRow="1">
                <a:noFill/>
                <a:tableStyleId>{CA9732A6-F822-4872-A479-3523BBC9B60D}</a:tableStyleId>
              </a:tblPr>
              <a:tblGrid>
                <a:gridCol w="75272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solidFill>
                            <a:schemeClr val="lt1"/>
                          </a:solidFill>
                        </a:rPr>
                        <a:t>Explication :</a:t>
                      </a:r>
                      <a:endParaRPr sz="24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Suspend l'activité du thread appelant  tant que le thread tid n'est pas terminée.</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Calibri"/>
                          <a:ea typeface="Calibri"/>
                          <a:cs typeface="Calibri"/>
                          <a:sym typeface="Calibri"/>
                        </a:rPr>
                        <a:t>status</a:t>
                      </a:r>
                      <a:r>
                        <a:rPr lang="fr-FR" sz="2400" b="0" i="0" u="none" strike="noStrike" cap="none">
                          <a:solidFill>
                            <a:schemeClr val="dk1"/>
                          </a:solidFill>
                          <a:latin typeface="Calibri"/>
                          <a:ea typeface="Calibri"/>
                          <a:cs typeface="Calibri"/>
                          <a:sym typeface="Calibri"/>
                        </a:rPr>
                        <a:t> contient la valeur de retour du thread tid lors de sa terminaison.</a:t>
                      </a: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1"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23" name="Google Shape;323;p31"/>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24" name="Google Shape;324;p31"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25" name="Google Shape;325;p31"/>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26" name="Google Shape;326;p31"/>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27" name="Google Shape;327;p31"/>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8" name="Google Shape;328;p31"/>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19</a:t>
            </a:fld>
            <a:endParaRPr>
              <a:solidFill>
                <a:schemeClr val="lt1"/>
              </a:solidFill>
            </a:endParaRPr>
          </a:p>
        </p:txBody>
      </p:sp>
      <p:graphicFrame>
        <p:nvGraphicFramePr>
          <p:cNvPr id="329" name="Google Shape;329;p31"/>
          <p:cNvGraphicFramePr/>
          <p:nvPr/>
        </p:nvGraphicFramePr>
        <p:xfrm>
          <a:off x="827584" y="1397000"/>
          <a:ext cx="3000000" cy="3000000"/>
        </p:xfrm>
        <a:graphic>
          <a:graphicData uri="http://schemas.openxmlformats.org/drawingml/2006/table">
            <a:tbl>
              <a:tblPr firstRow="1" bandRow="1">
                <a:noFill/>
                <a:tableStyleId>{CA9732A6-F822-4872-A479-3523BBC9B60D}</a:tableStyleId>
              </a:tblPr>
              <a:tblGrid>
                <a:gridCol w="82089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lt1"/>
                        </a:buClr>
                        <a:buSzPts val="2400"/>
                        <a:buFont typeface="Calibri"/>
                        <a:buNone/>
                      </a:pPr>
                      <a:r>
                        <a:rPr lang="fr-FR" sz="2400" b="0" i="0" u="none" strike="noStrike" cap="none">
                          <a:solidFill>
                            <a:schemeClr val="lt1"/>
                          </a:solidFill>
                          <a:latin typeface="Calibri"/>
                          <a:ea typeface="Calibri"/>
                          <a:cs typeface="Calibri"/>
                          <a:sym typeface="Calibri"/>
                        </a:rPr>
                        <a:t>Terminer une thread</a:t>
                      </a:r>
                      <a:r>
                        <a:rPr lang="fr-FR" sz="2400" u="none" strike="noStrike" cap="none"/>
                        <a:t>:</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Calibri"/>
                          <a:ea typeface="Calibri"/>
                          <a:cs typeface="Calibri"/>
                          <a:sym typeface="Calibri"/>
                        </a:rPr>
                        <a:t>void pthread_exit</a:t>
                      </a:r>
                      <a:r>
                        <a:rPr lang="fr-FR" sz="2400" b="0" i="0" u="none" strike="noStrike" cap="none">
                          <a:solidFill>
                            <a:schemeClr val="dk1"/>
                          </a:solidFill>
                          <a:latin typeface="Calibri"/>
                          <a:ea typeface="Calibri"/>
                          <a:cs typeface="Calibri"/>
                          <a:sym typeface="Calibri"/>
                        </a:rPr>
                        <a:t>(void *status);</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30" name="Google Shape;330;p31"/>
          <p:cNvGraphicFramePr/>
          <p:nvPr/>
        </p:nvGraphicFramePr>
        <p:xfrm>
          <a:off x="1259632" y="3418081"/>
          <a:ext cx="3000000" cy="3000000"/>
        </p:xfrm>
        <a:graphic>
          <a:graphicData uri="http://schemas.openxmlformats.org/drawingml/2006/table">
            <a:tbl>
              <a:tblPr firstRow="1" bandRow="1">
                <a:noFill/>
                <a:tableStyleId>{CA9732A6-F822-4872-A479-3523BBC9B60D}</a:tableStyleId>
              </a:tblPr>
              <a:tblGrid>
                <a:gridCol w="75272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solidFill>
                            <a:schemeClr val="lt1"/>
                          </a:solidFill>
                        </a:rPr>
                        <a:t>Explication :</a:t>
                      </a:r>
                      <a:endParaRPr sz="24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Termine l‘exécution du thread courant avec une valeur de</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retour particulière</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32"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37" name="Google Shape;337;p32"/>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38" name="Google Shape;338;p32"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39" name="Google Shape;339;p32"/>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40" name="Google Shape;340;p32"/>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41" name="Google Shape;341;p32"/>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32"/>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20</a:t>
            </a:fld>
            <a:endParaRPr>
              <a:solidFill>
                <a:schemeClr val="lt1"/>
              </a:solidFill>
            </a:endParaRPr>
          </a:p>
        </p:txBody>
      </p:sp>
      <p:graphicFrame>
        <p:nvGraphicFramePr>
          <p:cNvPr id="343" name="Google Shape;343;p32"/>
          <p:cNvGraphicFramePr/>
          <p:nvPr/>
        </p:nvGraphicFramePr>
        <p:xfrm>
          <a:off x="827584" y="1397000"/>
          <a:ext cx="3000000" cy="3000000"/>
        </p:xfrm>
        <a:graphic>
          <a:graphicData uri="http://schemas.openxmlformats.org/drawingml/2006/table">
            <a:tbl>
              <a:tblPr firstRow="1" bandRow="1">
                <a:noFill/>
                <a:tableStyleId>{CA9732A6-F822-4872-A479-3523BBC9B60D}</a:tableStyleId>
              </a:tblPr>
              <a:tblGrid>
                <a:gridCol w="82089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Avoir le TID d’un thread :</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Calibri"/>
                          <a:ea typeface="Calibri"/>
                          <a:cs typeface="Calibri"/>
                          <a:sym typeface="Calibri"/>
                        </a:rPr>
                        <a:t>pthread_t pthread_self</a:t>
                      </a:r>
                      <a:r>
                        <a:rPr lang="fr-FR" sz="2400" b="0" i="0" u="none" strike="noStrike" cap="none">
                          <a:solidFill>
                            <a:schemeClr val="dk1"/>
                          </a:solidFill>
                          <a:latin typeface="Calibri"/>
                          <a:ea typeface="Calibri"/>
                          <a:cs typeface="Calibri"/>
                          <a:sym typeface="Calibri"/>
                        </a:rPr>
                        <a:t>(void);</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44" name="Google Shape;344;p32"/>
          <p:cNvGraphicFramePr/>
          <p:nvPr/>
        </p:nvGraphicFramePr>
        <p:xfrm>
          <a:off x="1259632" y="3418081"/>
          <a:ext cx="3000000" cy="3000000"/>
        </p:xfrm>
        <a:graphic>
          <a:graphicData uri="http://schemas.openxmlformats.org/drawingml/2006/table">
            <a:tbl>
              <a:tblPr firstRow="1" bandRow="1">
                <a:noFill/>
                <a:tableStyleId>{CA9732A6-F822-4872-A479-3523BBC9B60D}</a:tableStyleId>
              </a:tblPr>
              <a:tblGrid>
                <a:gridCol w="75272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solidFill>
                            <a:schemeClr val="lt1"/>
                          </a:solidFill>
                        </a:rPr>
                        <a:t>Explication :</a:t>
                      </a:r>
                      <a:endParaRPr sz="24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Retourne le TID d’un thread.</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33"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51" name="Google Shape;351;p33"/>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52" name="Google Shape;352;p33"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53" name="Google Shape;353;p33"/>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54" name="Google Shape;354;p33"/>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55" name="Google Shape;355;p33"/>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6" name="Google Shape;356;p33"/>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21</a:t>
            </a:fld>
            <a:endParaRPr>
              <a:solidFill>
                <a:schemeClr val="lt1"/>
              </a:solidFill>
            </a:endParaRPr>
          </a:p>
        </p:txBody>
      </p:sp>
      <p:sp>
        <p:nvSpPr>
          <p:cNvPr id="357" name="Google Shape;357;p33"/>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a:t>
            </a:r>
            <a:endParaRPr sz="1400" b="0" i="0" u="none" strike="noStrike" cap="none">
              <a:solidFill>
                <a:srgbClr val="000000"/>
              </a:solidFill>
              <a:latin typeface="Arial"/>
              <a:ea typeface="Arial"/>
              <a:cs typeface="Arial"/>
              <a:sym typeface="Arial"/>
            </a:endParaRPr>
          </a:p>
        </p:txBody>
      </p:sp>
      <p:pic>
        <p:nvPicPr>
          <p:cNvPr id="358" name="Google Shape;358;p33" descr="C:\Users\anis\Desktop\EXP.png"/>
          <p:cNvPicPr preferRelativeResize="0"/>
          <p:nvPr/>
        </p:nvPicPr>
        <p:blipFill rotWithShape="1">
          <a:blip r:embed="rId5">
            <a:alphaModFix/>
          </a:blip>
          <a:srcRect/>
          <a:stretch/>
        </p:blipFill>
        <p:spPr>
          <a:xfrm>
            <a:off x="1043608" y="1420448"/>
            <a:ext cx="7802563" cy="5000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34"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65" name="Google Shape;365;p34"/>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66" name="Google Shape;366;p34"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67" name="Google Shape;367;p34"/>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68" name="Google Shape;368;p34"/>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69" name="Google Shape;369;p34"/>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0" name="Google Shape;370;p34"/>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22</a:t>
            </a:fld>
            <a:endParaRPr>
              <a:solidFill>
                <a:schemeClr val="lt1"/>
              </a:solidFill>
            </a:endParaRPr>
          </a:p>
        </p:txBody>
      </p:sp>
      <p:sp>
        <p:nvSpPr>
          <p:cNvPr id="371" name="Google Shape;371;p34"/>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Exemple1 :</a:t>
            </a:r>
            <a:endParaRPr sz="1400" b="0" i="0" u="none" strike="noStrike" cap="none">
              <a:solidFill>
                <a:srgbClr val="000000"/>
              </a:solidFill>
              <a:latin typeface="Arial"/>
              <a:ea typeface="Arial"/>
              <a:cs typeface="Arial"/>
              <a:sym typeface="Arial"/>
            </a:endParaRPr>
          </a:p>
        </p:txBody>
      </p:sp>
      <p:sp>
        <p:nvSpPr>
          <p:cNvPr id="372" name="Google Shape;372;p34"/>
          <p:cNvSpPr/>
          <p:nvPr/>
        </p:nvSpPr>
        <p:spPr>
          <a:xfrm>
            <a:off x="2051720" y="1412776"/>
            <a:ext cx="5760640" cy="53553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exemple_threads.c</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#include &lt;pthread.h&gt;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#include &lt;unistd.h&gt;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#include &lt;stdio.h&gt;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afficher(int n, char lettre)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int 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for (j=1; j&lt;n; 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printf("%c",lettre);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fflush(stdout);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*threadA()</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afficher(100,'A');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printf("\n Fin du thread 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fflush(stdout);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pthread_exit</a:t>
            </a:r>
            <a:r>
              <a:rPr lang="fr-FR" sz="1800" b="0" i="0" u="none" strike="noStrike" cap="none">
                <a:solidFill>
                  <a:schemeClr val="dk1"/>
                </a:solidFill>
                <a:latin typeface="Calibri"/>
                <a:ea typeface="Calibri"/>
                <a:cs typeface="Calibri"/>
                <a:sym typeface="Calibri"/>
              </a:rPr>
              <a: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35"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79" name="Google Shape;379;p35"/>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80" name="Google Shape;380;p35"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81" name="Google Shape;381;p35"/>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82" name="Google Shape;382;p35"/>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83" name="Google Shape;383;p35"/>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4" name="Google Shape;384;p35"/>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23</a:t>
            </a:fld>
            <a:endParaRPr>
              <a:solidFill>
                <a:schemeClr val="lt1"/>
              </a:solidFill>
            </a:endParaRPr>
          </a:p>
        </p:txBody>
      </p:sp>
      <p:sp>
        <p:nvSpPr>
          <p:cNvPr id="385" name="Google Shape;385;p35"/>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Exemple1 :</a:t>
            </a:r>
            <a:endParaRPr sz="1400" b="0" i="0" u="none" strike="noStrike" cap="none">
              <a:solidFill>
                <a:srgbClr val="000000"/>
              </a:solidFill>
              <a:latin typeface="Arial"/>
              <a:ea typeface="Arial"/>
              <a:cs typeface="Arial"/>
              <a:sym typeface="Arial"/>
            </a:endParaRPr>
          </a:p>
        </p:txBody>
      </p:sp>
      <p:sp>
        <p:nvSpPr>
          <p:cNvPr id="386" name="Google Shape;386;p35"/>
          <p:cNvSpPr/>
          <p:nvPr/>
        </p:nvSpPr>
        <p:spPr>
          <a:xfrm>
            <a:off x="2051720" y="1412776"/>
            <a:ext cx="5760640" cy="53553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*threadC()</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afficher(150,'C');</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printf("\n Fin du thread C\n");</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fflush(stdout);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pthread_exit</a:t>
            </a:r>
            <a:r>
              <a:rPr lang="fr-FR" sz="1800" b="0" i="0" u="none" strike="noStrike" cap="none">
                <a:solidFill>
                  <a:schemeClr val="dk1"/>
                </a:solidFill>
                <a:latin typeface="Calibri"/>
                <a:ea typeface="Calibri"/>
                <a:cs typeface="Calibri"/>
                <a:sym typeface="Calibri"/>
              </a:rPr>
              <a: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*threadB()</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pthread_t thC;</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pthread_create</a:t>
            </a:r>
            <a:r>
              <a:rPr lang="fr-FR" sz="1800" b="0" i="0" u="none" strike="noStrike" cap="none">
                <a:solidFill>
                  <a:schemeClr val="dk1"/>
                </a:solidFill>
                <a:latin typeface="Calibri"/>
                <a:ea typeface="Calibri"/>
                <a:cs typeface="Calibri"/>
                <a:sym typeface="Calibri"/>
              </a:rPr>
              <a:t>(&amp;thC, NULL, threadC, NULL);</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afficher(100,'B');</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printf("\n Le thread B attend la fin du thread C\n");</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pthread_join</a:t>
            </a:r>
            <a:r>
              <a:rPr lang="fr-FR" sz="1800" b="0" i="0" u="none" strike="noStrike" cap="none">
                <a:solidFill>
                  <a:schemeClr val="dk1"/>
                </a:solidFill>
                <a:latin typeface="Calibri"/>
                <a:ea typeface="Calibri"/>
                <a:cs typeface="Calibri"/>
                <a:sym typeface="Calibri"/>
              </a:rPr>
              <a:t>(thC,NULL);</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printf("\n Fin du thread B\n");</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fflush(stdout);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pthread_exit</a:t>
            </a:r>
            <a:r>
              <a:rPr lang="fr-FR" sz="1800" b="0" i="0" u="none" strike="noStrike" cap="none">
                <a:solidFill>
                  <a:schemeClr val="dk1"/>
                </a:solidFill>
                <a:latin typeface="Calibri"/>
                <a:ea typeface="Calibri"/>
                <a:cs typeface="Calibri"/>
                <a:sym typeface="Calibri"/>
              </a:rPr>
              <a: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36"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393" name="Google Shape;393;p36"/>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394" name="Google Shape;394;p36"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395" name="Google Shape;395;p36"/>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396" name="Google Shape;396;p36"/>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397" name="Google Shape;397;p36"/>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8" name="Google Shape;398;p36"/>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24</a:t>
            </a:fld>
            <a:endParaRPr>
              <a:solidFill>
                <a:schemeClr val="lt1"/>
              </a:solidFill>
            </a:endParaRPr>
          </a:p>
        </p:txBody>
      </p:sp>
      <p:sp>
        <p:nvSpPr>
          <p:cNvPr id="399" name="Google Shape;399;p36"/>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Exemple1 :</a:t>
            </a:r>
            <a:endParaRPr sz="1400" b="0" i="0" u="none" strike="noStrike" cap="none">
              <a:solidFill>
                <a:srgbClr val="000000"/>
              </a:solidFill>
              <a:latin typeface="Arial"/>
              <a:ea typeface="Arial"/>
              <a:cs typeface="Arial"/>
              <a:sym typeface="Arial"/>
            </a:endParaRPr>
          </a:p>
        </p:txBody>
      </p:sp>
      <p:sp>
        <p:nvSpPr>
          <p:cNvPr id="400" name="Google Shape;400;p36"/>
          <p:cNvSpPr/>
          <p:nvPr/>
        </p:nvSpPr>
        <p:spPr>
          <a:xfrm>
            <a:off x="2051720" y="1412776"/>
            <a:ext cx="5760640" cy="42473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int main()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int 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pthread_t thA, thB;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printf("Creation du thread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pthread_create(&amp;thA, NULL, threadA, 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pthread_create(&amp;thB, NULL, threadB, 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sleep(1);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//attendre la fin des threads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printf("Le thread principal attend que les autres se terminent\n");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pthread_join(thA,NULL);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pthread_join(thB,NULL);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exit(0);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406" name="Google Shape;406;p37"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07" name="Google Shape;407;p37"/>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08" name="Google Shape;408;p37"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09" name="Google Shape;409;p37"/>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10" name="Google Shape;410;p37"/>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11" name="Google Shape;411;p37"/>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2" name="Google Shape;412;p37"/>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25</a:t>
            </a:fld>
            <a:endParaRPr>
              <a:solidFill>
                <a:schemeClr val="lt1"/>
              </a:solidFill>
            </a:endParaRPr>
          </a:p>
        </p:txBody>
      </p:sp>
      <p:sp>
        <p:nvSpPr>
          <p:cNvPr id="413" name="Google Shape;413;p37"/>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2 : Partage de variable</a:t>
            </a:r>
            <a:endParaRPr sz="1400" b="0" i="0" u="none" strike="noStrike" cap="none">
              <a:solidFill>
                <a:srgbClr val="000000"/>
              </a:solidFill>
              <a:latin typeface="Arial"/>
              <a:ea typeface="Arial"/>
              <a:cs typeface="Arial"/>
              <a:sym typeface="Arial"/>
            </a:endParaRPr>
          </a:p>
        </p:txBody>
      </p:sp>
      <p:sp>
        <p:nvSpPr>
          <p:cNvPr id="414" name="Google Shape;414;p37"/>
          <p:cNvSpPr/>
          <p:nvPr/>
        </p:nvSpPr>
        <p:spPr>
          <a:xfrm>
            <a:off x="2051720" y="1340768"/>
            <a:ext cx="5760640" cy="56323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programme threads.c</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#include &lt;unistd.h&gt; //pour sleep</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#include &lt;pthread.h&gt;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#include &lt;stdio.h&gt;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int glob=0;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decrement(void * x)</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glob = glob - 1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decrement[%u], glob = %d\n", pthread_self(),glob);</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pthread_exit(NULL);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void* increment (void * 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sleep(1);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glob = glob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increment[%u], glob = %d\n", pthread_self(), glob);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pthread_exit(NULL);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38"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21" name="Google Shape;421;p38"/>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22" name="Google Shape;422;p38"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23" name="Google Shape;423;p38"/>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24" name="Google Shape;424;p38"/>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25" name="Google Shape;425;p38"/>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6" name="Google Shape;426;p38"/>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26</a:t>
            </a:fld>
            <a:endParaRPr>
              <a:solidFill>
                <a:schemeClr val="lt1"/>
              </a:solidFill>
            </a:endParaRPr>
          </a:p>
        </p:txBody>
      </p:sp>
      <p:sp>
        <p:nvSpPr>
          <p:cNvPr id="427" name="Google Shape;427;p38"/>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2 : Partage de variable</a:t>
            </a:r>
            <a:endParaRPr sz="1400" b="0" i="0" u="none" strike="noStrike" cap="none">
              <a:solidFill>
                <a:srgbClr val="000000"/>
              </a:solidFill>
              <a:latin typeface="Arial"/>
              <a:ea typeface="Arial"/>
              <a:cs typeface="Arial"/>
              <a:sym typeface="Arial"/>
            </a:endParaRPr>
          </a:p>
        </p:txBody>
      </p:sp>
      <p:sp>
        <p:nvSpPr>
          <p:cNvPr id="428" name="Google Shape;428;p38"/>
          <p:cNvSpPr/>
          <p:nvPr/>
        </p:nvSpPr>
        <p:spPr>
          <a:xfrm>
            <a:off x="2051720" y="1340768"/>
            <a:ext cx="6482680" cy="480131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int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r>
              <a:rPr lang="fr-FR" sz="1800" b="1" i="0" u="none" strike="noStrike" cap="none">
                <a:solidFill>
                  <a:schemeClr val="dk1"/>
                </a:solidFill>
                <a:latin typeface="Calibri"/>
                <a:ea typeface="Calibri"/>
                <a:cs typeface="Calibri"/>
                <a:sym typeface="Calibri"/>
              </a:rPr>
              <a:t>pthread_t tid1, tid2;</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main[%d], glob = %d\n", getpid(),glob);</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rgbClr val="FF66FF"/>
                </a:solidFill>
                <a:latin typeface="Calibri"/>
                <a:ea typeface="Calibri"/>
                <a:cs typeface="Calibri"/>
                <a:sym typeface="Calibri"/>
              </a:rPr>
              <a:t>//création d'un thread pour incrément</a:t>
            </a:r>
            <a:endParaRPr sz="1800" b="0" i="0" u="none" strike="noStrike" cap="none">
              <a:solidFill>
                <a:srgbClr val="FF66FF"/>
              </a:solidFill>
              <a:latin typeface="Calibri"/>
              <a:ea typeface="Calibri"/>
              <a:cs typeface="Calibri"/>
              <a:sym typeface="Calibri"/>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if ( pthread_create(&amp;tid1, NULL, increment, NULL) != 0) </a:t>
            </a:r>
            <a:r>
              <a:rPr lang="fr-FR" sz="1800" b="0" i="0" u="none" strike="noStrike" cap="none">
                <a:solidFill>
                  <a:schemeClr val="dk1"/>
                </a:solidFill>
                <a:latin typeface="Calibri"/>
                <a:ea typeface="Calibri"/>
                <a:cs typeface="Calibri"/>
                <a:sym typeface="Calibri"/>
              </a:rPr>
              <a:t>return -1;</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main: creation du thread[%u] avec succes\n",tid1);</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rgbClr val="FF66FF"/>
                </a:solidFill>
                <a:latin typeface="Calibri"/>
                <a:ea typeface="Calibri"/>
                <a:cs typeface="Calibri"/>
                <a:sym typeface="Calibri"/>
              </a:rPr>
              <a:t>// creation d'un thread pour decrement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if ( pthread_create(&amp;tid2, NULL, decrement, NULL) != 0) </a:t>
            </a:r>
            <a:r>
              <a:rPr lang="fr-FR" sz="1800" b="0" i="0" u="none" strike="noStrike" cap="none">
                <a:solidFill>
                  <a:schemeClr val="dk1"/>
                </a:solidFill>
                <a:latin typeface="Calibri"/>
                <a:ea typeface="Calibri"/>
                <a:cs typeface="Calibri"/>
                <a:sym typeface="Calibri"/>
              </a:rPr>
              <a:t>return -1;</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main: creation du thread [%u] avec succes\n",tid2);</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pthread_join(tid1,NULL); </a:t>
            </a:r>
            <a:r>
              <a:rPr lang="fr-FR" sz="1800" b="0" i="0" u="none" strike="noStrike" cap="none">
                <a:solidFill>
                  <a:srgbClr val="FF66FF"/>
                </a:solidFill>
                <a:latin typeface="Calibri"/>
                <a:ea typeface="Calibri"/>
                <a:cs typeface="Calibri"/>
                <a:sym typeface="Calibri"/>
              </a:rPr>
              <a:t>// attendre la fin d’un thread</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pthread_join(tid2,NULL);</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printf("ici main : fin des threads, glob = %d \n",glob);</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39"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35" name="Google Shape;435;p39"/>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36" name="Google Shape;436;p39"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37" name="Google Shape;437;p39"/>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38" name="Google Shape;438;p39"/>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39" name="Google Shape;439;p39"/>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40" name="Google Shape;440;p39"/>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27</a:t>
            </a:fld>
            <a:endParaRPr>
              <a:solidFill>
                <a:schemeClr val="lt1"/>
              </a:solidFill>
            </a:endParaRPr>
          </a:p>
        </p:txBody>
      </p:sp>
      <p:sp>
        <p:nvSpPr>
          <p:cNvPr id="441" name="Google Shape;441;p39"/>
          <p:cNvSpPr/>
          <p:nvPr/>
        </p:nvSpPr>
        <p:spPr>
          <a:xfrm>
            <a:off x="1835696" y="1556792"/>
            <a:ext cx="711624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442" name="Google Shape;442;p39"/>
          <p:cNvGraphicFramePr/>
          <p:nvPr/>
        </p:nvGraphicFramePr>
        <p:xfrm>
          <a:off x="1424732" y="2204864"/>
          <a:ext cx="3000000" cy="3000000"/>
        </p:xfrm>
        <a:graphic>
          <a:graphicData uri="http://schemas.openxmlformats.org/drawingml/2006/table">
            <a:tbl>
              <a:tblPr firstRow="1" bandRow="1">
                <a:noFill/>
                <a:tableStyleId>{CA9732A6-F822-4872-A479-3523BBC9B60D}</a:tableStyleId>
              </a:tblPr>
              <a:tblGrid>
                <a:gridCol w="75272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solidFill>
                            <a:srgbClr val="632423"/>
                          </a:solidFill>
                        </a:rPr>
                        <a:t>Thread et mutex :</a:t>
                      </a:r>
                      <a:endParaRPr sz="2400" u="none" strike="noStrike" cap="none">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int pthread_mutex_lock(pthread_mutex_t *mutex);</a:t>
                      </a:r>
                      <a:endParaRPr sz="2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int pthread_mutex_trylock(pthread_mutex_t *mutex);</a:t>
                      </a:r>
                      <a:endParaRPr sz="2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a:t>int pthread_mutex_unlock(pthread_mutex_t *mutex);</a:t>
                      </a:r>
                      <a:endParaRPr sz="24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443" name="Google Shape;443;p39"/>
          <p:cNvSpPr/>
          <p:nvPr/>
        </p:nvSpPr>
        <p:spPr>
          <a:xfrm>
            <a:off x="2051720" y="4941168"/>
            <a:ext cx="6482680"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Déclarer le verrou </a:t>
            </a:r>
            <a:r>
              <a:rPr lang="fr-FR" sz="2400" b="0" i="0" u="none" strike="noStrike" cap="none">
                <a:solidFill>
                  <a:srgbClr val="FF66FF"/>
                </a:solidFill>
                <a:latin typeface="Calibri"/>
                <a:ea typeface="Calibri"/>
                <a:cs typeface="Calibri"/>
                <a:sym typeface="Calibri"/>
              </a:rPr>
              <a:t>static</a:t>
            </a:r>
            <a:endParaRPr sz="2400" b="0" i="0" u="none" strike="noStrike" cap="none">
              <a:solidFill>
                <a:srgbClr val="FF66F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Déclarer la variable partagée </a:t>
            </a:r>
            <a:r>
              <a:rPr lang="fr-FR" sz="2400" b="0" i="0" u="none" strike="noStrike" cap="none">
                <a:solidFill>
                  <a:srgbClr val="FF66FF"/>
                </a:solidFill>
                <a:latin typeface="Calibri"/>
                <a:ea typeface="Calibri"/>
                <a:cs typeface="Calibri"/>
                <a:sym typeface="Calibri"/>
              </a:rPr>
              <a:t>volatile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0"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50" name="Google Shape;450;p40"/>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51" name="Google Shape;451;p40"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52" name="Google Shape;452;p40"/>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53" name="Google Shape;453;p40"/>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54" name="Google Shape;454;p40"/>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5" name="Google Shape;455;p40"/>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28</a:t>
            </a:fld>
            <a:endParaRPr>
              <a:solidFill>
                <a:schemeClr val="lt1"/>
              </a:solidFill>
            </a:endParaRPr>
          </a:p>
        </p:txBody>
      </p:sp>
      <p:sp>
        <p:nvSpPr>
          <p:cNvPr id="456" name="Google Shape;456;p40"/>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3 : Thread et mutex</a:t>
            </a:r>
            <a:endParaRPr sz="2400" b="0" i="0" u="none" strike="noStrike" cap="none">
              <a:solidFill>
                <a:srgbClr val="632423"/>
              </a:solidFill>
              <a:latin typeface="Calibri"/>
              <a:ea typeface="Calibri"/>
              <a:cs typeface="Calibri"/>
              <a:sym typeface="Calibri"/>
            </a:endParaRPr>
          </a:p>
        </p:txBody>
      </p:sp>
      <p:sp>
        <p:nvSpPr>
          <p:cNvPr id="457" name="Google Shape;457;p40"/>
          <p:cNvSpPr/>
          <p:nvPr/>
        </p:nvSpPr>
        <p:spPr>
          <a:xfrm>
            <a:off x="1835696" y="1556792"/>
            <a:ext cx="711624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8" name="Google Shape;458;p40"/>
          <p:cNvSpPr/>
          <p:nvPr/>
        </p:nvSpPr>
        <p:spPr>
          <a:xfrm>
            <a:off x="1259632" y="2413338"/>
            <a:ext cx="7692310" cy="2308324"/>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Imaginons un simple tableau d'entier rempli par un thread (lent) et lu par un autre (plus rapide). Le thread de lecture doit attendre la fin du remplissage du tableau avant d'afficher sont contenu. Pour cela, on peut utiliser les </a:t>
            </a:r>
            <a:r>
              <a:rPr lang="fr-FR" sz="2400" b="0" i="1" u="none" strike="noStrike" cap="none">
                <a:solidFill>
                  <a:schemeClr val="dk1"/>
                </a:solidFill>
                <a:latin typeface="Calibri"/>
                <a:ea typeface="Calibri"/>
                <a:cs typeface="Calibri"/>
                <a:sym typeface="Calibri"/>
              </a:rPr>
              <a:t>MUTEX</a:t>
            </a:r>
            <a:r>
              <a:rPr lang="fr-FR" sz="2400" b="0" i="0" u="none" strike="noStrike" cap="none">
                <a:solidFill>
                  <a:schemeClr val="dk1"/>
                </a:solidFill>
                <a:latin typeface="Calibri"/>
                <a:ea typeface="Calibri"/>
                <a:cs typeface="Calibri"/>
                <a:sym typeface="Calibri"/>
              </a:rPr>
              <a:t> afin de protéger le tableau pendant le temps de son remplissage: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41"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65" name="Google Shape;465;p41"/>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66" name="Google Shape;466;p41"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67" name="Google Shape;467;p41"/>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68" name="Google Shape;468;p41"/>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69" name="Google Shape;469;p41"/>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0" name="Google Shape;470;p41"/>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29</a:t>
            </a:fld>
            <a:endParaRPr>
              <a:solidFill>
                <a:schemeClr val="lt1"/>
              </a:solidFill>
            </a:endParaRPr>
          </a:p>
        </p:txBody>
      </p:sp>
      <p:sp>
        <p:nvSpPr>
          <p:cNvPr id="471" name="Google Shape;471;p41"/>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3 : Thread et mutex</a:t>
            </a:r>
            <a:endParaRPr sz="2400" b="0" i="0" u="none" strike="noStrike" cap="none">
              <a:solidFill>
                <a:srgbClr val="632423"/>
              </a:solidFill>
              <a:latin typeface="Calibri"/>
              <a:ea typeface="Calibri"/>
              <a:cs typeface="Calibri"/>
              <a:sym typeface="Calibri"/>
            </a:endParaRPr>
          </a:p>
        </p:txBody>
      </p:sp>
      <p:sp>
        <p:nvSpPr>
          <p:cNvPr id="472" name="Google Shape;472;p41"/>
          <p:cNvSpPr/>
          <p:nvPr/>
        </p:nvSpPr>
        <p:spPr>
          <a:xfrm>
            <a:off x="1835696" y="1556792"/>
            <a:ext cx="711624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3" name="Google Shape;473;p41"/>
          <p:cNvSpPr/>
          <p:nvPr/>
        </p:nvSpPr>
        <p:spPr>
          <a:xfrm>
            <a:off x="1374129" y="1570491"/>
            <a:ext cx="7435552" cy="45243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r>
              <a:rPr lang="fr-FR" sz="1400" b="0" i="0" u="none" strike="noStrike" cap="none">
                <a:solidFill>
                  <a:schemeClr val="dk1"/>
                </a:solidFill>
                <a:latin typeface="Calibri"/>
                <a:ea typeface="Calibri"/>
                <a:cs typeface="Calibri"/>
                <a:sym typeface="Calibri"/>
              </a:rPr>
              <a:t>#include &lt;stdio.h&gt;</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#include &lt;stdlib.h&gt;</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#include &lt;pthread.h&gt;</a:t>
            </a:r>
            <a:endParaRPr/>
          </a:p>
          <a:p>
            <a:pPr marL="0" marR="0" lvl="0" indent="0" algn="l" rtl="0">
              <a:lnSpc>
                <a:spcPct val="100000"/>
              </a:lnSpc>
              <a:spcBef>
                <a:spcPts val="0"/>
              </a:spcBef>
              <a:spcAft>
                <a:spcPts val="0"/>
              </a:spcAft>
              <a:buNone/>
            </a:pPr>
            <a:r>
              <a:rPr lang="fr-FR" sz="1400" b="0" i="0" u="none" strike="noStrike" cap="none">
                <a:solidFill>
                  <a:schemeClr val="dk1"/>
                </a:solidFill>
                <a:latin typeface="Calibri"/>
                <a:ea typeface="Calibri"/>
                <a:cs typeface="Calibri"/>
                <a:sym typeface="Calibri"/>
              </a:rPr>
              <a:t>#include &lt;unistd.h&gt;</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static pthread_mutex_t </a:t>
            </a:r>
            <a:r>
              <a:rPr lang="fr-FR" sz="1400" b="0" i="0" u="none" strike="noStrike" cap="none">
                <a:solidFill>
                  <a:srgbClr val="FF0000"/>
                </a:solidFill>
                <a:latin typeface="Calibri"/>
                <a:ea typeface="Calibri"/>
                <a:cs typeface="Calibri"/>
                <a:sym typeface="Calibri"/>
              </a:rPr>
              <a:t>my_mutex</a:t>
            </a:r>
            <a:r>
              <a:rPr lang="fr-FR" sz="1400" b="0" i="0" u="none" strike="noStrike" cap="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static int tab[5];</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void *read_tab_process (void * arg)</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int i;</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pthread_mutex_lock (&amp;my_mutex);</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for (i = 0 ; i != 5 ; i++)</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printf ("read_process, tab[%d] vaut %d\n", i, tab[i]);</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pthread_mutex_unlock (&amp;my_mutex);</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  pthread_exit (0);</a:t>
            </a:r>
            <a:endParaRPr/>
          </a:p>
          <a:p>
            <a:pPr marL="0" marR="0" lvl="0" indent="0" algn="l" rtl="0">
              <a:lnSpc>
                <a:spcPct val="100000"/>
              </a:lnSpc>
              <a:spcBef>
                <a:spcPts val="0"/>
              </a:spcBef>
              <a:spcAft>
                <a:spcPts val="0"/>
              </a:spcAft>
              <a:buClr>
                <a:srgbClr val="000000"/>
              </a:buClr>
              <a:buSzPts val="1800"/>
              <a:buFont typeface="Arial"/>
              <a:buNone/>
            </a:pPr>
            <a:r>
              <a:rPr lang="fr-FR" sz="1400" b="0" i="0" u="none" strike="noStrike" cap="none">
                <a:solidFill>
                  <a:srgbClr val="00B05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42"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80" name="Google Shape;480;p42"/>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81" name="Google Shape;481;p42"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82" name="Google Shape;482;p42"/>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83" name="Google Shape;483;p42"/>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84" name="Google Shape;484;p42"/>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5" name="Google Shape;485;p42"/>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30</a:t>
            </a:fld>
            <a:endParaRPr>
              <a:solidFill>
                <a:schemeClr val="lt1"/>
              </a:solidFill>
            </a:endParaRPr>
          </a:p>
        </p:txBody>
      </p:sp>
      <p:sp>
        <p:nvSpPr>
          <p:cNvPr id="486" name="Google Shape;486;p42"/>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3 : Thread et mutex</a:t>
            </a:r>
            <a:endParaRPr sz="2400" b="0" i="0" u="none" strike="noStrike" cap="none">
              <a:solidFill>
                <a:srgbClr val="632423"/>
              </a:solidFill>
              <a:latin typeface="Calibri"/>
              <a:ea typeface="Calibri"/>
              <a:cs typeface="Calibri"/>
              <a:sym typeface="Calibri"/>
            </a:endParaRPr>
          </a:p>
        </p:txBody>
      </p:sp>
      <p:sp>
        <p:nvSpPr>
          <p:cNvPr id="487" name="Google Shape;487;p42"/>
          <p:cNvSpPr/>
          <p:nvPr/>
        </p:nvSpPr>
        <p:spPr>
          <a:xfrm>
            <a:off x="1835696" y="1556792"/>
            <a:ext cx="711624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8" name="Google Shape;488;p42"/>
          <p:cNvSpPr/>
          <p:nvPr/>
        </p:nvSpPr>
        <p:spPr>
          <a:xfrm>
            <a:off x="1214414" y="2000240"/>
            <a:ext cx="7435552" cy="31393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void *write_tab_process (void * arg)</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int i;</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pthread_mutex_lock (&amp;my_mutex);</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for (i = 0 ; i != 5 ; i++) {</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tab[i] = 2 * i;</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printf ("write_process, tab[%d] vaut %d\n", i, tab[i]);</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sleep (1); /* Relentit le thread d'ecriture... */   }</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pthread_mutex_unlock (&amp;my_mutex);</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  pthread_exit (0);</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B0F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p43" descr="C:\Documents and Settings\Aziz\Bureau\Bas.JPG"/>
          <p:cNvPicPr preferRelativeResize="0"/>
          <p:nvPr/>
        </p:nvPicPr>
        <p:blipFill rotWithShape="1">
          <a:blip r:embed="rId3">
            <a:alphaModFix/>
          </a:blip>
          <a:srcRect/>
          <a:stretch/>
        </p:blipFill>
        <p:spPr>
          <a:xfrm rot="5400000">
            <a:off x="-3000388" y="2973004"/>
            <a:ext cx="6858000" cy="857224"/>
          </a:xfrm>
          <a:prstGeom prst="rect">
            <a:avLst/>
          </a:prstGeom>
          <a:noFill/>
          <a:ln>
            <a:noFill/>
          </a:ln>
        </p:spPr>
      </p:pic>
      <p:sp>
        <p:nvSpPr>
          <p:cNvPr id="495" name="Google Shape;495;p43"/>
          <p:cNvSpPr txBox="1">
            <a:spLocks noGrp="1"/>
          </p:cNvSpPr>
          <p:nvPr>
            <p:ph type="title"/>
          </p:nvPr>
        </p:nvSpPr>
        <p:spPr>
          <a:xfrm>
            <a:off x="457200" y="-2143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fr-FR" sz="3600" b="1"/>
              <a:t>Threads POSIX : </a:t>
            </a:r>
            <a:r>
              <a:rPr lang="fr-FR" sz="3600">
                <a:solidFill>
                  <a:srgbClr val="538CD5"/>
                </a:solidFill>
              </a:rPr>
              <a:t>Librairie pthread.h</a:t>
            </a:r>
            <a:endParaRPr sz="3600" b="1"/>
          </a:p>
        </p:txBody>
      </p:sp>
      <p:pic>
        <p:nvPicPr>
          <p:cNvPr id="496" name="Google Shape;496;p43" descr="C:\Documents and Settings\Aziz\Bureau\angle.JPG"/>
          <p:cNvPicPr preferRelativeResize="0"/>
          <p:nvPr/>
        </p:nvPicPr>
        <p:blipFill rotWithShape="1">
          <a:blip r:embed="rId4">
            <a:alphaModFix/>
          </a:blip>
          <a:srcRect/>
          <a:stretch/>
        </p:blipFill>
        <p:spPr>
          <a:xfrm rot="-5400000">
            <a:off x="8446303" y="88097"/>
            <a:ext cx="785794" cy="609600"/>
          </a:xfrm>
          <a:prstGeom prst="rect">
            <a:avLst/>
          </a:prstGeom>
          <a:noFill/>
          <a:ln>
            <a:noFill/>
          </a:ln>
        </p:spPr>
      </p:pic>
      <p:sp>
        <p:nvSpPr>
          <p:cNvPr id="497" name="Google Shape;497;p43"/>
          <p:cNvSpPr/>
          <p:nvPr/>
        </p:nvSpPr>
        <p:spPr>
          <a:xfrm rot="5400000">
            <a:off x="121444" y="389714"/>
            <a:ext cx="560388" cy="803275"/>
          </a:xfrm>
          <a:prstGeom prst="triangle">
            <a:avLst>
              <a:gd name="adj" fmla="val 5000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498" name="Google Shape;498;p43"/>
          <p:cNvCxnSpPr/>
          <p:nvPr/>
        </p:nvCxnSpPr>
        <p:spPr>
          <a:xfrm>
            <a:off x="714348" y="784206"/>
            <a:ext cx="8429652" cy="1588"/>
          </a:xfrm>
          <a:prstGeom prst="straightConnector1">
            <a:avLst/>
          </a:prstGeom>
          <a:noFill/>
          <a:ln w="25400" cap="flat" cmpd="sng">
            <a:solidFill>
              <a:srgbClr val="FF0000"/>
            </a:solidFill>
            <a:prstDash val="solid"/>
            <a:round/>
            <a:headEnd type="none" w="sm" len="sm"/>
            <a:tailEnd type="none" w="sm" len="sm"/>
          </a:ln>
        </p:spPr>
      </p:cxnSp>
      <p:sp>
        <p:nvSpPr>
          <p:cNvPr id="499" name="Google Shape;499;p43"/>
          <p:cNvSpPr/>
          <p:nvPr/>
        </p:nvSpPr>
        <p:spPr>
          <a:xfrm>
            <a:off x="8786842" y="6429396"/>
            <a:ext cx="330200" cy="311150"/>
          </a:xfrm>
          <a:prstGeom prst="flowChartConnector">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0" name="Google Shape;500;p43"/>
          <p:cNvSpPr txBox="1">
            <a:spLocks noGrp="1"/>
          </p:cNvSpPr>
          <p:nvPr>
            <p:ph type="sldNum" idx="12"/>
          </p:nvPr>
        </p:nvSpPr>
        <p:spPr>
          <a:xfrm>
            <a:off x="7858148" y="6421461"/>
            <a:ext cx="1214414"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r>
              <a:rPr lang="fr-FR">
                <a:solidFill>
                  <a:schemeClr val="lt1"/>
                </a:solidFill>
              </a:rPr>
              <a:t>  </a:t>
            </a:r>
            <a:fld id="{00000000-1234-1234-1234-123412341234}" type="slidenum">
              <a:rPr lang="fr-FR">
                <a:solidFill>
                  <a:schemeClr val="lt1"/>
                </a:solidFill>
              </a:rPr>
              <a:t>31</a:t>
            </a:fld>
            <a:endParaRPr>
              <a:solidFill>
                <a:schemeClr val="lt1"/>
              </a:solidFill>
            </a:endParaRPr>
          </a:p>
        </p:txBody>
      </p:sp>
      <p:sp>
        <p:nvSpPr>
          <p:cNvPr id="501" name="Google Shape;501;p43"/>
          <p:cNvSpPr/>
          <p:nvPr/>
        </p:nvSpPr>
        <p:spPr>
          <a:xfrm>
            <a:off x="1259632" y="980728"/>
            <a:ext cx="7274768"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632423"/>
                </a:solidFill>
                <a:latin typeface="Calibri"/>
                <a:ea typeface="Calibri"/>
                <a:cs typeface="Calibri"/>
                <a:sym typeface="Calibri"/>
              </a:rPr>
              <a:t>Exemple 3: Thread et mutex</a:t>
            </a:r>
            <a:endParaRPr sz="2400" b="0" i="0" u="none" strike="noStrike" cap="none">
              <a:solidFill>
                <a:srgbClr val="632423"/>
              </a:solidFill>
              <a:latin typeface="Calibri"/>
              <a:ea typeface="Calibri"/>
              <a:cs typeface="Calibri"/>
              <a:sym typeface="Calibri"/>
            </a:endParaRPr>
          </a:p>
        </p:txBody>
      </p:sp>
      <p:sp>
        <p:nvSpPr>
          <p:cNvPr id="502" name="Google Shape;502;p43"/>
          <p:cNvSpPr/>
          <p:nvPr/>
        </p:nvSpPr>
        <p:spPr>
          <a:xfrm>
            <a:off x="1835696" y="1556792"/>
            <a:ext cx="711624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3" name="Google Shape;503;p43"/>
          <p:cNvSpPr/>
          <p:nvPr/>
        </p:nvSpPr>
        <p:spPr>
          <a:xfrm>
            <a:off x="1403648" y="1906954"/>
            <a:ext cx="6984776" cy="397031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main (int ac, char **av)</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pthread_t th1, th2;</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void *ret;</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pthread_mutex_init (&amp;my_mutex, NULL);</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if (pthread_create (&amp;th1, NULL, write_tab_process, NULL) &lt; 0)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fprintf (stderr, "pthread_create error for thread 1\n");</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exit (1);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if (pthread_create (&amp;th2, NULL, read_tab_process, NULL) &lt; 0)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fprintf (stderr, "pthread_create error for thread 2\n");</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exit (1);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(void)pthread_join (th1, &amp;ret);</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  (void)pthread_join (th2, &amp;ret);</a:t>
            </a:r>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return 0;</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fld id="{00000000-1234-1234-1234-123412341234}" type="slidenum">
              <a:rPr lang="fr-FR"/>
              <a:t>32</a:t>
            </a:fld>
            <a:endParaRPr/>
          </a:p>
        </p:txBody>
      </p:sp>
      <p:sp>
        <p:nvSpPr>
          <p:cNvPr id="509" name="Google Shape;509;p44"/>
          <p:cNvSpPr/>
          <p:nvPr/>
        </p:nvSpPr>
        <p:spPr>
          <a:xfrm>
            <a:off x="0" y="0"/>
            <a:ext cx="9144000" cy="1631216"/>
          </a:xfrm>
          <a:prstGeom prst="rect">
            <a:avLst/>
          </a:prstGeom>
          <a:solidFill>
            <a:srgbClr val="E6EBE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000"/>
              <a:buFont typeface="Arimo"/>
              <a:buNone/>
            </a:pPr>
            <a:r>
              <a:rPr lang="fr-FR" sz="2000" b="1" i="0" u="none" strike="noStrike" cap="none">
                <a:solidFill>
                  <a:srgbClr val="000000"/>
                </a:solidFill>
                <a:latin typeface="Arimo"/>
                <a:ea typeface="Arimo"/>
                <a:cs typeface="Arimo"/>
                <a:sym typeface="Arimo"/>
              </a:rPr>
              <a:t>int sem_init(sem_t *sem, int pshared, unsigned int value);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mo"/>
              <a:buNone/>
            </a:pPr>
            <a:r>
              <a:rPr lang="fr-FR" sz="2000" b="1" i="0" u="none" strike="noStrike" cap="none">
                <a:solidFill>
                  <a:srgbClr val="000000"/>
                </a:solidFill>
                <a:latin typeface="Arimo"/>
                <a:ea typeface="Arimo"/>
                <a:cs typeface="Arimo"/>
                <a:sym typeface="Arimo"/>
              </a:rPr>
              <a:t>-where, sem address of the declared semaphore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mo"/>
              <a:buNone/>
            </a:pPr>
            <a:r>
              <a:rPr lang="fr-FR" sz="2000" b="1" i="0" u="none" strike="noStrike" cap="none">
                <a:solidFill>
                  <a:srgbClr val="000000"/>
                </a:solidFill>
                <a:latin typeface="Arimo"/>
                <a:ea typeface="Arimo"/>
                <a:cs typeface="Arimo"/>
                <a:sym typeface="Arimo"/>
              </a:rPr>
              <a:t>-pshared should be 0 (not shared with threads in other processes)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mo"/>
              <a:buNone/>
            </a:pPr>
            <a:r>
              <a:rPr lang="fr-FR" sz="2000" b="1" i="0" u="none" strike="noStrike" cap="none">
                <a:solidFill>
                  <a:srgbClr val="000000"/>
                </a:solidFill>
                <a:latin typeface="Arimo"/>
                <a:ea typeface="Arimo"/>
                <a:cs typeface="Arimo"/>
                <a:sym typeface="Arimo"/>
              </a:rPr>
              <a:t>-value the desired initial value of the semaphore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mo"/>
              <a:buNone/>
            </a:pPr>
            <a:r>
              <a:rPr lang="fr-FR" sz="2000" b="1" i="0" u="none" strike="noStrike" cap="none">
                <a:solidFill>
                  <a:srgbClr val="000000"/>
                </a:solidFill>
                <a:latin typeface="Arimo"/>
                <a:ea typeface="Arimo"/>
                <a:cs typeface="Arimo"/>
                <a:sym typeface="Arimo"/>
              </a:rPr>
              <a:t>Return The return value is 0 if successful.</a:t>
            </a:r>
            <a:r>
              <a:rPr lang="fr-FR" sz="1800" b="0" i="0" u="none" strike="noStrike" cap="none">
                <a:solidFill>
                  <a:schemeClr val="dk1"/>
                </a:solidFill>
                <a:latin typeface="Arial"/>
                <a:ea typeface="Arial"/>
                <a:cs typeface="Arial"/>
                <a:sym typeface="Arial"/>
              </a:rPr>
              <a:t> </a:t>
            </a:r>
            <a:endParaRPr sz="4400" b="0" i="0" u="none" strike="noStrike" cap="none">
              <a:solidFill>
                <a:schemeClr val="dk1"/>
              </a:solidFill>
              <a:latin typeface="Arial"/>
              <a:ea typeface="Arial"/>
              <a:cs typeface="Arial"/>
              <a:sym typeface="Arial"/>
            </a:endParaRPr>
          </a:p>
        </p:txBody>
      </p:sp>
      <p:sp>
        <p:nvSpPr>
          <p:cNvPr id="510" name="Google Shape;510;p44"/>
          <p:cNvSpPr/>
          <p:nvPr/>
        </p:nvSpPr>
        <p:spPr>
          <a:xfrm>
            <a:off x="285720" y="2428868"/>
            <a:ext cx="6572296"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int sem_wait(sem_t * </a:t>
            </a:r>
            <a:r>
              <a:rPr lang="fr-FR" sz="1800" b="0" i="1" u="none" strike="noStrike" cap="none">
                <a:solidFill>
                  <a:schemeClr val="dk1"/>
                </a:solidFill>
                <a:latin typeface="Calibri"/>
                <a:ea typeface="Calibri"/>
                <a:cs typeface="Calibri"/>
                <a:sym typeface="Calibri"/>
              </a:rPr>
              <a:t>sem</a:t>
            </a:r>
            <a:r>
              <a:rPr lang="fr-FR" sz="1800" b="1"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511" name="Google Shape;511;p44"/>
          <p:cNvSpPr/>
          <p:nvPr/>
        </p:nvSpPr>
        <p:spPr>
          <a:xfrm>
            <a:off x="357158" y="3000372"/>
            <a:ext cx="2823337"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Calibri"/>
                <a:ea typeface="Calibri"/>
                <a:cs typeface="Calibri"/>
                <a:sym typeface="Calibri"/>
              </a:rPr>
              <a:t>int sem_post(sem_t * </a:t>
            </a:r>
            <a:r>
              <a:rPr lang="fr-FR" sz="1800" b="0" i="1" u="none" strike="noStrike" cap="none">
                <a:solidFill>
                  <a:schemeClr val="dk1"/>
                </a:solidFill>
                <a:latin typeface="Calibri"/>
                <a:ea typeface="Calibri"/>
                <a:cs typeface="Calibri"/>
                <a:sym typeface="Calibri"/>
              </a:rPr>
              <a:t>sem</a:t>
            </a:r>
            <a:r>
              <a:rPr lang="fr-FR" sz="1800" b="1"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2442</Words>
  <Application>Microsoft Office PowerPoint</Application>
  <PresentationFormat>Affichage à l'écran (4:3)</PresentationFormat>
  <Paragraphs>402</Paragraphs>
  <Slides>32</Slides>
  <Notes>32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Calibri</vt:lpstr>
      <vt:lpstr>Noto Sans Symbols</vt:lpstr>
      <vt:lpstr>Arial</vt:lpstr>
      <vt:lpstr>Arimo</vt:lpstr>
      <vt:lpstr>Thème Office</vt:lpstr>
      <vt:lpstr>Présentation PowerPoint</vt:lpstr>
      <vt:lpstr>Présentation PowerPoint</vt:lpstr>
      <vt:lpstr>PLAN</vt:lpstr>
      <vt:lpstr>Théorie de threads(1)</vt:lpstr>
      <vt:lpstr>Théorie de threads(2)</vt:lpstr>
      <vt:lpstr>Théorie de threads(3)</vt:lpstr>
      <vt:lpstr>Théorie de threads(4)</vt:lpstr>
      <vt:lpstr>Théorie de threads(5)</vt:lpstr>
      <vt:lpstr>Comment ça marche?</vt:lpstr>
      <vt:lpstr>Comment ça marche?</vt:lpstr>
      <vt:lpstr>Présentation PowerPoint</vt:lpstr>
      <vt:lpstr>Pourquoi utiliser les threads</vt:lpstr>
      <vt:lpstr>Différents Threads :</vt:lpstr>
      <vt:lpstr>Différents Threads :</vt:lpstr>
      <vt:lpstr>Threads POSIX : Librairie pthread.h</vt:lpstr>
      <vt:lpstr>Threads POSIX : Librairie pthread.h</vt:lpstr>
      <vt:lpstr>Présentation PowerPoint</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Threads POSIX : Librairie pthread.h</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aymen mnasri</cp:lastModifiedBy>
  <cp:revision>1</cp:revision>
  <dcterms:modified xsi:type="dcterms:W3CDTF">2024-12-01T22:15:30Z</dcterms:modified>
</cp:coreProperties>
</file>