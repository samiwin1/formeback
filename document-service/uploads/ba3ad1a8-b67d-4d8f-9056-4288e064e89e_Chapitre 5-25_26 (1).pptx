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4"/>
  </p:notesMasterIdLst>
  <p:sldIdLst>
    <p:sldId id="256" r:id="rId5"/>
    <p:sldId id="257" r:id="rId6"/>
    <p:sldId id="279" r:id="rId7"/>
    <p:sldId id="280" r:id="rId8"/>
    <p:sldId id="303" r:id="rId9"/>
    <p:sldId id="309" r:id="rId10"/>
    <p:sldId id="305" r:id="rId11"/>
    <p:sldId id="306" r:id="rId12"/>
    <p:sldId id="310" r:id="rId13"/>
    <p:sldId id="281" r:id="rId14"/>
    <p:sldId id="284" r:id="rId15"/>
    <p:sldId id="285" r:id="rId16"/>
    <p:sldId id="290" r:id="rId17"/>
    <p:sldId id="291" r:id="rId18"/>
    <p:sldId id="311" r:id="rId19"/>
    <p:sldId id="286" r:id="rId20"/>
    <p:sldId id="287" r:id="rId21"/>
    <p:sldId id="288" r:id="rId22"/>
    <p:sldId id="289" r:id="rId23"/>
    <p:sldId id="312" r:id="rId24"/>
    <p:sldId id="282" r:id="rId25"/>
    <p:sldId id="292" r:id="rId26"/>
    <p:sldId id="313" r:id="rId27"/>
    <p:sldId id="307" r:id="rId28"/>
    <p:sldId id="314" r:id="rId29"/>
    <p:sldId id="293" r:id="rId30"/>
    <p:sldId id="315" r:id="rId31"/>
    <p:sldId id="308" r:id="rId32"/>
    <p:sldId id="302" r:id="rId33"/>
  </p:sldIdLst>
  <p:sldSz cx="12192000" cy="6858000"/>
  <p:notesSz cx="12192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557" autoAdjust="0"/>
  </p:normalViewPr>
  <p:slideViewPr>
    <p:cSldViewPr>
      <p:cViewPr varScale="1">
        <p:scale>
          <a:sx n="63" d="100"/>
          <a:sy n="63" d="100"/>
        </p:scale>
        <p:origin x="66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E448B3-0EA3-460B-90F9-01F370485AEE}" type="datetimeFigureOut">
              <a:rPr lang="fr-FR" smtClean="0"/>
              <a:t>03/10/2025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168107-5EF1-4256-BAC8-8F0F494DCE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467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68107-5EF1-4256-BAC8-8F0F494DCE9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0924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43989" y="235077"/>
            <a:ext cx="9304020" cy="1064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7BB60-C993-4E92-A55E-85610C7E7777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C127C4-2762-40AD-9D5D-3FE87A20E633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E2124-86E5-49F1-9A33-37EF9B26CF6D}" type="datetime1">
              <a:rPr lang="en-US" smtClean="0"/>
              <a:t>10/4/2025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F13A9-CDC1-422D-82ED-F6BABE796D11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18C86-A456-4D75-9797-7D0323B3DEB5}" type="datetime1">
              <a:rPr lang="en-US" smtClean="0"/>
              <a:t>10/4/2025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43989" y="235077"/>
            <a:ext cx="3647440" cy="1064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2340" y="1153338"/>
            <a:ext cx="7933690" cy="3364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DD7BFC-554C-4E91-B4E5-B9F0331DFAAE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07597" y="6448297"/>
            <a:ext cx="268604" cy="2165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0933" y="1737416"/>
            <a:ext cx="6313805" cy="19454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34010">
              <a:lnSpc>
                <a:spcPct val="150000"/>
              </a:lnSpc>
              <a:spcBef>
                <a:spcPts val="105"/>
              </a:spcBef>
            </a:pPr>
            <a:r>
              <a:rPr lang="fr-FR" sz="4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Les systèmes de détection d’intrusion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9042" y="4404255"/>
            <a:ext cx="4581525" cy="1113155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85"/>
              </a:spcBef>
            </a:pPr>
            <a:r>
              <a:rPr sz="2900" dirty="0">
                <a:latin typeface="Times New Roman"/>
                <a:cs typeface="Times New Roman"/>
              </a:rPr>
              <a:t>Module:</a:t>
            </a:r>
            <a:r>
              <a:rPr sz="2900" spc="-5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Sécurité</a:t>
            </a:r>
            <a:r>
              <a:rPr sz="2900" spc="-50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Informatique</a:t>
            </a:r>
            <a:endParaRPr sz="29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95"/>
              </a:spcBef>
            </a:pPr>
            <a:r>
              <a:rPr sz="2000" dirty="0">
                <a:latin typeface="Times New Roman"/>
                <a:cs typeface="Times New Roman"/>
              </a:rPr>
              <a:t>202</a:t>
            </a:r>
            <a:r>
              <a:rPr lang="fr-FR" sz="2000" dirty="0">
                <a:latin typeface="Times New Roman"/>
                <a:cs typeface="Times New Roman"/>
              </a:rPr>
              <a:t>5</a:t>
            </a:r>
            <a:r>
              <a:rPr sz="2000" dirty="0">
                <a:latin typeface="Times New Roman"/>
                <a:cs typeface="Times New Roman"/>
              </a:rPr>
              <a:t>/202</a:t>
            </a:r>
            <a:r>
              <a:rPr lang="fr-FR" sz="2000" dirty="0">
                <a:latin typeface="Times New Roman"/>
                <a:cs typeface="Times New Roman"/>
              </a:rPr>
              <a:t>6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E8B94D-E66A-C811-0059-688A444CB72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lang="en-GB" smtClean="0"/>
              <a:t>1</a:t>
            </a:fld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9417" y="562483"/>
            <a:ext cx="19989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Times New Roman"/>
                <a:cs typeface="Times New Roman"/>
              </a:rPr>
              <a:t>Objectifs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22914" y="6393281"/>
            <a:ext cx="1282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878787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8533" y="1691385"/>
            <a:ext cx="11118850" cy="44703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2800" b="1" spc="-5" dirty="0">
                <a:latin typeface="Calibri"/>
                <a:cs typeface="Calibri"/>
              </a:rPr>
              <a:t>Après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avoir</a:t>
            </a:r>
            <a:r>
              <a:rPr sz="2800" b="1" spc="-1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suivi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ce </a:t>
            </a:r>
            <a:r>
              <a:rPr sz="2800" b="1" dirty="0">
                <a:latin typeface="Calibri"/>
                <a:cs typeface="Calibri"/>
              </a:rPr>
              <a:t>chapitre,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vous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serez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capables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:</a:t>
            </a:r>
            <a:endParaRPr lang="fr-FR" sz="2800" b="1" dirty="0">
              <a:latin typeface="Calibri"/>
              <a:cs typeface="Calibri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/>
              <a:t>Comprendre le rôle et l’utilité des systèmes IDS et IPS, et distinguer leurs différences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/>
              <a:t>Expliquer les principales méthodes de détection : par signature, comportementale/heuristique et par règles</a:t>
            </a:r>
            <a:endParaRPr lang="en-GB" sz="28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/>
              <a:t>Analyser les alertes générées et mettre en œuvre des réponses adaptées aux incidents de sécurité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7C3E5C-63A3-1D67-D843-202B4E5AE66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lang="en-GB" smtClean="0"/>
              <a:t>2</a:t>
            </a:fld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F642879-57AD-2DF9-DD09-B5117A43AD8F}"/>
              </a:ext>
            </a:extLst>
          </p:cNvPr>
          <p:cNvSpPr/>
          <p:nvPr/>
        </p:nvSpPr>
        <p:spPr>
          <a:xfrm>
            <a:off x="838200" y="1431782"/>
            <a:ext cx="5257800" cy="5696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4569" y="507618"/>
            <a:ext cx="1012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Times New Roman"/>
                <a:cs typeface="Times New Roman"/>
              </a:rPr>
              <a:t>Plan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07597" y="6384213"/>
            <a:ext cx="346710" cy="28067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3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0120" y="1299598"/>
            <a:ext cx="10363707" cy="51166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Introduction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Concept </a:t>
            </a:r>
            <a:r>
              <a:rPr lang="en-US" altLang="en-US" sz="2800" dirty="0" err="1"/>
              <a:t>d’intrusion</a:t>
            </a:r>
            <a:endParaRPr lang="en-US" altLang="en-US" sz="2800" dirty="0"/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IDS (Intrusion Detection System) 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Les </a:t>
            </a:r>
            <a:r>
              <a:rPr lang="en-US" altLang="en-US" sz="2800" dirty="0" err="1"/>
              <a:t>méthodes</a:t>
            </a:r>
            <a:r>
              <a:rPr lang="en-US" altLang="en-US" sz="2800" dirty="0"/>
              <a:t> de </a:t>
            </a:r>
            <a:r>
              <a:rPr lang="en-US" altLang="en-US" sz="2800" dirty="0" err="1"/>
              <a:t>détection</a:t>
            </a:r>
            <a:endParaRPr lang="en-US" altLang="en-US" sz="2800" dirty="0"/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IPS (Intrusion Prevention System)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err="1"/>
              <a:t>Comparaison</a:t>
            </a:r>
            <a:r>
              <a:rPr lang="en-US" altLang="en-US" sz="2800" dirty="0"/>
              <a:t> IDS vs IPS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Solution IDS/IPS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err="1"/>
              <a:t>Défis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actuels</a:t>
            </a:r>
            <a:r>
              <a:rPr lang="en-US" altLang="en-US" sz="2800" dirty="0"/>
              <a:t> et </a:t>
            </a:r>
            <a:r>
              <a:rPr lang="en-US" altLang="en-US" sz="2800" dirty="0" err="1"/>
              <a:t>intégration</a:t>
            </a:r>
            <a:r>
              <a:rPr lang="en-US" altLang="en-US" sz="2800" dirty="0"/>
              <a:t> SOC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5B41B6C-31BA-25D9-D736-3F804848313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lang="en-GB" smtClean="0"/>
              <a:t>3</a:t>
            </a:fld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3133" y="664540"/>
            <a:ext cx="732116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z="4000" b="1" spc="-5" dirty="0">
                <a:latin typeface="Times New Roman"/>
                <a:cs typeface="Times New Roman"/>
              </a:rPr>
              <a:t>Introduction - 1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007597" y="6384213"/>
            <a:ext cx="346710" cy="28067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4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400" y="1676400"/>
            <a:ext cx="11125707" cy="4103046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2800" b="1" dirty="0"/>
              <a:t>Rôle des mécanismes de sécurité réseau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2600" dirty="0"/>
              <a:t>Protéger la confidentialité, l’intégrité et la disponibilité des systèmes et des données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2600" dirty="0"/>
              <a:t>Contrôler les accès aux ressources (firewalls, authentification)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2600" dirty="0"/>
              <a:t>Surveiller et analyser le trafic réseau pour identifier les activités suspectes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2600" dirty="0"/>
              <a:t>Bloquer ou limiter les attaques connues et réduire leur impact</a:t>
            </a:r>
          </a:p>
          <a:p>
            <a:pPr marL="481965" indent="-457200">
              <a:spcBef>
                <a:spcPts val="95"/>
              </a:spcBef>
              <a:buClr>
                <a:srgbClr val="797979"/>
              </a:buClr>
              <a:buSzPct val="150000"/>
              <a:buFont typeface="Arial MT"/>
              <a:buChar char="•"/>
              <a:tabLst>
                <a:tab pos="481965" algn="l"/>
                <a:tab pos="482600" algn="l"/>
              </a:tabLst>
            </a:pPr>
            <a:endParaRPr sz="2800" dirty="0">
              <a:latin typeface="Calibri"/>
              <a:cs typeface="Calibri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1E72E8-DD97-1BEB-39D6-C9E95297C49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lang="en-GB" smtClean="0"/>
              <a:t>4</a:t>
            </a:fld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55A36-0B58-91DB-E359-0D662673C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6ABFC07-7A6E-6E2D-69E8-360A7F5D46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53133" y="664540"/>
            <a:ext cx="732116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z="4000" b="1" spc="-5" dirty="0">
                <a:latin typeface="Times New Roman"/>
                <a:cs typeface="Times New Roman"/>
              </a:rPr>
              <a:t>Introduction - 2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6BB2AB3-C595-2E02-FE8C-848714E4902D}"/>
              </a:ext>
            </a:extLst>
          </p:cNvPr>
          <p:cNvSpPr txBox="1"/>
          <p:nvPr/>
        </p:nvSpPr>
        <p:spPr>
          <a:xfrm>
            <a:off x="11007597" y="6384213"/>
            <a:ext cx="346710" cy="28067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5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D3DAA81-8A5A-013E-3FA1-8B2AB16A3784}"/>
              </a:ext>
            </a:extLst>
          </p:cNvPr>
          <p:cNvSpPr txBox="1"/>
          <p:nvPr/>
        </p:nvSpPr>
        <p:spPr>
          <a:xfrm>
            <a:off x="533146" y="1524000"/>
            <a:ext cx="11125707" cy="479759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2800" b="1" dirty="0"/>
              <a:t>Positionnement de l’IDS/IPS dans une architecture de sécurité</a:t>
            </a:r>
          </a:p>
          <a:p>
            <a:pPr marL="28575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dirty="0"/>
              <a:t>Le firewall </a:t>
            </a:r>
            <a:r>
              <a:rPr lang="en-US" altLang="en-US" sz="2600" dirty="0" err="1"/>
              <a:t>filtre</a:t>
            </a:r>
            <a:r>
              <a:rPr lang="en-US" altLang="en-US" sz="2600" dirty="0"/>
              <a:t> le </a:t>
            </a:r>
            <a:r>
              <a:rPr lang="en-US" altLang="en-US" sz="2600" dirty="0" err="1"/>
              <a:t>trafic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selon</a:t>
            </a:r>
            <a:r>
              <a:rPr lang="en-US" altLang="en-US" sz="2600" dirty="0"/>
              <a:t> des </a:t>
            </a:r>
            <a:r>
              <a:rPr lang="en-US" altLang="en-US" sz="2600" dirty="0" err="1"/>
              <a:t>règles</a:t>
            </a:r>
            <a:r>
              <a:rPr lang="en-US" altLang="en-US" sz="2600" dirty="0"/>
              <a:t> </a:t>
            </a:r>
            <a:r>
              <a:rPr lang="en-US" altLang="en-US" sz="2600" dirty="0" err="1"/>
              <a:t>prédéfinies</a:t>
            </a:r>
            <a:r>
              <a:rPr lang="en-US" altLang="en-US" sz="2600" dirty="0"/>
              <a:t> (</a:t>
            </a:r>
            <a:r>
              <a:rPr lang="en-US" altLang="en-US" sz="2600" dirty="0" err="1"/>
              <a:t>contrôle</a:t>
            </a:r>
            <a:r>
              <a:rPr lang="en-US" altLang="en-US" sz="2600" dirty="0"/>
              <a:t> en </a:t>
            </a:r>
            <a:r>
              <a:rPr lang="en-US" altLang="en-US" sz="2600" dirty="0" err="1"/>
              <a:t>amont</a:t>
            </a:r>
            <a:r>
              <a:rPr lang="en-US" altLang="en-US" sz="2600" dirty="0"/>
              <a:t>)</a:t>
            </a:r>
          </a:p>
          <a:p>
            <a:pPr marL="28575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dirty="0"/>
              <a:t>L’IDS observe le </a:t>
            </a:r>
            <a:r>
              <a:rPr lang="en-US" altLang="en-US" sz="2600" dirty="0" err="1"/>
              <a:t>trafic</a:t>
            </a:r>
            <a:r>
              <a:rPr lang="en-US" altLang="en-US" sz="2600" dirty="0"/>
              <a:t>, </a:t>
            </a:r>
            <a:r>
              <a:rPr lang="en-US" altLang="en-US" sz="2600" dirty="0" err="1"/>
              <a:t>détecte</a:t>
            </a:r>
            <a:r>
              <a:rPr lang="en-US" altLang="en-US" sz="2600" dirty="0"/>
              <a:t> les anomalies et </a:t>
            </a:r>
            <a:r>
              <a:rPr lang="en-US" altLang="en-US" sz="2600" dirty="0" err="1"/>
              <a:t>génère</a:t>
            </a:r>
            <a:r>
              <a:rPr lang="en-US" altLang="en-US" sz="2600" dirty="0"/>
              <a:t> des </a:t>
            </a:r>
            <a:r>
              <a:rPr lang="en-US" altLang="en-US" sz="2600" dirty="0" err="1"/>
              <a:t>alertes</a:t>
            </a:r>
            <a:r>
              <a:rPr lang="en-US" altLang="en-US" sz="2600" dirty="0"/>
              <a:t> (</a:t>
            </a:r>
            <a:r>
              <a:rPr lang="en-US" altLang="en-US" sz="2600" dirty="0" err="1"/>
              <a:t>rôle</a:t>
            </a:r>
            <a:r>
              <a:rPr lang="en-US" altLang="en-US" sz="2600" dirty="0"/>
              <a:t> de surveillance)</a:t>
            </a:r>
          </a:p>
          <a:p>
            <a:pPr marL="28575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dirty="0"/>
              <a:t>L’IPS agit en temps </a:t>
            </a:r>
            <a:r>
              <a:rPr lang="en-US" altLang="en-US" sz="2600" dirty="0" err="1"/>
              <a:t>réel</a:t>
            </a:r>
            <a:r>
              <a:rPr lang="en-US" altLang="en-US" sz="2600" dirty="0"/>
              <a:t>, </a:t>
            </a:r>
            <a:r>
              <a:rPr lang="en-US" altLang="en-US" sz="2600" dirty="0" err="1"/>
              <a:t>bloque</a:t>
            </a:r>
            <a:r>
              <a:rPr lang="en-US" altLang="en-US" sz="2600" dirty="0"/>
              <a:t> le </a:t>
            </a:r>
            <a:r>
              <a:rPr lang="en-US" altLang="en-US" sz="2600" dirty="0" err="1"/>
              <a:t>trafic</a:t>
            </a:r>
            <a:r>
              <a:rPr lang="en-US" altLang="en-US" sz="2600" dirty="0"/>
              <a:t> </a:t>
            </a:r>
            <a:r>
              <a:rPr lang="en-US" altLang="en-US" sz="2600" dirty="0" err="1"/>
              <a:t>malveillant</a:t>
            </a:r>
            <a:r>
              <a:rPr lang="en-US" altLang="en-US" sz="2600" dirty="0"/>
              <a:t> et </a:t>
            </a:r>
            <a:r>
              <a:rPr lang="en-US" altLang="en-US" sz="2600" dirty="0" err="1"/>
              <a:t>complète</a:t>
            </a:r>
            <a:r>
              <a:rPr lang="en-US" altLang="en-US" sz="2600" dirty="0"/>
              <a:t> </a:t>
            </a:r>
            <a:r>
              <a:rPr lang="en-US" altLang="en-US" sz="2600" dirty="0" err="1"/>
              <a:t>l’action</a:t>
            </a:r>
            <a:r>
              <a:rPr lang="en-US" altLang="en-US" sz="2600" dirty="0"/>
              <a:t> du firewall</a:t>
            </a:r>
          </a:p>
          <a:p>
            <a:pPr marL="28575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dirty="0"/>
              <a:t>L’IDS/IPS </a:t>
            </a:r>
            <a:r>
              <a:rPr lang="en-US" altLang="en-US" sz="2600" dirty="0" err="1"/>
              <a:t>s’intègre</a:t>
            </a:r>
            <a:r>
              <a:rPr lang="en-US" altLang="en-US" sz="2600" dirty="0"/>
              <a:t> dans </a:t>
            </a:r>
            <a:r>
              <a:rPr lang="en-US" altLang="en-US" sz="2600" dirty="0" err="1"/>
              <a:t>une</a:t>
            </a:r>
            <a:r>
              <a:rPr lang="en-US" altLang="en-US" sz="2600" dirty="0"/>
              <a:t> </a:t>
            </a:r>
            <a:r>
              <a:rPr lang="en-US" altLang="en-US" sz="2600" dirty="0" err="1"/>
              <a:t>défense</a:t>
            </a:r>
            <a:r>
              <a:rPr lang="en-US" altLang="en-US" sz="2600" dirty="0"/>
              <a:t> en </a:t>
            </a:r>
            <a:r>
              <a:rPr lang="en-US" altLang="en-US" sz="2600" dirty="0" err="1"/>
              <a:t>profondeur</a:t>
            </a:r>
            <a:r>
              <a:rPr lang="en-US" altLang="en-US" sz="2600" dirty="0"/>
              <a:t> aux </a:t>
            </a:r>
            <a:r>
              <a:rPr lang="en-US" altLang="en-US" sz="2600" dirty="0" err="1"/>
              <a:t>côtés</a:t>
            </a:r>
            <a:r>
              <a:rPr lang="en-US" altLang="en-US" sz="2600" dirty="0"/>
              <a:t> </a:t>
            </a:r>
            <a:r>
              <a:rPr lang="en-US" altLang="en-US" sz="2600" dirty="0" err="1"/>
              <a:t>d’autres</a:t>
            </a:r>
            <a:r>
              <a:rPr lang="en-US" altLang="en-US" sz="2600" dirty="0"/>
              <a:t> </a:t>
            </a:r>
            <a:r>
              <a:rPr lang="en-US" altLang="en-US" sz="2600" dirty="0" err="1"/>
              <a:t>outils</a:t>
            </a:r>
            <a:r>
              <a:rPr lang="en-US" altLang="en-US" sz="2600" dirty="0"/>
              <a:t> (SIEM, antivirus, SOC)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87321-4DBD-9228-72C3-EC541BA6A1BD}"/>
              </a:ext>
            </a:extLst>
          </p:cNvPr>
          <p:cNvSpPr/>
          <p:nvPr/>
        </p:nvSpPr>
        <p:spPr>
          <a:xfrm>
            <a:off x="4419600" y="5793198"/>
            <a:ext cx="1905000" cy="59101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Firewall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CB6B8D-F07C-B2F8-94B1-9A90768C6E07}"/>
              </a:ext>
            </a:extLst>
          </p:cNvPr>
          <p:cNvSpPr/>
          <p:nvPr/>
        </p:nvSpPr>
        <p:spPr>
          <a:xfrm>
            <a:off x="7162800" y="5791200"/>
            <a:ext cx="1905000" cy="59101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IDS/IPS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6D880D-74A0-AF3D-3907-4D2C649CBE27}"/>
              </a:ext>
            </a:extLst>
          </p:cNvPr>
          <p:cNvSpPr/>
          <p:nvPr/>
        </p:nvSpPr>
        <p:spPr>
          <a:xfrm>
            <a:off x="9906000" y="5791200"/>
            <a:ext cx="1905000" cy="59101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Réseau Interne</a:t>
            </a:r>
            <a:endParaRPr lang="en-GB" dirty="0"/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23766D71-0321-B1D4-93F8-4C77032AAB25}"/>
              </a:ext>
            </a:extLst>
          </p:cNvPr>
          <p:cNvCxnSpPr/>
          <p:nvPr/>
        </p:nvCxnSpPr>
        <p:spPr>
          <a:xfrm>
            <a:off x="3810000" y="609600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A5BBAF64-44D6-B175-6EB4-3EDEB075E1C2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6324600" y="6086708"/>
            <a:ext cx="838200" cy="9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C5A819C0-6AB4-EAD8-BE2D-193A6F18DEF9}"/>
              </a:ext>
            </a:extLst>
          </p:cNvPr>
          <p:cNvCxnSpPr>
            <a:cxnSpLocks/>
          </p:cNvCxnSpPr>
          <p:nvPr/>
        </p:nvCxnSpPr>
        <p:spPr>
          <a:xfrm flipV="1">
            <a:off x="9067800" y="6086708"/>
            <a:ext cx="838200" cy="9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D369FFAE-0617-FF0B-439D-C781937D4C9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4512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524F5-A134-CC2C-3D2D-147CBBDB7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03CD45-BCCF-9172-1A72-4AC9626C8A7E}"/>
              </a:ext>
            </a:extLst>
          </p:cNvPr>
          <p:cNvSpPr/>
          <p:nvPr/>
        </p:nvSpPr>
        <p:spPr>
          <a:xfrm>
            <a:off x="838200" y="2057400"/>
            <a:ext cx="5257800" cy="5696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963327D2-5860-F00B-96AD-7CBE0EF81B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4569" y="507618"/>
            <a:ext cx="1012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Times New Roman"/>
                <a:cs typeface="Times New Roman"/>
              </a:rPr>
              <a:t>Plan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BC8A54B-55D0-6F7B-993B-2863A41754BD}"/>
              </a:ext>
            </a:extLst>
          </p:cNvPr>
          <p:cNvSpPr txBox="1"/>
          <p:nvPr/>
        </p:nvSpPr>
        <p:spPr>
          <a:xfrm>
            <a:off x="11007597" y="6384213"/>
            <a:ext cx="346710" cy="28067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6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1F8D9C1-8F1D-5458-5DEF-D6CCBC9D59AC}"/>
              </a:ext>
            </a:extLst>
          </p:cNvPr>
          <p:cNvSpPr txBox="1"/>
          <p:nvPr/>
        </p:nvSpPr>
        <p:spPr>
          <a:xfrm>
            <a:off x="960120" y="1299598"/>
            <a:ext cx="10363707" cy="51166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Introduction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Concept </a:t>
            </a:r>
            <a:r>
              <a:rPr lang="en-US" altLang="en-US" sz="2800" dirty="0" err="1"/>
              <a:t>d’intrusion</a:t>
            </a:r>
            <a:endParaRPr lang="en-US" altLang="en-US" sz="2800" dirty="0"/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IDS (Intrusion Detection System) 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Les </a:t>
            </a:r>
            <a:r>
              <a:rPr lang="en-US" altLang="en-US" sz="2800" dirty="0" err="1"/>
              <a:t>méthodes</a:t>
            </a:r>
            <a:r>
              <a:rPr lang="en-US" altLang="en-US" sz="2800" dirty="0"/>
              <a:t> de </a:t>
            </a:r>
            <a:r>
              <a:rPr lang="en-US" altLang="en-US" sz="2800" dirty="0" err="1"/>
              <a:t>détection</a:t>
            </a:r>
            <a:endParaRPr lang="en-US" altLang="en-US" sz="2800" dirty="0"/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IPS (Intrusion Prevention System)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err="1"/>
              <a:t>Comparaison</a:t>
            </a:r>
            <a:r>
              <a:rPr lang="en-US" altLang="en-US" sz="2800" dirty="0"/>
              <a:t> IDS vs IPS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Solution IDS/IPS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err="1"/>
              <a:t>Défis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actuels</a:t>
            </a:r>
            <a:r>
              <a:rPr lang="en-US" altLang="en-US" sz="2800" dirty="0"/>
              <a:t> et </a:t>
            </a:r>
            <a:r>
              <a:rPr lang="en-US" altLang="en-US" sz="2800" dirty="0" err="1"/>
              <a:t>intégration</a:t>
            </a:r>
            <a:r>
              <a:rPr lang="en-US" altLang="en-US" sz="2800" dirty="0"/>
              <a:t> SOC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4C7F88E3-6C75-9EDE-9C7F-F2E0DF243FD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7938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CB8BF-A63C-2BC0-ADB5-800EB8C90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BDEBE86-4E71-5C25-E6F1-4B660CC447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53133" y="664540"/>
            <a:ext cx="732116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z="4000" b="1" spc="-5" dirty="0">
                <a:latin typeface="Times New Roman"/>
                <a:cs typeface="Times New Roman"/>
              </a:rPr>
              <a:t>Concept </a:t>
            </a:r>
            <a:r>
              <a:rPr lang="en-GB" sz="4000" b="1" spc="-5" dirty="0" err="1">
                <a:latin typeface="Times New Roman"/>
                <a:cs typeface="Times New Roman"/>
              </a:rPr>
              <a:t>d’in</a:t>
            </a:r>
            <a:r>
              <a:rPr lang="en-GB" sz="4000" b="1" spc="-5" dirty="0" err="1"/>
              <a:t>trusion</a:t>
            </a:r>
            <a:r>
              <a:rPr lang="en-GB" sz="4000" b="1" spc="-5" dirty="0"/>
              <a:t> - 1</a:t>
            </a:r>
            <a:endParaRPr lang="en-GB" sz="4000" b="1" spc="-5" dirty="0">
              <a:latin typeface="Times New Roman"/>
              <a:cs typeface="Times New Roman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DBE9F21-A282-B5FF-0419-4CD2B7A53635}"/>
              </a:ext>
            </a:extLst>
          </p:cNvPr>
          <p:cNvSpPr txBox="1"/>
          <p:nvPr/>
        </p:nvSpPr>
        <p:spPr>
          <a:xfrm>
            <a:off x="11007597" y="6384213"/>
            <a:ext cx="346710" cy="28067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7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1083E8D-E1D1-F9F8-18B6-1FF0F6CA27E5}"/>
              </a:ext>
            </a:extLst>
          </p:cNvPr>
          <p:cNvSpPr txBox="1"/>
          <p:nvPr/>
        </p:nvSpPr>
        <p:spPr>
          <a:xfrm>
            <a:off x="1066800" y="1752600"/>
            <a:ext cx="8991600" cy="2861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800" b="1" dirty="0"/>
              <a:t>Définition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2600" dirty="0"/>
              <a:t>Une intrusion est toute tentative d’accès non autorisé à un système, un réseau ou des données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2600" dirty="0"/>
              <a:t>Elle peut viser à consulter, modifier, détruire ou perturber les ressources d’un système d’information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59F97BD-E1A5-B90F-0ED1-0F7AD1D382A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4176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76BF5-4FFB-BC82-4022-3017F1F8A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BD5A88B-2243-7A74-FEB6-0E57A703CF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762000"/>
            <a:ext cx="732116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z="4000" b="1" spc="-5" dirty="0">
                <a:latin typeface="Times New Roman"/>
                <a:cs typeface="Times New Roman"/>
              </a:rPr>
              <a:t>Concept </a:t>
            </a:r>
            <a:r>
              <a:rPr lang="en-GB" sz="4000" b="1" spc="-5" dirty="0" err="1">
                <a:latin typeface="Times New Roman"/>
                <a:cs typeface="Times New Roman"/>
              </a:rPr>
              <a:t>d’in</a:t>
            </a:r>
            <a:r>
              <a:rPr lang="en-GB" sz="4000" b="1" spc="-5" dirty="0" err="1"/>
              <a:t>trusion</a:t>
            </a:r>
            <a:r>
              <a:rPr lang="en-GB" sz="4000" b="1" spc="-5" dirty="0"/>
              <a:t> - 2</a:t>
            </a:r>
            <a:endParaRPr lang="en-GB" sz="4000" b="1" spc="-5" dirty="0">
              <a:latin typeface="Times New Roman"/>
              <a:cs typeface="Times New Roman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D8CB55D-901F-B29E-70B4-F3692122B046}"/>
              </a:ext>
            </a:extLst>
          </p:cNvPr>
          <p:cNvSpPr txBox="1"/>
          <p:nvPr/>
        </p:nvSpPr>
        <p:spPr>
          <a:xfrm>
            <a:off x="11007597" y="6384213"/>
            <a:ext cx="346710" cy="28067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8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DEEAAAD-A3FE-0E2B-CC61-12B29F5CFBE9}"/>
              </a:ext>
            </a:extLst>
          </p:cNvPr>
          <p:cNvSpPr txBox="1"/>
          <p:nvPr/>
        </p:nvSpPr>
        <p:spPr>
          <a:xfrm>
            <a:off x="1219200" y="1752600"/>
            <a:ext cx="3733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800" b="1" dirty="0"/>
              <a:t>Typologie d’intrus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EA5C4C-0D53-0040-F893-E7491D2E71E0}"/>
              </a:ext>
            </a:extLst>
          </p:cNvPr>
          <p:cNvSpPr/>
          <p:nvPr/>
        </p:nvSpPr>
        <p:spPr>
          <a:xfrm>
            <a:off x="381000" y="2583326"/>
            <a:ext cx="2371719" cy="56777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Hackers opportunistes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092C31-F4E2-946B-1075-9041E09F37B6}"/>
              </a:ext>
            </a:extLst>
          </p:cNvPr>
          <p:cNvSpPr/>
          <p:nvPr/>
        </p:nvSpPr>
        <p:spPr>
          <a:xfrm>
            <a:off x="2963642" y="2846281"/>
            <a:ext cx="2371719" cy="56777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Hackers malveillants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909B9F-7962-84B0-FF6E-733CBFE5313B}"/>
              </a:ext>
            </a:extLst>
          </p:cNvPr>
          <p:cNvSpPr/>
          <p:nvPr/>
        </p:nvSpPr>
        <p:spPr>
          <a:xfrm>
            <a:off x="807533" y="3584383"/>
            <a:ext cx="2371719" cy="56777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insiders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54C2EA-9598-5D42-F926-1B39346224A3}"/>
              </a:ext>
            </a:extLst>
          </p:cNvPr>
          <p:cNvSpPr/>
          <p:nvPr/>
        </p:nvSpPr>
        <p:spPr>
          <a:xfrm>
            <a:off x="2963641" y="4370281"/>
            <a:ext cx="2371719" cy="56777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hacktivistes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9C5708-3262-2095-ACA9-690210A51C29}"/>
              </a:ext>
            </a:extLst>
          </p:cNvPr>
          <p:cNvSpPr/>
          <p:nvPr/>
        </p:nvSpPr>
        <p:spPr>
          <a:xfrm>
            <a:off x="381000" y="4708253"/>
            <a:ext cx="2371719" cy="56777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Cybercriminels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D6CE45-53AE-0461-50B0-9EAB77AAAAED}"/>
              </a:ext>
            </a:extLst>
          </p:cNvPr>
          <p:cNvSpPr/>
          <p:nvPr/>
        </p:nvSpPr>
        <p:spPr>
          <a:xfrm>
            <a:off x="2008632" y="5700051"/>
            <a:ext cx="2371719" cy="56777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États-nations/APT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FE3EC8-4CCF-1EF9-F62E-F7A79A16C160}"/>
              </a:ext>
            </a:extLst>
          </p:cNvPr>
          <p:cNvSpPr/>
          <p:nvPr/>
        </p:nvSpPr>
        <p:spPr>
          <a:xfrm>
            <a:off x="9273540" y="2547901"/>
            <a:ext cx="2156108" cy="56777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Gain financier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4510A9-69E4-76A0-437F-E0757D0DE11F}"/>
              </a:ext>
            </a:extLst>
          </p:cNvPr>
          <p:cNvSpPr/>
          <p:nvPr/>
        </p:nvSpPr>
        <p:spPr>
          <a:xfrm>
            <a:off x="7117432" y="3284124"/>
            <a:ext cx="2156108" cy="56777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Espionnage </a:t>
            </a:r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305F4C-934C-4861-016D-C222C0C6F7EE}"/>
              </a:ext>
            </a:extLst>
          </p:cNvPr>
          <p:cNvSpPr/>
          <p:nvPr/>
        </p:nvSpPr>
        <p:spPr>
          <a:xfrm>
            <a:off x="9448800" y="3989281"/>
            <a:ext cx="2156108" cy="56777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Sabotage </a:t>
            </a: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B6CF64-96CA-82CA-83AF-AD8BBE40D92C}"/>
              </a:ext>
            </a:extLst>
          </p:cNvPr>
          <p:cNvSpPr/>
          <p:nvPr/>
        </p:nvSpPr>
        <p:spPr>
          <a:xfrm>
            <a:off x="7072251" y="4746645"/>
            <a:ext cx="2156108" cy="56777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Notoriété</a:t>
            </a:r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7B8599-EAA8-B695-693C-5FB9E99A28FC}"/>
              </a:ext>
            </a:extLst>
          </p:cNvPr>
          <p:cNvSpPr/>
          <p:nvPr/>
        </p:nvSpPr>
        <p:spPr>
          <a:xfrm>
            <a:off x="8042499" y="5700052"/>
            <a:ext cx="2156108" cy="56777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Idéologie/activisme</a:t>
            </a:r>
            <a:endParaRPr lang="en-GB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47D07DA-0914-F495-67B5-D751F1E0A6FB}"/>
              </a:ext>
            </a:extLst>
          </p:cNvPr>
          <p:cNvSpPr txBox="1"/>
          <p:nvPr/>
        </p:nvSpPr>
        <p:spPr>
          <a:xfrm>
            <a:off x="7391400" y="1752600"/>
            <a:ext cx="3733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800" b="1" dirty="0"/>
              <a:t>Motivations </a:t>
            </a:r>
            <a:r>
              <a:rPr lang="fr-FR" sz="2800" b="1" dirty="0" err="1"/>
              <a:t>princiaples</a:t>
            </a:r>
            <a:endParaRPr lang="fr-FR" sz="2800" b="1" dirty="0"/>
          </a:p>
        </p:txBody>
      </p:sp>
      <p:sp>
        <p:nvSpPr>
          <p:cNvPr id="32" name="Espace réservé du numéro de diapositive 31">
            <a:extLst>
              <a:ext uri="{FF2B5EF4-FFF2-40B4-BE49-F238E27FC236}">
                <a16:creationId xmlns:a16="http://schemas.microsoft.com/office/drawing/2014/main" id="{733AC382-9ED3-D085-F928-2BE4FFE6604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8148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1150D-038A-2885-813C-4D0E3DD19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76AB9F-2F2E-7A98-5801-73FCE06C5AC4}"/>
              </a:ext>
            </a:extLst>
          </p:cNvPr>
          <p:cNvSpPr/>
          <p:nvPr/>
        </p:nvSpPr>
        <p:spPr>
          <a:xfrm>
            <a:off x="838200" y="2706965"/>
            <a:ext cx="5257800" cy="5696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077C343-9833-C158-4C6E-B0084225EE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4569" y="507618"/>
            <a:ext cx="1012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Times New Roman"/>
                <a:cs typeface="Times New Roman"/>
              </a:rPr>
              <a:t>Plan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1BB1674-26ED-6F44-7BF7-AD9A3E0E8B4A}"/>
              </a:ext>
            </a:extLst>
          </p:cNvPr>
          <p:cNvSpPr txBox="1"/>
          <p:nvPr/>
        </p:nvSpPr>
        <p:spPr>
          <a:xfrm>
            <a:off x="11007597" y="6384213"/>
            <a:ext cx="346710" cy="28067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9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AF62846-339E-BF92-1345-EDC90B6B2239}"/>
              </a:ext>
            </a:extLst>
          </p:cNvPr>
          <p:cNvSpPr txBox="1"/>
          <p:nvPr/>
        </p:nvSpPr>
        <p:spPr>
          <a:xfrm>
            <a:off x="960120" y="1299598"/>
            <a:ext cx="10363707" cy="51166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Introduction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Concept </a:t>
            </a:r>
            <a:r>
              <a:rPr lang="en-US" altLang="en-US" sz="2800" dirty="0" err="1"/>
              <a:t>d’intrusion</a:t>
            </a:r>
            <a:endParaRPr lang="en-US" altLang="en-US" sz="2800" dirty="0"/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IDS (Intrusion Detection System) 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Les </a:t>
            </a:r>
            <a:r>
              <a:rPr lang="en-US" altLang="en-US" sz="2800" dirty="0" err="1"/>
              <a:t>méthodes</a:t>
            </a:r>
            <a:r>
              <a:rPr lang="en-US" altLang="en-US" sz="2800" dirty="0"/>
              <a:t> de </a:t>
            </a:r>
            <a:r>
              <a:rPr lang="en-US" altLang="en-US" sz="2800" dirty="0" err="1"/>
              <a:t>détection</a:t>
            </a:r>
            <a:endParaRPr lang="en-US" altLang="en-US" sz="2800" dirty="0"/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IPS (Intrusion Prevention System)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err="1"/>
              <a:t>Comparaison</a:t>
            </a:r>
            <a:r>
              <a:rPr lang="en-US" altLang="en-US" sz="2800" dirty="0"/>
              <a:t> IDS vs IPS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Solution IDS/IPS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err="1"/>
              <a:t>Défis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actuels</a:t>
            </a:r>
            <a:r>
              <a:rPr lang="en-US" altLang="en-US" sz="2800" dirty="0"/>
              <a:t> et </a:t>
            </a:r>
            <a:r>
              <a:rPr lang="en-US" altLang="en-US" sz="2800" dirty="0" err="1"/>
              <a:t>intégration</a:t>
            </a:r>
            <a:r>
              <a:rPr lang="en-US" altLang="en-US" sz="2800" dirty="0"/>
              <a:t> SOC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6974DEA7-6D32-11A0-F9AB-A49718B57F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1776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3989" y="591464"/>
            <a:ext cx="7928611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IDS</a:t>
            </a:r>
            <a:r>
              <a:rPr lang="fr-FR"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(Intrusion </a:t>
            </a:r>
            <a:r>
              <a:rPr lang="fr-FR" sz="4000" b="1" spc="-5" dirty="0" err="1">
                <a:solidFill>
                  <a:srgbClr val="C00000"/>
                </a:solidFill>
                <a:latin typeface="Times New Roman"/>
                <a:cs typeface="Times New Roman"/>
              </a:rPr>
              <a:t>Detection</a:t>
            </a:r>
            <a:r>
              <a:rPr lang="fr-FR"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System)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1263" y="1607482"/>
            <a:ext cx="1158240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95"/>
              </a:spcBef>
            </a:pPr>
            <a:r>
              <a:rPr sz="2000" dirty="0">
                <a:latin typeface="Arial MT"/>
                <a:cs typeface="Arial MT"/>
              </a:rPr>
              <a:t>Un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IDS </a:t>
            </a:r>
            <a:r>
              <a:rPr sz="2000" spc="-5" dirty="0">
                <a:latin typeface="Arial MT"/>
                <a:cs typeface="Arial MT"/>
              </a:rPr>
              <a:t>(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Système de détection d’intrusion</a:t>
            </a:r>
            <a:r>
              <a:rPr sz="2000" spc="-5" dirty="0">
                <a:latin typeface="Arial MT"/>
                <a:cs typeface="Arial MT"/>
              </a:rPr>
              <a:t>) </a:t>
            </a:r>
            <a:r>
              <a:rPr sz="2000" dirty="0">
                <a:latin typeface="Arial MT"/>
                <a:cs typeface="Arial MT"/>
              </a:rPr>
              <a:t>est </a:t>
            </a:r>
            <a:r>
              <a:rPr sz="2000" spc="-10" dirty="0">
                <a:latin typeface="Arial MT"/>
                <a:cs typeface="Arial MT"/>
              </a:rPr>
              <a:t>un </a:t>
            </a:r>
            <a:r>
              <a:rPr sz="2000" dirty="0">
                <a:latin typeface="Arial MT"/>
                <a:cs typeface="Arial MT"/>
              </a:rPr>
              <a:t>ensemble de </a:t>
            </a:r>
            <a:r>
              <a:rPr sz="2000" spc="-5" dirty="0">
                <a:latin typeface="Arial MT"/>
                <a:cs typeface="Arial MT"/>
              </a:rPr>
              <a:t>composants </a:t>
            </a:r>
            <a:r>
              <a:rPr sz="2000" dirty="0">
                <a:latin typeface="Arial MT"/>
                <a:cs typeface="Arial MT"/>
              </a:rPr>
              <a:t>logiciels </a:t>
            </a:r>
            <a:r>
              <a:rPr sz="2000" spc="-10" dirty="0">
                <a:latin typeface="Arial MT"/>
                <a:cs typeface="Arial MT"/>
              </a:rPr>
              <a:t>ou </a:t>
            </a:r>
            <a:r>
              <a:rPr sz="2000" spc="-5" dirty="0">
                <a:latin typeface="Arial MT"/>
                <a:cs typeface="Arial MT"/>
              </a:rPr>
              <a:t>matériels </a:t>
            </a:r>
            <a:r>
              <a:rPr sz="2000" dirty="0">
                <a:latin typeface="Arial MT"/>
                <a:cs typeface="Arial MT"/>
              </a:rPr>
              <a:t> dont </a:t>
            </a:r>
            <a:r>
              <a:rPr sz="2000" spc="-5" dirty="0">
                <a:latin typeface="Arial MT"/>
                <a:cs typeface="Arial MT"/>
              </a:rPr>
              <a:t>la fonction </a:t>
            </a:r>
            <a:r>
              <a:rPr sz="2000" dirty="0">
                <a:latin typeface="Arial MT"/>
                <a:cs typeface="Arial MT"/>
              </a:rPr>
              <a:t>principale est </a:t>
            </a:r>
            <a:r>
              <a:rPr sz="2000" spc="-5" dirty="0">
                <a:latin typeface="Arial MT"/>
                <a:cs typeface="Arial MT"/>
              </a:rPr>
              <a:t>de détecter </a:t>
            </a:r>
            <a:r>
              <a:rPr sz="2000" dirty="0">
                <a:latin typeface="Arial MT"/>
                <a:cs typeface="Arial MT"/>
              </a:rPr>
              <a:t>et analyser toute </a:t>
            </a:r>
            <a:r>
              <a:rPr sz="2000" spc="-5" dirty="0">
                <a:latin typeface="Arial MT"/>
                <a:cs typeface="Arial MT"/>
              </a:rPr>
              <a:t>tentative d’effraction </a:t>
            </a:r>
            <a:r>
              <a:rPr sz="2000" dirty="0">
                <a:latin typeface="Arial MT"/>
                <a:cs typeface="Arial MT"/>
              </a:rPr>
              <a:t>volontaire </a:t>
            </a:r>
            <a:r>
              <a:rPr sz="2000" spc="-5" dirty="0">
                <a:latin typeface="Arial MT"/>
                <a:cs typeface="Arial MT"/>
              </a:rPr>
              <a:t>ou </a:t>
            </a:r>
            <a:r>
              <a:rPr sz="2000" dirty="0">
                <a:latin typeface="Arial MT"/>
                <a:cs typeface="Arial MT"/>
              </a:rPr>
              <a:t>non </a:t>
            </a:r>
            <a:r>
              <a:rPr sz="2000" spc="-5" dirty="0">
                <a:latin typeface="Arial MT"/>
                <a:cs typeface="Arial MT"/>
              </a:rPr>
              <a:t>dans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SI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ainsi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toute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altération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éventuelle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ces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données.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4960" y="3104388"/>
            <a:ext cx="9735312" cy="30388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07597" y="6384213"/>
            <a:ext cx="346710" cy="28067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10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82114F-2876-92A7-5882-EB518635373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lang="en-GB" smtClean="0"/>
              <a:t>10</a:t>
            </a:fld>
            <a:endParaRPr lang="en-GB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32997" y="6400596"/>
            <a:ext cx="217804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878787"/>
                </a:solidFill>
                <a:latin typeface="Calibri"/>
                <a:cs typeface="Calibri"/>
              </a:rPr>
              <a:t>29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3989" y="609600"/>
            <a:ext cx="541083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lang="fr-FR" sz="4000" b="1" spc="-10" noProof="0" dirty="0">
                <a:latin typeface="Times New Roman"/>
                <a:cs typeface="Times New Roman"/>
              </a:rPr>
              <a:t>Composants</a:t>
            </a:r>
            <a:r>
              <a:rPr sz="4000" b="1" spc="15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d’un</a:t>
            </a:r>
            <a:r>
              <a:rPr sz="4000" b="1" spc="-15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IDS</a:t>
            </a:r>
            <a:endParaRPr sz="40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3200" y="1552955"/>
            <a:ext cx="6973824" cy="22707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8384" y="3906392"/>
            <a:ext cx="11661140" cy="233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95"/>
              </a:spcBef>
              <a:buClr>
                <a:srgbClr val="797979"/>
              </a:buClr>
              <a:buSzPct val="187500"/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1600" b="1" spc="-5" dirty="0">
                <a:solidFill>
                  <a:srgbClr val="C00000"/>
                </a:solidFill>
                <a:latin typeface="Calibri"/>
                <a:cs typeface="Calibri"/>
              </a:rPr>
              <a:t>sondes</a:t>
            </a:r>
            <a:r>
              <a:rPr sz="1600" b="1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C00000"/>
                </a:solidFill>
                <a:latin typeface="Calibri"/>
                <a:cs typeface="Calibri"/>
              </a:rPr>
              <a:t>réseau</a:t>
            </a:r>
            <a:r>
              <a:rPr sz="16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r>
              <a:rPr sz="16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ces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agents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analysent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et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signalent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toute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activité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suspecte.</a:t>
            </a:r>
            <a:endParaRPr sz="1600">
              <a:latin typeface="Calibri"/>
              <a:cs typeface="Calibri"/>
            </a:endParaRPr>
          </a:p>
          <a:p>
            <a:pPr marL="469900" indent="-457834">
              <a:lnSpc>
                <a:spcPct val="100000"/>
              </a:lnSpc>
              <a:spcBef>
                <a:spcPts val="1270"/>
              </a:spcBef>
              <a:buClr>
                <a:srgbClr val="797979"/>
              </a:buClr>
              <a:buSzPct val="187500"/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1600" b="1" spc="-5" dirty="0">
                <a:solidFill>
                  <a:srgbClr val="C00000"/>
                </a:solidFill>
                <a:latin typeface="Calibri"/>
                <a:cs typeface="Calibri"/>
              </a:rPr>
              <a:t>Analyseur</a:t>
            </a:r>
            <a:r>
              <a:rPr sz="1600" b="1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r>
              <a:rPr sz="16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analyse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les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données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collectées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par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les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sondes.</a:t>
            </a:r>
            <a:endParaRPr sz="1600">
              <a:latin typeface="Calibri"/>
              <a:cs typeface="Calibri"/>
            </a:endParaRPr>
          </a:p>
          <a:p>
            <a:pPr marL="469900" indent="-457834">
              <a:lnSpc>
                <a:spcPct val="100000"/>
              </a:lnSpc>
              <a:spcBef>
                <a:spcPts val="1275"/>
              </a:spcBef>
              <a:buClr>
                <a:srgbClr val="797979"/>
              </a:buClr>
              <a:buSzPct val="187500"/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1600" b="1" spc="-5" dirty="0">
                <a:solidFill>
                  <a:srgbClr val="C00000"/>
                </a:solidFill>
                <a:latin typeface="Calibri"/>
                <a:cs typeface="Calibri"/>
              </a:rPr>
              <a:t>Systèmes</a:t>
            </a:r>
            <a:r>
              <a:rPr sz="16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C00000"/>
                </a:solidFill>
                <a:latin typeface="Calibri"/>
                <a:cs typeface="Calibri"/>
              </a:rPr>
              <a:t>d'alerte</a:t>
            </a:r>
            <a:r>
              <a:rPr sz="16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r>
              <a:rPr sz="16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ces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systèmes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déclenchent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des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alertes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lorsqu'ils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détectent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une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activité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malveillante.</a:t>
            </a:r>
            <a:endParaRPr sz="1600">
              <a:latin typeface="Calibri"/>
              <a:cs typeface="Calibri"/>
            </a:endParaRPr>
          </a:p>
          <a:p>
            <a:pPr marL="469900" indent="-457834">
              <a:lnSpc>
                <a:spcPct val="100000"/>
              </a:lnSpc>
              <a:spcBef>
                <a:spcPts val="1270"/>
              </a:spcBef>
              <a:buClr>
                <a:srgbClr val="797979"/>
              </a:buClr>
              <a:buSzPct val="187500"/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1600" b="1" spc="-10" dirty="0">
                <a:solidFill>
                  <a:srgbClr val="C00000"/>
                </a:solidFill>
                <a:latin typeface="Calibri"/>
                <a:cs typeface="Calibri"/>
              </a:rPr>
              <a:t>Console</a:t>
            </a:r>
            <a:r>
              <a:rPr sz="1600" b="1" spc="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libri"/>
                <a:cs typeface="Calibri"/>
              </a:rPr>
              <a:t>de</a:t>
            </a:r>
            <a:r>
              <a:rPr sz="16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C00000"/>
                </a:solidFill>
                <a:latin typeface="Calibri"/>
                <a:cs typeface="Calibri"/>
              </a:rPr>
              <a:t>commande</a:t>
            </a:r>
            <a:r>
              <a:rPr sz="1600" b="1" spc="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r>
              <a:rPr sz="16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Elle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agit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comme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une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interface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entre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l'utilisateur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et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détection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d'intrusion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système.</a:t>
            </a:r>
            <a:endParaRPr sz="1600">
              <a:latin typeface="Calibri"/>
              <a:cs typeface="Calibri"/>
            </a:endParaRPr>
          </a:p>
          <a:p>
            <a:pPr marL="469900" indent="-457834">
              <a:lnSpc>
                <a:spcPct val="100000"/>
              </a:lnSpc>
              <a:spcBef>
                <a:spcPts val="1275"/>
              </a:spcBef>
              <a:buClr>
                <a:srgbClr val="797979"/>
              </a:buClr>
              <a:buSzPct val="187500"/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1600" b="1" spc="-5" dirty="0">
                <a:solidFill>
                  <a:srgbClr val="C00000"/>
                </a:solidFill>
                <a:latin typeface="Calibri"/>
                <a:cs typeface="Calibri"/>
              </a:rPr>
              <a:t>Système</a:t>
            </a:r>
            <a:r>
              <a:rPr sz="16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libri"/>
                <a:cs typeface="Calibri"/>
              </a:rPr>
              <a:t>de</a:t>
            </a:r>
            <a:r>
              <a:rPr sz="1600" b="1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C00000"/>
                </a:solidFill>
                <a:latin typeface="Calibri"/>
                <a:cs typeface="Calibri"/>
              </a:rPr>
              <a:t>réponse</a:t>
            </a:r>
            <a:r>
              <a:rPr sz="1600" b="1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r>
              <a:rPr sz="16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un IDS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utilise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ce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système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pour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initier </a:t>
            </a:r>
            <a:r>
              <a:rPr sz="1600" spc="-10" dirty="0">
                <a:latin typeface="Calibri"/>
                <a:cs typeface="Calibri"/>
              </a:rPr>
              <a:t>des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contre-mesures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aux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activités </a:t>
            </a:r>
            <a:r>
              <a:rPr sz="1600" spc="-10" dirty="0">
                <a:latin typeface="Calibri"/>
                <a:cs typeface="Calibri"/>
              </a:rPr>
              <a:t>détectées</a:t>
            </a:r>
            <a:endParaRPr sz="1600">
              <a:latin typeface="Calibri"/>
              <a:cs typeface="Calibri"/>
            </a:endParaRPr>
          </a:p>
          <a:p>
            <a:pPr marL="469900" indent="-457834">
              <a:lnSpc>
                <a:spcPct val="100000"/>
              </a:lnSpc>
              <a:spcBef>
                <a:spcPts val="1270"/>
              </a:spcBef>
              <a:buClr>
                <a:srgbClr val="797979"/>
              </a:buClr>
              <a:buSzPct val="187500"/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1600" b="1" spc="-5" dirty="0">
                <a:solidFill>
                  <a:srgbClr val="C00000"/>
                </a:solidFill>
                <a:latin typeface="Calibri"/>
                <a:cs typeface="Calibri"/>
              </a:rPr>
              <a:t>Base</a:t>
            </a:r>
            <a:r>
              <a:rPr sz="1600" b="1" spc="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libri"/>
                <a:cs typeface="Calibri"/>
              </a:rPr>
              <a:t>de</a:t>
            </a:r>
            <a:r>
              <a:rPr sz="1600" b="1" spc="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libri"/>
                <a:cs typeface="Calibri"/>
              </a:rPr>
              <a:t>données</a:t>
            </a:r>
            <a:r>
              <a:rPr sz="1600" b="1" spc="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C00000"/>
                </a:solidFill>
                <a:latin typeface="Calibri"/>
                <a:cs typeface="Calibri"/>
              </a:rPr>
              <a:t>des</a:t>
            </a:r>
            <a:r>
              <a:rPr sz="1600" b="1" spc="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libri"/>
                <a:cs typeface="Calibri"/>
              </a:rPr>
              <a:t>signatures</a:t>
            </a:r>
            <a:r>
              <a:rPr sz="1600" b="1" spc="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5" dirty="0">
                <a:solidFill>
                  <a:srgbClr val="C00000"/>
                </a:solidFill>
                <a:latin typeface="Calibri"/>
                <a:cs typeface="Calibri"/>
              </a:rPr>
              <a:t>ou</a:t>
            </a:r>
            <a:r>
              <a:rPr sz="1600" b="1" spc="1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C00000"/>
                </a:solidFill>
                <a:latin typeface="Calibri"/>
                <a:cs typeface="Calibri"/>
              </a:rPr>
              <a:t>des</a:t>
            </a:r>
            <a:r>
              <a:rPr sz="1600" b="1" spc="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libri"/>
                <a:cs typeface="Calibri"/>
              </a:rPr>
              <a:t>comportements</a:t>
            </a:r>
            <a:r>
              <a:rPr sz="1600" b="1" spc="10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C00000"/>
                </a:solidFill>
                <a:latin typeface="Calibri"/>
                <a:cs typeface="Calibri"/>
              </a:rPr>
              <a:t>d'attaque</a:t>
            </a:r>
            <a:r>
              <a:rPr sz="1600" b="1" spc="10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r>
              <a:rPr sz="1600" b="1" spc="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une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liste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des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signatures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précédemment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détectées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stockées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5888" y="6262827"/>
            <a:ext cx="55378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une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base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données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qui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assiste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l'IDS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dans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</a:t>
            </a:r>
            <a:r>
              <a:rPr sz="1600" spc="-10" dirty="0">
                <a:latin typeface="Calibri"/>
                <a:cs typeface="Calibri"/>
              </a:rPr>
              <a:t> détection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d'intrusion.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14CFFA-2E16-17E6-3985-F9613A28E79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lang="en-GB" smtClean="0"/>
              <a:t>11</a:t>
            </a:fld>
            <a:endParaRPr lang="en-GB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3989" y="235077"/>
            <a:ext cx="5683250" cy="1064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5" dirty="0"/>
          </a:p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Fonctionnement</a:t>
            </a:r>
            <a:r>
              <a:rPr sz="4000" b="1" spc="5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d’un</a:t>
            </a:r>
            <a:r>
              <a:rPr sz="4000" b="1" spc="-2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IDS</a:t>
            </a:r>
            <a:endParaRPr sz="4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769" y="1519427"/>
            <a:ext cx="11676462" cy="51130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0207" y="2339339"/>
            <a:ext cx="6006465" cy="2217420"/>
            <a:chOff x="140207" y="2339339"/>
            <a:chExt cx="6006465" cy="22174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207" y="2339339"/>
              <a:ext cx="6006084" cy="22174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02692" y="2366771"/>
              <a:ext cx="5880100" cy="2123440"/>
            </a:xfrm>
            <a:custGeom>
              <a:avLst/>
              <a:gdLst/>
              <a:ahLst/>
              <a:cxnLst/>
              <a:rect l="l" t="t" r="r" b="b"/>
              <a:pathLst>
                <a:path w="5880100" h="2123440">
                  <a:moveTo>
                    <a:pt x="5781167" y="0"/>
                  </a:moveTo>
                  <a:lnTo>
                    <a:pt x="98437" y="0"/>
                  </a:lnTo>
                  <a:lnTo>
                    <a:pt x="60109" y="5841"/>
                  </a:lnTo>
                  <a:lnTo>
                    <a:pt x="28828" y="21589"/>
                  </a:lnTo>
                  <a:lnTo>
                    <a:pt x="7734" y="44957"/>
                  </a:lnTo>
                  <a:lnTo>
                    <a:pt x="0" y="73660"/>
                  </a:lnTo>
                  <a:lnTo>
                    <a:pt x="0" y="2049271"/>
                  </a:lnTo>
                  <a:lnTo>
                    <a:pt x="7734" y="2077973"/>
                  </a:lnTo>
                  <a:lnTo>
                    <a:pt x="28828" y="2101341"/>
                  </a:lnTo>
                  <a:lnTo>
                    <a:pt x="60109" y="2117090"/>
                  </a:lnTo>
                  <a:lnTo>
                    <a:pt x="98437" y="2122932"/>
                  </a:lnTo>
                  <a:lnTo>
                    <a:pt x="5781167" y="2122932"/>
                  </a:lnTo>
                  <a:lnTo>
                    <a:pt x="5819521" y="2117090"/>
                  </a:lnTo>
                  <a:lnTo>
                    <a:pt x="5850763" y="2101341"/>
                  </a:lnTo>
                  <a:lnTo>
                    <a:pt x="5871845" y="2077973"/>
                  </a:lnTo>
                  <a:lnTo>
                    <a:pt x="5879592" y="2049271"/>
                  </a:lnTo>
                  <a:lnTo>
                    <a:pt x="5879592" y="73660"/>
                  </a:lnTo>
                  <a:lnTo>
                    <a:pt x="5871845" y="44957"/>
                  </a:lnTo>
                  <a:lnTo>
                    <a:pt x="5850763" y="21589"/>
                  </a:lnTo>
                  <a:lnTo>
                    <a:pt x="5819521" y="5841"/>
                  </a:lnTo>
                  <a:lnTo>
                    <a:pt x="57811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2692" y="2366771"/>
              <a:ext cx="5880100" cy="2123440"/>
            </a:xfrm>
            <a:custGeom>
              <a:avLst/>
              <a:gdLst/>
              <a:ahLst/>
              <a:cxnLst/>
              <a:rect l="l" t="t" r="r" b="b"/>
              <a:pathLst>
                <a:path w="5880100" h="2123440">
                  <a:moveTo>
                    <a:pt x="0" y="73660"/>
                  </a:moveTo>
                  <a:lnTo>
                    <a:pt x="7734" y="44957"/>
                  </a:lnTo>
                  <a:lnTo>
                    <a:pt x="28828" y="21589"/>
                  </a:lnTo>
                  <a:lnTo>
                    <a:pt x="60109" y="5841"/>
                  </a:lnTo>
                  <a:lnTo>
                    <a:pt x="98437" y="0"/>
                  </a:lnTo>
                  <a:lnTo>
                    <a:pt x="5781167" y="0"/>
                  </a:lnTo>
                  <a:lnTo>
                    <a:pt x="5819521" y="5841"/>
                  </a:lnTo>
                  <a:lnTo>
                    <a:pt x="5850763" y="21589"/>
                  </a:lnTo>
                  <a:lnTo>
                    <a:pt x="5871845" y="44957"/>
                  </a:lnTo>
                  <a:lnTo>
                    <a:pt x="5879592" y="73660"/>
                  </a:lnTo>
                  <a:lnTo>
                    <a:pt x="5879592" y="2049271"/>
                  </a:lnTo>
                  <a:lnTo>
                    <a:pt x="5871845" y="2077973"/>
                  </a:lnTo>
                  <a:lnTo>
                    <a:pt x="5850763" y="2101341"/>
                  </a:lnTo>
                  <a:lnTo>
                    <a:pt x="5819521" y="2117090"/>
                  </a:lnTo>
                  <a:lnTo>
                    <a:pt x="5781167" y="2122932"/>
                  </a:lnTo>
                  <a:lnTo>
                    <a:pt x="98437" y="2122932"/>
                  </a:lnTo>
                  <a:lnTo>
                    <a:pt x="60109" y="2117090"/>
                  </a:lnTo>
                  <a:lnTo>
                    <a:pt x="28828" y="2101341"/>
                  </a:lnTo>
                  <a:lnTo>
                    <a:pt x="7734" y="2077973"/>
                  </a:lnTo>
                  <a:lnTo>
                    <a:pt x="0" y="2049271"/>
                  </a:lnTo>
                  <a:lnTo>
                    <a:pt x="0" y="73660"/>
                  </a:lnTo>
                  <a:close/>
                </a:path>
              </a:pathLst>
            </a:custGeom>
            <a:ln w="9144">
              <a:solidFill>
                <a:srgbClr val="797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35991" y="2391283"/>
            <a:ext cx="4773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Surveiller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l'état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sécurité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niveau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du</a:t>
            </a:r>
            <a:r>
              <a:rPr sz="1800" spc="4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réseau: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5991" y="2940812"/>
            <a:ext cx="3996054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dirty="0">
                <a:latin typeface="Calibri"/>
                <a:cs typeface="Calibri"/>
              </a:rPr>
              <a:t>contenu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des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paquets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(entête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et données)</a:t>
            </a:r>
            <a:endParaRPr sz="17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dirty="0">
                <a:latin typeface="Calibri"/>
                <a:cs typeface="Calibri"/>
              </a:rPr>
              <a:t>paramètres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du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trafic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(Volume,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cibles,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etc.)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5991" y="3615385"/>
            <a:ext cx="5042535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latin typeface="Calibri"/>
                <a:cs typeface="Calibri"/>
              </a:rPr>
              <a:t>L’utilisation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d’une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sonde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permet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la</a:t>
            </a:r>
            <a:r>
              <a:rPr sz="1700" spc="-5" dirty="0">
                <a:latin typeface="Calibri"/>
                <a:cs typeface="Calibri"/>
              </a:rPr>
              <a:t> surveillance</a:t>
            </a:r>
            <a:r>
              <a:rPr sz="1700" spc="3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d’une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ou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700" dirty="0">
                <a:latin typeface="Calibri"/>
                <a:cs typeface="Calibri"/>
              </a:rPr>
              <a:t>plusieurs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zones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du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réseaux.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98108" y="2339339"/>
            <a:ext cx="5828030" cy="2217420"/>
            <a:chOff x="6198108" y="2339339"/>
            <a:chExt cx="5828030" cy="221742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8108" y="2339339"/>
              <a:ext cx="5827776" cy="221741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262116" y="2366771"/>
              <a:ext cx="5701030" cy="2123440"/>
            </a:xfrm>
            <a:custGeom>
              <a:avLst/>
              <a:gdLst/>
              <a:ahLst/>
              <a:cxnLst/>
              <a:rect l="l" t="t" r="r" b="b"/>
              <a:pathLst>
                <a:path w="5701030" h="2123440">
                  <a:moveTo>
                    <a:pt x="5582539" y="0"/>
                  </a:moveTo>
                  <a:lnTo>
                    <a:pt x="117983" y="0"/>
                  </a:lnTo>
                  <a:lnTo>
                    <a:pt x="72009" y="6985"/>
                  </a:lnTo>
                  <a:lnTo>
                    <a:pt x="34544" y="25907"/>
                  </a:lnTo>
                  <a:lnTo>
                    <a:pt x="9271" y="53848"/>
                  </a:lnTo>
                  <a:lnTo>
                    <a:pt x="0" y="88264"/>
                  </a:lnTo>
                  <a:lnTo>
                    <a:pt x="0" y="2034666"/>
                  </a:lnTo>
                  <a:lnTo>
                    <a:pt x="9271" y="2069083"/>
                  </a:lnTo>
                  <a:lnTo>
                    <a:pt x="34544" y="2097023"/>
                  </a:lnTo>
                  <a:lnTo>
                    <a:pt x="72009" y="2115947"/>
                  </a:lnTo>
                  <a:lnTo>
                    <a:pt x="117983" y="2122932"/>
                  </a:lnTo>
                  <a:lnTo>
                    <a:pt x="5582539" y="2122932"/>
                  </a:lnTo>
                  <a:lnTo>
                    <a:pt x="5628386" y="2115947"/>
                  </a:lnTo>
                  <a:lnTo>
                    <a:pt x="5665978" y="2097023"/>
                  </a:lnTo>
                  <a:lnTo>
                    <a:pt x="5691251" y="2069083"/>
                  </a:lnTo>
                  <a:lnTo>
                    <a:pt x="5700522" y="2034666"/>
                  </a:lnTo>
                  <a:lnTo>
                    <a:pt x="5700522" y="88264"/>
                  </a:lnTo>
                  <a:lnTo>
                    <a:pt x="5691251" y="53848"/>
                  </a:lnTo>
                  <a:lnTo>
                    <a:pt x="5665978" y="25907"/>
                  </a:lnTo>
                  <a:lnTo>
                    <a:pt x="5628386" y="6985"/>
                  </a:lnTo>
                  <a:lnTo>
                    <a:pt x="55825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62116" y="2366771"/>
              <a:ext cx="5701030" cy="2123440"/>
            </a:xfrm>
            <a:custGeom>
              <a:avLst/>
              <a:gdLst/>
              <a:ahLst/>
              <a:cxnLst/>
              <a:rect l="l" t="t" r="r" b="b"/>
              <a:pathLst>
                <a:path w="5701030" h="2123440">
                  <a:moveTo>
                    <a:pt x="0" y="88264"/>
                  </a:moveTo>
                  <a:lnTo>
                    <a:pt x="9271" y="53848"/>
                  </a:lnTo>
                  <a:lnTo>
                    <a:pt x="34544" y="25907"/>
                  </a:lnTo>
                  <a:lnTo>
                    <a:pt x="72009" y="6985"/>
                  </a:lnTo>
                  <a:lnTo>
                    <a:pt x="117983" y="0"/>
                  </a:lnTo>
                  <a:lnTo>
                    <a:pt x="5582539" y="0"/>
                  </a:lnTo>
                  <a:lnTo>
                    <a:pt x="5628386" y="6985"/>
                  </a:lnTo>
                  <a:lnTo>
                    <a:pt x="5665978" y="25907"/>
                  </a:lnTo>
                  <a:lnTo>
                    <a:pt x="5691251" y="53848"/>
                  </a:lnTo>
                  <a:lnTo>
                    <a:pt x="5700522" y="88264"/>
                  </a:lnTo>
                  <a:lnTo>
                    <a:pt x="5700522" y="2034666"/>
                  </a:lnTo>
                  <a:lnTo>
                    <a:pt x="5691251" y="2069083"/>
                  </a:lnTo>
                  <a:lnTo>
                    <a:pt x="5665978" y="2097023"/>
                  </a:lnTo>
                  <a:lnTo>
                    <a:pt x="5628386" y="2115947"/>
                  </a:lnTo>
                  <a:lnTo>
                    <a:pt x="5582539" y="2122932"/>
                  </a:lnTo>
                  <a:lnTo>
                    <a:pt x="117983" y="2122932"/>
                  </a:lnTo>
                  <a:lnTo>
                    <a:pt x="72009" y="2115947"/>
                  </a:lnTo>
                  <a:lnTo>
                    <a:pt x="34544" y="2097023"/>
                  </a:lnTo>
                  <a:lnTo>
                    <a:pt x="9271" y="2069083"/>
                  </a:lnTo>
                  <a:lnTo>
                    <a:pt x="0" y="2034666"/>
                  </a:lnTo>
                  <a:lnTo>
                    <a:pt x="0" y="88264"/>
                  </a:lnTo>
                  <a:close/>
                </a:path>
              </a:pathLst>
            </a:custGeom>
            <a:ln w="9144">
              <a:solidFill>
                <a:srgbClr val="70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401561" y="2395473"/>
            <a:ext cx="4743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Surveiller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l'état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 sécurité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niveau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des</a:t>
            </a:r>
            <a:r>
              <a:rPr sz="1800" spc="4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hôtes: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01561" y="2945130"/>
            <a:ext cx="3790315" cy="803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dirty="0">
                <a:latin typeface="Calibri"/>
                <a:cs typeface="Calibri"/>
              </a:rPr>
              <a:t>les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évènements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sur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les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journaux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logs</a:t>
            </a:r>
            <a:endParaRPr sz="17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dirty="0">
                <a:latin typeface="Calibri"/>
                <a:cs typeface="Calibri"/>
              </a:rPr>
              <a:t>l’intégrité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des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fichiers</a:t>
            </a:r>
            <a:endParaRPr sz="17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dirty="0">
                <a:latin typeface="Calibri"/>
                <a:cs typeface="Calibri"/>
              </a:rPr>
              <a:t>les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accès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au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processus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01561" y="3856735"/>
            <a:ext cx="422846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Calibri"/>
                <a:cs typeface="Calibri"/>
              </a:rPr>
              <a:t>L’utilisation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d’une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sonde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pour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chaque</a:t>
            </a:r>
            <a:r>
              <a:rPr sz="1700" spc="3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machine.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141475" y="1533144"/>
            <a:ext cx="3876040" cy="498475"/>
            <a:chOff x="1141475" y="1533144"/>
            <a:chExt cx="3876040" cy="49847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1475" y="1533144"/>
              <a:ext cx="3875532" cy="47396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203959" y="1560576"/>
              <a:ext cx="3750945" cy="379730"/>
            </a:xfrm>
            <a:custGeom>
              <a:avLst/>
              <a:gdLst/>
              <a:ahLst/>
              <a:cxnLst/>
              <a:rect l="l" t="t" r="r" b="b"/>
              <a:pathLst>
                <a:path w="3750945" h="379730">
                  <a:moveTo>
                    <a:pt x="3666109" y="0"/>
                  </a:moveTo>
                  <a:lnTo>
                    <a:pt x="84455" y="0"/>
                  </a:lnTo>
                  <a:lnTo>
                    <a:pt x="51600" y="4952"/>
                  </a:lnTo>
                  <a:lnTo>
                    <a:pt x="24739" y="18541"/>
                  </a:lnTo>
                  <a:lnTo>
                    <a:pt x="6642" y="38608"/>
                  </a:lnTo>
                  <a:lnTo>
                    <a:pt x="0" y="63246"/>
                  </a:lnTo>
                  <a:lnTo>
                    <a:pt x="0" y="316229"/>
                  </a:lnTo>
                  <a:lnTo>
                    <a:pt x="6642" y="340868"/>
                  </a:lnTo>
                  <a:lnTo>
                    <a:pt x="24739" y="360934"/>
                  </a:lnTo>
                  <a:lnTo>
                    <a:pt x="51600" y="374523"/>
                  </a:lnTo>
                  <a:lnTo>
                    <a:pt x="84455" y="379475"/>
                  </a:lnTo>
                  <a:lnTo>
                    <a:pt x="3666109" y="379475"/>
                  </a:lnTo>
                  <a:lnTo>
                    <a:pt x="3699002" y="374523"/>
                  </a:lnTo>
                  <a:lnTo>
                    <a:pt x="3725799" y="360934"/>
                  </a:lnTo>
                  <a:lnTo>
                    <a:pt x="3743960" y="340868"/>
                  </a:lnTo>
                  <a:lnTo>
                    <a:pt x="3750564" y="316229"/>
                  </a:lnTo>
                  <a:lnTo>
                    <a:pt x="3750564" y="63246"/>
                  </a:lnTo>
                  <a:lnTo>
                    <a:pt x="3743960" y="38608"/>
                  </a:lnTo>
                  <a:lnTo>
                    <a:pt x="3725799" y="18541"/>
                  </a:lnTo>
                  <a:lnTo>
                    <a:pt x="3699002" y="4952"/>
                  </a:lnTo>
                  <a:lnTo>
                    <a:pt x="36661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6047" y="1540776"/>
              <a:ext cx="3861816" cy="49071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03959" y="1560576"/>
              <a:ext cx="3750945" cy="379730"/>
            </a:xfrm>
            <a:custGeom>
              <a:avLst/>
              <a:gdLst/>
              <a:ahLst/>
              <a:cxnLst/>
              <a:rect l="l" t="t" r="r" b="b"/>
              <a:pathLst>
                <a:path w="3750945" h="379730">
                  <a:moveTo>
                    <a:pt x="3666109" y="0"/>
                  </a:moveTo>
                  <a:lnTo>
                    <a:pt x="84455" y="0"/>
                  </a:lnTo>
                  <a:lnTo>
                    <a:pt x="51600" y="4952"/>
                  </a:lnTo>
                  <a:lnTo>
                    <a:pt x="24739" y="18541"/>
                  </a:lnTo>
                  <a:lnTo>
                    <a:pt x="6642" y="38608"/>
                  </a:lnTo>
                  <a:lnTo>
                    <a:pt x="0" y="63246"/>
                  </a:lnTo>
                  <a:lnTo>
                    <a:pt x="0" y="316229"/>
                  </a:lnTo>
                  <a:lnTo>
                    <a:pt x="6642" y="340868"/>
                  </a:lnTo>
                  <a:lnTo>
                    <a:pt x="24739" y="360934"/>
                  </a:lnTo>
                  <a:lnTo>
                    <a:pt x="51600" y="374523"/>
                  </a:lnTo>
                  <a:lnTo>
                    <a:pt x="84455" y="379475"/>
                  </a:lnTo>
                  <a:lnTo>
                    <a:pt x="3666109" y="379475"/>
                  </a:lnTo>
                  <a:lnTo>
                    <a:pt x="3699002" y="374523"/>
                  </a:lnTo>
                  <a:lnTo>
                    <a:pt x="3725799" y="360934"/>
                  </a:lnTo>
                  <a:lnTo>
                    <a:pt x="3743960" y="340868"/>
                  </a:lnTo>
                  <a:lnTo>
                    <a:pt x="3750564" y="316229"/>
                  </a:lnTo>
                  <a:lnTo>
                    <a:pt x="3750564" y="63246"/>
                  </a:lnTo>
                  <a:lnTo>
                    <a:pt x="3743960" y="38608"/>
                  </a:lnTo>
                  <a:lnTo>
                    <a:pt x="3725799" y="18541"/>
                  </a:lnTo>
                  <a:lnTo>
                    <a:pt x="3699002" y="4952"/>
                  </a:lnTo>
                  <a:lnTo>
                    <a:pt x="366610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03959" y="1560576"/>
              <a:ext cx="3750945" cy="379730"/>
            </a:xfrm>
            <a:custGeom>
              <a:avLst/>
              <a:gdLst/>
              <a:ahLst/>
              <a:cxnLst/>
              <a:rect l="l" t="t" r="r" b="b"/>
              <a:pathLst>
                <a:path w="3750945" h="379730">
                  <a:moveTo>
                    <a:pt x="0" y="63246"/>
                  </a:moveTo>
                  <a:lnTo>
                    <a:pt x="6642" y="38608"/>
                  </a:lnTo>
                  <a:lnTo>
                    <a:pt x="24739" y="18541"/>
                  </a:lnTo>
                  <a:lnTo>
                    <a:pt x="51600" y="4952"/>
                  </a:lnTo>
                  <a:lnTo>
                    <a:pt x="84455" y="0"/>
                  </a:lnTo>
                  <a:lnTo>
                    <a:pt x="3666109" y="0"/>
                  </a:lnTo>
                  <a:lnTo>
                    <a:pt x="3699002" y="4952"/>
                  </a:lnTo>
                  <a:lnTo>
                    <a:pt x="3725799" y="18541"/>
                  </a:lnTo>
                  <a:lnTo>
                    <a:pt x="3743960" y="38608"/>
                  </a:lnTo>
                  <a:lnTo>
                    <a:pt x="3750564" y="63246"/>
                  </a:lnTo>
                  <a:lnTo>
                    <a:pt x="3750564" y="316229"/>
                  </a:lnTo>
                  <a:lnTo>
                    <a:pt x="3743960" y="340868"/>
                  </a:lnTo>
                  <a:lnTo>
                    <a:pt x="3725799" y="360934"/>
                  </a:lnTo>
                  <a:lnTo>
                    <a:pt x="3699002" y="374523"/>
                  </a:lnTo>
                  <a:lnTo>
                    <a:pt x="3666109" y="379475"/>
                  </a:lnTo>
                  <a:lnTo>
                    <a:pt x="84455" y="379475"/>
                  </a:lnTo>
                  <a:lnTo>
                    <a:pt x="51600" y="374523"/>
                  </a:lnTo>
                  <a:lnTo>
                    <a:pt x="24739" y="360934"/>
                  </a:lnTo>
                  <a:lnTo>
                    <a:pt x="6642" y="340868"/>
                  </a:lnTo>
                  <a:lnTo>
                    <a:pt x="0" y="316229"/>
                  </a:lnTo>
                  <a:lnTo>
                    <a:pt x="0" y="6324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784985" y="1585340"/>
            <a:ext cx="2491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Network</a:t>
            </a:r>
            <a:r>
              <a:rPr sz="18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18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IDS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(NIDS)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127747" y="1537716"/>
            <a:ext cx="3877310" cy="509270"/>
            <a:chOff x="7127747" y="1537716"/>
            <a:chExt cx="3877310" cy="509270"/>
          </a:xfrm>
        </p:grpSpPr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27747" y="1537716"/>
              <a:ext cx="3877055" cy="48463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191755" y="1577340"/>
              <a:ext cx="3750945" cy="378460"/>
            </a:xfrm>
            <a:custGeom>
              <a:avLst/>
              <a:gdLst/>
              <a:ahLst/>
              <a:cxnLst/>
              <a:rect l="l" t="t" r="r" b="b"/>
              <a:pathLst>
                <a:path w="3750945" h="378460">
                  <a:moveTo>
                    <a:pt x="3666109" y="0"/>
                  </a:moveTo>
                  <a:lnTo>
                    <a:pt x="84454" y="0"/>
                  </a:lnTo>
                  <a:lnTo>
                    <a:pt x="51562" y="4952"/>
                  </a:lnTo>
                  <a:lnTo>
                    <a:pt x="24765" y="18414"/>
                  </a:lnTo>
                  <a:lnTo>
                    <a:pt x="6603" y="38481"/>
                  </a:lnTo>
                  <a:lnTo>
                    <a:pt x="0" y="62992"/>
                  </a:lnTo>
                  <a:lnTo>
                    <a:pt x="0" y="314960"/>
                  </a:lnTo>
                  <a:lnTo>
                    <a:pt x="6603" y="339471"/>
                  </a:lnTo>
                  <a:lnTo>
                    <a:pt x="24765" y="359537"/>
                  </a:lnTo>
                  <a:lnTo>
                    <a:pt x="51562" y="372999"/>
                  </a:lnTo>
                  <a:lnTo>
                    <a:pt x="84454" y="377951"/>
                  </a:lnTo>
                  <a:lnTo>
                    <a:pt x="3666109" y="377951"/>
                  </a:lnTo>
                  <a:lnTo>
                    <a:pt x="3699002" y="372999"/>
                  </a:lnTo>
                  <a:lnTo>
                    <a:pt x="3725799" y="359537"/>
                  </a:lnTo>
                  <a:lnTo>
                    <a:pt x="3743960" y="339471"/>
                  </a:lnTo>
                  <a:lnTo>
                    <a:pt x="3750564" y="314960"/>
                  </a:lnTo>
                  <a:lnTo>
                    <a:pt x="3750564" y="62992"/>
                  </a:lnTo>
                  <a:lnTo>
                    <a:pt x="3743960" y="38481"/>
                  </a:lnTo>
                  <a:lnTo>
                    <a:pt x="3725799" y="18414"/>
                  </a:lnTo>
                  <a:lnTo>
                    <a:pt x="3699002" y="4952"/>
                  </a:lnTo>
                  <a:lnTo>
                    <a:pt x="366610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33843" y="1557528"/>
              <a:ext cx="3861815" cy="48920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191755" y="1577340"/>
              <a:ext cx="3750945" cy="378460"/>
            </a:xfrm>
            <a:custGeom>
              <a:avLst/>
              <a:gdLst/>
              <a:ahLst/>
              <a:cxnLst/>
              <a:rect l="l" t="t" r="r" b="b"/>
              <a:pathLst>
                <a:path w="3750945" h="378460">
                  <a:moveTo>
                    <a:pt x="0" y="62992"/>
                  </a:moveTo>
                  <a:lnTo>
                    <a:pt x="6603" y="38481"/>
                  </a:lnTo>
                  <a:lnTo>
                    <a:pt x="24765" y="18414"/>
                  </a:lnTo>
                  <a:lnTo>
                    <a:pt x="51562" y="4952"/>
                  </a:lnTo>
                  <a:lnTo>
                    <a:pt x="84454" y="0"/>
                  </a:lnTo>
                  <a:lnTo>
                    <a:pt x="3666109" y="0"/>
                  </a:lnTo>
                  <a:lnTo>
                    <a:pt x="3699002" y="4952"/>
                  </a:lnTo>
                  <a:lnTo>
                    <a:pt x="3725799" y="18414"/>
                  </a:lnTo>
                  <a:lnTo>
                    <a:pt x="3743960" y="38481"/>
                  </a:lnTo>
                  <a:lnTo>
                    <a:pt x="3750564" y="62992"/>
                  </a:lnTo>
                  <a:lnTo>
                    <a:pt x="3750564" y="314960"/>
                  </a:lnTo>
                  <a:lnTo>
                    <a:pt x="3743960" y="339471"/>
                  </a:lnTo>
                  <a:lnTo>
                    <a:pt x="3725799" y="359537"/>
                  </a:lnTo>
                  <a:lnTo>
                    <a:pt x="3699002" y="372999"/>
                  </a:lnTo>
                  <a:lnTo>
                    <a:pt x="3666109" y="377951"/>
                  </a:lnTo>
                  <a:lnTo>
                    <a:pt x="84454" y="377951"/>
                  </a:lnTo>
                  <a:lnTo>
                    <a:pt x="51562" y="372999"/>
                  </a:lnTo>
                  <a:lnTo>
                    <a:pt x="24765" y="359537"/>
                  </a:lnTo>
                  <a:lnTo>
                    <a:pt x="6603" y="339471"/>
                  </a:lnTo>
                  <a:lnTo>
                    <a:pt x="0" y="314960"/>
                  </a:lnTo>
                  <a:lnTo>
                    <a:pt x="0" y="6299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011794" y="1587246"/>
            <a:ext cx="2095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Host</a:t>
            </a:r>
            <a:r>
              <a:rPr sz="18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18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IDS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(HIDS)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80415" y="4526279"/>
            <a:ext cx="11885930" cy="2331720"/>
            <a:chOff x="280415" y="4526279"/>
            <a:chExt cx="11885930" cy="2331720"/>
          </a:xfrm>
        </p:grpSpPr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45280" y="4526279"/>
              <a:ext cx="3875531" cy="48463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0415" y="5020054"/>
              <a:ext cx="11885676" cy="183794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42900" y="5047487"/>
              <a:ext cx="11759565" cy="1743710"/>
            </a:xfrm>
            <a:custGeom>
              <a:avLst/>
              <a:gdLst/>
              <a:ahLst/>
              <a:cxnLst/>
              <a:rect l="l" t="t" r="r" b="b"/>
              <a:pathLst>
                <a:path w="11759565" h="1743709">
                  <a:moveTo>
                    <a:pt x="11662283" y="0"/>
                  </a:moveTo>
                  <a:lnTo>
                    <a:pt x="96926" y="0"/>
                  </a:lnTo>
                  <a:lnTo>
                    <a:pt x="59194" y="5714"/>
                  </a:lnTo>
                  <a:lnTo>
                    <a:pt x="28384" y="21209"/>
                  </a:lnTo>
                  <a:lnTo>
                    <a:pt x="7620" y="44323"/>
                  </a:lnTo>
                  <a:lnTo>
                    <a:pt x="0" y="72517"/>
                  </a:lnTo>
                  <a:lnTo>
                    <a:pt x="0" y="1670989"/>
                  </a:lnTo>
                  <a:lnTo>
                    <a:pt x="7620" y="1699195"/>
                  </a:lnTo>
                  <a:lnTo>
                    <a:pt x="28384" y="1722230"/>
                  </a:lnTo>
                  <a:lnTo>
                    <a:pt x="59194" y="1737760"/>
                  </a:lnTo>
                  <a:lnTo>
                    <a:pt x="96926" y="1743456"/>
                  </a:lnTo>
                  <a:lnTo>
                    <a:pt x="11662283" y="1743456"/>
                  </a:lnTo>
                  <a:lnTo>
                    <a:pt x="11700002" y="1737760"/>
                  </a:lnTo>
                  <a:lnTo>
                    <a:pt x="11730736" y="1722230"/>
                  </a:lnTo>
                  <a:lnTo>
                    <a:pt x="11751564" y="1699195"/>
                  </a:lnTo>
                  <a:lnTo>
                    <a:pt x="11759184" y="1670989"/>
                  </a:lnTo>
                  <a:lnTo>
                    <a:pt x="11759184" y="72517"/>
                  </a:lnTo>
                  <a:lnTo>
                    <a:pt x="11751564" y="44323"/>
                  </a:lnTo>
                  <a:lnTo>
                    <a:pt x="11730736" y="21209"/>
                  </a:lnTo>
                  <a:lnTo>
                    <a:pt x="11700002" y="5714"/>
                  </a:lnTo>
                  <a:lnTo>
                    <a:pt x="116622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2900" y="5047487"/>
              <a:ext cx="11759565" cy="1743710"/>
            </a:xfrm>
            <a:custGeom>
              <a:avLst/>
              <a:gdLst/>
              <a:ahLst/>
              <a:cxnLst/>
              <a:rect l="l" t="t" r="r" b="b"/>
              <a:pathLst>
                <a:path w="11759565" h="1743709">
                  <a:moveTo>
                    <a:pt x="0" y="72517"/>
                  </a:moveTo>
                  <a:lnTo>
                    <a:pt x="7620" y="44323"/>
                  </a:lnTo>
                  <a:lnTo>
                    <a:pt x="28384" y="21209"/>
                  </a:lnTo>
                  <a:lnTo>
                    <a:pt x="59194" y="5714"/>
                  </a:lnTo>
                  <a:lnTo>
                    <a:pt x="96926" y="0"/>
                  </a:lnTo>
                  <a:lnTo>
                    <a:pt x="11662283" y="0"/>
                  </a:lnTo>
                  <a:lnTo>
                    <a:pt x="11700002" y="5714"/>
                  </a:lnTo>
                  <a:lnTo>
                    <a:pt x="11730736" y="21209"/>
                  </a:lnTo>
                  <a:lnTo>
                    <a:pt x="11751564" y="44323"/>
                  </a:lnTo>
                  <a:lnTo>
                    <a:pt x="11759184" y="72517"/>
                  </a:lnTo>
                  <a:lnTo>
                    <a:pt x="11759184" y="1670989"/>
                  </a:lnTo>
                  <a:lnTo>
                    <a:pt x="11751564" y="1699195"/>
                  </a:lnTo>
                  <a:lnTo>
                    <a:pt x="11730736" y="1722230"/>
                  </a:lnTo>
                  <a:lnTo>
                    <a:pt x="11700002" y="1737760"/>
                  </a:lnTo>
                  <a:lnTo>
                    <a:pt x="11662283" y="1743456"/>
                  </a:lnTo>
                  <a:lnTo>
                    <a:pt x="96926" y="1743456"/>
                  </a:lnTo>
                  <a:lnTo>
                    <a:pt x="59194" y="1737760"/>
                  </a:lnTo>
                  <a:lnTo>
                    <a:pt x="28384" y="1722230"/>
                  </a:lnTo>
                  <a:lnTo>
                    <a:pt x="7620" y="1699195"/>
                  </a:lnTo>
                  <a:lnTo>
                    <a:pt x="0" y="1670989"/>
                  </a:lnTo>
                  <a:lnTo>
                    <a:pt x="0" y="72517"/>
                  </a:lnTo>
                  <a:close/>
                </a:path>
              </a:pathLst>
            </a:custGeom>
            <a:ln w="9144">
              <a:solidFill>
                <a:srgbClr val="70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54424" y="4550663"/>
              <a:ext cx="3852672" cy="48006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207763" y="4565903"/>
              <a:ext cx="3750945" cy="378460"/>
            </a:xfrm>
            <a:custGeom>
              <a:avLst/>
              <a:gdLst/>
              <a:ahLst/>
              <a:cxnLst/>
              <a:rect l="l" t="t" r="r" b="b"/>
              <a:pathLst>
                <a:path w="3750945" h="378460">
                  <a:moveTo>
                    <a:pt x="3666109" y="0"/>
                  </a:moveTo>
                  <a:lnTo>
                    <a:pt x="84455" y="0"/>
                  </a:lnTo>
                  <a:lnTo>
                    <a:pt x="51562" y="4953"/>
                  </a:lnTo>
                  <a:lnTo>
                    <a:pt x="24764" y="18415"/>
                  </a:lnTo>
                  <a:lnTo>
                    <a:pt x="6603" y="38481"/>
                  </a:lnTo>
                  <a:lnTo>
                    <a:pt x="0" y="62992"/>
                  </a:lnTo>
                  <a:lnTo>
                    <a:pt x="0" y="314960"/>
                  </a:lnTo>
                  <a:lnTo>
                    <a:pt x="6603" y="339471"/>
                  </a:lnTo>
                  <a:lnTo>
                    <a:pt x="24764" y="359537"/>
                  </a:lnTo>
                  <a:lnTo>
                    <a:pt x="51562" y="372999"/>
                  </a:lnTo>
                  <a:lnTo>
                    <a:pt x="84455" y="377952"/>
                  </a:lnTo>
                  <a:lnTo>
                    <a:pt x="3666109" y="377952"/>
                  </a:lnTo>
                  <a:lnTo>
                    <a:pt x="3699002" y="372999"/>
                  </a:lnTo>
                  <a:lnTo>
                    <a:pt x="3725799" y="359537"/>
                  </a:lnTo>
                  <a:lnTo>
                    <a:pt x="3743960" y="339471"/>
                  </a:lnTo>
                  <a:lnTo>
                    <a:pt x="3750564" y="314960"/>
                  </a:lnTo>
                  <a:lnTo>
                    <a:pt x="3750564" y="62992"/>
                  </a:lnTo>
                  <a:lnTo>
                    <a:pt x="3743960" y="38481"/>
                  </a:lnTo>
                  <a:lnTo>
                    <a:pt x="3725799" y="18415"/>
                  </a:lnTo>
                  <a:lnTo>
                    <a:pt x="3699002" y="4953"/>
                  </a:lnTo>
                  <a:lnTo>
                    <a:pt x="366610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07763" y="4565903"/>
              <a:ext cx="3750945" cy="378460"/>
            </a:xfrm>
            <a:custGeom>
              <a:avLst/>
              <a:gdLst/>
              <a:ahLst/>
              <a:cxnLst/>
              <a:rect l="l" t="t" r="r" b="b"/>
              <a:pathLst>
                <a:path w="3750945" h="378460">
                  <a:moveTo>
                    <a:pt x="0" y="62992"/>
                  </a:moveTo>
                  <a:lnTo>
                    <a:pt x="6603" y="38481"/>
                  </a:lnTo>
                  <a:lnTo>
                    <a:pt x="24764" y="18415"/>
                  </a:lnTo>
                  <a:lnTo>
                    <a:pt x="51562" y="4953"/>
                  </a:lnTo>
                  <a:lnTo>
                    <a:pt x="84455" y="0"/>
                  </a:lnTo>
                  <a:lnTo>
                    <a:pt x="3666109" y="0"/>
                  </a:lnTo>
                  <a:lnTo>
                    <a:pt x="3699002" y="4953"/>
                  </a:lnTo>
                  <a:lnTo>
                    <a:pt x="3725799" y="18415"/>
                  </a:lnTo>
                  <a:lnTo>
                    <a:pt x="3743960" y="38481"/>
                  </a:lnTo>
                  <a:lnTo>
                    <a:pt x="3750564" y="62992"/>
                  </a:lnTo>
                  <a:lnTo>
                    <a:pt x="3750564" y="314960"/>
                  </a:lnTo>
                  <a:lnTo>
                    <a:pt x="3743960" y="339471"/>
                  </a:lnTo>
                  <a:lnTo>
                    <a:pt x="3725799" y="359537"/>
                  </a:lnTo>
                  <a:lnTo>
                    <a:pt x="3699002" y="372999"/>
                  </a:lnTo>
                  <a:lnTo>
                    <a:pt x="3666109" y="377952"/>
                  </a:lnTo>
                  <a:lnTo>
                    <a:pt x="84455" y="377952"/>
                  </a:lnTo>
                  <a:lnTo>
                    <a:pt x="51562" y="372999"/>
                  </a:lnTo>
                  <a:lnTo>
                    <a:pt x="24764" y="359537"/>
                  </a:lnTo>
                  <a:lnTo>
                    <a:pt x="6603" y="339471"/>
                  </a:lnTo>
                  <a:lnTo>
                    <a:pt x="0" y="314960"/>
                  </a:lnTo>
                  <a:lnTo>
                    <a:pt x="0" y="6299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74065" y="4599558"/>
            <a:ext cx="11036300" cy="2369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IDS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Hybride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82400"/>
              </a:lnSpc>
              <a:spcBef>
                <a:spcPts val="425"/>
              </a:spcBef>
              <a:tabLst>
                <a:tab pos="8154670" algn="l"/>
              </a:tabLst>
            </a:pPr>
            <a:r>
              <a:rPr sz="1700" spc="-5" dirty="0">
                <a:latin typeface="Calibri"/>
                <a:cs typeface="Calibri"/>
              </a:rPr>
              <a:t>Rassemble</a:t>
            </a:r>
            <a:r>
              <a:rPr sz="1700" spc="1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les</a:t>
            </a:r>
            <a:r>
              <a:rPr sz="1700" spc="17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fonctionnalités</a:t>
            </a:r>
            <a:r>
              <a:rPr sz="1700" spc="16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d’un</a:t>
            </a:r>
            <a:r>
              <a:rPr sz="1700" spc="18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NIDS</a:t>
            </a:r>
            <a:r>
              <a:rPr sz="1700" spc="1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et</a:t>
            </a:r>
            <a:r>
              <a:rPr sz="1700" spc="17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HIDS,</a:t>
            </a:r>
            <a:r>
              <a:rPr sz="1700" spc="14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surveillance</a:t>
            </a:r>
            <a:r>
              <a:rPr sz="1700" spc="16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du</a:t>
            </a:r>
            <a:r>
              <a:rPr sz="1700" spc="16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réseau</a:t>
            </a:r>
            <a:r>
              <a:rPr sz="1700" spc="1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et</a:t>
            </a:r>
            <a:r>
              <a:rPr sz="1700" spc="1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</a:t>
            </a:r>
            <a:r>
              <a:rPr sz="1700" spc="17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terminaux.	L’IDS hybride</a:t>
            </a:r>
            <a:r>
              <a:rPr sz="1700" dirty="0">
                <a:latin typeface="Calibri"/>
                <a:cs typeface="Calibri"/>
              </a:rPr>
              <a:t> est </a:t>
            </a:r>
            <a:r>
              <a:rPr sz="1700" spc="-5" dirty="0">
                <a:latin typeface="Calibri"/>
                <a:cs typeface="Calibri"/>
              </a:rPr>
              <a:t>utilisé dans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un </a:t>
            </a:r>
            <a:r>
              <a:rPr sz="1700" spc="-3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environnement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décentralisé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avec une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supervisons centralise.</a:t>
            </a:r>
            <a:endParaRPr sz="17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103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dirty="0">
                <a:latin typeface="Calibri"/>
                <a:cs typeface="Calibri"/>
              </a:rPr>
              <a:t>Placement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stratégique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des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sondes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sur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le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réseau.</a:t>
            </a:r>
            <a:endParaRPr sz="17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dirty="0">
                <a:latin typeface="Calibri"/>
                <a:cs typeface="Calibri"/>
              </a:rPr>
              <a:t>Centraliser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les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informations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en</a:t>
            </a:r>
            <a:r>
              <a:rPr sz="1700" spc="-5" dirty="0">
                <a:latin typeface="Calibri"/>
                <a:cs typeface="Calibri"/>
              </a:rPr>
              <a:t> provenance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</a:t>
            </a:r>
            <a:r>
              <a:rPr sz="1700" spc="-5" dirty="0">
                <a:latin typeface="Calibri"/>
                <a:cs typeface="Calibri"/>
              </a:rPr>
              <a:t> plusieurs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emplacements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(sondes)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sur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le réseau.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700" dirty="0">
                <a:latin typeface="Arial MT"/>
                <a:cs typeface="Arial MT"/>
              </a:rPr>
              <a:t>•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1443989" y="235077"/>
            <a:ext cx="5410835" cy="1064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5" dirty="0"/>
          </a:p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Types</a:t>
            </a:r>
            <a:r>
              <a:rPr sz="4000" b="1" spc="-30" dirty="0">
                <a:latin typeface="Times New Roman"/>
                <a:cs typeface="Times New Roman"/>
              </a:rPr>
              <a:t> </a:t>
            </a:r>
            <a:r>
              <a:rPr sz="4000" b="1" spc="-10" dirty="0">
                <a:latin typeface="Times New Roman"/>
                <a:cs typeface="Times New Roman"/>
              </a:rPr>
              <a:t>d’IDS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39" name="Espace réservé du numéro de diapositive 38">
            <a:extLst>
              <a:ext uri="{FF2B5EF4-FFF2-40B4-BE49-F238E27FC236}">
                <a16:creationId xmlns:a16="http://schemas.microsoft.com/office/drawing/2014/main" id="{4F40DFD5-D3EB-7E70-5F4D-22E8CD1F3F3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4473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3989" y="235077"/>
            <a:ext cx="6949440" cy="1064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5" dirty="0"/>
          </a:p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Où</a:t>
            </a:r>
            <a:r>
              <a:rPr sz="4000" b="1" spc="-15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placer</a:t>
            </a:r>
            <a:r>
              <a:rPr sz="4000" b="1" spc="-20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les</a:t>
            </a:r>
            <a:r>
              <a:rPr sz="4000" b="1" spc="-15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sondes d’un</a:t>
            </a:r>
            <a:r>
              <a:rPr sz="4000" b="1" spc="-15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IDS</a:t>
            </a:r>
            <a:r>
              <a:rPr sz="4000" b="1" spc="-2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?</a:t>
            </a:r>
            <a:endParaRPr sz="4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7444" y="1534667"/>
            <a:ext cx="8720328" cy="33634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39" y="5366592"/>
            <a:ext cx="5162550" cy="1032510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Emplacement</a:t>
            </a:r>
            <a:r>
              <a:rPr sz="22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r>
              <a:rPr sz="22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r>
              <a:rPr sz="22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à l'extérieur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du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réseau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local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Emplacement</a:t>
            </a:r>
            <a:r>
              <a:rPr sz="2200" b="1" spc="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r>
              <a:rPr sz="22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r>
              <a:rPr sz="22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sécuriser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réseau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interne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57215" y="5366592"/>
            <a:ext cx="5692140" cy="1032510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Emplacement</a:t>
            </a:r>
            <a:r>
              <a:rPr sz="2200" b="1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sz="22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r>
              <a:rPr sz="22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sécuriser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réseau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périmètre</a:t>
            </a:r>
            <a:endParaRPr sz="2200">
              <a:latin typeface="Calibri"/>
              <a:cs typeface="Calibri"/>
            </a:endParaRPr>
          </a:p>
          <a:p>
            <a:pPr marL="47625">
              <a:lnSpc>
                <a:spcPct val="100000"/>
              </a:lnSpc>
              <a:spcBef>
                <a:spcPts val="1320"/>
              </a:spcBef>
            </a:pP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Emplacement</a:t>
            </a:r>
            <a:r>
              <a:rPr sz="2200" b="1" spc="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r>
              <a:rPr sz="22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r>
              <a:rPr sz="22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protéger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les </a:t>
            </a:r>
            <a:r>
              <a:rPr sz="2200" spc="-10" dirty="0">
                <a:latin typeface="Calibri"/>
                <a:cs typeface="Calibri"/>
              </a:rPr>
              <a:t>hôtes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sensibles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756B59-E145-82D3-0908-259EF20377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2808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B76F5-1E30-8286-FB2C-F9D97BCA9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9EFCB6-C974-BC55-40D1-9466A4475276}"/>
              </a:ext>
            </a:extLst>
          </p:cNvPr>
          <p:cNvSpPr/>
          <p:nvPr/>
        </p:nvSpPr>
        <p:spPr>
          <a:xfrm>
            <a:off x="838200" y="3352800"/>
            <a:ext cx="5257800" cy="5696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B8B17FB2-8DE3-E643-6DFB-0469BDCEEA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4569" y="507618"/>
            <a:ext cx="1012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Times New Roman"/>
                <a:cs typeface="Times New Roman"/>
              </a:rPr>
              <a:t>Plan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D585E5E-9B24-62AD-BFE5-FF4DCDFB876C}"/>
              </a:ext>
            </a:extLst>
          </p:cNvPr>
          <p:cNvSpPr txBox="1"/>
          <p:nvPr/>
        </p:nvSpPr>
        <p:spPr>
          <a:xfrm>
            <a:off x="11007597" y="6384213"/>
            <a:ext cx="346710" cy="28067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15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A6EBC85-9254-3B98-0CAE-B17F0FEB2702}"/>
              </a:ext>
            </a:extLst>
          </p:cNvPr>
          <p:cNvSpPr txBox="1"/>
          <p:nvPr/>
        </p:nvSpPr>
        <p:spPr>
          <a:xfrm>
            <a:off x="960120" y="1299598"/>
            <a:ext cx="10363707" cy="51166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Introduction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Concept </a:t>
            </a:r>
            <a:r>
              <a:rPr lang="en-US" altLang="en-US" sz="2800" dirty="0" err="1"/>
              <a:t>d’intrusion</a:t>
            </a:r>
            <a:endParaRPr lang="en-US" altLang="en-US" sz="2800" dirty="0"/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IDS (Intrusion Detection System) 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Les </a:t>
            </a:r>
            <a:r>
              <a:rPr lang="en-US" altLang="en-US" sz="2800" dirty="0" err="1"/>
              <a:t>méthodes</a:t>
            </a:r>
            <a:r>
              <a:rPr lang="en-US" altLang="en-US" sz="2800" dirty="0"/>
              <a:t> de </a:t>
            </a:r>
            <a:r>
              <a:rPr lang="en-US" altLang="en-US" sz="2800" dirty="0" err="1"/>
              <a:t>détection</a:t>
            </a:r>
            <a:endParaRPr lang="en-US" altLang="en-US" sz="2800" dirty="0"/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IPS (Intrusion Prevention System)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err="1"/>
              <a:t>Comparaison</a:t>
            </a:r>
            <a:r>
              <a:rPr lang="en-US" altLang="en-US" sz="2800" dirty="0"/>
              <a:t> IDS vs IPS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Solution IDS/IPS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err="1"/>
              <a:t>Défis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actuels</a:t>
            </a:r>
            <a:r>
              <a:rPr lang="en-US" altLang="en-US" sz="2800" dirty="0"/>
              <a:t> et </a:t>
            </a:r>
            <a:r>
              <a:rPr lang="en-US" altLang="en-US" sz="2800" dirty="0" err="1"/>
              <a:t>intégration</a:t>
            </a:r>
            <a:r>
              <a:rPr lang="en-US" altLang="en-US" sz="2800" dirty="0"/>
              <a:t> SOC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5E750623-8305-0741-99CE-E54DA9D8CB1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83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3989" y="235077"/>
            <a:ext cx="5721350" cy="1064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5" dirty="0"/>
          </a:p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Les</a:t>
            </a:r>
            <a:r>
              <a:rPr sz="4000" b="1" spc="-1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méthodes</a:t>
            </a:r>
            <a:r>
              <a:rPr sz="4000" b="1" spc="15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de</a:t>
            </a:r>
            <a:r>
              <a:rPr sz="4000" b="1" spc="-1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détection</a:t>
            </a:r>
            <a:endParaRPr sz="40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19655" y="1463039"/>
            <a:ext cx="8552815" cy="1094740"/>
            <a:chOff x="1819655" y="1463039"/>
            <a:chExt cx="8552815" cy="10947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9655" y="1463039"/>
              <a:ext cx="8552688" cy="10942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66899" y="1490471"/>
              <a:ext cx="8458200" cy="1000125"/>
            </a:xfrm>
            <a:custGeom>
              <a:avLst/>
              <a:gdLst/>
              <a:ahLst/>
              <a:cxnLst/>
              <a:rect l="l" t="t" r="r" b="b"/>
              <a:pathLst>
                <a:path w="8458200" h="1000125">
                  <a:moveTo>
                    <a:pt x="0" y="166624"/>
                  </a:moveTo>
                  <a:lnTo>
                    <a:pt x="5968" y="122300"/>
                  </a:lnTo>
                  <a:lnTo>
                    <a:pt x="22732" y="82550"/>
                  </a:lnTo>
                  <a:lnTo>
                    <a:pt x="48768" y="48767"/>
                  </a:lnTo>
                  <a:lnTo>
                    <a:pt x="82423" y="22732"/>
                  </a:lnTo>
                  <a:lnTo>
                    <a:pt x="122174" y="5968"/>
                  </a:lnTo>
                  <a:lnTo>
                    <a:pt x="166497" y="0"/>
                  </a:lnTo>
                  <a:lnTo>
                    <a:pt x="8291703" y="0"/>
                  </a:lnTo>
                  <a:lnTo>
                    <a:pt x="8336026" y="5968"/>
                  </a:lnTo>
                  <a:lnTo>
                    <a:pt x="8375777" y="22732"/>
                  </a:lnTo>
                  <a:lnTo>
                    <a:pt x="8409432" y="48767"/>
                  </a:lnTo>
                  <a:lnTo>
                    <a:pt x="8435467" y="82550"/>
                  </a:lnTo>
                  <a:lnTo>
                    <a:pt x="8452231" y="122300"/>
                  </a:lnTo>
                  <a:lnTo>
                    <a:pt x="8458200" y="166624"/>
                  </a:lnTo>
                  <a:lnTo>
                    <a:pt x="8458200" y="833119"/>
                  </a:lnTo>
                  <a:lnTo>
                    <a:pt x="8452231" y="877442"/>
                  </a:lnTo>
                  <a:lnTo>
                    <a:pt x="8435467" y="917193"/>
                  </a:lnTo>
                  <a:lnTo>
                    <a:pt x="8409432" y="950976"/>
                  </a:lnTo>
                  <a:lnTo>
                    <a:pt x="8375777" y="977011"/>
                  </a:lnTo>
                  <a:lnTo>
                    <a:pt x="8336026" y="993775"/>
                  </a:lnTo>
                  <a:lnTo>
                    <a:pt x="8291703" y="999743"/>
                  </a:lnTo>
                  <a:lnTo>
                    <a:pt x="166497" y="999743"/>
                  </a:lnTo>
                  <a:lnTo>
                    <a:pt x="122174" y="993775"/>
                  </a:lnTo>
                  <a:lnTo>
                    <a:pt x="82423" y="977011"/>
                  </a:lnTo>
                  <a:lnTo>
                    <a:pt x="48768" y="950976"/>
                  </a:lnTo>
                  <a:lnTo>
                    <a:pt x="22732" y="917193"/>
                  </a:lnTo>
                  <a:lnTo>
                    <a:pt x="5968" y="877442"/>
                  </a:lnTo>
                  <a:lnTo>
                    <a:pt x="0" y="833119"/>
                  </a:lnTo>
                  <a:lnTo>
                    <a:pt x="0" y="166624"/>
                  </a:lnTo>
                  <a:close/>
                </a:path>
              </a:pathLst>
            </a:custGeom>
            <a:ln w="9144">
              <a:solidFill>
                <a:srgbClr val="797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1199" y="1613915"/>
              <a:ext cx="876300" cy="8763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886648" y="2773616"/>
            <a:ext cx="3080385" cy="3836035"/>
            <a:chOff x="1886648" y="2773616"/>
            <a:chExt cx="3080385" cy="3836035"/>
          </a:xfrm>
        </p:grpSpPr>
        <p:sp>
          <p:nvSpPr>
            <p:cNvPr id="8" name="object 8"/>
            <p:cNvSpPr/>
            <p:nvPr/>
          </p:nvSpPr>
          <p:spPr>
            <a:xfrm>
              <a:off x="1898903" y="2785872"/>
              <a:ext cx="3054350" cy="3810000"/>
            </a:xfrm>
            <a:custGeom>
              <a:avLst/>
              <a:gdLst/>
              <a:ahLst/>
              <a:cxnLst/>
              <a:rect l="l" t="t" r="r" b="b"/>
              <a:pathLst>
                <a:path w="3054350" h="3810000">
                  <a:moveTo>
                    <a:pt x="2858897" y="0"/>
                  </a:moveTo>
                  <a:lnTo>
                    <a:pt x="195198" y="0"/>
                  </a:lnTo>
                  <a:lnTo>
                    <a:pt x="150368" y="5206"/>
                  </a:lnTo>
                  <a:lnTo>
                    <a:pt x="109346" y="19812"/>
                  </a:lnTo>
                  <a:lnTo>
                    <a:pt x="73151" y="42925"/>
                  </a:lnTo>
                  <a:lnTo>
                    <a:pt x="42925" y="73151"/>
                  </a:lnTo>
                  <a:lnTo>
                    <a:pt x="19812" y="109347"/>
                  </a:lnTo>
                  <a:lnTo>
                    <a:pt x="5206" y="150367"/>
                  </a:lnTo>
                  <a:lnTo>
                    <a:pt x="0" y="195199"/>
                  </a:lnTo>
                  <a:lnTo>
                    <a:pt x="0" y="3614826"/>
                  </a:lnTo>
                  <a:lnTo>
                    <a:pt x="5206" y="3659568"/>
                  </a:lnTo>
                  <a:lnTo>
                    <a:pt x="19812" y="3700653"/>
                  </a:lnTo>
                  <a:lnTo>
                    <a:pt x="42925" y="3736898"/>
                  </a:lnTo>
                  <a:lnTo>
                    <a:pt x="73151" y="3767124"/>
                  </a:lnTo>
                  <a:lnTo>
                    <a:pt x="109346" y="3790162"/>
                  </a:lnTo>
                  <a:lnTo>
                    <a:pt x="150368" y="3804843"/>
                  </a:lnTo>
                  <a:lnTo>
                    <a:pt x="195198" y="3810000"/>
                  </a:lnTo>
                  <a:lnTo>
                    <a:pt x="2858897" y="3810000"/>
                  </a:lnTo>
                  <a:lnTo>
                    <a:pt x="2903600" y="3804843"/>
                  </a:lnTo>
                  <a:lnTo>
                    <a:pt x="2944622" y="3790162"/>
                  </a:lnTo>
                  <a:lnTo>
                    <a:pt x="2980944" y="3767124"/>
                  </a:lnTo>
                  <a:lnTo>
                    <a:pt x="3011170" y="3736898"/>
                  </a:lnTo>
                  <a:lnTo>
                    <a:pt x="3034157" y="3700653"/>
                  </a:lnTo>
                  <a:lnTo>
                    <a:pt x="3048888" y="3659568"/>
                  </a:lnTo>
                  <a:lnTo>
                    <a:pt x="3053969" y="3614826"/>
                  </a:lnTo>
                  <a:lnTo>
                    <a:pt x="3053969" y="195199"/>
                  </a:lnTo>
                  <a:lnTo>
                    <a:pt x="3048888" y="150367"/>
                  </a:lnTo>
                  <a:lnTo>
                    <a:pt x="3034157" y="109347"/>
                  </a:lnTo>
                  <a:lnTo>
                    <a:pt x="3011170" y="73151"/>
                  </a:lnTo>
                  <a:lnTo>
                    <a:pt x="2980944" y="42925"/>
                  </a:lnTo>
                  <a:lnTo>
                    <a:pt x="2944622" y="19812"/>
                  </a:lnTo>
                  <a:lnTo>
                    <a:pt x="2903600" y="5206"/>
                  </a:lnTo>
                  <a:lnTo>
                    <a:pt x="28588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99665" y="2786634"/>
              <a:ext cx="3054350" cy="3810000"/>
            </a:xfrm>
            <a:custGeom>
              <a:avLst/>
              <a:gdLst/>
              <a:ahLst/>
              <a:cxnLst/>
              <a:rect l="l" t="t" r="r" b="b"/>
              <a:pathLst>
                <a:path w="3054350" h="3810000">
                  <a:moveTo>
                    <a:pt x="0" y="195199"/>
                  </a:moveTo>
                  <a:lnTo>
                    <a:pt x="5206" y="150367"/>
                  </a:lnTo>
                  <a:lnTo>
                    <a:pt x="19811" y="109346"/>
                  </a:lnTo>
                  <a:lnTo>
                    <a:pt x="42925" y="73151"/>
                  </a:lnTo>
                  <a:lnTo>
                    <a:pt x="73151" y="42925"/>
                  </a:lnTo>
                  <a:lnTo>
                    <a:pt x="109346" y="19812"/>
                  </a:lnTo>
                  <a:lnTo>
                    <a:pt x="150367" y="5206"/>
                  </a:lnTo>
                  <a:lnTo>
                    <a:pt x="195198" y="0"/>
                  </a:lnTo>
                  <a:lnTo>
                    <a:pt x="2858897" y="0"/>
                  </a:lnTo>
                  <a:lnTo>
                    <a:pt x="2903600" y="5206"/>
                  </a:lnTo>
                  <a:lnTo>
                    <a:pt x="2944622" y="19812"/>
                  </a:lnTo>
                  <a:lnTo>
                    <a:pt x="2980944" y="42925"/>
                  </a:lnTo>
                  <a:lnTo>
                    <a:pt x="3011170" y="73151"/>
                  </a:lnTo>
                  <a:lnTo>
                    <a:pt x="3034157" y="109346"/>
                  </a:lnTo>
                  <a:lnTo>
                    <a:pt x="3048888" y="150367"/>
                  </a:lnTo>
                  <a:lnTo>
                    <a:pt x="3053969" y="195199"/>
                  </a:lnTo>
                  <a:lnTo>
                    <a:pt x="3053969" y="3614826"/>
                  </a:lnTo>
                  <a:lnTo>
                    <a:pt x="3048888" y="3659568"/>
                  </a:lnTo>
                  <a:lnTo>
                    <a:pt x="3034157" y="3700653"/>
                  </a:lnTo>
                  <a:lnTo>
                    <a:pt x="3011170" y="3736898"/>
                  </a:lnTo>
                  <a:lnTo>
                    <a:pt x="2980944" y="3767124"/>
                  </a:lnTo>
                  <a:lnTo>
                    <a:pt x="2944622" y="3790162"/>
                  </a:lnTo>
                  <a:lnTo>
                    <a:pt x="2903600" y="3804843"/>
                  </a:lnTo>
                  <a:lnTo>
                    <a:pt x="2858897" y="3810000"/>
                  </a:lnTo>
                  <a:lnTo>
                    <a:pt x="195198" y="3810000"/>
                  </a:lnTo>
                  <a:lnTo>
                    <a:pt x="150367" y="3804843"/>
                  </a:lnTo>
                  <a:lnTo>
                    <a:pt x="109346" y="3790162"/>
                  </a:lnTo>
                  <a:lnTo>
                    <a:pt x="73151" y="3767124"/>
                  </a:lnTo>
                  <a:lnTo>
                    <a:pt x="42925" y="3736898"/>
                  </a:lnTo>
                  <a:lnTo>
                    <a:pt x="19811" y="3700653"/>
                  </a:lnTo>
                  <a:lnTo>
                    <a:pt x="5206" y="3659568"/>
                  </a:lnTo>
                  <a:lnTo>
                    <a:pt x="0" y="3614826"/>
                  </a:lnTo>
                  <a:lnTo>
                    <a:pt x="0" y="195199"/>
                  </a:lnTo>
                  <a:close/>
                </a:path>
              </a:pathLst>
            </a:custGeom>
            <a:ln w="25908">
              <a:solidFill>
                <a:srgbClr val="7474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088635" y="2773679"/>
            <a:ext cx="5245735" cy="1016635"/>
            <a:chOff x="5088635" y="2773679"/>
            <a:chExt cx="5245735" cy="1016635"/>
          </a:xfrm>
        </p:grpSpPr>
        <p:sp>
          <p:nvSpPr>
            <p:cNvPr id="11" name="object 11"/>
            <p:cNvSpPr/>
            <p:nvPr/>
          </p:nvSpPr>
          <p:spPr>
            <a:xfrm>
              <a:off x="5100827" y="2785871"/>
              <a:ext cx="5219700" cy="990600"/>
            </a:xfrm>
            <a:custGeom>
              <a:avLst/>
              <a:gdLst/>
              <a:ahLst/>
              <a:cxnLst/>
              <a:rect l="l" t="t" r="r" b="b"/>
              <a:pathLst>
                <a:path w="5219700" h="990600">
                  <a:moveTo>
                    <a:pt x="5156454" y="0"/>
                  </a:moveTo>
                  <a:lnTo>
                    <a:pt x="63246" y="0"/>
                  </a:lnTo>
                  <a:lnTo>
                    <a:pt x="38608" y="4952"/>
                  </a:lnTo>
                  <a:lnTo>
                    <a:pt x="18542" y="18541"/>
                  </a:lnTo>
                  <a:lnTo>
                    <a:pt x="4952" y="38607"/>
                  </a:lnTo>
                  <a:lnTo>
                    <a:pt x="0" y="63245"/>
                  </a:lnTo>
                  <a:lnTo>
                    <a:pt x="0" y="927353"/>
                  </a:lnTo>
                  <a:lnTo>
                    <a:pt x="4952" y="951991"/>
                  </a:lnTo>
                  <a:lnTo>
                    <a:pt x="18542" y="972057"/>
                  </a:lnTo>
                  <a:lnTo>
                    <a:pt x="38608" y="985646"/>
                  </a:lnTo>
                  <a:lnTo>
                    <a:pt x="63246" y="990600"/>
                  </a:lnTo>
                  <a:lnTo>
                    <a:pt x="5156454" y="990600"/>
                  </a:lnTo>
                  <a:lnTo>
                    <a:pt x="5181092" y="985646"/>
                  </a:lnTo>
                  <a:lnTo>
                    <a:pt x="5201158" y="972057"/>
                  </a:lnTo>
                  <a:lnTo>
                    <a:pt x="5214747" y="951991"/>
                  </a:lnTo>
                  <a:lnTo>
                    <a:pt x="5219700" y="927353"/>
                  </a:lnTo>
                  <a:lnTo>
                    <a:pt x="5219700" y="63245"/>
                  </a:lnTo>
                  <a:lnTo>
                    <a:pt x="5214747" y="38607"/>
                  </a:lnTo>
                  <a:lnTo>
                    <a:pt x="5201158" y="18541"/>
                  </a:lnTo>
                  <a:lnTo>
                    <a:pt x="5181092" y="4952"/>
                  </a:lnTo>
                  <a:lnTo>
                    <a:pt x="51564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01589" y="2786633"/>
              <a:ext cx="5219700" cy="990600"/>
            </a:xfrm>
            <a:custGeom>
              <a:avLst/>
              <a:gdLst/>
              <a:ahLst/>
              <a:cxnLst/>
              <a:rect l="l" t="t" r="r" b="b"/>
              <a:pathLst>
                <a:path w="5219700" h="990600">
                  <a:moveTo>
                    <a:pt x="0" y="63245"/>
                  </a:moveTo>
                  <a:lnTo>
                    <a:pt x="4952" y="38607"/>
                  </a:lnTo>
                  <a:lnTo>
                    <a:pt x="18542" y="18541"/>
                  </a:lnTo>
                  <a:lnTo>
                    <a:pt x="38608" y="4952"/>
                  </a:lnTo>
                  <a:lnTo>
                    <a:pt x="63246" y="0"/>
                  </a:lnTo>
                  <a:lnTo>
                    <a:pt x="5156454" y="0"/>
                  </a:lnTo>
                  <a:lnTo>
                    <a:pt x="5181092" y="4952"/>
                  </a:lnTo>
                  <a:lnTo>
                    <a:pt x="5201158" y="18541"/>
                  </a:lnTo>
                  <a:lnTo>
                    <a:pt x="5214746" y="38607"/>
                  </a:lnTo>
                  <a:lnTo>
                    <a:pt x="5219700" y="63245"/>
                  </a:lnTo>
                  <a:lnTo>
                    <a:pt x="5219700" y="927353"/>
                  </a:lnTo>
                  <a:lnTo>
                    <a:pt x="5214746" y="951991"/>
                  </a:lnTo>
                  <a:lnTo>
                    <a:pt x="5201158" y="972057"/>
                  </a:lnTo>
                  <a:lnTo>
                    <a:pt x="5181092" y="985646"/>
                  </a:lnTo>
                  <a:lnTo>
                    <a:pt x="5156454" y="990599"/>
                  </a:lnTo>
                  <a:lnTo>
                    <a:pt x="63246" y="990599"/>
                  </a:lnTo>
                  <a:lnTo>
                    <a:pt x="38608" y="985646"/>
                  </a:lnTo>
                  <a:lnTo>
                    <a:pt x="18542" y="972057"/>
                  </a:lnTo>
                  <a:lnTo>
                    <a:pt x="4952" y="951991"/>
                  </a:lnTo>
                  <a:lnTo>
                    <a:pt x="0" y="927353"/>
                  </a:lnTo>
                  <a:lnTo>
                    <a:pt x="0" y="63245"/>
                  </a:lnTo>
                  <a:close/>
                </a:path>
              </a:pathLst>
            </a:custGeom>
            <a:ln w="25907">
              <a:solidFill>
                <a:srgbClr val="ACA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33999" y="3307079"/>
              <a:ext cx="2286000" cy="393700"/>
            </a:xfrm>
            <a:custGeom>
              <a:avLst/>
              <a:gdLst/>
              <a:ahLst/>
              <a:cxnLst/>
              <a:rect l="l" t="t" r="r" b="b"/>
              <a:pathLst>
                <a:path w="2286000" h="393700">
                  <a:moveTo>
                    <a:pt x="2220341" y="0"/>
                  </a:moveTo>
                  <a:lnTo>
                    <a:pt x="65659" y="0"/>
                  </a:lnTo>
                  <a:lnTo>
                    <a:pt x="40132" y="5207"/>
                  </a:lnTo>
                  <a:lnTo>
                    <a:pt x="19303" y="19177"/>
                  </a:lnTo>
                  <a:lnTo>
                    <a:pt x="5207" y="40005"/>
                  </a:lnTo>
                  <a:lnTo>
                    <a:pt x="0" y="65532"/>
                  </a:lnTo>
                  <a:lnTo>
                    <a:pt x="0" y="327660"/>
                  </a:lnTo>
                  <a:lnTo>
                    <a:pt x="5207" y="353060"/>
                  </a:lnTo>
                  <a:lnTo>
                    <a:pt x="19303" y="373888"/>
                  </a:lnTo>
                  <a:lnTo>
                    <a:pt x="40132" y="387985"/>
                  </a:lnTo>
                  <a:lnTo>
                    <a:pt x="65659" y="393192"/>
                  </a:lnTo>
                  <a:lnTo>
                    <a:pt x="2220341" y="393192"/>
                  </a:lnTo>
                  <a:lnTo>
                    <a:pt x="2245868" y="387985"/>
                  </a:lnTo>
                  <a:lnTo>
                    <a:pt x="2266696" y="373888"/>
                  </a:lnTo>
                  <a:lnTo>
                    <a:pt x="2280793" y="353060"/>
                  </a:lnTo>
                  <a:lnTo>
                    <a:pt x="2286000" y="327660"/>
                  </a:lnTo>
                  <a:lnTo>
                    <a:pt x="2286000" y="65532"/>
                  </a:lnTo>
                  <a:lnTo>
                    <a:pt x="2280793" y="40005"/>
                  </a:lnTo>
                  <a:lnTo>
                    <a:pt x="2266696" y="19177"/>
                  </a:lnTo>
                  <a:lnTo>
                    <a:pt x="2245868" y="5207"/>
                  </a:lnTo>
                  <a:lnTo>
                    <a:pt x="22203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4761" y="3307841"/>
              <a:ext cx="2286000" cy="393700"/>
            </a:xfrm>
            <a:custGeom>
              <a:avLst/>
              <a:gdLst/>
              <a:ahLst/>
              <a:cxnLst/>
              <a:rect l="l" t="t" r="r" b="b"/>
              <a:pathLst>
                <a:path w="2286000" h="393700">
                  <a:moveTo>
                    <a:pt x="0" y="65532"/>
                  </a:moveTo>
                  <a:lnTo>
                    <a:pt x="5207" y="40005"/>
                  </a:lnTo>
                  <a:lnTo>
                    <a:pt x="19303" y="19177"/>
                  </a:lnTo>
                  <a:lnTo>
                    <a:pt x="40132" y="5207"/>
                  </a:lnTo>
                  <a:lnTo>
                    <a:pt x="65659" y="0"/>
                  </a:lnTo>
                  <a:lnTo>
                    <a:pt x="2220341" y="0"/>
                  </a:lnTo>
                  <a:lnTo>
                    <a:pt x="2245867" y="5207"/>
                  </a:lnTo>
                  <a:lnTo>
                    <a:pt x="2266695" y="19177"/>
                  </a:lnTo>
                  <a:lnTo>
                    <a:pt x="2280792" y="40005"/>
                  </a:lnTo>
                  <a:lnTo>
                    <a:pt x="2285999" y="65532"/>
                  </a:lnTo>
                  <a:lnTo>
                    <a:pt x="2285999" y="327660"/>
                  </a:lnTo>
                  <a:lnTo>
                    <a:pt x="2280792" y="353060"/>
                  </a:lnTo>
                  <a:lnTo>
                    <a:pt x="2266695" y="373888"/>
                  </a:lnTo>
                  <a:lnTo>
                    <a:pt x="2245867" y="387985"/>
                  </a:lnTo>
                  <a:lnTo>
                    <a:pt x="2220341" y="393192"/>
                  </a:lnTo>
                  <a:lnTo>
                    <a:pt x="65659" y="393192"/>
                  </a:lnTo>
                  <a:lnTo>
                    <a:pt x="40132" y="387985"/>
                  </a:lnTo>
                  <a:lnTo>
                    <a:pt x="19303" y="373888"/>
                  </a:lnTo>
                  <a:lnTo>
                    <a:pt x="5207" y="353060"/>
                  </a:lnTo>
                  <a:lnTo>
                    <a:pt x="0" y="327660"/>
                  </a:lnTo>
                  <a:lnTo>
                    <a:pt x="0" y="65532"/>
                  </a:lnTo>
                  <a:close/>
                </a:path>
              </a:pathLst>
            </a:custGeom>
            <a:ln w="25908">
              <a:solidFill>
                <a:srgbClr val="9D9D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772400" y="3307079"/>
              <a:ext cx="2293620" cy="393700"/>
            </a:xfrm>
            <a:custGeom>
              <a:avLst/>
              <a:gdLst/>
              <a:ahLst/>
              <a:cxnLst/>
              <a:rect l="l" t="t" r="r" b="b"/>
              <a:pathLst>
                <a:path w="2293620" h="393700">
                  <a:moveTo>
                    <a:pt x="2227579" y="0"/>
                  </a:moveTo>
                  <a:lnTo>
                    <a:pt x="65658" y="0"/>
                  </a:lnTo>
                  <a:lnTo>
                    <a:pt x="40131" y="5207"/>
                  </a:lnTo>
                  <a:lnTo>
                    <a:pt x="19303" y="19177"/>
                  </a:lnTo>
                  <a:lnTo>
                    <a:pt x="5206" y="40005"/>
                  </a:lnTo>
                  <a:lnTo>
                    <a:pt x="0" y="65532"/>
                  </a:lnTo>
                  <a:lnTo>
                    <a:pt x="0" y="327660"/>
                  </a:lnTo>
                  <a:lnTo>
                    <a:pt x="5206" y="353060"/>
                  </a:lnTo>
                  <a:lnTo>
                    <a:pt x="19303" y="373888"/>
                  </a:lnTo>
                  <a:lnTo>
                    <a:pt x="40131" y="387985"/>
                  </a:lnTo>
                  <a:lnTo>
                    <a:pt x="65658" y="393192"/>
                  </a:lnTo>
                  <a:lnTo>
                    <a:pt x="2227579" y="393192"/>
                  </a:lnTo>
                  <a:lnTo>
                    <a:pt x="2253233" y="387985"/>
                  </a:lnTo>
                  <a:lnTo>
                    <a:pt x="2274061" y="373888"/>
                  </a:lnTo>
                  <a:lnTo>
                    <a:pt x="2288158" y="353060"/>
                  </a:lnTo>
                  <a:lnTo>
                    <a:pt x="2293366" y="327660"/>
                  </a:lnTo>
                  <a:lnTo>
                    <a:pt x="2293366" y="65532"/>
                  </a:lnTo>
                  <a:lnTo>
                    <a:pt x="2288158" y="40005"/>
                  </a:lnTo>
                  <a:lnTo>
                    <a:pt x="2274061" y="19177"/>
                  </a:lnTo>
                  <a:lnTo>
                    <a:pt x="2253233" y="5207"/>
                  </a:lnTo>
                  <a:lnTo>
                    <a:pt x="22275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773161" y="3307841"/>
              <a:ext cx="2293620" cy="393700"/>
            </a:xfrm>
            <a:custGeom>
              <a:avLst/>
              <a:gdLst/>
              <a:ahLst/>
              <a:cxnLst/>
              <a:rect l="l" t="t" r="r" b="b"/>
              <a:pathLst>
                <a:path w="2293620" h="393700">
                  <a:moveTo>
                    <a:pt x="0" y="65532"/>
                  </a:moveTo>
                  <a:lnTo>
                    <a:pt x="5207" y="40005"/>
                  </a:lnTo>
                  <a:lnTo>
                    <a:pt x="19304" y="19177"/>
                  </a:lnTo>
                  <a:lnTo>
                    <a:pt x="40132" y="5207"/>
                  </a:lnTo>
                  <a:lnTo>
                    <a:pt x="65659" y="0"/>
                  </a:lnTo>
                  <a:lnTo>
                    <a:pt x="2227580" y="0"/>
                  </a:lnTo>
                  <a:lnTo>
                    <a:pt x="2253234" y="5207"/>
                  </a:lnTo>
                  <a:lnTo>
                    <a:pt x="2274062" y="19177"/>
                  </a:lnTo>
                  <a:lnTo>
                    <a:pt x="2288159" y="40005"/>
                  </a:lnTo>
                  <a:lnTo>
                    <a:pt x="2293366" y="65532"/>
                  </a:lnTo>
                  <a:lnTo>
                    <a:pt x="2293366" y="327660"/>
                  </a:lnTo>
                  <a:lnTo>
                    <a:pt x="2288159" y="353060"/>
                  </a:lnTo>
                  <a:lnTo>
                    <a:pt x="2274062" y="373888"/>
                  </a:lnTo>
                  <a:lnTo>
                    <a:pt x="2253234" y="387985"/>
                  </a:lnTo>
                  <a:lnTo>
                    <a:pt x="2227580" y="393192"/>
                  </a:lnTo>
                  <a:lnTo>
                    <a:pt x="65659" y="393192"/>
                  </a:lnTo>
                  <a:lnTo>
                    <a:pt x="40132" y="387985"/>
                  </a:lnTo>
                  <a:lnTo>
                    <a:pt x="19304" y="373888"/>
                  </a:lnTo>
                  <a:lnTo>
                    <a:pt x="5207" y="353060"/>
                  </a:lnTo>
                  <a:lnTo>
                    <a:pt x="0" y="327660"/>
                  </a:lnTo>
                  <a:lnTo>
                    <a:pt x="0" y="65532"/>
                  </a:lnTo>
                  <a:close/>
                </a:path>
              </a:pathLst>
            </a:custGeom>
            <a:ln w="25907">
              <a:solidFill>
                <a:srgbClr val="9D9D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5093144" y="3992816"/>
            <a:ext cx="5245735" cy="1473835"/>
            <a:chOff x="5093144" y="3992816"/>
            <a:chExt cx="5245735" cy="1473835"/>
          </a:xfrm>
        </p:grpSpPr>
        <p:sp>
          <p:nvSpPr>
            <p:cNvPr id="18" name="object 18"/>
            <p:cNvSpPr/>
            <p:nvPr/>
          </p:nvSpPr>
          <p:spPr>
            <a:xfrm>
              <a:off x="5105400" y="4005071"/>
              <a:ext cx="5219700" cy="1447800"/>
            </a:xfrm>
            <a:custGeom>
              <a:avLst/>
              <a:gdLst/>
              <a:ahLst/>
              <a:cxnLst/>
              <a:rect l="l" t="t" r="r" b="b"/>
              <a:pathLst>
                <a:path w="5219700" h="1447800">
                  <a:moveTo>
                    <a:pt x="5127117" y="0"/>
                  </a:moveTo>
                  <a:lnTo>
                    <a:pt x="92455" y="0"/>
                  </a:lnTo>
                  <a:lnTo>
                    <a:pt x="56514" y="7238"/>
                  </a:lnTo>
                  <a:lnTo>
                    <a:pt x="27050" y="27050"/>
                  </a:lnTo>
                  <a:lnTo>
                    <a:pt x="7238" y="56514"/>
                  </a:lnTo>
                  <a:lnTo>
                    <a:pt x="0" y="92455"/>
                  </a:lnTo>
                  <a:lnTo>
                    <a:pt x="0" y="1355343"/>
                  </a:lnTo>
                  <a:lnTo>
                    <a:pt x="7238" y="1391284"/>
                  </a:lnTo>
                  <a:lnTo>
                    <a:pt x="27050" y="1420748"/>
                  </a:lnTo>
                  <a:lnTo>
                    <a:pt x="56514" y="1440561"/>
                  </a:lnTo>
                  <a:lnTo>
                    <a:pt x="92455" y="1447799"/>
                  </a:lnTo>
                  <a:lnTo>
                    <a:pt x="5127117" y="1447799"/>
                  </a:lnTo>
                  <a:lnTo>
                    <a:pt x="5163184" y="1440561"/>
                  </a:lnTo>
                  <a:lnTo>
                    <a:pt x="5192649" y="1420748"/>
                  </a:lnTo>
                  <a:lnTo>
                    <a:pt x="5212460" y="1391284"/>
                  </a:lnTo>
                  <a:lnTo>
                    <a:pt x="5219700" y="1355343"/>
                  </a:lnTo>
                  <a:lnTo>
                    <a:pt x="5219700" y="92455"/>
                  </a:lnTo>
                  <a:lnTo>
                    <a:pt x="5212460" y="56514"/>
                  </a:lnTo>
                  <a:lnTo>
                    <a:pt x="5192649" y="27050"/>
                  </a:lnTo>
                  <a:lnTo>
                    <a:pt x="5163184" y="7238"/>
                  </a:lnTo>
                  <a:lnTo>
                    <a:pt x="51271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06162" y="4005833"/>
              <a:ext cx="5219700" cy="1447800"/>
            </a:xfrm>
            <a:custGeom>
              <a:avLst/>
              <a:gdLst/>
              <a:ahLst/>
              <a:cxnLst/>
              <a:rect l="l" t="t" r="r" b="b"/>
              <a:pathLst>
                <a:path w="5219700" h="1447800">
                  <a:moveTo>
                    <a:pt x="0" y="92456"/>
                  </a:moveTo>
                  <a:lnTo>
                    <a:pt x="7238" y="56515"/>
                  </a:lnTo>
                  <a:lnTo>
                    <a:pt x="27050" y="27051"/>
                  </a:lnTo>
                  <a:lnTo>
                    <a:pt x="56514" y="7239"/>
                  </a:lnTo>
                  <a:lnTo>
                    <a:pt x="92455" y="0"/>
                  </a:lnTo>
                  <a:lnTo>
                    <a:pt x="5127117" y="0"/>
                  </a:lnTo>
                  <a:lnTo>
                    <a:pt x="5163185" y="7239"/>
                  </a:lnTo>
                  <a:lnTo>
                    <a:pt x="5192648" y="27051"/>
                  </a:lnTo>
                  <a:lnTo>
                    <a:pt x="5212461" y="56515"/>
                  </a:lnTo>
                  <a:lnTo>
                    <a:pt x="5219699" y="92456"/>
                  </a:lnTo>
                  <a:lnTo>
                    <a:pt x="5219699" y="1355344"/>
                  </a:lnTo>
                  <a:lnTo>
                    <a:pt x="5212461" y="1391285"/>
                  </a:lnTo>
                  <a:lnTo>
                    <a:pt x="5192648" y="1420749"/>
                  </a:lnTo>
                  <a:lnTo>
                    <a:pt x="5163185" y="1440561"/>
                  </a:lnTo>
                  <a:lnTo>
                    <a:pt x="5127117" y="1447800"/>
                  </a:lnTo>
                  <a:lnTo>
                    <a:pt x="92455" y="1447800"/>
                  </a:lnTo>
                  <a:lnTo>
                    <a:pt x="56514" y="1440561"/>
                  </a:lnTo>
                  <a:lnTo>
                    <a:pt x="27050" y="1420749"/>
                  </a:lnTo>
                  <a:lnTo>
                    <a:pt x="7238" y="1391285"/>
                  </a:lnTo>
                  <a:lnTo>
                    <a:pt x="0" y="1355344"/>
                  </a:lnTo>
                  <a:lnTo>
                    <a:pt x="0" y="92456"/>
                  </a:lnTo>
                  <a:close/>
                </a:path>
              </a:pathLst>
            </a:custGeom>
            <a:ln w="25908">
              <a:solidFill>
                <a:srgbClr val="ACA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974085" y="1728927"/>
            <a:ext cx="6761480" cy="2691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Comment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détecter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 </a:t>
            </a:r>
            <a:r>
              <a:rPr sz="2000" spc="-5" dirty="0">
                <a:latin typeface="Arial MT"/>
                <a:cs typeface="Arial MT"/>
              </a:rPr>
              <a:t>flux</a:t>
            </a:r>
            <a:r>
              <a:rPr sz="2000" dirty="0">
                <a:latin typeface="Arial MT"/>
                <a:cs typeface="Arial MT"/>
              </a:rPr>
              <a:t> est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normal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 susceptible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d’être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une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intrusion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?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200">
              <a:latin typeface="Arial MT"/>
              <a:cs typeface="Arial MT"/>
            </a:endParaRPr>
          </a:p>
          <a:p>
            <a:pPr marL="2708275" algn="ctr">
              <a:lnSpc>
                <a:spcPct val="100000"/>
              </a:lnSpc>
              <a:spcBef>
                <a:spcPts val="1410"/>
              </a:spcBef>
            </a:pP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Signature-based</a:t>
            </a:r>
            <a:endParaRPr sz="2000">
              <a:latin typeface="Arial"/>
              <a:cs typeface="Arial"/>
            </a:endParaRPr>
          </a:p>
          <a:p>
            <a:pPr marL="2700020" algn="ctr">
              <a:lnSpc>
                <a:spcPct val="100000"/>
              </a:lnSpc>
              <a:spcBef>
                <a:spcPts val="1450"/>
              </a:spcBef>
              <a:tabLst>
                <a:tab pos="4681220" algn="l"/>
              </a:tabLst>
            </a:pPr>
            <a:r>
              <a:rPr sz="2000" spc="-5" dirty="0">
                <a:latin typeface="Calibri"/>
                <a:cs typeface="Calibri"/>
              </a:rPr>
              <a:t>Pattern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matching	</a:t>
            </a:r>
            <a:r>
              <a:rPr sz="2000" spc="-5" dirty="0">
                <a:latin typeface="Calibri"/>
                <a:cs typeface="Calibri"/>
              </a:rPr>
              <a:t>Stateful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matching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900">
              <a:latin typeface="Calibri"/>
              <a:cs typeface="Calibri"/>
            </a:endParaRPr>
          </a:p>
          <a:p>
            <a:pPr marL="2720340" algn="ctr">
              <a:lnSpc>
                <a:spcPct val="100000"/>
              </a:lnSpc>
            </a:pPr>
            <a:r>
              <a:rPr sz="2000" b="1" spc="-5" dirty="0">
                <a:solidFill>
                  <a:srgbClr val="FF0000"/>
                </a:solidFill>
                <a:latin typeface="Arial"/>
                <a:cs typeface="Arial"/>
              </a:rPr>
              <a:t>Anomaly-based</a:t>
            </a:r>
            <a:r>
              <a:rPr sz="20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(heuristic-based)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093208" y="5583935"/>
            <a:ext cx="5245735" cy="763270"/>
            <a:chOff x="5093208" y="5583935"/>
            <a:chExt cx="5245735" cy="763270"/>
          </a:xfrm>
        </p:grpSpPr>
        <p:sp>
          <p:nvSpPr>
            <p:cNvPr id="22" name="object 22"/>
            <p:cNvSpPr/>
            <p:nvPr/>
          </p:nvSpPr>
          <p:spPr>
            <a:xfrm>
              <a:off x="5105400" y="5596127"/>
              <a:ext cx="5219700" cy="737870"/>
            </a:xfrm>
            <a:custGeom>
              <a:avLst/>
              <a:gdLst/>
              <a:ahLst/>
              <a:cxnLst/>
              <a:rect l="l" t="t" r="r" b="b"/>
              <a:pathLst>
                <a:path w="5219700" h="737870">
                  <a:moveTo>
                    <a:pt x="5172583" y="0"/>
                  </a:moveTo>
                  <a:lnTo>
                    <a:pt x="47116" y="0"/>
                  </a:lnTo>
                  <a:lnTo>
                    <a:pt x="28828" y="3708"/>
                  </a:lnTo>
                  <a:lnTo>
                    <a:pt x="13842" y="13804"/>
                  </a:lnTo>
                  <a:lnTo>
                    <a:pt x="3683" y="28778"/>
                  </a:lnTo>
                  <a:lnTo>
                    <a:pt x="0" y="47117"/>
                  </a:lnTo>
                  <a:lnTo>
                    <a:pt x="0" y="690181"/>
                  </a:lnTo>
                  <a:lnTo>
                    <a:pt x="3683" y="708520"/>
                  </a:lnTo>
                  <a:lnTo>
                    <a:pt x="13842" y="723493"/>
                  </a:lnTo>
                  <a:lnTo>
                    <a:pt x="28828" y="733590"/>
                  </a:lnTo>
                  <a:lnTo>
                    <a:pt x="47116" y="737298"/>
                  </a:lnTo>
                  <a:lnTo>
                    <a:pt x="5172583" y="737298"/>
                  </a:lnTo>
                  <a:lnTo>
                    <a:pt x="5190871" y="733590"/>
                  </a:lnTo>
                  <a:lnTo>
                    <a:pt x="5205857" y="723493"/>
                  </a:lnTo>
                  <a:lnTo>
                    <a:pt x="5216017" y="708520"/>
                  </a:lnTo>
                  <a:lnTo>
                    <a:pt x="5219700" y="690181"/>
                  </a:lnTo>
                  <a:lnTo>
                    <a:pt x="5219700" y="47117"/>
                  </a:lnTo>
                  <a:lnTo>
                    <a:pt x="5216017" y="28778"/>
                  </a:lnTo>
                  <a:lnTo>
                    <a:pt x="5205857" y="13804"/>
                  </a:lnTo>
                  <a:lnTo>
                    <a:pt x="5190871" y="3708"/>
                  </a:lnTo>
                  <a:lnTo>
                    <a:pt x="51725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06162" y="5596889"/>
              <a:ext cx="5219700" cy="737870"/>
            </a:xfrm>
            <a:custGeom>
              <a:avLst/>
              <a:gdLst/>
              <a:ahLst/>
              <a:cxnLst/>
              <a:rect l="l" t="t" r="r" b="b"/>
              <a:pathLst>
                <a:path w="5219700" h="737870">
                  <a:moveTo>
                    <a:pt x="0" y="47117"/>
                  </a:moveTo>
                  <a:lnTo>
                    <a:pt x="3683" y="28778"/>
                  </a:lnTo>
                  <a:lnTo>
                    <a:pt x="13842" y="13804"/>
                  </a:lnTo>
                  <a:lnTo>
                    <a:pt x="28828" y="3708"/>
                  </a:lnTo>
                  <a:lnTo>
                    <a:pt x="47116" y="0"/>
                  </a:lnTo>
                  <a:lnTo>
                    <a:pt x="5172583" y="0"/>
                  </a:lnTo>
                  <a:lnTo>
                    <a:pt x="5190870" y="3708"/>
                  </a:lnTo>
                  <a:lnTo>
                    <a:pt x="5205857" y="13804"/>
                  </a:lnTo>
                  <a:lnTo>
                    <a:pt x="5216017" y="28778"/>
                  </a:lnTo>
                  <a:lnTo>
                    <a:pt x="5219699" y="47117"/>
                  </a:lnTo>
                  <a:lnTo>
                    <a:pt x="5219699" y="690181"/>
                  </a:lnTo>
                  <a:lnTo>
                    <a:pt x="5216017" y="708520"/>
                  </a:lnTo>
                  <a:lnTo>
                    <a:pt x="5205857" y="723493"/>
                  </a:lnTo>
                  <a:lnTo>
                    <a:pt x="5190870" y="733590"/>
                  </a:lnTo>
                  <a:lnTo>
                    <a:pt x="5172583" y="737298"/>
                  </a:lnTo>
                  <a:lnTo>
                    <a:pt x="47116" y="737298"/>
                  </a:lnTo>
                  <a:lnTo>
                    <a:pt x="28828" y="733590"/>
                  </a:lnTo>
                  <a:lnTo>
                    <a:pt x="13842" y="723493"/>
                  </a:lnTo>
                  <a:lnTo>
                    <a:pt x="3683" y="708520"/>
                  </a:lnTo>
                  <a:lnTo>
                    <a:pt x="0" y="690181"/>
                  </a:lnTo>
                  <a:lnTo>
                    <a:pt x="0" y="47117"/>
                  </a:lnTo>
                  <a:close/>
                </a:path>
              </a:pathLst>
            </a:custGeom>
            <a:ln w="25908">
              <a:solidFill>
                <a:srgbClr val="ACA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057770" y="5784596"/>
            <a:ext cx="13823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Rule</a:t>
            </a:r>
            <a:r>
              <a:rPr sz="2000" b="1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based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245544" y="4469828"/>
            <a:ext cx="1550035" cy="882650"/>
            <a:chOff x="5245544" y="4469828"/>
            <a:chExt cx="1550035" cy="882650"/>
          </a:xfrm>
        </p:grpSpPr>
        <p:sp>
          <p:nvSpPr>
            <p:cNvPr id="26" name="object 26"/>
            <p:cNvSpPr/>
            <p:nvPr/>
          </p:nvSpPr>
          <p:spPr>
            <a:xfrm>
              <a:off x="5257800" y="4482083"/>
              <a:ext cx="1524000" cy="856615"/>
            </a:xfrm>
            <a:custGeom>
              <a:avLst/>
              <a:gdLst/>
              <a:ahLst/>
              <a:cxnLst/>
              <a:rect l="l" t="t" r="r" b="b"/>
              <a:pathLst>
                <a:path w="1524000" h="856614">
                  <a:moveTo>
                    <a:pt x="1381125" y="0"/>
                  </a:moveTo>
                  <a:lnTo>
                    <a:pt x="142875" y="0"/>
                  </a:lnTo>
                  <a:lnTo>
                    <a:pt x="97662" y="7239"/>
                  </a:lnTo>
                  <a:lnTo>
                    <a:pt x="58547" y="27559"/>
                  </a:lnTo>
                  <a:lnTo>
                    <a:pt x="27559" y="58420"/>
                  </a:lnTo>
                  <a:lnTo>
                    <a:pt x="7238" y="97663"/>
                  </a:lnTo>
                  <a:lnTo>
                    <a:pt x="0" y="142748"/>
                  </a:lnTo>
                  <a:lnTo>
                    <a:pt x="0" y="713740"/>
                  </a:lnTo>
                  <a:lnTo>
                    <a:pt x="7238" y="758825"/>
                  </a:lnTo>
                  <a:lnTo>
                    <a:pt x="27559" y="798068"/>
                  </a:lnTo>
                  <a:lnTo>
                    <a:pt x="58547" y="828929"/>
                  </a:lnTo>
                  <a:lnTo>
                    <a:pt x="97662" y="849249"/>
                  </a:lnTo>
                  <a:lnTo>
                    <a:pt x="142875" y="856488"/>
                  </a:lnTo>
                  <a:lnTo>
                    <a:pt x="1381125" y="856488"/>
                  </a:lnTo>
                  <a:lnTo>
                    <a:pt x="1426336" y="849249"/>
                  </a:lnTo>
                  <a:lnTo>
                    <a:pt x="1465452" y="828929"/>
                  </a:lnTo>
                  <a:lnTo>
                    <a:pt x="1496441" y="798068"/>
                  </a:lnTo>
                  <a:lnTo>
                    <a:pt x="1516760" y="758825"/>
                  </a:lnTo>
                  <a:lnTo>
                    <a:pt x="1524000" y="713740"/>
                  </a:lnTo>
                  <a:lnTo>
                    <a:pt x="1524000" y="142748"/>
                  </a:lnTo>
                  <a:lnTo>
                    <a:pt x="1516760" y="97663"/>
                  </a:lnTo>
                  <a:lnTo>
                    <a:pt x="1496441" y="58420"/>
                  </a:lnTo>
                  <a:lnTo>
                    <a:pt x="1465452" y="27559"/>
                  </a:lnTo>
                  <a:lnTo>
                    <a:pt x="1426336" y="7239"/>
                  </a:lnTo>
                  <a:lnTo>
                    <a:pt x="1381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58562" y="4482845"/>
              <a:ext cx="1524000" cy="856615"/>
            </a:xfrm>
            <a:custGeom>
              <a:avLst/>
              <a:gdLst/>
              <a:ahLst/>
              <a:cxnLst/>
              <a:rect l="l" t="t" r="r" b="b"/>
              <a:pathLst>
                <a:path w="1524000" h="856614">
                  <a:moveTo>
                    <a:pt x="0" y="142747"/>
                  </a:moveTo>
                  <a:lnTo>
                    <a:pt x="7238" y="97662"/>
                  </a:lnTo>
                  <a:lnTo>
                    <a:pt x="27559" y="58419"/>
                  </a:lnTo>
                  <a:lnTo>
                    <a:pt x="58547" y="27558"/>
                  </a:lnTo>
                  <a:lnTo>
                    <a:pt x="97662" y="7238"/>
                  </a:lnTo>
                  <a:lnTo>
                    <a:pt x="142875" y="0"/>
                  </a:lnTo>
                  <a:lnTo>
                    <a:pt x="1381124" y="0"/>
                  </a:lnTo>
                  <a:lnTo>
                    <a:pt x="1426337" y="7238"/>
                  </a:lnTo>
                  <a:lnTo>
                    <a:pt x="1465453" y="27558"/>
                  </a:lnTo>
                  <a:lnTo>
                    <a:pt x="1496440" y="58419"/>
                  </a:lnTo>
                  <a:lnTo>
                    <a:pt x="1516761" y="97662"/>
                  </a:lnTo>
                  <a:lnTo>
                    <a:pt x="1523999" y="142747"/>
                  </a:lnTo>
                  <a:lnTo>
                    <a:pt x="1523999" y="713739"/>
                  </a:lnTo>
                  <a:lnTo>
                    <a:pt x="1516761" y="758824"/>
                  </a:lnTo>
                  <a:lnTo>
                    <a:pt x="1496440" y="798067"/>
                  </a:lnTo>
                  <a:lnTo>
                    <a:pt x="1465453" y="828928"/>
                  </a:lnTo>
                  <a:lnTo>
                    <a:pt x="1426337" y="849248"/>
                  </a:lnTo>
                  <a:lnTo>
                    <a:pt x="1381124" y="856487"/>
                  </a:lnTo>
                  <a:lnTo>
                    <a:pt x="142875" y="856487"/>
                  </a:lnTo>
                  <a:lnTo>
                    <a:pt x="97662" y="849248"/>
                  </a:lnTo>
                  <a:lnTo>
                    <a:pt x="58547" y="828928"/>
                  </a:lnTo>
                  <a:lnTo>
                    <a:pt x="27559" y="798067"/>
                  </a:lnTo>
                  <a:lnTo>
                    <a:pt x="7238" y="758824"/>
                  </a:lnTo>
                  <a:lnTo>
                    <a:pt x="0" y="713739"/>
                  </a:lnTo>
                  <a:lnTo>
                    <a:pt x="0" y="142747"/>
                  </a:lnTo>
                  <a:close/>
                </a:path>
              </a:pathLst>
            </a:custGeom>
            <a:ln w="25907">
              <a:solidFill>
                <a:srgbClr val="9D9D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560567" y="4456557"/>
            <a:ext cx="91948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" marR="5080" indent="-47625" algn="just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Stat</a:t>
            </a:r>
            <a:r>
              <a:rPr sz="1800" spc="-10" dirty="0"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sti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dirty="0">
                <a:latin typeface="Calibri"/>
                <a:cs typeface="Calibri"/>
              </a:rPr>
              <a:t>al  anomaly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based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921944" y="4450016"/>
            <a:ext cx="1550035" cy="884555"/>
            <a:chOff x="6921944" y="4450016"/>
            <a:chExt cx="1550035" cy="884555"/>
          </a:xfrm>
        </p:grpSpPr>
        <p:sp>
          <p:nvSpPr>
            <p:cNvPr id="30" name="object 30"/>
            <p:cNvSpPr/>
            <p:nvPr/>
          </p:nvSpPr>
          <p:spPr>
            <a:xfrm>
              <a:off x="6934199" y="4462271"/>
              <a:ext cx="1524000" cy="858519"/>
            </a:xfrm>
            <a:custGeom>
              <a:avLst/>
              <a:gdLst/>
              <a:ahLst/>
              <a:cxnLst/>
              <a:rect l="l" t="t" r="r" b="b"/>
              <a:pathLst>
                <a:path w="1524000" h="858520">
                  <a:moveTo>
                    <a:pt x="1381125" y="0"/>
                  </a:moveTo>
                  <a:lnTo>
                    <a:pt x="142875" y="0"/>
                  </a:lnTo>
                  <a:lnTo>
                    <a:pt x="97663" y="7238"/>
                  </a:lnTo>
                  <a:lnTo>
                    <a:pt x="58547" y="27558"/>
                  </a:lnTo>
                  <a:lnTo>
                    <a:pt x="27558" y="58546"/>
                  </a:lnTo>
                  <a:lnTo>
                    <a:pt x="7239" y="97789"/>
                  </a:lnTo>
                  <a:lnTo>
                    <a:pt x="0" y="143001"/>
                  </a:lnTo>
                  <a:lnTo>
                    <a:pt x="0" y="715009"/>
                  </a:lnTo>
                  <a:lnTo>
                    <a:pt x="7239" y="760221"/>
                  </a:lnTo>
                  <a:lnTo>
                    <a:pt x="27558" y="799464"/>
                  </a:lnTo>
                  <a:lnTo>
                    <a:pt x="58547" y="830452"/>
                  </a:lnTo>
                  <a:lnTo>
                    <a:pt x="97663" y="850772"/>
                  </a:lnTo>
                  <a:lnTo>
                    <a:pt x="142875" y="858011"/>
                  </a:lnTo>
                  <a:lnTo>
                    <a:pt x="1381125" y="858011"/>
                  </a:lnTo>
                  <a:lnTo>
                    <a:pt x="1426336" y="850772"/>
                  </a:lnTo>
                  <a:lnTo>
                    <a:pt x="1465452" y="830452"/>
                  </a:lnTo>
                  <a:lnTo>
                    <a:pt x="1496441" y="799464"/>
                  </a:lnTo>
                  <a:lnTo>
                    <a:pt x="1516760" y="760221"/>
                  </a:lnTo>
                  <a:lnTo>
                    <a:pt x="1524000" y="715009"/>
                  </a:lnTo>
                  <a:lnTo>
                    <a:pt x="1524000" y="143001"/>
                  </a:lnTo>
                  <a:lnTo>
                    <a:pt x="1516760" y="97789"/>
                  </a:lnTo>
                  <a:lnTo>
                    <a:pt x="1496441" y="58546"/>
                  </a:lnTo>
                  <a:lnTo>
                    <a:pt x="1465452" y="27558"/>
                  </a:lnTo>
                  <a:lnTo>
                    <a:pt x="1426336" y="7238"/>
                  </a:lnTo>
                  <a:lnTo>
                    <a:pt x="1381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34961" y="4463033"/>
              <a:ext cx="1524000" cy="858519"/>
            </a:xfrm>
            <a:custGeom>
              <a:avLst/>
              <a:gdLst/>
              <a:ahLst/>
              <a:cxnLst/>
              <a:rect l="l" t="t" r="r" b="b"/>
              <a:pathLst>
                <a:path w="1524000" h="858520">
                  <a:moveTo>
                    <a:pt x="0" y="143002"/>
                  </a:moveTo>
                  <a:lnTo>
                    <a:pt x="7239" y="97790"/>
                  </a:lnTo>
                  <a:lnTo>
                    <a:pt x="27559" y="58547"/>
                  </a:lnTo>
                  <a:lnTo>
                    <a:pt x="58547" y="27559"/>
                  </a:lnTo>
                  <a:lnTo>
                    <a:pt x="97663" y="7239"/>
                  </a:lnTo>
                  <a:lnTo>
                    <a:pt x="142875" y="0"/>
                  </a:lnTo>
                  <a:lnTo>
                    <a:pt x="1381125" y="0"/>
                  </a:lnTo>
                  <a:lnTo>
                    <a:pt x="1426337" y="7239"/>
                  </a:lnTo>
                  <a:lnTo>
                    <a:pt x="1465453" y="27559"/>
                  </a:lnTo>
                  <a:lnTo>
                    <a:pt x="1496441" y="58547"/>
                  </a:lnTo>
                  <a:lnTo>
                    <a:pt x="1516761" y="97790"/>
                  </a:lnTo>
                  <a:lnTo>
                    <a:pt x="1524000" y="143002"/>
                  </a:lnTo>
                  <a:lnTo>
                    <a:pt x="1524000" y="715010"/>
                  </a:lnTo>
                  <a:lnTo>
                    <a:pt x="1516761" y="760222"/>
                  </a:lnTo>
                  <a:lnTo>
                    <a:pt x="1496441" y="799465"/>
                  </a:lnTo>
                  <a:lnTo>
                    <a:pt x="1465453" y="830453"/>
                  </a:lnTo>
                  <a:lnTo>
                    <a:pt x="1426337" y="850773"/>
                  </a:lnTo>
                  <a:lnTo>
                    <a:pt x="1381125" y="858012"/>
                  </a:lnTo>
                  <a:lnTo>
                    <a:pt x="142875" y="858012"/>
                  </a:lnTo>
                  <a:lnTo>
                    <a:pt x="97663" y="850773"/>
                  </a:lnTo>
                  <a:lnTo>
                    <a:pt x="58547" y="830453"/>
                  </a:lnTo>
                  <a:lnTo>
                    <a:pt x="27559" y="799465"/>
                  </a:lnTo>
                  <a:lnTo>
                    <a:pt x="7239" y="760222"/>
                  </a:lnTo>
                  <a:lnTo>
                    <a:pt x="0" y="715010"/>
                  </a:lnTo>
                  <a:lnTo>
                    <a:pt x="0" y="143002"/>
                  </a:lnTo>
                  <a:close/>
                </a:path>
              </a:pathLst>
            </a:custGeom>
            <a:ln w="25908">
              <a:solidFill>
                <a:srgbClr val="9D9D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284211" y="4437633"/>
            <a:ext cx="824230" cy="85153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8890" algn="just">
              <a:lnSpc>
                <a:spcPct val="100600"/>
              </a:lnSpc>
              <a:spcBef>
                <a:spcPts val="85"/>
              </a:spcBef>
            </a:pPr>
            <a:r>
              <a:rPr sz="1800" spc="-10" dirty="0">
                <a:latin typeface="Calibri"/>
                <a:cs typeface="Calibri"/>
              </a:rPr>
              <a:t>P</a:t>
            </a:r>
            <a:r>
              <a:rPr sz="1800" dirty="0">
                <a:latin typeface="Calibri"/>
                <a:cs typeface="Calibri"/>
              </a:rPr>
              <a:t>ro</a:t>
            </a:r>
            <a:r>
              <a:rPr sz="1800" spc="-10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spc="-10" dirty="0">
                <a:latin typeface="Calibri"/>
                <a:cs typeface="Calibri"/>
              </a:rPr>
              <a:t>c</a:t>
            </a:r>
            <a:r>
              <a:rPr sz="1800" spc="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l  anomaly  </a:t>
            </a:r>
            <a:r>
              <a:rPr sz="1800" spc="-5" dirty="0">
                <a:latin typeface="Calibri"/>
                <a:cs typeface="Calibri"/>
              </a:rPr>
              <a:t>based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674607" y="4450079"/>
            <a:ext cx="1550035" cy="883919"/>
            <a:chOff x="8674607" y="4450079"/>
            <a:chExt cx="1550035" cy="883919"/>
          </a:xfrm>
        </p:grpSpPr>
        <p:sp>
          <p:nvSpPr>
            <p:cNvPr id="34" name="object 34"/>
            <p:cNvSpPr/>
            <p:nvPr/>
          </p:nvSpPr>
          <p:spPr>
            <a:xfrm>
              <a:off x="8686799" y="4462271"/>
              <a:ext cx="1524000" cy="858519"/>
            </a:xfrm>
            <a:custGeom>
              <a:avLst/>
              <a:gdLst/>
              <a:ahLst/>
              <a:cxnLst/>
              <a:rect l="l" t="t" r="r" b="b"/>
              <a:pathLst>
                <a:path w="1524000" h="858520">
                  <a:moveTo>
                    <a:pt x="1381125" y="0"/>
                  </a:moveTo>
                  <a:lnTo>
                    <a:pt x="142875" y="0"/>
                  </a:lnTo>
                  <a:lnTo>
                    <a:pt x="97663" y="7238"/>
                  </a:lnTo>
                  <a:lnTo>
                    <a:pt x="58547" y="27558"/>
                  </a:lnTo>
                  <a:lnTo>
                    <a:pt x="27558" y="58546"/>
                  </a:lnTo>
                  <a:lnTo>
                    <a:pt x="7239" y="97789"/>
                  </a:lnTo>
                  <a:lnTo>
                    <a:pt x="0" y="143001"/>
                  </a:lnTo>
                  <a:lnTo>
                    <a:pt x="0" y="715009"/>
                  </a:lnTo>
                  <a:lnTo>
                    <a:pt x="7239" y="760221"/>
                  </a:lnTo>
                  <a:lnTo>
                    <a:pt x="27558" y="799464"/>
                  </a:lnTo>
                  <a:lnTo>
                    <a:pt x="58547" y="830452"/>
                  </a:lnTo>
                  <a:lnTo>
                    <a:pt x="97663" y="850772"/>
                  </a:lnTo>
                  <a:lnTo>
                    <a:pt x="142875" y="858011"/>
                  </a:lnTo>
                  <a:lnTo>
                    <a:pt x="1381125" y="858011"/>
                  </a:lnTo>
                  <a:lnTo>
                    <a:pt x="1426336" y="850772"/>
                  </a:lnTo>
                  <a:lnTo>
                    <a:pt x="1465452" y="830452"/>
                  </a:lnTo>
                  <a:lnTo>
                    <a:pt x="1496441" y="799464"/>
                  </a:lnTo>
                  <a:lnTo>
                    <a:pt x="1516760" y="760221"/>
                  </a:lnTo>
                  <a:lnTo>
                    <a:pt x="1524000" y="715009"/>
                  </a:lnTo>
                  <a:lnTo>
                    <a:pt x="1524000" y="143001"/>
                  </a:lnTo>
                  <a:lnTo>
                    <a:pt x="1516760" y="97789"/>
                  </a:lnTo>
                  <a:lnTo>
                    <a:pt x="1496441" y="58546"/>
                  </a:lnTo>
                  <a:lnTo>
                    <a:pt x="1465452" y="27558"/>
                  </a:lnTo>
                  <a:lnTo>
                    <a:pt x="1426336" y="7238"/>
                  </a:lnTo>
                  <a:lnTo>
                    <a:pt x="1381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687561" y="4463033"/>
              <a:ext cx="1524000" cy="858519"/>
            </a:xfrm>
            <a:custGeom>
              <a:avLst/>
              <a:gdLst/>
              <a:ahLst/>
              <a:cxnLst/>
              <a:rect l="l" t="t" r="r" b="b"/>
              <a:pathLst>
                <a:path w="1524000" h="858520">
                  <a:moveTo>
                    <a:pt x="0" y="143002"/>
                  </a:moveTo>
                  <a:lnTo>
                    <a:pt x="7239" y="97790"/>
                  </a:lnTo>
                  <a:lnTo>
                    <a:pt x="27559" y="58547"/>
                  </a:lnTo>
                  <a:lnTo>
                    <a:pt x="58547" y="27559"/>
                  </a:lnTo>
                  <a:lnTo>
                    <a:pt x="97663" y="7239"/>
                  </a:lnTo>
                  <a:lnTo>
                    <a:pt x="142875" y="0"/>
                  </a:lnTo>
                  <a:lnTo>
                    <a:pt x="1381125" y="0"/>
                  </a:lnTo>
                  <a:lnTo>
                    <a:pt x="1426337" y="7239"/>
                  </a:lnTo>
                  <a:lnTo>
                    <a:pt x="1465453" y="27559"/>
                  </a:lnTo>
                  <a:lnTo>
                    <a:pt x="1496441" y="58547"/>
                  </a:lnTo>
                  <a:lnTo>
                    <a:pt x="1516761" y="97790"/>
                  </a:lnTo>
                  <a:lnTo>
                    <a:pt x="1524000" y="143002"/>
                  </a:lnTo>
                  <a:lnTo>
                    <a:pt x="1524000" y="715010"/>
                  </a:lnTo>
                  <a:lnTo>
                    <a:pt x="1516761" y="760222"/>
                  </a:lnTo>
                  <a:lnTo>
                    <a:pt x="1496441" y="799465"/>
                  </a:lnTo>
                  <a:lnTo>
                    <a:pt x="1465453" y="830453"/>
                  </a:lnTo>
                  <a:lnTo>
                    <a:pt x="1426337" y="850773"/>
                  </a:lnTo>
                  <a:lnTo>
                    <a:pt x="1381125" y="858012"/>
                  </a:lnTo>
                  <a:lnTo>
                    <a:pt x="142875" y="858012"/>
                  </a:lnTo>
                  <a:lnTo>
                    <a:pt x="97663" y="850773"/>
                  </a:lnTo>
                  <a:lnTo>
                    <a:pt x="58547" y="830453"/>
                  </a:lnTo>
                  <a:lnTo>
                    <a:pt x="27559" y="799465"/>
                  </a:lnTo>
                  <a:lnTo>
                    <a:pt x="7239" y="760222"/>
                  </a:lnTo>
                  <a:lnTo>
                    <a:pt x="0" y="715010"/>
                  </a:lnTo>
                  <a:lnTo>
                    <a:pt x="0" y="143002"/>
                  </a:lnTo>
                  <a:close/>
                </a:path>
              </a:pathLst>
            </a:custGeom>
            <a:ln w="25908">
              <a:solidFill>
                <a:srgbClr val="9D9D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9040748" y="4437633"/>
            <a:ext cx="8242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Traffic </a:t>
            </a:r>
            <a:r>
              <a:rPr sz="1800" dirty="0">
                <a:latin typeface="Calibri"/>
                <a:cs typeface="Calibri"/>
              </a:rPr>
              <a:t> anomaly  </a:t>
            </a:r>
            <a:r>
              <a:rPr sz="1800" spc="-5" dirty="0">
                <a:latin typeface="Calibri"/>
                <a:cs typeface="Calibri"/>
              </a:rPr>
              <a:t>based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7" name="object 3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23160" y="2819400"/>
            <a:ext cx="2182367" cy="3744467"/>
          </a:xfrm>
          <a:prstGeom prst="rect">
            <a:avLst/>
          </a:prstGeom>
        </p:spPr>
      </p:pic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32997" y="6400596"/>
            <a:ext cx="217804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878787"/>
                </a:solidFill>
                <a:latin typeface="Calibri"/>
                <a:cs typeface="Calibri"/>
              </a:rPr>
              <a:t>32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3989" y="235077"/>
            <a:ext cx="5410835" cy="1064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5" dirty="0"/>
          </a:p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Signature based IDS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9875" y="1583080"/>
            <a:ext cx="11869420" cy="4677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834" algn="just">
              <a:lnSpc>
                <a:spcPct val="135000"/>
              </a:lnSpc>
              <a:spcBef>
                <a:spcPts val="95"/>
              </a:spcBef>
              <a:buClr>
                <a:srgbClr val="797979"/>
              </a:buClr>
              <a:buSzPct val="150000"/>
              <a:buFont typeface="Arial MT"/>
              <a:buChar char="•"/>
              <a:tabLst>
                <a:tab pos="470534" algn="l"/>
              </a:tabLst>
            </a:pPr>
            <a:r>
              <a:rPr sz="2000" spc="-5" dirty="0">
                <a:latin typeface="Calibri"/>
                <a:cs typeface="Calibri"/>
              </a:rPr>
              <a:t>La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détection par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signature, </a:t>
            </a:r>
            <a:r>
              <a:rPr sz="2000" dirty="0">
                <a:latin typeface="Calibri"/>
                <a:cs typeface="Calibri"/>
              </a:rPr>
              <a:t>appelée aussi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détection par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scénarios </a:t>
            </a:r>
            <a:r>
              <a:rPr sz="2000" spc="-5" dirty="0">
                <a:latin typeface="Calibri"/>
                <a:cs typeface="Calibri"/>
              </a:rPr>
              <a:t>consiste </a:t>
            </a:r>
            <a:r>
              <a:rPr sz="2000" dirty="0">
                <a:latin typeface="Calibri"/>
                <a:cs typeface="Calibri"/>
              </a:rPr>
              <a:t>à comparer l’activité du réseau </a:t>
            </a:r>
            <a:r>
              <a:rPr sz="2000" spc="-5" dirty="0">
                <a:latin typeface="Calibri"/>
                <a:cs typeface="Calibri"/>
              </a:rPr>
              <a:t>aux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représentations d’intrusion ou </a:t>
            </a:r>
            <a:r>
              <a:rPr sz="2000" dirty="0">
                <a:latin typeface="Calibri"/>
                <a:cs typeface="Calibri"/>
              </a:rPr>
              <a:t>signatures préétablies comme </a:t>
            </a:r>
            <a:r>
              <a:rPr sz="2000" spc="-5" dirty="0">
                <a:latin typeface="Calibri"/>
                <a:cs typeface="Calibri"/>
              </a:rPr>
              <a:t>la </a:t>
            </a:r>
            <a:r>
              <a:rPr sz="2000" dirty="0">
                <a:latin typeface="Calibri"/>
                <a:cs typeface="Calibri"/>
              </a:rPr>
              <a:t>présence de certains </a:t>
            </a:r>
            <a:r>
              <a:rPr sz="2000" spc="-5" dirty="0">
                <a:latin typeface="Calibri"/>
                <a:cs typeface="Calibri"/>
              </a:rPr>
              <a:t>motifs dans </a:t>
            </a:r>
            <a:r>
              <a:rPr sz="2000" dirty="0">
                <a:latin typeface="Calibri"/>
                <a:cs typeface="Calibri"/>
              </a:rPr>
              <a:t>une requête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</a:t>
            </a:r>
            <a:r>
              <a:rPr sz="2000" spc="-5" dirty="0">
                <a:latin typeface="Calibri"/>
                <a:cs typeface="Calibri"/>
              </a:rPr>
              <a:t> niveau</a:t>
            </a:r>
            <a:r>
              <a:rPr sz="2000" dirty="0">
                <a:latin typeface="Calibri"/>
                <a:cs typeface="Calibri"/>
              </a:rPr>
              <a:t> applicatif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ou </a:t>
            </a:r>
            <a:r>
              <a:rPr sz="2000" dirty="0">
                <a:latin typeface="Calibri"/>
                <a:cs typeface="Calibri"/>
              </a:rPr>
              <a:t>même dans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5" dirty="0">
                <a:latin typeface="Calibri"/>
                <a:cs typeface="Calibri"/>
              </a:rPr>
              <a:t> paquet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IP.</a:t>
            </a:r>
            <a:endParaRPr sz="2000">
              <a:latin typeface="Calibri"/>
              <a:cs typeface="Calibri"/>
            </a:endParaRPr>
          </a:p>
          <a:p>
            <a:pPr marL="469900" indent="-457834">
              <a:lnSpc>
                <a:spcPct val="100000"/>
              </a:lnSpc>
              <a:spcBef>
                <a:spcPts val="1440"/>
              </a:spcBef>
              <a:buClr>
                <a:srgbClr val="797979"/>
              </a:buClr>
              <a:buSzPct val="150000"/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2000" spc="-5" dirty="0">
                <a:latin typeface="Calibri"/>
                <a:cs typeface="Calibri"/>
              </a:rPr>
              <a:t>Ce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type</a:t>
            </a:r>
            <a:r>
              <a:rPr sz="2000" spc="2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2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détection</a:t>
            </a:r>
            <a:r>
              <a:rPr sz="2000" spc="2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permet</a:t>
            </a:r>
            <a:r>
              <a:rPr sz="2000" spc="2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2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détecter</a:t>
            </a:r>
            <a:r>
              <a:rPr sz="2000" spc="2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toutes</a:t>
            </a:r>
            <a:r>
              <a:rPr sz="2000" spc="2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25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attaques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</a:t>
            </a:r>
            <a:r>
              <a:rPr sz="2000" spc="2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intrusions</a:t>
            </a:r>
            <a:r>
              <a:rPr sz="2000" spc="2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dont</a:t>
            </a:r>
            <a:r>
              <a:rPr sz="2000" spc="25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motifs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sont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connus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et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840"/>
              </a:spcBef>
            </a:pPr>
            <a:r>
              <a:rPr sz="2000" spc="-5" dirty="0">
                <a:latin typeface="Calibri"/>
                <a:cs typeface="Calibri"/>
              </a:rPr>
              <a:t>référencés.</a:t>
            </a:r>
            <a:endParaRPr sz="2000">
              <a:latin typeface="Calibri"/>
              <a:cs typeface="Calibri"/>
            </a:endParaRPr>
          </a:p>
          <a:p>
            <a:pPr marL="469900" indent="-457834">
              <a:lnSpc>
                <a:spcPct val="100000"/>
              </a:lnSpc>
              <a:spcBef>
                <a:spcPts val="1440"/>
              </a:spcBef>
              <a:buClr>
                <a:srgbClr val="797979"/>
              </a:buClr>
              <a:buSzPct val="150000"/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2000" dirty="0">
                <a:latin typeface="Calibri"/>
                <a:cs typeface="Calibri"/>
              </a:rPr>
              <a:t>Par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ailleurs,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détection</a:t>
            </a:r>
            <a:r>
              <a:rPr sz="2000" dirty="0">
                <a:latin typeface="Calibri"/>
                <a:cs typeface="Calibri"/>
              </a:rPr>
              <a:t> est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très rapide.</a:t>
            </a:r>
            <a:endParaRPr sz="2000">
              <a:latin typeface="Calibri"/>
              <a:cs typeface="Calibri"/>
            </a:endParaRPr>
          </a:p>
          <a:p>
            <a:pPr marL="469900" indent="-457834">
              <a:lnSpc>
                <a:spcPct val="100000"/>
              </a:lnSpc>
              <a:spcBef>
                <a:spcPts val="1440"/>
              </a:spcBef>
              <a:buClr>
                <a:srgbClr val="797979"/>
              </a:buClr>
              <a:buSzPct val="150000"/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INCONVENIENT:</a:t>
            </a:r>
            <a:r>
              <a:rPr sz="20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attaque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ou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nouvelle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intrusion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non </a:t>
            </a:r>
            <a:r>
              <a:rPr sz="2000" dirty="0">
                <a:latin typeface="Calibri"/>
                <a:cs typeface="Calibri"/>
              </a:rPr>
              <a:t>référencée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</a:t>
            </a:r>
            <a:r>
              <a:rPr sz="2000" spc="-5" dirty="0">
                <a:latin typeface="Calibri"/>
                <a:cs typeface="Calibri"/>
              </a:rPr>
              <a:t> sera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détectée.</a:t>
            </a:r>
            <a:endParaRPr sz="2000">
              <a:latin typeface="Calibri"/>
              <a:cs typeface="Calibri"/>
            </a:endParaRPr>
          </a:p>
          <a:p>
            <a:pPr marL="469900" indent="-457834">
              <a:lnSpc>
                <a:spcPct val="100000"/>
              </a:lnSpc>
              <a:spcBef>
                <a:spcPts val="1440"/>
              </a:spcBef>
              <a:buClr>
                <a:srgbClr val="797979"/>
              </a:buClr>
              <a:buSzPct val="150000"/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2000" spc="-5" dirty="0">
                <a:latin typeface="Calibri"/>
                <a:cs typeface="Calibri"/>
              </a:rPr>
              <a:t>Ce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" dirty="0">
                <a:latin typeface="Calibri"/>
                <a:cs typeface="Calibri"/>
              </a:rPr>
              <a:t> détection,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nécessite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donc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mettre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jour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base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 signatures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régulièrement.</a:t>
            </a:r>
            <a:endParaRPr sz="2000">
              <a:latin typeface="Calibri"/>
              <a:cs typeface="Calibri"/>
            </a:endParaRPr>
          </a:p>
          <a:p>
            <a:pPr marL="469900" indent="-457834">
              <a:lnSpc>
                <a:spcPct val="100000"/>
              </a:lnSpc>
              <a:spcBef>
                <a:spcPts val="1710"/>
              </a:spcBef>
              <a:buClr>
                <a:srgbClr val="797979"/>
              </a:buClr>
              <a:buSzPct val="150000"/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2000" spc="-5" dirty="0">
                <a:latin typeface="Calibri"/>
                <a:cs typeface="Calibri"/>
              </a:rPr>
              <a:t>Deux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types: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800"/>
              </a:spcBef>
            </a:pPr>
            <a:r>
              <a:rPr sz="2000" spc="-5" dirty="0">
                <a:solidFill>
                  <a:srgbClr val="797979"/>
                </a:solidFill>
                <a:latin typeface="Segoe UI Emoji"/>
                <a:cs typeface="Segoe UI Emoji"/>
              </a:rPr>
              <a:t>✔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Pattern</a:t>
            </a:r>
            <a:r>
              <a:rPr sz="2000" b="1" u="heavy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matching</a:t>
            </a:r>
            <a:r>
              <a:rPr sz="2000" spc="-5" dirty="0">
                <a:latin typeface="Calibri"/>
                <a:cs typeface="Calibri"/>
              </a:rPr>
              <a:t>: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Comparer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paquets</a:t>
            </a:r>
            <a:r>
              <a:rPr sz="2000" dirty="0">
                <a:latin typeface="Calibri"/>
                <a:cs typeface="Calibri"/>
              </a:rPr>
              <a:t> aux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signatures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7380" y="6462776"/>
            <a:ext cx="92348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797979"/>
                </a:solidFill>
                <a:latin typeface="Segoe UI Emoji"/>
                <a:cs typeface="Segoe UI Emoji"/>
              </a:rPr>
              <a:t>✔</a:t>
            </a:r>
            <a:r>
              <a:rPr sz="20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Stateful</a:t>
            </a:r>
            <a:r>
              <a:rPr sz="2000" b="1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matching</a:t>
            </a:r>
            <a:r>
              <a:rPr sz="2000" spc="-5" dirty="0">
                <a:latin typeface="Calibri"/>
                <a:cs typeface="Calibri"/>
              </a:rPr>
              <a:t>: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Comparer </a:t>
            </a: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signatures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plusieurs</a:t>
            </a:r>
            <a:r>
              <a:rPr sz="2000" spc="4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évènements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même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temps.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414352-478E-156A-64F6-6C2F02F9106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lang="en-GB" smtClean="0"/>
              <a:t>17</a:t>
            </a:fld>
            <a:endParaRPr lang="en-GB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3989" y="235077"/>
            <a:ext cx="5410835" cy="1064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5" dirty="0"/>
          </a:p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Anomaly</a:t>
            </a:r>
            <a:r>
              <a:rPr sz="4000" b="1" spc="-2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based</a:t>
            </a:r>
            <a:r>
              <a:rPr sz="4000" b="1" spc="-20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IDS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57683" y="1591596"/>
            <a:ext cx="11576050" cy="4890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 algn="just">
              <a:lnSpc>
                <a:spcPct val="130000"/>
              </a:lnSpc>
              <a:spcBef>
                <a:spcPts val="95"/>
              </a:spcBef>
              <a:buSzPct val="111111"/>
              <a:buFont typeface="Arial MT"/>
              <a:buChar char="•"/>
              <a:tabLst>
                <a:tab pos="356235" algn="l"/>
              </a:tabLst>
            </a:pP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La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détection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 comportementale</a:t>
            </a:r>
            <a:r>
              <a:rPr sz="1800" spc="-5" dirty="0">
                <a:latin typeface="Calibri"/>
                <a:cs typeface="Calibri"/>
              </a:rPr>
              <a:t>,</a:t>
            </a:r>
            <a:r>
              <a:rPr sz="1800" dirty="0">
                <a:latin typeface="Calibri"/>
                <a:cs typeface="Calibri"/>
              </a:rPr>
              <a:t> appelée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aussi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détection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 par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apprentissage</a:t>
            </a:r>
            <a:r>
              <a:rPr sz="1800" spc="-5" dirty="0">
                <a:latin typeface="Calibri"/>
                <a:cs typeface="Calibri"/>
              </a:rPr>
              <a:t>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consiste</a:t>
            </a:r>
            <a:r>
              <a:rPr sz="1800" dirty="0">
                <a:latin typeface="Calibri"/>
                <a:cs typeface="Calibri"/>
              </a:rPr>
              <a:t> à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comparer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l’activité</a:t>
            </a:r>
            <a:r>
              <a:rPr sz="1800" spc="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d’un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utilisateur</a:t>
            </a:r>
            <a:r>
              <a:rPr sz="1800" dirty="0">
                <a:latin typeface="Calibri"/>
                <a:cs typeface="Calibri"/>
              </a:rPr>
              <a:t> à</a:t>
            </a:r>
            <a:r>
              <a:rPr sz="1800" spc="5" dirty="0">
                <a:latin typeface="Calibri"/>
                <a:cs typeface="Calibri"/>
              </a:rPr>
              <a:t> un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référentiel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prédéfini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ce</a:t>
            </a:r>
            <a:r>
              <a:rPr sz="1800" dirty="0">
                <a:latin typeface="Calibri"/>
                <a:cs typeface="Calibri"/>
              </a:rPr>
              <a:t> qui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permet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détecter</a:t>
            </a:r>
            <a:r>
              <a:rPr sz="1800" dirty="0">
                <a:latin typeface="Calibri"/>
                <a:cs typeface="Calibri"/>
              </a:rPr>
              <a:t> des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attaques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connues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comme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l’accès</a:t>
            </a:r>
            <a:r>
              <a:rPr sz="1800" spc="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à</a:t>
            </a:r>
            <a:r>
              <a:rPr sz="1800" spc="4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une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ressource </a:t>
            </a:r>
            <a:r>
              <a:rPr sz="1800" dirty="0">
                <a:latin typeface="Calibri"/>
                <a:cs typeface="Calibri"/>
              </a:rPr>
              <a:t>à des </a:t>
            </a:r>
            <a:r>
              <a:rPr sz="1800" spc="-5" dirty="0">
                <a:latin typeface="Calibri"/>
                <a:cs typeface="Calibri"/>
              </a:rPr>
              <a:t>heures non habituelles ou </a:t>
            </a:r>
            <a:r>
              <a:rPr sz="1800" dirty="0">
                <a:latin typeface="Calibri"/>
                <a:cs typeface="Calibri"/>
              </a:rPr>
              <a:t>l’envoi </a:t>
            </a:r>
            <a:r>
              <a:rPr sz="1800" spc="-5" dirty="0">
                <a:latin typeface="Calibri"/>
                <a:cs typeface="Calibri"/>
              </a:rPr>
              <a:t>d’une </a:t>
            </a:r>
            <a:r>
              <a:rPr sz="1800" dirty="0">
                <a:latin typeface="Calibri"/>
                <a:cs typeface="Calibri"/>
              </a:rPr>
              <a:t>requête </a:t>
            </a:r>
            <a:r>
              <a:rPr sz="1800" spc="-5" dirty="0">
                <a:latin typeface="Calibri"/>
                <a:cs typeface="Calibri"/>
              </a:rPr>
              <a:t>inhabituelle </a:t>
            </a:r>
            <a:r>
              <a:rPr sz="1800" dirty="0">
                <a:latin typeface="Calibri"/>
                <a:cs typeface="Calibri"/>
              </a:rPr>
              <a:t>à un serveur web sur un </a:t>
            </a:r>
            <a:r>
              <a:rPr sz="1800" spc="-5" dirty="0">
                <a:latin typeface="Calibri"/>
                <a:cs typeface="Calibri"/>
              </a:rPr>
              <a:t>port </a:t>
            </a:r>
            <a:r>
              <a:rPr sz="1800" dirty="0">
                <a:latin typeface="Calibri"/>
                <a:cs typeface="Calibri"/>
              </a:rPr>
              <a:t>fermé </a:t>
            </a:r>
            <a:r>
              <a:rPr sz="1800" spc="-5" dirty="0">
                <a:latin typeface="Calibri"/>
                <a:cs typeface="Calibri"/>
              </a:rPr>
              <a:t>par </a:t>
            </a:r>
            <a:r>
              <a:rPr sz="1800" dirty="0">
                <a:latin typeface="Calibri"/>
                <a:cs typeface="Calibri"/>
              </a:rPr>
              <a:t> exemple.</a:t>
            </a:r>
            <a:endParaRPr sz="180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30100"/>
              </a:lnSpc>
              <a:spcBef>
                <a:spcPts val="600"/>
              </a:spcBef>
              <a:buSzPct val="111111"/>
              <a:buFont typeface="Arial MT"/>
              <a:buChar char="•"/>
              <a:tabLst>
                <a:tab pos="356235" algn="l"/>
              </a:tabLst>
            </a:pPr>
            <a:r>
              <a:rPr sz="1800" spc="-5" dirty="0">
                <a:latin typeface="Calibri"/>
                <a:cs typeface="Calibri"/>
              </a:rPr>
              <a:t>L’IDS </a:t>
            </a:r>
            <a:r>
              <a:rPr sz="1800" dirty="0">
                <a:latin typeface="Calibri"/>
                <a:cs typeface="Calibri"/>
              </a:rPr>
              <a:t>établit un modèle de </a:t>
            </a:r>
            <a:r>
              <a:rPr sz="1800" spc="-5" dirty="0">
                <a:latin typeface="Calibri"/>
                <a:cs typeface="Calibri"/>
              </a:rPr>
              <a:t>trafic normal </a:t>
            </a:r>
            <a:r>
              <a:rPr sz="1800" dirty="0">
                <a:latin typeface="Calibri"/>
                <a:cs typeface="Calibri"/>
              </a:rPr>
              <a:t>en se basant sur </a:t>
            </a:r>
            <a:r>
              <a:rPr sz="1800" spc="-5" dirty="0">
                <a:latin typeface="Calibri"/>
                <a:cs typeface="Calibri"/>
              </a:rPr>
              <a:t>certains paramètres comme la moyenne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connexions </a:t>
            </a:r>
            <a:r>
              <a:rPr sz="1800" dirty="0">
                <a:latin typeface="Calibri"/>
                <a:cs typeface="Calibri"/>
              </a:rPr>
              <a:t>et </a:t>
            </a:r>
            <a:r>
              <a:rPr sz="1800" spc="5" dirty="0">
                <a:latin typeface="Calibri"/>
                <a:cs typeface="Calibri"/>
              </a:rPr>
              <a:t>le 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type de </a:t>
            </a:r>
            <a:r>
              <a:rPr sz="1800" spc="-5" dirty="0">
                <a:latin typeface="Calibri"/>
                <a:cs typeface="Calibri"/>
              </a:rPr>
              <a:t>trafic </a:t>
            </a:r>
            <a:r>
              <a:rPr sz="1800" dirty="0">
                <a:latin typeface="Calibri"/>
                <a:cs typeface="Calibri"/>
              </a:rPr>
              <a:t>à des </a:t>
            </a:r>
            <a:r>
              <a:rPr sz="1800" spc="-5" dirty="0">
                <a:latin typeface="Calibri"/>
                <a:cs typeface="Calibri"/>
              </a:rPr>
              <a:t>heures </a:t>
            </a:r>
            <a:r>
              <a:rPr sz="1800" dirty="0">
                <a:latin typeface="Calibri"/>
                <a:cs typeface="Calibri"/>
              </a:rPr>
              <a:t>précises et </a:t>
            </a:r>
            <a:r>
              <a:rPr sz="1800" spc="-5" dirty="0">
                <a:latin typeface="Calibri"/>
                <a:cs typeface="Calibri"/>
              </a:rPr>
              <a:t>ensuite compare le </a:t>
            </a:r>
            <a:r>
              <a:rPr sz="1800" dirty="0">
                <a:latin typeface="Calibri"/>
                <a:cs typeface="Calibri"/>
              </a:rPr>
              <a:t>trafic actuel au modèle ou référence. </a:t>
            </a:r>
            <a:r>
              <a:rPr sz="1800" spc="-5" dirty="0">
                <a:latin typeface="Calibri"/>
                <a:cs typeface="Calibri"/>
              </a:rPr>
              <a:t>Si les </a:t>
            </a:r>
            <a:r>
              <a:rPr sz="1800" dirty="0">
                <a:latin typeface="Calibri"/>
                <a:cs typeface="Calibri"/>
              </a:rPr>
              <a:t>deux trafics </a:t>
            </a:r>
            <a:r>
              <a:rPr sz="1800" spc="-5" dirty="0">
                <a:latin typeface="Calibri"/>
                <a:cs typeface="Calibri"/>
              </a:rPr>
              <a:t>sont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trop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différents,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alors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pourrait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qu'une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attaque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soit </a:t>
            </a:r>
            <a:r>
              <a:rPr sz="1800" dirty="0">
                <a:latin typeface="Calibri"/>
                <a:cs typeface="Calibri"/>
              </a:rPr>
              <a:t>en </a:t>
            </a:r>
            <a:r>
              <a:rPr sz="1800" spc="-5" dirty="0">
                <a:latin typeface="Calibri"/>
                <a:cs typeface="Calibri"/>
              </a:rPr>
              <a:t>cours.</a:t>
            </a:r>
            <a:endParaRPr sz="1800">
              <a:latin typeface="Calibri"/>
              <a:cs typeface="Calibri"/>
            </a:endParaRPr>
          </a:p>
          <a:p>
            <a:pPr marL="355600" marR="5715" indent="-343535" algn="just">
              <a:lnSpc>
                <a:spcPct val="130000"/>
              </a:lnSpc>
              <a:spcBef>
                <a:spcPts val="600"/>
              </a:spcBef>
              <a:buSzPct val="111111"/>
              <a:buFont typeface="Arial MT"/>
              <a:buChar char="•"/>
              <a:tabLst>
                <a:tab pos="356235" algn="l"/>
              </a:tabLst>
            </a:pPr>
            <a:r>
              <a:rPr sz="1800" dirty="0">
                <a:latin typeface="Calibri"/>
                <a:cs typeface="Calibri"/>
              </a:rPr>
              <a:t>Ce type de </a:t>
            </a:r>
            <a:r>
              <a:rPr sz="1800" spc="-5" dirty="0">
                <a:latin typeface="Calibri"/>
                <a:cs typeface="Calibri"/>
              </a:rPr>
              <a:t>détection permet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détecter </a:t>
            </a:r>
            <a:r>
              <a:rPr sz="1800" dirty="0">
                <a:latin typeface="Calibri"/>
                <a:cs typeface="Calibri"/>
              </a:rPr>
              <a:t>des </a:t>
            </a:r>
            <a:r>
              <a:rPr sz="1800" spc="-5" dirty="0">
                <a:latin typeface="Calibri"/>
                <a:cs typeface="Calibri"/>
              </a:rPr>
              <a:t>nouvelles intrusions </a:t>
            </a:r>
            <a:r>
              <a:rPr sz="1800" dirty="0">
                <a:latin typeface="Calibri"/>
                <a:cs typeface="Calibri"/>
              </a:rPr>
              <a:t>si </a:t>
            </a:r>
            <a:r>
              <a:rPr sz="1800" spc="-5" dirty="0">
                <a:latin typeface="Calibri"/>
                <a:cs typeface="Calibri"/>
              </a:rPr>
              <a:t>les profils </a:t>
            </a:r>
            <a:r>
              <a:rPr sz="1800" dirty="0">
                <a:latin typeface="Calibri"/>
                <a:cs typeface="Calibri"/>
              </a:rPr>
              <a:t>ont été bien </a:t>
            </a:r>
            <a:r>
              <a:rPr sz="1800" spc="-5" dirty="0">
                <a:latin typeface="Calibri"/>
                <a:cs typeface="Calibri"/>
              </a:rPr>
              <a:t>définis ce </a:t>
            </a:r>
            <a:r>
              <a:rPr sz="1800" dirty="0">
                <a:latin typeface="Calibri"/>
                <a:cs typeface="Calibri"/>
              </a:rPr>
              <a:t>qui </a:t>
            </a:r>
            <a:r>
              <a:rPr sz="1800" spc="-5" dirty="0">
                <a:latin typeface="Calibri"/>
                <a:cs typeface="Calibri"/>
              </a:rPr>
              <a:t>n’est </a:t>
            </a:r>
            <a:r>
              <a:rPr sz="1800" dirty="0">
                <a:latin typeface="Calibri"/>
                <a:cs typeface="Calibri"/>
              </a:rPr>
              <a:t>pas </a:t>
            </a:r>
            <a:r>
              <a:rPr sz="1800" spc="-5" dirty="0">
                <a:latin typeface="Calibri"/>
                <a:cs typeface="Calibri"/>
              </a:rPr>
              <a:t>facile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parce </a:t>
            </a:r>
            <a:r>
              <a:rPr sz="1800" dirty="0">
                <a:latin typeface="Calibri"/>
                <a:cs typeface="Calibri"/>
              </a:rPr>
              <a:t>que </a:t>
            </a:r>
            <a:r>
              <a:rPr sz="1800" spc="-5" dirty="0">
                <a:latin typeface="Calibri"/>
                <a:cs typeface="Calibri"/>
              </a:rPr>
              <a:t>les</a:t>
            </a:r>
            <a:r>
              <a:rPr sz="1800" dirty="0">
                <a:latin typeface="Calibri"/>
                <a:cs typeface="Calibri"/>
              </a:rPr>
              <a:t> méthodes de </a:t>
            </a:r>
            <a:r>
              <a:rPr sz="1800" spc="-5" dirty="0">
                <a:latin typeface="Calibri"/>
                <a:cs typeface="Calibri"/>
              </a:rPr>
              <a:t>détection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comportementale </a:t>
            </a:r>
            <a:r>
              <a:rPr sz="1800" dirty="0">
                <a:latin typeface="Calibri"/>
                <a:cs typeface="Calibri"/>
              </a:rPr>
              <a:t>se basent sur des </a:t>
            </a:r>
            <a:r>
              <a:rPr sz="1800" spc="-10" dirty="0">
                <a:latin typeface="Calibri"/>
                <a:cs typeface="Calibri"/>
              </a:rPr>
              <a:t>outils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complexité diverses</a:t>
            </a:r>
            <a:r>
              <a:rPr sz="1800" spc="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comme</a:t>
            </a:r>
            <a:r>
              <a:rPr sz="1800" spc="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les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seuils, l’intelligence artificielle, </a:t>
            </a:r>
            <a:r>
              <a:rPr sz="1800" dirty="0">
                <a:latin typeface="Calibri"/>
                <a:cs typeface="Calibri"/>
              </a:rPr>
              <a:t>les méthodes </a:t>
            </a:r>
            <a:r>
              <a:rPr sz="1800" spc="-5" dirty="0">
                <a:latin typeface="Calibri"/>
                <a:cs typeface="Calibri"/>
              </a:rPr>
              <a:t>probabilistes ou </a:t>
            </a:r>
            <a:r>
              <a:rPr sz="1800" dirty="0">
                <a:latin typeface="Calibri"/>
                <a:cs typeface="Calibri"/>
              </a:rPr>
              <a:t>même </a:t>
            </a:r>
            <a:r>
              <a:rPr sz="1800" spc="-5" dirty="0">
                <a:latin typeface="Calibri"/>
                <a:cs typeface="Calibri"/>
              </a:rPr>
              <a:t>la </a:t>
            </a:r>
            <a:r>
              <a:rPr sz="1800" dirty="0">
                <a:latin typeface="Calibri"/>
                <a:cs typeface="Calibri"/>
              </a:rPr>
              <a:t>Big </a:t>
            </a:r>
            <a:r>
              <a:rPr sz="1800" spc="-5" dirty="0">
                <a:latin typeface="Calibri"/>
                <a:cs typeface="Calibri"/>
              </a:rPr>
              <a:t>Data ce </a:t>
            </a:r>
            <a:r>
              <a:rPr sz="1800" dirty="0">
                <a:latin typeface="Calibri"/>
                <a:cs typeface="Calibri"/>
              </a:rPr>
              <a:t>qui rend </a:t>
            </a:r>
            <a:r>
              <a:rPr sz="1800" spc="-5" dirty="0">
                <a:latin typeface="Calibri"/>
                <a:cs typeface="Calibri"/>
              </a:rPr>
              <a:t>forcément le système très </a:t>
            </a:r>
            <a:r>
              <a:rPr sz="1800" dirty="0">
                <a:latin typeface="Calibri"/>
                <a:cs typeface="Calibri"/>
              </a:rPr>
              <a:t> gourmand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 temps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calcul,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sans garantir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pour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autant</a:t>
            </a:r>
            <a:r>
              <a:rPr sz="1800" spc="-5" dirty="0">
                <a:latin typeface="Calibri"/>
                <a:cs typeface="Calibri"/>
              </a:rPr>
              <a:t> qu'il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génère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pas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fausses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alertes.</a:t>
            </a:r>
            <a:endParaRPr sz="1800">
              <a:latin typeface="Calibri"/>
              <a:cs typeface="Calibri"/>
            </a:endParaRPr>
          </a:p>
          <a:p>
            <a:pPr marL="355600" marR="6985" indent="-343535" algn="just">
              <a:lnSpc>
                <a:spcPct val="130000"/>
              </a:lnSpc>
              <a:spcBef>
                <a:spcPts val="600"/>
              </a:spcBef>
              <a:buSzPct val="111111"/>
              <a:buFont typeface="Arial MT"/>
              <a:buChar char="•"/>
              <a:tabLst>
                <a:tab pos="356235" algn="l"/>
              </a:tabLst>
            </a:pPr>
            <a:r>
              <a:rPr sz="1800" spc="-5" dirty="0">
                <a:latin typeface="Calibri"/>
                <a:cs typeface="Calibri"/>
              </a:rPr>
              <a:t>En outre, s’il </a:t>
            </a:r>
            <a:r>
              <a:rPr sz="1800" dirty="0">
                <a:latin typeface="Calibri"/>
                <a:cs typeface="Calibri"/>
              </a:rPr>
              <a:t>y a un grand </a:t>
            </a:r>
            <a:r>
              <a:rPr sz="1800" spc="-5" dirty="0">
                <a:latin typeface="Calibri"/>
                <a:cs typeface="Calibri"/>
              </a:rPr>
              <a:t>besoin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sécurité cela signifie </a:t>
            </a:r>
            <a:r>
              <a:rPr sz="1800" dirty="0">
                <a:latin typeface="Calibri"/>
                <a:cs typeface="Calibri"/>
              </a:rPr>
              <a:t>que </a:t>
            </a:r>
            <a:r>
              <a:rPr sz="1800" spc="-5" dirty="0">
                <a:latin typeface="Calibri"/>
                <a:cs typeface="Calibri"/>
              </a:rPr>
              <a:t>l’IDS devra </a:t>
            </a:r>
            <a:r>
              <a:rPr sz="1800" dirty="0">
                <a:latin typeface="Calibri"/>
                <a:cs typeface="Calibri"/>
              </a:rPr>
              <a:t>analyser </a:t>
            </a:r>
            <a:r>
              <a:rPr sz="1800" spc="-5" dirty="0">
                <a:latin typeface="Calibri"/>
                <a:cs typeface="Calibri"/>
              </a:rPr>
              <a:t>plus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flux d’une </a:t>
            </a:r>
            <a:r>
              <a:rPr sz="1800" dirty="0">
                <a:latin typeface="Calibri"/>
                <a:cs typeface="Calibri"/>
              </a:rPr>
              <a:t>manière </a:t>
            </a:r>
            <a:r>
              <a:rPr sz="1800" spc="-5" dirty="0">
                <a:latin typeface="Calibri"/>
                <a:cs typeface="Calibri"/>
              </a:rPr>
              <a:t>plus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détaillée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nécessitant</a:t>
            </a:r>
            <a:r>
              <a:rPr sz="1800" dirty="0">
                <a:latin typeface="Calibri"/>
                <a:cs typeface="Calibri"/>
              </a:rPr>
              <a:t> 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bien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meilleures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performances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matérielles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logicielles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pour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l’IDS.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3989" y="235077"/>
            <a:ext cx="5410835" cy="1064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5" dirty="0"/>
          </a:p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Rule</a:t>
            </a:r>
            <a:r>
              <a:rPr sz="4000" b="1" spc="-25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based IDS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10997" y="1570735"/>
            <a:ext cx="11261725" cy="452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797979"/>
              </a:buClr>
              <a:buSzPct val="166666"/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Calibri"/>
                <a:cs typeface="Calibri"/>
              </a:rPr>
              <a:t>C’est </a:t>
            </a:r>
            <a:r>
              <a:rPr sz="1800" dirty="0">
                <a:latin typeface="Calibri"/>
                <a:cs typeface="Calibri"/>
              </a:rPr>
              <a:t>une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technique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détection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basée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sur</a:t>
            </a:r>
            <a:r>
              <a:rPr sz="1800" spc="-5" dirty="0">
                <a:latin typeface="Calibri"/>
                <a:cs typeface="Calibri"/>
              </a:rPr>
              <a:t> la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comparaison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évènements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avec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ensemble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règles.</a:t>
            </a:r>
            <a:endParaRPr sz="1800">
              <a:latin typeface="Calibri"/>
              <a:cs typeface="Calibri"/>
            </a:endParaRPr>
          </a:p>
          <a:p>
            <a:pPr marL="390525" algn="ctr">
              <a:lnSpc>
                <a:spcPct val="100000"/>
              </a:lnSpc>
              <a:spcBef>
                <a:spcPts val="2320"/>
              </a:spcBef>
              <a:tabLst>
                <a:tab pos="5187315" algn="l"/>
              </a:tabLst>
            </a:pP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Drop</a:t>
            </a:r>
            <a:r>
              <a:rPr sz="2000" b="1" spc="4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icmp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any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any</a:t>
            </a:r>
            <a:r>
              <a:rPr sz="20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$HOME_NET</a:t>
            </a:r>
            <a:r>
              <a:rPr sz="20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any  (msg:	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"tentative</a:t>
            </a:r>
            <a:r>
              <a:rPr sz="20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ping"</a:t>
            </a:r>
            <a:r>
              <a:rPr sz="20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;</a:t>
            </a:r>
            <a:r>
              <a:rPr sz="20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…)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Clr>
                <a:srgbClr val="797979"/>
              </a:buClr>
              <a:buSzPct val="165000"/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Utilisation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règles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 </a:t>
            </a:r>
            <a:r>
              <a:rPr sz="2000" spc="-5" dirty="0">
                <a:latin typeface="Calibri"/>
                <a:cs typeface="Calibri"/>
              </a:rPr>
              <a:t>base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condition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if/else </a:t>
            </a:r>
            <a:r>
              <a:rPr sz="2000" spc="-5" dirty="0">
                <a:latin typeface="Calibri"/>
                <a:cs typeface="Calibri"/>
              </a:rPr>
              <a:t>dans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système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expert.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525"/>
              </a:spcBef>
              <a:buClr>
                <a:srgbClr val="797979"/>
              </a:buClr>
              <a:buSzPct val="165000"/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L’utilisation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d'un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système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expert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permet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d’intégrer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caractéristiques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5" dirty="0">
                <a:latin typeface="Calibri"/>
                <a:cs typeface="Calibri"/>
              </a:rPr>
              <a:t>l'intelligence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artificielle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520"/>
              </a:spcBef>
              <a:buClr>
                <a:srgbClr val="797979"/>
              </a:buClr>
              <a:buSzPct val="165000"/>
              <a:buFont typeface="Arial MT"/>
              <a:buChar char="•"/>
              <a:tabLst>
                <a:tab pos="354965" algn="l"/>
                <a:tab pos="355600" algn="l"/>
                <a:tab pos="836930" algn="l"/>
                <a:tab pos="1604645" algn="l"/>
                <a:tab pos="2601595" algn="l"/>
                <a:tab pos="3604895" algn="l"/>
                <a:tab pos="4180840" algn="l"/>
                <a:tab pos="5427980" algn="l"/>
                <a:tab pos="5811520" algn="l"/>
                <a:tab pos="6283960" algn="l"/>
                <a:tab pos="7559675" algn="l"/>
                <a:tab pos="9160510" algn="l"/>
                <a:tab pos="9734550" algn="l"/>
                <a:tab pos="10143490" algn="l"/>
              </a:tabLst>
            </a:pPr>
            <a:r>
              <a:rPr sz="2000" spc="-5" dirty="0">
                <a:latin typeface="Calibri"/>
                <a:cs typeface="Calibri"/>
              </a:rPr>
              <a:t>Les	</a:t>
            </a:r>
            <a:r>
              <a:rPr sz="2000" dirty="0">
                <a:latin typeface="Calibri"/>
                <a:cs typeface="Calibri"/>
              </a:rPr>
              <a:t>règles	</a:t>
            </a:r>
            <a:r>
              <a:rPr sz="2000" spc="-5" dirty="0">
                <a:latin typeface="Calibri"/>
                <a:cs typeface="Calibri"/>
              </a:rPr>
              <a:t>utilisées	peuvent	</a:t>
            </a:r>
            <a:r>
              <a:rPr sz="2000" dirty="0">
                <a:latin typeface="Calibri"/>
                <a:cs typeface="Calibri"/>
              </a:rPr>
              <a:t>être	</a:t>
            </a:r>
            <a:r>
              <a:rPr sz="2000" spc="-5" dirty="0">
                <a:latin typeface="Calibri"/>
                <a:cs typeface="Calibri"/>
              </a:rPr>
              <a:t>complexes	</a:t>
            </a:r>
            <a:r>
              <a:rPr sz="2000" dirty="0">
                <a:latin typeface="Calibri"/>
                <a:cs typeface="Calibri"/>
              </a:rPr>
              <a:t>ce	</a:t>
            </a:r>
            <a:r>
              <a:rPr sz="2000" spc="-5" dirty="0">
                <a:latin typeface="Calibri"/>
                <a:cs typeface="Calibri"/>
              </a:rPr>
              <a:t>qui	demande	généralement	plus	</a:t>
            </a:r>
            <a:r>
              <a:rPr sz="2000" dirty="0">
                <a:latin typeface="Calibri"/>
                <a:cs typeface="Calibri"/>
              </a:rPr>
              <a:t>de	</a:t>
            </a:r>
            <a:r>
              <a:rPr sz="2000" spc="-5" dirty="0">
                <a:latin typeface="Calibri"/>
                <a:cs typeface="Calibri"/>
              </a:rPr>
              <a:t>ressources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320"/>
              </a:spcBef>
            </a:pPr>
            <a:r>
              <a:rPr sz="2000" spc="-5" dirty="0">
                <a:latin typeface="Calibri"/>
                <a:cs typeface="Calibri"/>
              </a:rPr>
              <a:t>matérielles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temps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43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traitement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 </a:t>
            </a:r>
            <a:r>
              <a:rPr sz="2000" dirty="0">
                <a:latin typeface="Calibri"/>
                <a:cs typeface="Calibri"/>
              </a:rPr>
              <a:t>activités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Clr>
                <a:srgbClr val="797979"/>
              </a:buClr>
              <a:buSzPct val="165000"/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La signalisation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par </a:t>
            </a:r>
            <a:r>
              <a:rPr sz="2000" dirty="0">
                <a:latin typeface="Calibri"/>
                <a:cs typeface="Calibri"/>
              </a:rPr>
              <a:t>alerte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suite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attaque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intrusion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n’est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temps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réel.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520"/>
              </a:spcBef>
              <a:buClr>
                <a:srgbClr val="797979"/>
              </a:buClr>
              <a:buSzPct val="165000"/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Cette </a:t>
            </a:r>
            <a:r>
              <a:rPr sz="2000" dirty="0">
                <a:latin typeface="Calibri"/>
                <a:cs typeface="Calibri"/>
              </a:rPr>
              <a:t>technique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permet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pas</a:t>
            </a:r>
            <a:r>
              <a:rPr sz="2000" dirty="0">
                <a:latin typeface="Calibri"/>
                <a:cs typeface="Calibri"/>
              </a:rPr>
              <a:t> 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détecter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nouvelles</a:t>
            </a:r>
            <a:r>
              <a:rPr sz="2000" spc="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attaques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EF6A8-58E6-4446-F7C0-53A36D0F4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75CA41D-D66B-6445-1029-7FCB467CBB59}"/>
              </a:ext>
            </a:extLst>
          </p:cNvPr>
          <p:cNvSpPr/>
          <p:nvPr/>
        </p:nvSpPr>
        <p:spPr>
          <a:xfrm>
            <a:off x="838200" y="3962400"/>
            <a:ext cx="5257800" cy="5696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69936A2A-2450-66E6-BCED-4EFA4F748B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4569" y="507618"/>
            <a:ext cx="1012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Times New Roman"/>
                <a:cs typeface="Times New Roman"/>
              </a:rPr>
              <a:t>Plan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BE4AE2E-887C-A475-35C2-4EB2DDCA0E03}"/>
              </a:ext>
            </a:extLst>
          </p:cNvPr>
          <p:cNvSpPr txBox="1"/>
          <p:nvPr/>
        </p:nvSpPr>
        <p:spPr>
          <a:xfrm>
            <a:off x="11007597" y="6384213"/>
            <a:ext cx="346710" cy="28067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20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72649FA-E6BD-BD3B-5959-2FB1BF3EE204}"/>
              </a:ext>
            </a:extLst>
          </p:cNvPr>
          <p:cNvSpPr txBox="1"/>
          <p:nvPr/>
        </p:nvSpPr>
        <p:spPr>
          <a:xfrm>
            <a:off x="960120" y="1299598"/>
            <a:ext cx="10363707" cy="51166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Introduction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Concept </a:t>
            </a:r>
            <a:r>
              <a:rPr lang="en-US" altLang="en-US" sz="2800" dirty="0" err="1"/>
              <a:t>d’intrusion</a:t>
            </a:r>
            <a:endParaRPr lang="en-US" altLang="en-US" sz="2800" dirty="0"/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IDS (Intrusion Detection System) 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Les </a:t>
            </a:r>
            <a:r>
              <a:rPr lang="en-US" altLang="en-US" sz="2800" dirty="0" err="1"/>
              <a:t>méthodes</a:t>
            </a:r>
            <a:r>
              <a:rPr lang="en-US" altLang="en-US" sz="2800" dirty="0"/>
              <a:t> de </a:t>
            </a:r>
            <a:r>
              <a:rPr lang="en-US" altLang="en-US" sz="2800" dirty="0" err="1"/>
              <a:t>détection</a:t>
            </a:r>
            <a:endParaRPr lang="en-US" altLang="en-US" sz="2800" dirty="0"/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IPS (Intrusion Prevention System)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err="1"/>
              <a:t>Comparaison</a:t>
            </a:r>
            <a:r>
              <a:rPr lang="en-US" altLang="en-US" sz="2800" dirty="0"/>
              <a:t> IDS vs IPS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Solution IDS/IPS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err="1"/>
              <a:t>Défis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actuels</a:t>
            </a:r>
            <a:r>
              <a:rPr lang="en-US" altLang="en-US" sz="2800" dirty="0"/>
              <a:t> et </a:t>
            </a:r>
            <a:r>
              <a:rPr lang="en-US" altLang="en-US" sz="2800" dirty="0" err="1"/>
              <a:t>intégration</a:t>
            </a:r>
            <a:r>
              <a:rPr lang="en-US" altLang="en-US" sz="2800" dirty="0"/>
              <a:t> SOC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6256DE3E-F85C-634D-F6C9-4E11923F7E5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884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3989" y="235077"/>
            <a:ext cx="8004811" cy="10586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5" dirty="0"/>
          </a:p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IPS</a:t>
            </a:r>
            <a:r>
              <a:rPr lang="fr-FR" sz="4000" b="1" spc="-5" dirty="0">
                <a:latin typeface="Times New Roman"/>
                <a:cs typeface="Times New Roman"/>
              </a:rPr>
              <a:t> (Intrusion Prevention System)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1263" y="1607482"/>
            <a:ext cx="11582400" cy="87884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000" dirty="0">
                <a:latin typeface="Arial MT"/>
                <a:cs typeface="Arial MT"/>
              </a:rPr>
              <a:t>Un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IPS</a:t>
            </a:r>
            <a:r>
              <a:rPr sz="2000" b="1" spc="1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spc="-5" dirty="0">
                <a:latin typeface="Arial MT"/>
                <a:cs typeface="Arial MT"/>
              </a:rPr>
              <a:t>(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Système</a:t>
            </a:r>
            <a:r>
              <a:rPr sz="2000" b="1" spc="1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de</a:t>
            </a:r>
            <a:r>
              <a:rPr sz="2000" b="1" spc="1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prévention</a:t>
            </a:r>
            <a:r>
              <a:rPr sz="2000" b="1" spc="1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d’intrusion</a:t>
            </a:r>
            <a:r>
              <a:rPr sz="2000" spc="-5" dirty="0">
                <a:latin typeface="Arial MT"/>
                <a:cs typeface="Arial MT"/>
              </a:rPr>
              <a:t>)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est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ensemble</a:t>
            </a:r>
            <a:r>
              <a:rPr sz="2000" spc="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composants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logiciels</a:t>
            </a:r>
            <a:r>
              <a:rPr sz="2000" spc="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matériels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000" dirty="0">
                <a:latin typeface="Arial MT"/>
                <a:cs typeface="Arial MT"/>
              </a:rPr>
              <a:t>dont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la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fonction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principale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est</a:t>
            </a:r>
            <a:r>
              <a:rPr sz="2000" spc="-5" dirty="0">
                <a:latin typeface="Arial MT"/>
                <a:cs typeface="Arial MT"/>
              </a:rPr>
              <a:t> d’empêcher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toute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activité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suspecte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détectée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au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sein</a:t>
            </a:r>
            <a:r>
              <a:rPr sz="2000" spc="-5" dirty="0">
                <a:latin typeface="Arial MT"/>
                <a:cs typeface="Arial MT"/>
              </a:rPr>
              <a:t> d’un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système.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9864" y="3518915"/>
            <a:ext cx="8706612" cy="222046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07597" y="6384213"/>
            <a:ext cx="346710" cy="28067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21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5FA86F-1ABF-BF26-6132-F4C7891B7C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lang="en-GB" smtClean="0"/>
              <a:t>21</a:t>
            </a:fld>
            <a:endParaRPr lang="en-GB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3989" y="235077"/>
            <a:ext cx="8448040" cy="1064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5" dirty="0"/>
          </a:p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lang="en-GB" sz="4000" b="1" spc="-5" dirty="0" err="1"/>
              <a:t>Fonctionnement</a:t>
            </a:r>
            <a:r>
              <a:rPr lang="en-GB" sz="4000" b="1" spc="5" dirty="0"/>
              <a:t> </a:t>
            </a:r>
            <a:r>
              <a:rPr lang="en-GB" sz="4000" b="1" spc="-5" dirty="0"/>
              <a:t>d’un</a:t>
            </a:r>
            <a:r>
              <a:rPr lang="en-GB" sz="4000" b="1" spc="-20" dirty="0"/>
              <a:t> </a:t>
            </a:r>
            <a:r>
              <a:rPr lang="en-GB" sz="4000" b="1" spc="-5" dirty="0"/>
              <a:t>IPS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3228" y="1665576"/>
            <a:ext cx="11768455" cy="520001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411480" indent="-399415">
              <a:lnSpc>
                <a:spcPct val="100000"/>
              </a:lnSpc>
              <a:spcBef>
                <a:spcPts val="315"/>
              </a:spcBef>
              <a:buClr>
                <a:srgbClr val="797979"/>
              </a:buClr>
              <a:buSzPct val="150000"/>
              <a:buFont typeface="Arial MT"/>
              <a:buChar char="•"/>
              <a:tabLst>
                <a:tab pos="411480" algn="l"/>
                <a:tab pos="412115" algn="l"/>
              </a:tabLst>
            </a:pPr>
            <a:r>
              <a:rPr sz="2000" spc="-5" dirty="0">
                <a:latin typeface="Calibri"/>
                <a:cs typeface="Calibri"/>
              </a:rPr>
              <a:t>L'IDS </a:t>
            </a:r>
            <a:r>
              <a:rPr sz="2000" dirty="0">
                <a:latin typeface="Calibri"/>
                <a:cs typeface="Calibri"/>
              </a:rPr>
              <a:t>traditionnel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</a:t>
            </a:r>
            <a:r>
              <a:rPr sz="2000" spc="-5" dirty="0">
                <a:latin typeface="Calibri"/>
                <a:cs typeface="Calibri"/>
              </a:rPr>
              <a:t> détecte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qu'une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intrusion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qui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peut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être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</a:t>
            </a:r>
            <a:r>
              <a:rPr sz="2000" dirty="0">
                <a:latin typeface="Calibri"/>
                <a:cs typeface="Calibri"/>
              </a:rPr>
              <a:t> cours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envoie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une </a:t>
            </a:r>
            <a:r>
              <a:rPr sz="2000" spc="-5" dirty="0">
                <a:latin typeface="Calibri"/>
                <a:cs typeface="Calibri"/>
              </a:rPr>
              <a:t>alerte.</a:t>
            </a:r>
            <a:endParaRPr sz="2000">
              <a:latin typeface="Calibri"/>
              <a:cs typeface="Calibri"/>
            </a:endParaRPr>
          </a:p>
          <a:p>
            <a:pPr marL="413384" indent="-401320">
              <a:lnSpc>
                <a:spcPct val="100000"/>
              </a:lnSpc>
              <a:spcBef>
                <a:spcPts val="1320"/>
              </a:spcBef>
              <a:buClr>
                <a:srgbClr val="797979"/>
              </a:buClr>
              <a:buSzPct val="150000"/>
              <a:buFont typeface="Arial MT"/>
              <a:buChar char="•"/>
              <a:tabLst>
                <a:tab pos="413384" algn="l"/>
                <a:tab pos="414020" algn="l"/>
                <a:tab pos="6993255" algn="l"/>
              </a:tabLst>
            </a:pPr>
            <a:r>
              <a:rPr sz="2000" spc="-5" dirty="0">
                <a:latin typeface="Calibri"/>
                <a:cs typeface="Calibri"/>
              </a:rPr>
              <a:t>Un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IPS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système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similaire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aux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IDS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permettant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prendre	</a:t>
            </a:r>
            <a:r>
              <a:rPr sz="2000" spc="-5" dirty="0">
                <a:latin typeface="Calibri"/>
                <a:cs typeface="Calibri"/>
              </a:rPr>
              <a:t>des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mesures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préventives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afin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diminuer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720"/>
              </a:spcBef>
            </a:pPr>
            <a:r>
              <a:rPr sz="2000" spc="-5" dirty="0">
                <a:latin typeface="Calibri"/>
                <a:cs typeface="Calibri"/>
              </a:rPr>
              <a:t>impacts</a:t>
            </a:r>
            <a:r>
              <a:rPr sz="2000" dirty="0">
                <a:latin typeface="Calibri"/>
                <a:cs typeface="Calibri"/>
              </a:rPr>
              <a:t> d'une</a:t>
            </a:r>
            <a:r>
              <a:rPr sz="2000" spc="40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attaque.</a:t>
            </a:r>
            <a:endParaRPr sz="2000">
              <a:latin typeface="Calibri"/>
              <a:cs typeface="Calibri"/>
            </a:endParaRPr>
          </a:p>
          <a:p>
            <a:pPr marL="355600" marR="15240" indent="-342900">
              <a:lnSpc>
                <a:spcPct val="130000"/>
              </a:lnSpc>
              <a:spcBef>
                <a:spcPts val="605"/>
              </a:spcBef>
              <a:buClr>
                <a:srgbClr val="797979"/>
              </a:buClr>
              <a:buSzPct val="150000"/>
              <a:buFont typeface="Arial MT"/>
              <a:buChar char="•"/>
              <a:tabLst>
                <a:tab pos="413384" algn="l"/>
                <a:tab pos="414020" algn="l"/>
              </a:tabLst>
            </a:pPr>
            <a:r>
              <a:rPr dirty="0"/>
              <a:t>	</a:t>
            </a:r>
            <a:r>
              <a:rPr sz="2000" dirty="0">
                <a:latin typeface="Calibri"/>
                <a:cs typeface="Calibri"/>
              </a:rPr>
              <a:t>Ainsi,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IPS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technique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contremesure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préventive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et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proactive,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alors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qu'un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IDS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technologie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contremesure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détective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(alerte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cours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ou </a:t>
            </a:r>
            <a:r>
              <a:rPr sz="2000" dirty="0">
                <a:latin typeface="Calibri"/>
                <a:cs typeface="Calibri"/>
              </a:rPr>
              <a:t>après</a:t>
            </a:r>
            <a:r>
              <a:rPr sz="2000" spc="-5" dirty="0">
                <a:latin typeface="Calibri"/>
                <a:cs typeface="Calibri"/>
              </a:rPr>
              <a:t> impact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4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l'attaque)</a:t>
            </a:r>
            <a:endParaRPr sz="2000">
              <a:latin typeface="Calibri"/>
              <a:cs typeface="Calibri"/>
            </a:endParaRPr>
          </a:p>
          <a:p>
            <a:pPr marL="411480" indent="-399415">
              <a:lnSpc>
                <a:spcPct val="100000"/>
              </a:lnSpc>
              <a:spcBef>
                <a:spcPts val="1320"/>
              </a:spcBef>
              <a:buClr>
                <a:srgbClr val="797979"/>
              </a:buClr>
              <a:buSzPct val="150000"/>
              <a:buFont typeface="Arial MT"/>
              <a:buChar char="•"/>
              <a:tabLst>
                <a:tab pos="411480" algn="l"/>
                <a:tab pos="412115" algn="l"/>
              </a:tabLst>
            </a:pPr>
            <a:r>
              <a:rPr sz="2000" spc="-5" dirty="0">
                <a:latin typeface="Calibri"/>
                <a:cs typeface="Calibri"/>
              </a:rPr>
              <a:t>Il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existe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deux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d'IPS: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IPS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réseau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b="1" dirty="0">
                <a:latin typeface="Calibri"/>
                <a:cs typeface="Calibri"/>
              </a:rPr>
              <a:t>NIPS</a:t>
            </a:r>
            <a:r>
              <a:rPr sz="2000" dirty="0">
                <a:latin typeface="Calibri"/>
                <a:cs typeface="Calibri"/>
              </a:rPr>
              <a:t>)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IPS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hôte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b="1" dirty="0">
                <a:latin typeface="Calibri"/>
                <a:cs typeface="Calibri"/>
              </a:rPr>
              <a:t>HIPS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481965" indent="-457834">
              <a:lnSpc>
                <a:spcPct val="100000"/>
              </a:lnSpc>
              <a:spcBef>
                <a:spcPts val="1320"/>
              </a:spcBef>
              <a:buClr>
                <a:srgbClr val="797979"/>
              </a:buClr>
              <a:buSzPct val="150000"/>
              <a:buFont typeface="Arial MT"/>
              <a:buChar char="•"/>
              <a:tabLst>
                <a:tab pos="481965" algn="l"/>
                <a:tab pos="4826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l’inverse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d’un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NIDS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qui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fonctionne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 mode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promiscuité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(positionné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comme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 </a:t>
            </a:r>
            <a:r>
              <a:rPr sz="2000" spc="-5" dirty="0">
                <a:latin typeface="Calibri"/>
                <a:cs typeface="Calibri"/>
              </a:rPr>
              <a:t>sniffer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réseau)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endParaRPr sz="2000">
              <a:latin typeface="Calibri"/>
              <a:cs typeface="Calibri"/>
            </a:endParaRPr>
          </a:p>
          <a:p>
            <a:pPr marL="481965">
              <a:lnSpc>
                <a:spcPct val="100000"/>
              </a:lnSpc>
              <a:spcBef>
                <a:spcPts val="720"/>
              </a:spcBef>
            </a:pPr>
            <a:r>
              <a:rPr sz="2000" dirty="0">
                <a:latin typeface="Calibri"/>
                <a:cs typeface="Calibri"/>
              </a:rPr>
              <a:t>NIPS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fonctionner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coupure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sur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réseau.</a:t>
            </a:r>
            <a:endParaRPr sz="2000">
              <a:latin typeface="Calibri"/>
              <a:cs typeface="Calibri"/>
            </a:endParaRPr>
          </a:p>
          <a:p>
            <a:pPr marL="481965" indent="-457834">
              <a:lnSpc>
                <a:spcPct val="100000"/>
              </a:lnSpc>
              <a:spcBef>
                <a:spcPts val="1320"/>
              </a:spcBef>
              <a:buClr>
                <a:srgbClr val="797979"/>
              </a:buClr>
              <a:buSzPct val="150000"/>
              <a:buFont typeface="Arial MT"/>
              <a:buChar char="•"/>
              <a:tabLst>
                <a:tab pos="481965" algn="l"/>
                <a:tab pos="482600" algn="l"/>
              </a:tabLst>
            </a:pPr>
            <a:r>
              <a:rPr sz="2000" spc="-5" dirty="0">
                <a:latin typeface="Calibri"/>
                <a:cs typeface="Calibri"/>
              </a:rPr>
              <a:t>Les </a:t>
            </a:r>
            <a:r>
              <a:rPr sz="2000" dirty="0">
                <a:latin typeface="Calibri"/>
                <a:cs typeface="Calibri"/>
              </a:rPr>
              <a:t>NIPS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peuvent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bloquer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immédiatement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intrusions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quel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4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soit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protocole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endParaRPr sz="2000">
              <a:latin typeface="Calibri"/>
              <a:cs typeface="Calibri"/>
            </a:endParaRPr>
          </a:p>
          <a:p>
            <a:pPr marL="481965">
              <a:lnSpc>
                <a:spcPct val="100000"/>
              </a:lnSpc>
              <a:spcBef>
                <a:spcPts val="720"/>
              </a:spcBef>
            </a:pPr>
            <a:r>
              <a:rPr sz="2000" dirty="0">
                <a:latin typeface="Calibri"/>
                <a:cs typeface="Calibri"/>
              </a:rPr>
              <a:t>transport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utilisé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sans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reconfiguration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d’un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équipement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tierce,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qui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induit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NIPS est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constitué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endParaRPr sz="2000">
              <a:latin typeface="Calibri"/>
              <a:cs typeface="Calibri"/>
            </a:endParaRPr>
          </a:p>
          <a:p>
            <a:pPr marL="481965">
              <a:lnSpc>
                <a:spcPct val="100000"/>
              </a:lnSpc>
              <a:spcBef>
                <a:spcPts val="725"/>
              </a:spcBef>
            </a:pPr>
            <a:r>
              <a:rPr sz="2000" dirty="0">
                <a:latin typeface="Calibri"/>
                <a:cs typeface="Calibri"/>
              </a:rPr>
              <a:t>natif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d’une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technique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5" dirty="0">
                <a:latin typeface="Calibri"/>
                <a:cs typeface="Calibri"/>
              </a:rPr>
              <a:t>filtrage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paquets et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moyens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blocges</a:t>
            </a:r>
            <a:endParaRPr sz="2000">
              <a:latin typeface="Calibri"/>
              <a:cs typeface="Calibri"/>
            </a:endParaRPr>
          </a:p>
          <a:p>
            <a:pPr marL="481965" indent="-457834">
              <a:lnSpc>
                <a:spcPct val="100000"/>
              </a:lnSpc>
              <a:spcBef>
                <a:spcPts val="1320"/>
              </a:spcBef>
              <a:buClr>
                <a:srgbClr val="797979"/>
              </a:buClr>
              <a:buSzPct val="150000"/>
              <a:buFont typeface="Arial MT"/>
              <a:buChar char="•"/>
              <a:tabLst>
                <a:tab pos="481965" algn="l"/>
                <a:tab pos="482600" algn="l"/>
              </a:tabLst>
            </a:pPr>
            <a:r>
              <a:rPr sz="2000" spc="-5" dirty="0">
                <a:latin typeface="Calibri"/>
                <a:cs typeface="Calibri"/>
              </a:rPr>
              <a:t>L’IPS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remplace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pas</a:t>
            </a:r>
            <a:r>
              <a:rPr sz="2000" dirty="0">
                <a:latin typeface="Calibri"/>
                <a:cs typeface="Calibri"/>
              </a:rPr>
              <a:t> l’IDS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Firewall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205DDF8-30F8-3216-2BC8-FE195173EAC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lang="en-GB" smtClean="0"/>
              <a:t>22</a:t>
            </a:fld>
            <a:endParaRPr lang="en-GB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2479D-DE46-07C2-1CDF-A96D869C9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9229D7-0A17-538F-A824-8FBB84B4B600}"/>
              </a:ext>
            </a:extLst>
          </p:cNvPr>
          <p:cNvSpPr/>
          <p:nvPr/>
        </p:nvSpPr>
        <p:spPr>
          <a:xfrm>
            <a:off x="838200" y="4611965"/>
            <a:ext cx="5257800" cy="5696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2C723367-EE01-37AA-61EB-9016E76412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4569" y="507618"/>
            <a:ext cx="1012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Times New Roman"/>
                <a:cs typeface="Times New Roman"/>
              </a:rPr>
              <a:t>Plan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EED0BF9-4027-274C-6683-E4CF85C5FE54}"/>
              </a:ext>
            </a:extLst>
          </p:cNvPr>
          <p:cNvSpPr txBox="1"/>
          <p:nvPr/>
        </p:nvSpPr>
        <p:spPr>
          <a:xfrm>
            <a:off x="11007597" y="6384213"/>
            <a:ext cx="346710" cy="28067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23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7671480-53EC-05B4-E985-4D9B5AF3D189}"/>
              </a:ext>
            </a:extLst>
          </p:cNvPr>
          <p:cNvSpPr txBox="1"/>
          <p:nvPr/>
        </p:nvSpPr>
        <p:spPr>
          <a:xfrm>
            <a:off x="960120" y="1299598"/>
            <a:ext cx="10363707" cy="51166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Introduction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Concept </a:t>
            </a:r>
            <a:r>
              <a:rPr lang="en-US" altLang="en-US" sz="2800" dirty="0" err="1"/>
              <a:t>d’intrusion</a:t>
            </a:r>
            <a:endParaRPr lang="en-US" altLang="en-US" sz="2800" dirty="0"/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IDS (Intrusion Detection System) 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Les </a:t>
            </a:r>
            <a:r>
              <a:rPr lang="en-US" altLang="en-US" sz="2800" dirty="0" err="1"/>
              <a:t>méthodes</a:t>
            </a:r>
            <a:r>
              <a:rPr lang="en-US" altLang="en-US" sz="2800" dirty="0"/>
              <a:t> de </a:t>
            </a:r>
            <a:r>
              <a:rPr lang="en-US" altLang="en-US" sz="2800" dirty="0" err="1"/>
              <a:t>détection</a:t>
            </a:r>
            <a:endParaRPr lang="en-US" altLang="en-US" sz="2800" dirty="0"/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IPS (Intrusion Prevention System)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err="1"/>
              <a:t>Comparaison</a:t>
            </a:r>
            <a:r>
              <a:rPr lang="en-US" altLang="en-US" sz="2800" dirty="0"/>
              <a:t> IDS vs IPS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Solution IDS/IPS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err="1"/>
              <a:t>Défis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actuels</a:t>
            </a:r>
            <a:r>
              <a:rPr lang="en-US" altLang="en-US" sz="2800" dirty="0"/>
              <a:t> et </a:t>
            </a:r>
            <a:r>
              <a:rPr lang="en-US" altLang="en-US" sz="2800" dirty="0" err="1"/>
              <a:t>intégration</a:t>
            </a:r>
            <a:r>
              <a:rPr lang="en-US" altLang="en-US" sz="2800" dirty="0"/>
              <a:t> SOC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1B47A091-B36E-046C-40A5-34291421EEA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lang="en-GB" smtClean="0"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2970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1CD99E-CD50-40B7-0DF6-D80F790BF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4687"/>
            <a:ext cx="7090411" cy="899221"/>
          </a:xfrm>
        </p:spPr>
        <p:txBody>
          <a:bodyPr/>
          <a:lstStyle/>
          <a:p>
            <a:r>
              <a:rPr lang="en-GB" sz="4000" b="1" spc="-5" dirty="0" err="1"/>
              <a:t>Comparaison</a:t>
            </a:r>
            <a:r>
              <a:rPr lang="en-GB" sz="4000" b="1" spc="-5" dirty="0"/>
              <a:t> IDS vs IPS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ACBB616E-87DD-B4DC-8B3C-65E629693B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914579"/>
              </p:ext>
            </p:extLst>
          </p:nvPr>
        </p:nvGraphicFramePr>
        <p:xfrm>
          <a:off x="425795" y="1426418"/>
          <a:ext cx="11280696" cy="4943976"/>
        </p:xfrm>
        <a:graphic>
          <a:graphicData uri="http://schemas.openxmlformats.org/drawingml/2006/table">
            <a:tbl>
              <a:tblPr firstRow="1" bandCol="1">
                <a:tableStyleId>{69C7853C-536D-4A76-A0AE-DD22124D55A5}</a:tableStyleId>
              </a:tblPr>
              <a:tblGrid>
                <a:gridCol w="2088805">
                  <a:extLst>
                    <a:ext uri="{9D8B030D-6E8A-4147-A177-3AD203B41FA5}">
                      <a16:colId xmlns:a16="http://schemas.microsoft.com/office/drawing/2014/main" val="2616947048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767613133"/>
                    </a:ext>
                  </a:extLst>
                </a:gridCol>
                <a:gridCol w="4619891">
                  <a:extLst>
                    <a:ext uri="{9D8B030D-6E8A-4147-A177-3AD203B41FA5}">
                      <a16:colId xmlns:a16="http://schemas.microsoft.com/office/drawing/2014/main" val="83790199"/>
                    </a:ext>
                  </a:extLst>
                </a:gridCol>
              </a:tblGrid>
              <a:tr h="567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 err="1"/>
                        <a:t>Critère</a:t>
                      </a:r>
                      <a:endParaRPr lang="en-GB" sz="2000" b="1" dirty="0"/>
                    </a:p>
                  </a:txBody>
                  <a:tcPr marL="130033" marR="130033" marT="40369" marB="403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/>
                        <a:t>IDS (Intrusion Detection System)</a:t>
                      </a:r>
                    </a:p>
                  </a:txBody>
                  <a:tcPr marL="130033" marR="130033" marT="40369" marB="403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/>
                        <a:t>IPS (Intrusion Prevention System)</a:t>
                      </a:r>
                    </a:p>
                  </a:txBody>
                  <a:tcPr marL="130033" marR="130033" marT="40369" marB="40369" anchor="ctr"/>
                </a:tc>
                <a:extLst>
                  <a:ext uri="{0D108BD9-81ED-4DB2-BD59-A6C34878D82A}">
                    <a16:rowId xmlns:a16="http://schemas.microsoft.com/office/drawing/2014/main" val="3409458504"/>
                  </a:ext>
                </a:extLst>
              </a:tr>
              <a:tr h="8109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 err="1"/>
                        <a:t>Réactivité</a:t>
                      </a:r>
                      <a:endParaRPr lang="en-GB" sz="1800" b="1" dirty="0"/>
                    </a:p>
                  </a:txBody>
                  <a:tcPr marL="130033" marR="130033" marT="40369" marB="403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Détecte les attaques et génère des alertes</a:t>
                      </a:r>
                    </a:p>
                  </a:txBody>
                  <a:tcPr marL="130033" marR="130033" marT="40369" marB="40369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Détecte et bloque immédiatement le trafic suspect</a:t>
                      </a:r>
                    </a:p>
                  </a:txBody>
                  <a:tcPr marL="130033" marR="130033" marT="40369" marB="4036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135588"/>
                  </a:ext>
                </a:extLst>
              </a:tr>
              <a:tr h="571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 err="1"/>
                        <a:t>Positionnement</a:t>
                      </a:r>
                      <a:endParaRPr lang="en-GB" sz="1800" b="1" dirty="0"/>
                    </a:p>
                  </a:txBody>
                  <a:tcPr marL="130033" marR="130033" marT="40369" marB="403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Passif (hors bande, en mode surveillance)</a:t>
                      </a:r>
                    </a:p>
                  </a:txBody>
                  <a:tcPr marL="130033" marR="130033" marT="40369" marB="40369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Actif (</a:t>
                      </a:r>
                      <a:r>
                        <a:rPr lang="fr-FR" sz="1800" dirty="0" err="1"/>
                        <a:t>inline</a:t>
                      </a:r>
                      <a:r>
                        <a:rPr lang="fr-FR" sz="1800" dirty="0"/>
                        <a:t>, sur le chemin du trafic)</a:t>
                      </a:r>
                    </a:p>
                  </a:txBody>
                  <a:tcPr marL="130033" marR="130033" marT="40369" marB="4036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272543"/>
                  </a:ext>
                </a:extLst>
              </a:tr>
              <a:tr h="571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 err="1"/>
                        <a:t>Prévention</a:t>
                      </a:r>
                      <a:endParaRPr lang="en-GB" sz="1800" b="1" dirty="0"/>
                    </a:p>
                  </a:txBody>
                  <a:tcPr marL="130033" marR="130033" marT="40369" marB="403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N’empêche pas l’attaque, signale uniquement</a:t>
                      </a:r>
                    </a:p>
                  </a:txBody>
                  <a:tcPr marL="130033" marR="130033" marT="40369" marB="40369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 err="1"/>
                        <a:t>Empêche</a:t>
                      </a:r>
                      <a:r>
                        <a:rPr lang="en-GB" sz="1800" dirty="0"/>
                        <a:t> </a:t>
                      </a:r>
                      <a:r>
                        <a:rPr lang="en-GB" sz="1800" dirty="0" err="1"/>
                        <a:t>l’exécution</a:t>
                      </a:r>
                      <a:r>
                        <a:rPr lang="en-GB" sz="1800" dirty="0"/>
                        <a:t> de </a:t>
                      </a:r>
                      <a:r>
                        <a:rPr lang="en-GB" sz="1800" dirty="0" err="1"/>
                        <a:t>l’attaque</a:t>
                      </a:r>
                      <a:endParaRPr lang="en-GB" sz="1800" dirty="0"/>
                    </a:p>
                  </a:txBody>
                  <a:tcPr marL="130033" marR="130033" marT="40369" marB="4036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956685"/>
                  </a:ext>
                </a:extLst>
              </a:tr>
              <a:tr h="807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 err="1"/>
                        <a:t>Exemple</a:t>
                      </a:r>
                      <a:r>
                        <a:rPr lang="en-GB" sz="1800" b="1" dirty="0"/>
                        <a:t> </a:t>
                      </a:r>
                      <a:r>
                        <a:rPr lang="en-GB" sz="1800" b="1" dirty="0" err="1"/>
                        <a:t>d’usage</a:t>
                      </a:r>
                      <a:endParaRPr lang="en-GB" sz="1800" b="1" dirty="0"/>
                    </a:p>
                  </a:txBody>
                  <a:tcPr marL="130033" marR="130033" marT="40369" marB="403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Analyse de logs, détection de scans ou anomalies</a:t>
                      </a:r>
                    </a:p>
                  </a:txBody>
                  <a:tcPr marL="130033" marR="130033" marT="40369" marB="40369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Blocage d’un </a:t>
                      </a:r>
                      <a:r>
                        <a:rPr lang="fr-FR" sz="1800" dirty="0" err="1"/>
                        <a:t>DoS</a:t>
                      </a:r>
                      <a:r>
                        <a:rPr lang="fr-FR" sz="1800" dirty="0"/>
                        <a:t> ou d’une tentative d’injection</a:t>
                      </a:r>
                    </a:p>
                  </a:txBody>
                  <a:tcPr marL="130033" marR="130033" marT="40369" marB="4036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154007"/>
                  </a:ext>
                </a:extLst>
              </a:tr>
              <a:tr h="807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 err="1"/>
                        <a:t>Avantages</a:t>
                      </a:r>
                      <a:endParaRPr lang="en-GB" sz="1800" b="1" dirty="0"/>
                    </a:p>
                  </a:txBody>
                  <a:tcPr marL="130033" marR="130033" marT="40369" marB="403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Vision globale du réseau, détection fine des anomalies</a:t>
                      </a:r>
                    </a:p>
                  </a:txBody>
                  <a:tcPr marL="130033" marR="130033" marT="40369" marB="40369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Réponse automatique, réduction de l’impact</a:t>
                      </a:r>
                    </a:p>
                  </a:txBody>
                  <a:tcPr marL="130033" marR="130033" marT="40369" marB="4036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990101"/>
                  </a:ext>
                </a:extLst>
              </a:tr>
              <a:tr h="807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 err="1"/>
                        <a:t>Limites</a:t>
                      </a:r>
                      <a:endParaRPr lang="en-GB" sz="1800" b="1" dirty="0"/>
                    </a:p>
                  </a:txBody>
                  <a:tcPr marL="130033" marR="130033" marT="40369" marB="403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Ne bloque pas l’attaque, dépend de la qualité des règles</a:t>
                      </a:r>
                    </a:p>
                  </a:txBody>
                  <a:tcPr marL="130033" marR="130033" marT="40369" marB="40369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Risque de faux positifs qui bloquent du trafic légitime</a:t>
                      </a:r>
                    </a:p>
                  </a:txBody>
                  <a:tcPr marL="130033" marR="130033" marT="40369" marB="4036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845782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41C059B-C9D2-A5D8-B0B9-FBC68F74CF8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lang="en-GB" smtClean="0"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0889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35C6C-1CD6-BD56-60FD-010F0115D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B27318F-9CA4-094A-FDDC-B4C9961813A9}"/>
              </a:ext>
            </a:extLst>
          </p:cNvPr>
          <p:cNvSpPr/>
          <p:nvPr/>
        </p:nvSpPr>
        <p:spPr>
          <a:xfrm>
            <a:off x="838200" y="5221565"/>
            <a:ext cx="5257800" cy="5696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114290BA-2F44-87EB-708C-3C67280722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4569" y="507618"/>
            <a:ext cx="1012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Times New Roman"/>
                <a:cs typeface="Times New Roman"/>
              </a:rPr>
              <a:t>Plan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F731F17-9020-5584-9AAF-FBAC0B27A8B1}"/>
              </a:ext>
            </a:extLst>
          </p:cNvPr>
          <p:cNvSpPr txBox="1"/>
          <p:nvPr/>
        </p:nvSpPr>
        <p:spPr>
          <a:xfrm>
            <a:off x="11007597" y="6384213"/>
            <a:ext cx="346710" cy="28067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25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4FFDD6F-6352-D2C8-9B72-B94462AA40EC}"/>
              </a:ext>
            </a:extLst>
          </p:cNvPr>
          <p:cNvSpPr txBox="1"/>
          <p:nvPr/>
        </p:nvSpPr>
        <p:spPr>
          <a:xfrm>
            <a:off x="960120" y="1299598"/>
            <a:ext cx="10363707" cy="51166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Introduction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Concept </a:t>
            </a:r>
            <a:r>
              <a:rPr lang="en-US" altLang="en-US" sz="2800" dirty="0" err="1"/>
              <a:t>d’intrusion</a:t>
            </a:r>
            <a:endParaRPr lang="en-US" altLang="en-US" sz="2800" dirty="0"/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IDS (Intrusion Detection System) 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Les </a:t>
            </a:r>
            <a:r>
              <a:rPr lang="en-US" altLang="en-US" sz="2800" dirty="0" err="1"/>
              <a:t>méthodes</a:t>
            </a:r>
            <a:r>
              <a:rPr lang="en-US" altLang="en-US" sz="2800" dirty="0"/>
              <a:t> de </a:t>
            </a:r>
            <a:r>
              <a:rPr lang="en-US" altLang="en-US" sz="2800" dirty="0" err="1"/>
              <a:t>détection</a:t>
            </a:r>
            <a:endParaRPr lang="en-US" altLang="en-US" sz="2800" dirty="0"/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IPS (Intrusion Prevention System)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err="1"/>
              <a:t>Comparaison</a:t>
            </a:r>
            <a:r>
              <a:rPr lang="en-US" altLang="en-US" sz="2800" dirty="0"/>
              <a:t> IDS vs IPS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Solution IDS/IPS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err="1"/>
              <a:t>Défis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actuels</a:t>
            </a:r>
            <a:r>
              <a:rPr lang="en-US" altLang="en-US" sz="2800" dirty="0"/>
              <a:t> et </a:t>
            </a:r>
            <a:r>
              <a:rPr lang="en-US" altLang="en-US" sz="2800" dirty="0" err="1"/>
              <a:t>intégration</a:t>
            </a:r>
            <a:r>
              <a:rPr lang="en-US" altLang="en-US" sz="2800" dirty="0"/>
              <a:t> SOC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6F8C4278-1F0E-BEA0-5F60-BFC6214BDC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lang="en-GB" smtClean="0"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502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3989" y="235077"/>
            <a:ext cx="5410835" cy="1064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5" dirty="0"/>
          </a:p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Solutions</a:t>
            </a:r>
            <a:r>
              <a:rPr sz="4000" b="1" spc="-30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IDS/IPS</a:t>
            </a:r>
            <a:endParaRPr sz="4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249" y="1295400"/>
            <a:ext cx="10914873" cy="559079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4F9E7-2212-AB89-2F4A-0D642675A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02F197-02CB-B7E6-9307-3BF5EB45EBC3}"/>
              </a:ext>
            </a:extLst>
          </p:cNvPr>
          <p:cNvSpPr/>
          <p:nvPr/>
        </p:nvSpPr>
        <p:spPr>
          <a:xfrm>
            <a:off x="838200" y="5907365"/>
            <a:ext cx="5257800" cy="5696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726CAF8F-50C1-159C-365E-4EBF77A115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4569" y="507618"/>
            <a:ext cx="1012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Times New Roman"/>
                <a:cs typeface="Times New Roman"/>
              </a:rPr>
              <a:t>Plan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9379529-E9BC-9ADD-5ADB-9112001CBA57}"/>
              </a:ext>
            </a:extLst>
          </p:cNvPr>
          <p:cNvSpPr txBox="1"/>
          <p:nvPr/>
        </p:nvSpPr>
        <p:spPr>
          <a:xfrm>
            <a:off x="11007597" y="6384213"/>
            <a:ext cx="346710" cy="28067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27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6FB98C4-BDEC-43E5-6247-B494B0671F0D}"/>
              </a:ext>
            </a:extLst>
          </p:cNvPr>
          <p:cNvSpPr txBox="1"/>
          <p:nvPr/>
        </p:nvSpPr>
        <p:spPr>
          <a:xfrm>
            <a:off x="960120" y="1299598"/>
            <a:ext cx="10363707" cy="51166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Introduction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Concept </a:t>
            </a:r>
            <a:r>
              <a:rPr lang="en-US" altLang="en-US" sz="2800" dirty="0" err="1"/>
              <a:t>d’intrusion</a:t>
            </a:r>
            <a:endParaRPr lang="en-US" altLang="en-US" sz="2800" dirty="0"/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IDS (Intrusion Detection System) 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Les </a:t>
            </a:r>
            <a:r>
              <a:rPr lang="en-US" altLang="en-US" sz="2800" dirty="0" err="1"/>
              <a:t>méthodes</a:t>
            </a:r>
            <a:r>
              <a:rPr lang="en-US" altLang="en-US" sz="2800" dirty="0"/>
              <a:t> de </a:t>
            </a:r>
            <a:r>
              <a:rPr lang="en-US" altLang="en-US" sz="2800" dirty="0" err="1"/>
              <a:t>détection</a:t>
            </a:r>
            <a:endParaRPr lang="en-US" altLang="en-US" sz="2800" dirty="0"/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IPS (Intrusion Prevention System)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err="1"/>
              <a:t>Comparaison</a:t>
            </a:r>
            <a:r>
              <a:rPr lang="en-US" altLang="en-US" sz="2800" dirty="0"/>
              <a:t> IDS vs IPS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Solution IDS/IPS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err="1"/>
              <a:t>Défis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actuels</a:t>
            </a:r>
            <a:endParaRPr lang="en-US" altLang="en-US" sz="280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4764E469-A2E1-1332-BA08-4B660F3825B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lang="en-GB" smtClean="0"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882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4B0160-EE2E-D558-65CC-57E214B81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8382000" cy="762000"/>
          </a:xfrm>
        </p:spPr>
        <p:txBody>
          <a:bodyPr/>
          <a:lstStyle/>
          <a:p>
            <a:r>
              <a:rPr lang="fr-FR" sz="4000" b="1" spc="-5" dirty="0"/>
              <a:t>Défis et limites actuelles des IDS/IPS</a:t>
            </a:r>
            <a:endParaRPr lang="en-GB" sz="4000" b="1" spc="-5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837ED17-10D9-6616-FB9E-0C8DDF88FCE0}"/>
              </a:ext>
            </a:extLst>
          </p:cNvPr>
          <p:cNvSpPr txBox="1"/>
          <p:nvPr/>
        </p:nvSpPr>
        <p:spPr>
          <a:xfrm>
            <a:off x="1" y="1580376"/>
            <a:ext cx="12191999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400" b="1" dirty="0"/>
              <a:t>Faux positifs et faux négatifs</a:t>
            </a:r>
            <a:endParaRPr lang="fr-FR" sz="24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2000" b="1" dirty="0"/>
              <a:t>Faux positifs</a:t>
            </a:r>
            <a:r>
              <a:rPr lang="fr-FR" sz="2000" dirty="0"/>
              <a:t> : alertes générées pour du trafic légitime (gêne pour l’administrateur, surcharge de travail)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2000" b="1" dirty="0"/>
              <a:t>Faux négatifs</a:t>
            </a:r>
            <a:r>
              <a:rPr lang="fr-FR" sz="2000" dirty="0"/>
              <a:t> : attaques non détectées car nouvelles, sophistiquées ou mal définies dans les signatures/règles</a:t>
            </a:r>
          </a:p>
          <a:p>
            <a:pPr lvl="1"/>
            <a:r>
              <a:rPr lang="fr-FR" sz="2000" dirty="0">
                <a:sym typeface="Wingdings" panose="05000000000000000000" pitchFamily="2" charset="2"/>
              </a:rPr>
              <a:t> </a:t>
            </a:r>
            <a:r>
              <a:rPr lang="fr-FR" sz="2000" dirty="0"/>
              <a:t>Impact direct sur la fiabilité et la confiance dans le système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400" b="1" dirty="0"/>
              <a:t>Scalabilité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2000" dirty="0"/>
              <a:t>Forte croissance du volume de trafic dans les réseaux modernes (cloud, IoT, 5G)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2000" dirty="0"/>
              <a:t>Analyse en temps réel de millions de paquets exige de hautes performances matérielles et logicielles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2000" dirty="0"/>
              <a:t>Risque de latence et de perte de paquets lors d’attaques massives (ex. DDoS)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400" b="1" dirty="0"/>
              <a:t>Intégration avec l’IA et le Machine Learning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2000" dirty="0"/>
              <a:t>Objectif : améliorer la détection d’anomalies complexes et inconnues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2000" dirty="0"/>
              <a:t>Défis :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fr-FR" sz="2000" dirty="0"/>
              <a:t>Besoin de grands ensembles de données pour entraîner les modèles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fr-FR" sz="2000" dirty="0"/>
              <a:t>Risque de surapprentissage et de nouvelles formes de faux positifs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fr-FR" sz="2000" dirty="0"/>
              <a:t>Complexité d’intégration avec des infrastructures déjà en place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2000" dirty="0"/>
              <a:t>Enjeux : rendre les IDS/IPS plus adaptatifs et proactifs face aux menaces émergentes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F208F6E-712C-1848-48C1-5D9529BA7EB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lang="en-GB" smtClean="0"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80094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00256" y="6286601"/>
            <a:ext cx="1225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4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7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8883" y="0"/>
            <a:ext cx="2833116" cy="192023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475226" y="2820415"/>
            <a:ext cx="32277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" dirty="0">
                <a:latin typeface="Times New Roman"/>
                <a:cs typeface="Times New Roman"/>
              </a:rPr>
              <a:t>Fin</a:t>
            </a:r>
            <a:r>
              <a:rPr sz="4800" b="1" spc="-75" dirty="0">
                <a:latin typeface="Times New Roman"/>
                <a:cs typeface="Times New Roman"/>
              </a:rPr>
              <a:t> </a:t>
            </a:r>
            <a:r>
              <a:rPr sz="4800" b="1" dirty="0">
                <a:latin typeface="Times New Roman"/>
                <a:cs typeface="Times New Roman"/>
              </a:rPr>
              <a:t>chapitre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175C66E-28C0-766B-87A5-02764C8FBFC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lang="en-GB" smtClean="0"/>
              <a:t>29</a:t>
            </a:fld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3b2e522-fe2d-45eb-8fca-68ca246d40b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D5852A217C4949816470E576B5A5FD" ma:contentTypeVersion="13" ma:contentTypeDescription="Crée un document." ma:contentTypeScope="" ma:versionID="a682db9535e47347d801d0bdc8a0e657">
  <xsd:schema xmlns:xsd="http://www.w3.org/2001/XMLSchema" xmlns:xs="http://www.w3.org/2001/XMLSchema" xmlns:p="http://schemas.microsoft.com/office/2006/metadata/properties" xmlns:ns3="73b2e522-fe2d-45eb-8fca-68ca246d40bd" xmlns:ns4="8164c8d2-d0cc-4025-b139-4ac243dc06ac" targetNamespace="http://schemas.microsoft.com/office/2006/metadata/properties" ma:root="true" ma:fieldsID="87b13b2c7ecf8776c47e8fab9eeba0ae" ns3:_="" ns4:_="">
    <xsd:import namespace="73b2e522-fe2d-45eb-8fca-68ca246d40bd"/>
    <xsd:import namespace="8164c8d2-d0cc-4025-b139-4ac243dc06a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2e522-fe2d-45eb-8fca-68ca246d40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64c8d2-d0cc-4025-b139-4ac243dc06a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E87F5E-EE38-4357-ACB0-6D1E8AD73051}">
  <ds:schemaRefs>
    <ds:schemaRef ds:uri="http://www.w3.org/XML/1998/namespace"/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8164c8d2-d0cc-4025-b139-4ac243dc06ac"/>
    <ds:schemaRef ds:uri="http://schemas.microsoft.com/office/2006/metadata/properties"/>
    <ds:schemaRef ds:uri="http://schemas.openxmlformats.org/package/2006/metadata/core-properties"/>
    <ds:schemaRef ds:uri="73b2e522-fe2d-45eb-8fca-68ca246d40bd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BC273AF-FDA3-4908-ABCB-B8C4684605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b2e522-fe2d-45eb-8fca-68ca246d40bd"/>
    <ds:schemaRef ds:uri="8164c8d2-d0cc-4025-b139-4ac243dc06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B3E1F7B-B1AB-485A-B6C6-F2EAF7BDDF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1578</TotalTime>
  <Words>1940</Words>
  <Application>Microsoft Office PowerPoint</Application>
  <PresentationFormat>Grand écran</PresentationFormat>
  <Paragraphs>299</Paragraphs>
  <Slides>29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7" baseType="lpstr">
      <vt:lpstr>Aptos</vt:lpstr>
      <vt:lpstr>Arial</vt:lpstr>
      <vt:lpstr>Arial MT</vt:lpstr>
      <vt:lpstr>Calibri</vt:lpstr>
      <vt:lpstr>Segoe UI Emoji</vt:lpstr>
      <vt:lpstr>Times New Roman</vt:lpstr>
      <vt:lpstr>Wingdings</vt:lpstr>
      <vt:lpstr>Office Theme</vt:lpstr>
      <vt:lpstr>Les systèmes de détection d’intrusion</vt:lpstr>
      <vt:lpstr>Objectifs</vt:lpstr>
      <vt:lpstr>Plan</vt:lpstr>
      <vt:lpstr>Introduction - 1</vt:lpstr>
      <vt:lpstr>Introduction - 2</vt:lpstr>
      <vt:lpstr>Plan</vt:lpstr>
      <vt:lpstr>Concept d’intrusion - 1</vt:lpstr>
      <vt:lpstr>Concept d’intrusion - 2</vt:lpstr>
      <vt:lpstr>Plan</vt:lpstr>
      <vt:lpstr>Présentation PowerPoint</vt:lpstr>
      <vt:lpstr>Composants d’un IDS</vt:lpstr>
      <vt:lpstr> Fonctionnement d’un IDS</vt:lpstr>
      <vt:lpstr> Types d’IDS</vt:lpstr>
      <vt:lpstr> Où placer les sondes d’un IDS ?</vt:lpstr>
      <vt:lpstr>Plan</vt:lpstr>
      <vt:lpstr> Les méthodes de détection</vt:lpstr>
      <vt:lpstr> Signature based IDS</vt:lpstr>
      <vt:lpstr> Anomaly based IDS</vt:lpstr>
      <vt:lpstr> Rule based IDS</vt:lpstr>
      <vt:lpstr>Plan</vt:lpstr>
      <vt:lpstr> IPS (Intrusion Prevention System)</vt:lpstr>
      <vt:lpstr> Fonctionnement d’un IPS</vt:lpstr>
      <vt:lpstr>Plan</vt:lpstr>
      <vt:lpstr>Comparaison IDS vs IPS</vt:lpstr>
      <vt:lpstr>Plan</vt:lpstr>
      <vt:lpstr> Solutions IDS/IPS</vt:lpstr>
      <vt:lpstr>Plan</vt:lpstr>
      <vt:lpstr>Défis et limites actuelles des IDS/IPS</vt:lpstr>
      <vt:lpstr>Fin chapitre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de Sécurité  des Réseaux Informatiques</dc:title>
  <dc:creator>Ali GHORBEL</dc:creator>
  <cp:lastModifiedBy>ksentini amel</cp:lastModifiedBy>
  <cp:revision>22</cp:revision>
  <dcterms:created xsi:type="dcterms:W3CDTF">2024-09-07T10:53:28Z</dcterms:created>
  <dcterms:modified xsi:type="dcterms:W3CDTF">2025-10-04T16:27:19Z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2023-10-11T00:00:00Z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2024-09-07T00:00:00Z</vt:filetime>
  </property>
  <property fmtid="{D5CDD505-2E9C-101B-9397-08002B2CF9AE}" pid="5" name="ContentTypeId">
    <vt:lpwstr>0x010100D9D5852A217C4949816470E576B5A5FD</vt:lpwstr>
  </property>
</Properties>
</file>